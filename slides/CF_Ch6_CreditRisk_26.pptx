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4" r:id="rId1"/>
  </p:sldMasterIdLst>
  <p:notesMasterIdLst>
    <p:notesMasterId r:id="rId47"/>
  </p:notesMasterIdLst>
  <p:handoutMasterIdLst>
    <p:handoutMasterId r:id="rId48"/>
  </p:handoutMasterIdLst>
  <p:sldIdLst>
    <p:sldId id="306" r:id="rId2"/>
    <p:sldId id="415" r:id="rId3"/>
    <p:sldId id="368" r:id="rId4"/>
    <p:sldId id="417" r:id="rId5"/>
    <p:sldId id="423" r:id="rId6"/>
    <p:sldId id="369" r:id="rId7"/>
    <p:sldId id="370" r:id="rId8"/>
    <p:sldId id="371" r:id="rId9"/>
    <p:sldId id="372" r:id="rId10"/>
    <p:sldId id="373" r:id="rId11"/>
    <p:sldId id="374" r:id="rId12"/>
    <p:sldId id="375" r:id="rId13"/>
    <p:sldId id="376" r:id="rId14"/>
    <p:sldId id="377" r:id="rId15"/>
    <p:sldId id="378" r:id="rId16"/>
    <p:sldId id="379" r:id="rId17"/>
    <p:sldId id="380" r:id="rId18"/>
    <p:sldId id="327" r:id="rId19"/>
    <p:sldId id="405" r:id="rId20"/>
    <p:sldId id="413" r:id="rId21"/>
    <p:sldId id="418" r:id="rId22"/>
    <p:sldId id="328" r:id="rId23"/>
    <p:sldId id="381" r:id="rId24"/>
    <p:sldId id="329" r:id="rId25"/>
    <p:sldId id="330" r:id="rId26"/>
    <p:sldId id="382" r:id="rId27"/>
    <p:sldId id="403" r:id="rId28"/>
    <p:sldId id="383" r:id="rId29"/>
    <p:sldId id="424" r:id="rId30"/>
    <p:sldId id="425" r:id="rId31"/>
    <p:sldId id="421" r:id="rId32"/>
    <p:sldId id="426" r:id="rId33"/>
    <p:sldId id="416" r:id="rId34"/>
    <p:sldId id="412" r:id="rId35"/>
    <p:sldId id="389" r:id="rId36"/>
    <p:sldId id="390" r:id="rId37"/>
    <p:sldId id="391" r:id="rId38"/>
    <p:sldId id="392" r:id="rId39"/>
    <p:sldId id="393" r:id="rId40"/>
    <p:sldId id="398" r:id="rId41"/>
    <p:sldId id="399" r:id="rId42"/>
    <p:sldId id="407" r:id="rId43"/>
    <p:sldId id="400" r:id="rId44"/>
    <p:sldId id="401" r:id="rId45"/>
    <p:sldId id="402" r:id="rId46"/>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FF10"/>
    <a:srgbClr val="FF0502"/>
    <a:srgbClr val="F7DFDE"/>
    <a:srgbClr val="FFEF06"/>
    <a:srgbClr val="E32F1B"/>
    <a:srgbClr val="1A1A1A"/>
    <a:srgbClr val="F38E00"/>
    <a:srgbClr val="784B0C"/>
    <a:srgbClr val="CCD0E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47" autoAdjust="0"/>
    <p:restoredTop sz="95854"/>
  </p:normalViewPr>
  <p:slideViewPr>
    <p:cSldViewPr>
      <p:cViewPr varScale="1">
        <p:scale>
          <a:sx n="164" d="100"/>
          <a:sy n="164" d="100"/>
        </p:scale>
        <p:origin x="184" y="808"/>
      </p:cViewPr>
      <p:guideLst>
        <p:guide orient="horz" pos="2160"/>
        <p:guide pos="2880"/>
      </p:guideLst>
    </p:cSldViewPr>
  </p:slideViewPr>
  <p:outlineViewPr>
    <p:cViewPr>
      <p:scale>
        <a:sx n="33" d="100"/>
        <a:sy n="33" d="100"/>
      </p:scale>
      <p:origin x="0" y="-13136"/>
    </p:cViewPr>
  </p:outlineViewPr>
  <p:notesTextViewPr>
    <p:cViewPr>
      <p:scale>
        <a:sx n="100" d="100"/>
        <a:sy n="100" d="100"/>
      </p:scale>
      <p:origin x="0" y="0"/>
    </p:cViewPr>
  </p:notesTextViewPr>
  <p:sorterViewPr>
    <p:cViewPr>
      <p:scale>
        <a:sx n="200" d="100"/>
        <a:sy n="200" d="100"/>
      </p:scale>
      <p:origin x="0" y="71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custSel addSld delSld modSld sldOrd modMainMaster">
      <pc:chgData name="Colon, Jeffrey M." userId="615143b1-cdee-493d-9a9d-1565ce8666d9" providerId="ADAL" clId="{DC1DB158-BAB1-5930-B714-AEF472873853}" dt="2026-09-21T12:48:53.175" v="479" actId="478"/>
      <pc:docMkLst>
        <pc:docMk/>
      </pc:docMkLst>
      <pc:sldChg chg="addSp delSp modSp mod">
        <pc:chgData name="Colon, Jeffrey M." userId="615143b1-cdee-493d-9a9d-1565ce8666d9" providerId="ADAL" clId="{DC1DB158-BAB1-5930-B714-AEF472873853}" dt="2026-09-18T15:41:07.229" v="169" actId="14100"/>
        <pc:sldMkLst>
          <pc:docMk/>
          <pc:sldMk cId="0" sldId="329"/>
        </pc:sldMkLst>
        <pc:spChg chg="mod">
          <ac:chgData name="Colon, Jeffrey M." userId="615143b1-cdee-493d-9a9d-1565ce8666d9" providerId="ADAL" clId="{DC1DB158-BAB1-5930-B714-AEF472873853}" dt="2026-09-18T15:36:20.666" v="134" actId="1076"/>
          <ac:spMkLst>
            <pc:docMk/>
            <pc:sldMk cId="0" sldId="329"/>
            <ac:spMk id="3" creationId="{00000000-0000-0000-0000-000000000000}"/>
          </ac:spMkLst>
        </pc:spChg>
        <pc:picChg chg="add mod">
          <ac:chgData name="Colon, Jeffrey M." userId="615143b1-cdee-493d-9a9d-1565ce8666d9" providerId="ADAL" clId="{DC1DB158-BAB1-5930-B714-AEF472873853}" dt="2026-09-18T15:36:28.145" v="137" actId="14100"/>
          <ac:picMkLst>
            <pc:docMk/>
            <pc:sldMk cId="0" sldId="329"/>
            <ac:picMk id="6" creationId="{115F02F1-FB7F-4F02-4205-3D0AB3ED7C5A}"/>
          </ac:picMkLst>
        </pc:picChg>
        <pc:cxnChg chg="add mod">
          <ac:chgData name="Colon, Jeffrey M." userId="615143b1-cdee-493d-9a9d-1565ce8666d9" providerId="ADAL" clId="{DC1DB158-BAB1-5930-B714-AEF472873853}" dt="2026-09-18T15:40:12.446" v="158" actId="692"/>
          <ac:cxnSpMkLst>
            <pc:docMk/>
            <pc:sldMk cId="0" sldId="329"/>
            <ac:cxnSpMk id="8" creationId="{6D1A044E-B7AB-BEF0-F2E7-3E73322BC78D}"/>
          </ac:cxnSpMkLst>
        </pc:cxnChg>
        <pc:cxnChg chg="add mod">
          <ac:chgData name="Colon, Jeffrey M." userId="615143b1-cdee-493d-9a9d-1565ce8666d9" providerId="ADAL" clId="{DC1DB158-BAB1-5930-B714-AEF472873853}" dt="2026-09-18T15:40:34.692" v="162" actId="14100"/>
          <ac:cxnSpMkLst>
            <pc:docMk/>
            <pc:sldMk cId="0" sldId="329"/>
            <ac:cxnSpMk id="9" creationId="{6D695290-DB6C-70A6-DD70-B03D645DB495}"/>
          </ac:cxnSpMkLst>
        </pc:cxnChg>
        <pc:cxnChg chg="add mod">
          <ac:chgData name="Colon, Jeffrey M." userId="615143b1-cdee-493d-9a9d-1565ce8666d9" providerId="ADAL" clId="{DC1DB158-BAB1-5930-B714-AEF472873853}" dt="2026-09-18T15:40:49.166" v="166" actId="1076"/>
          <ac:cxnSpMkLst>
            <pc:docMk/>
            <pc:sldMk cId="0" sldId="329"/>
            <ac:cxnSpMk id="14" creationId="{EF7458B6-0C8B-379B-BECD-69153819C031}"/>
          </ac:cxnSpMkLst>
        </pc:cxnChg>
        <pc:cxnChg chg="add mod">
          <ac:chgData name="Colon, Jeffrey M." userId="615143b1-cdee-493d-9a9d-1565ce8666d9" providerId="ADAL" clId="{DC1DB158-BAB1-5930-B714-AEF472873853}" dt="2026-09-18T15:41:07.229" v="169" actId="14100"/>
          <ac:cxnSpMkLst>
            <pc:docMk/>
            <pc:sldMk cId="0" sldId="329"/>
            <ac:cxnSpMk id="15" creationId="{860D52A0-74F5-F7CD-8424-B0DDF6F4F094}"/>
          </ac:cxnSpMkLst>
        </pc:cxnChg>
      </pc:sldChg>
      <pc:sldChg chg="addSp delSp modSp mod">
        <pc:chgData name="Colon, Jeffrey M." userId="615143b1-cdee-493d-9a9d-1565ce8666d9" providerId="ADAL" clId="{DC1DB158-BAB1-5930-B714-AEF472873853}" dt="2026-09-18T18:57:22.533" v="201" actId="1035"/>
        <pc:sldMkLst>
          <pc:docMk/>
          <pc:sldMk cId="0" sldId="330"/>
        </pc:sldMkLst>
        <pc:spChg chg="add mod">
          <ac:chgData name="Colon, Jeffrey M." userId="615143b1-cdee-493d-9a9d-1565ce8666d9" providerId="ADAL" clId="{DC1DB158-BAB1-5930-B714-AEF472873853}" dt="2026-09-18T15:38:04.432" v="150" actId="1076"/>
          <ac:spMkLst>
            <pc:docMk/>
            <pc:sldMk cId="0" sldId="330"/>
            <ac:spMk id="6" creationId="{91D37E71-2088-AC87-AE1E-59C8E8141889}"/>
          </ac:spMkLst>
        </pc:spChg>
        <pc:picChg chg="add mod">
          <ac:chgData name="Colon, Jeffrey M." userId="615143b1-cdee-493d-9a9d-1565ce8666d9" providerId="ADAL" clId="{DC1DB158-BAB1-5930-B714-AEF472873853}" dt="2026-09-18T15:43:34.216" v="197" actId="14100"/>
          <ac:picMkLst>
            <pc:docMk/>
            <pc:sldMk cId="0" sldId="330"/>
            <ac:picMk id="5" creationId="{269C9AF3-DC8D-6B73-7A12-1267ACB13127}"/>
          </ac:picMkLst>
        </pc:picChg>
        <pc:cxnChg chg="add mod">
          <ac:chgData name="Colon, Jeffrey M." userId="615143b1-cdee-493d-9a9d-1565ce8666d9" providerId="ADAL" clId="{DC1DB158-BAB1-5930-B714-AEF472873853}" dt="2026-09-18T15:41:25.398" v="172" actId="14100"/>
          <ac:cxnSpMkLst>
            <pc:docMk/>
            <pc:sldMk cId="0" sldId="330"/>
            <ac:cxnSpMk id="7" creationId="{6A19467D-E3A4-B489-D96F-D825AB378DFE}"/>
          </ac:cxnSpMkLst>
        </pc:cxnChg>
        <pc:cxnChg chg="add mod">
          <ac:chgData name="Colon, Jeffrey M." userId="615143b1-cdee-493d-9a9d-1565ce8666d9" providerId="ADAL" clId="{DC1DB158-BAB1-5930-B714-AEF472873853}" dt="2026-09-18T18:57:22.533" v="201" actId="1035"/>
          <ac:cxnSpMkLst>
            <pc:docMk/>
            <pc:sldMk cId="0" sldId="330"/>
            <ac:cxnSpMk id="10" creationId="{E0C3ABA4-6757-DD17-C293-CCA5C684342A}"/>
          </ac:cxnSpMkLst>
        </pc:cxnChg>
        <pc:cxnChg chg="add mod">
          <ac:chgData name="Colon, Jeffrey M." userId="615143b1-cdee-493d-9a9d-1565ce8666d9" providerId="ADAL" clId="{DC1DB158-BAB1-5930-B714-AEF472873853}" dt="2026-09-18T15:42:03.765" v="180" actId="14100"/>
          <ac:cxnSpMkLst>
            <pc:docMk/>
            <pc:sldMk cId="0" sldId="330"/>
            <ac:cxnSpMk id="12" creationId="{BBAB6E96-03DA-0F72-5D8B-529BF7B560BB}"/>
          </ac:cxnSpMkLst>
        </pc:cxnChg>
        <pc:cxnChg chg="add mod">
          <ac:chgData name="Colon, Jeffrey M." userId="615143b1-cdee-493d-9a9d-1565ce8666d9" providerId="ADAL" clId="{DC1DB158-BAB1-5930-B714-AEF472873853}" dt="2026-09-18T15:42:28.387" v="185" actId="1036"/>
          <ac:cxnSpMkLst>
            <pc:docMk/>
            <pc:sldMk cId="0" sldId="330"/>
            <ac:cxnSpMk id="14" creationId="{5C04A34C-F10F-20F9-D64F-A5224ED8C92F}"/>
          </ac:cxnSpMkLst>
        </pc:cxnChg>
        <pc:cxnChg chg="add mod">
          <ac:chgData name="Colon, Jeffrey M." userId="615143b1-cdee-493d-9a9d-1565ce8666d9" providerId="ADAL" clId="{DC1DB158-BAB1-5930-B714-AEF472873853}" dt="2026-09-18T15:42:51.512" v="189" actId="14100"/>
          <ac:cxnSpMkLst>
            <pc:docMk/>
            <pc:sldMk cId="0" sldId="330"/>
            <ac:cxnSpMk id="17" creationId="{1B18DD42-F93B-A2CB-E8C6-E86CA44DE9B8}"/>
          </ac:cxnSpMkLst>
        </pc:cxnChg>
        <pc:cxnChg chg="add mod">
          <ac:chgData name="Colon, Jeffrey M." userId="615143b1-cdee-493d-9a9d-1565ce8666d9" providerId="ADAL" clId="{DC1DB158-BAB1-5930-B714-AEF472873853}" dt="2026-09-18T15:42:59.762" v="191" actId="1076"/>
          <ac:cxnSpMkLst>
            <pc:docMk/>
            <pc:sldMk cId="0" sldId="330"/>
            <ac:cxnSpMk id="19" creationId="{0919F73D-EDDD-5878-6DA6-691B8F960167}"/>
          </ac:cxnSpMkLst>
        </pc:cxnChg>
        <pc:cxnChg chg="add mod">
          <ac:chgData name="Colon, Jeffrey M." userId="615143b1-cdee-493d-9a9d-1565ce8666d9" providerId="ADAL" clId="{DC1DB158-BAB1-5930-B714-AEF472873853}" dt="2026-09-18T15:43:26.783" v="196" actId="1035"/>
          <ac:cxnSpMkLst>
            <pc:docMk/>
            <pc:sldMk cId="0" sldId="330"/>
            <ac:cxnSpMk id="20" creationId="{632037A1-5C0D-5B4F-FDA3-604C7012375E}"/>
          </ac:cxnSpMkLst>
        </pc:cxnChg>
        <pc:cxnChg chg="add mod">
          <ac:chgData name="Colon, Jeffrey M." userId="615143b1-cdee-493d-9a9d-1565ce8666d9" providerId="ADAL" clId="{DC1DB158-BAB1-5930-B714-AEF472873853}" dt="2026-09-18T15:43:48.709" v="200" actId="14100"/>
          <ac:cxnSpMkLst>
            <pc:docMk/>
            <pc:sldMk cId="0" sldId="330"/>
            <ac:cxnSpMk id="22" creationId="{05E976C9-3016-9789-DD92-C601B31D2CED}"/>
          </ac:cxnSpMkLst>
        </pc:cxnChg>
      </pc:sldChg>
      <pc:sldChg chg="addSp delSp modSp mod">
        <pc:chgData name="Colon, Jeffrey M." userId="615143b1-cdee-493d-9a9d-1565ce8666d9" providerId="ADAL" clId="{DC1DB158-BAB1-5930-B714-AEF472873853}" dt="2026-09-21T12:48:53.175" v="479" actId="478"/>
        <pc:sldMkLst>
          <pc:docMk/>
          <pc:sldMk cId="0" sldId="368"/>
        </pc:sldMkLst>
        <pc:spChg chg="mod">
          <ac:chgData name="Colon, Jeffrey M." userId="615143b1-cdee-493d-9a9d-1565ce8666d9" providerId="ADAL" clId="{DC1DB158-BAB1-5930-B714-AEF472873853}" dt="2026-09-18T14:30:10.530" v="11" actId="1076"/>
          <ac:spMkLst>
            <pc:docMk/>
            <pc:sldMk cId="0" sldId="368"/>
            <ac:spMk id="3" creationId="{074A4FDF-A920-A94A-A51B-F1EF8601C338}"/>
          </ac:spMkLst>
        </pc:spChg>
        <pc:spChg chg="mod">
          <ac:chgData name="Colon, Jeffrey M." userId="615143b1-cdee-493d-9a9d-1565ce8666d9" providerId="ADAL" clId="{DC1DB158-BAB1-5930-B714-AEF472873853}" dt="2026-09-18T15:00:52.645" v="19" actId="207"/>
          <ac:spMkLst>
            <pc:docMk/>
            <pc:sldMk cId="0" sldId="368"/>
            <ac:spMk id="4" creationId="{6324D385-873D-FCF3-7425-2F17BE97DF4D}"/>
          </ac:spMkLst>
        </pc:spChg>
        <pc:spChg chg="mod">
          <ac:chgData name="Colon, Jeffrey M." userId="615143b1-cdee-493d-9a9d-1565ce8666d9" providerId="ADAL" clId="{DC1DB158-BAB1-5930-B714-AEF472873853}" dt="2026-09-18T15:01:55.652" v="23" actId="207"/>
          <ac:spMkLst>
            <pc:docMk/>
            <pc:sldMk cId="0" sldId="368"/>
            <ac:spMk id="7" creationId="{1F741FFF-1A74-CA6C-DF57-23947A56A75D}"/>
          </ac:spMkLst>
        </pc:spChg>
        <pc:spChg chg="add mod">
          <ac:chgData name="Colon, Jeffrey M." userId="615143b1-cdee-493d-9a9d-1565ce8666d9" providerId="ADAL" clId="{DC1DB158-BAB1-5930-B714-AEF472873853}" dt="2026-09-18T15:01:44.059" v="22" actId="14100"/>
          <ac:spMkLst>
            <pc:docMk/>
            <pc:sldMk cId="0" sldId="368"/>
            <ac:spMk id="9" creationId="{5D166195-42A1-1E81-1069-628B4834123A}"/>
          </ac:spMkLst>
        </pc:spChg>
        <pc:spChg chg="mod">
          <ac:chgData name="Colon, Jeffrey M." userId="615143b1-cdee-493d-9a9d-1565ce8666d9" providerId="ADAL" clId="{DC1DB158-BAB1-5930-B714-AEF472873853}" dt="2026-09-18T14:28:37.457" v="5" actId="20577"/>
          <ac:spMkLst>
            <pc:docMk/>
            <pc:sldMk cId="0" sldId="368"/>
            <ac:spMk id="10" creationId="{DB169ACF-E490-F821-52C4-FC3BF56825C5}"/>
          </ac:spMkLst>
        </pc:spChg>
        <pc:spChg chg="mod">
          <ac:chgData name="Colon, Jeffrey M." userId="615143b1-cdee-493d-9a9d-1565ce8666d9" providerId="ADAL" clId="{DC1DB158-BAB1-5930-B714-AEF472873853}" dt="2026-09-18T15:01:30.752" v="20" actId="207"/>
          <ac:spMkLst>
            <pc:docMk/>
            <pc:sldMk cId="0" sldId="368"/>
            <ac:spMk id="11" creationId="{DDE1CEB0-C6D8-D01F-D352-E44C51C592A9}"/>
          </ac:spMkLst>
        </pc:spChg>
        <pc:spChg chg="mod">
          <ac:chgData name="Colon, Jeffrey M." userId="615143b1-cdee-493d-9a9d-1565ce8666d9" providerId="ADAL" clId="{DC1DB158-BAB1-5930-B714-AEF472873853}" dt="2026-09-18T15:02:02.219" v="24" actId="207"/>
          <ac:spMkLst>
            <pc:docMk/>
            <pc:sldMk cId="0" sldId="368"/>
            <ac:spMk id="15" creationId="{00000000-0000-0000-0000-000000000000}"/>
          </ac:spMkLst>
        </pc:spChg>
        <pc:spChg chg="mod">
          <ac:chgData name="Colon, Jeffrey M." userId="615143b1-cdee-493d-9a9d-1565ce8666d9" providerId="ADAL" clId="{DC1DB158-BAB1-5930-B714-AEF472873853}" dt="2026-09-18T15:01:30.752" v="20" actId="207"/>
          <ac:spMkLst>
            <pc:docMk/>
            <pc:sldMk cId="0" sldId="368"/>
            <ac:spMk id="16" creationId="{00000000-0000-0000-0000-000000000000}"/>
          </ac:spMkLst>
        </pc:spChg>
        <pc:spChg chg="mod">
          <ac:chgData name="Colon, Jeffrey M." userId="615143b1-cdee-493d-9a9d-1565ce8666d9" providerId="ADAL" clId="{DC1DB158-BAB1-5930-B714-AEF472873853}" dt="2026-09-18T15:01:30.752" v="20" actId="207"/>
          <ac:spMkLst>
            <pc:docMk/>
            <pc:sldMk cId="0" sldId="368"/>
            <ac:spMk id="17" creationId="{00000000-0000-0000-0000-000000000000}"/>
          </ac:spMkLst>
        </pc:spChg>
        <pc:spChg chg="mod">
          <ac:chgData name="Colon, Jeffrey M." userId="615143b1-cdee-493d-9a9d-1565ce8666d9" providerId="ADAL" clId="{DC1DB158-BAB1-5930-B714-AEF472873853}" dt="2026-09-18T15:01:30.752" v="20" actId="207"/>
          <ac:spMkLst>
            <pc:docMk/>
            <pc:sldMk cId="0" sldId="368"/>
            <ac:spMk id="18" creationId="{00000000-0000-0000-0000-000000000000}"/>
          </ac:spMkLst>
        </pc:spChg>
        <pc:spChg chg="mod">
          <ac:chgData name="Colon, Jeffrey M." userId="615143b1-cdee-493d-9a9d-1565ce8666d9" providerId="ADAL" clId="{DC1DB158-BAB1-5930-B714-AEF472873853}" dt="2026-09-18T15:01:30.752" v="20" actId="207"/>
          <ac:spMkLst>
            <pc:docMk/>
            <pc:sldMk cId="0" sldId="368"/>
            <ac:spMk id="19" creationId="{00000000-0000-0000-0000-000000000000}"/>
          </ac:spMkLst>
        </pc:spChg>
        <pc:spChg chg="mod">
          <ac:chgData name="Colon, Jeffrey M." userId="615143b1-cdee-493d-9a9d-1565ce8666d9" providerId="ADAL" clId="{DC1DB158-BAB1-5930-B714-AEF472873853}" dt="2026-09-18T15:01:30.752" v="20" actId="207"/>
          <ac:spMkLst>
            <pc:docMk/>
            <pc:sldMk cId="0" sldId="368"/>
            <ac:spMk id="20" creationId="{00000000-0000-0000-0000-000000000000}"/>
          </ac:spMkLst>
        </pc:spChg>
        <pc:spChg chg="mod">
          <ac:chgData name="Colon, Jeffrey M." userId="615143b1-cdee-493d-9a9d-1565ce8666d9" providerId="ADAL" clId="{DC1DB158-BAB1-5930-B714-AEF472873853}" dt="2026-09-18T15:01:30.752" v="20" actId="207"/>
          <ac:spMkLst>
            <pc:docMk/>
            <pc:sldMk cId="0" sldId="368"/>
            <ac:spMk id="21" creationId="{00000000-0000-0000-0000-000000000000}"/>
          </ac:spMkLst>
        </pc:spChg>
        <pc:spChg chg="mod">
          <ac:chgData name="Colon, Jeffrey M." userId="615143b1-cdee-493d-9a9d-1565ce8666d9" providerId="ADAL" clId="{DC1DB158-BAB1-5930-B714-AEF472873853}" dt="2026-09-18T15:01:55.652" v="23" actId="207"/>
          <ac:spMkLst>
            <pc:docMk/>
            <pc:sldMk cId="0" sldId="368"/>
            <ac:spMk id="23" creationId="{701A0858-FF88-F247-82F1-2B6184560729}"/>
          </ac:spMkLst>
        </pc:spChg>
        <pc:spChg chg="mod">
          <ac:chgData name="Colon, Jeffrey M." userId="615143b1-cdee-493d-9a9d-1565ce8666d9" providerId="ADAL" clId="{DC1DB158-BAB1-5930-B714-AEF472873853}" dt="2026-09-18T15:00:41.164" v="18" actId="207"/>
          <ac:spMkLst>
            <pc:docMk/>
            <pc:sldMk cId="0" sldId="368"/>
            <ac:spMk id="24" creationId="{D23A24F9-1871-594E-9914-885E9EF93137}"/>
          </ac:spMkLst>
        </pc:spChg>
        <pc:spChg chg="mod">
          <ac:chgData name="Colon, Jeffrey M." userId="615143b1-cdee-493d-9a9d-1565ce8666d9" providerId="ADAL" clId="{DC1DB158-BAB1-5930-B714-AEF472873853}" dt="2026-09-18T15:01:30.752" v="20" actId="207"/>
          <ac:spMkLst>
            <pc:docMk/>
            <pc:sldMk cId="0" sldId="368"/>
            <ac:spMk id="25" creationId="{4CE6B0DF-9892-B44D-9073-BAADBBF85350}"/>
          </ac:spMkLst>
        </pc:spChg>
        <pc:spChg chg="mod">
          <ac:chgData name="Colon, Jeffrey M." userId="615143b1-cdee-493d-9a9d-1565ce8666d9" providerId="ADAL" clId="{DC1DB158-BAB1-5930-B714-AEF472873853}" dt="2026-09-18T15:01:30.752" v="20" actId="207"/>
          <ac:spMkLst>
            <pc:docMk/>
            <pc:sldMk cId="0" sldId="368"/>
            <ac:spMk id="26" creationId="{53EE61CF-5225-BD40-A54A-A7433CBDD92E}"/>
          </ac:spMkLst>
        </pc:spChg>
        <pc:picChg chg="add del mod">
          <ac:chgData name="Colon, Jeffrey M." userId="615143b1-cdee-493d-9a9d-1565ce8666d9" providerId="ADAL" clId="{DC1DB158-BAB1-5930-B714-AEF472873853}" dt="2026-09-21T12:47:46.940" v="408" actId="478"/>
          <ac:picMkLst>
            <pc:docMk/>
            <pc:sldMk cId="0" sldId="368"/>
            <ac:picMk id="13" creationId="{86E8A77E-287C-A965-F953-92ED288FB5C6}"/>
          </ac:picMkLst>
        </pc:picChg>
        <pc:picChg chg="add del mod">
          <ac:chgData name="Colon, Jeffrey M." userId="615143b1-cdee-493d-9a9d-1565ce8666d9" providerId="ADAL" clId="{DC1DB158-BAB1-5930-B714-AEF472873853}" dt="2026-09-21T12:47:45.175" v="407" actId="478"/>
          <ac:picMkLst>
            <pc:docMk/>
            <pc:sldMk cId="0" sldId="368"/>
            <ac:picMk id="27" creationId="{83453B92-287A-8121-158A-5CF0252EE5D5}"/>
          </ac:picMkLst>
        </pc:picChg>
        <pc:picChg chg="add del mod">
          <ac:chgData name="Colon, Jeffrey M." userId="615143b1-cdee-493d-9a9d-1565ce8666d9" providerId="ADAL" clId="{DC1DB158-BAB1-5930-B714-AEF472873853}" dt="2026-09-21T12:48:53.175" v="479" actId="478"/>
          <ac:picMkLst>
            <pc:docMk/>
            <pc:sldMk cId="0" sldId="368"/>
            <ac:picMk id="29" creationId="{DEDA5521-89C4-0691-33A1-9021DE344D86}"/>
          </ac:picMkLst>
        </pc:picChg>
      </pc:sldChg>
      <pc:sldChg chg="addSp delSp modSp mod ord">
        <pc:chgData name="Colon, Jeffrey M." userId="615143b1-cdee-493d-9a9d-1565ce8666d9" providerId="ADAL" clId="{DC1DB158-BAB1-5930-B714-AEF472873853}" dt="2026-09-18T19:46:55.625" v="276" actId="20578"/>
        <pc:sldMkLst>
          <pc:docMk/>
          <pc:sldMk cId="0" sldId="383"/>
        </pc:sldMkLst>
        <pc:spChg chg="mod">
          <ac:chgData name="Colon, Jeffrey M." userId="615143b1-cdee-493d-9a9d-1565ce8666d9" providerId="ADAL" clId="{DC1DB158-BAB1-5930-B714-AEF472873853}" dt="2026-09-18T19:44:44.930" v="208" actId="20577"/>
          <ac:spMkLst>
            <pc:docMk/>
            <pc:sldMk cId="0" sldId="383"/>
            <ac:spMk id="8" creationId="{6C087FC0-A613-394D-85C2-CC50344F7E0B}"/>
          </ac:spMkLst>
        </pc:spChg>
        <pc:spChg chg="mod">
          <ac:chgData name="Colon, Jeffrey M." userId="615143b1-cdee-493d-9a9d-1565ce8666d9" providerId="ADAL" clId="{DC1DB158-BAB1-5930-B714-AEF472873853}" dt="2026-09-18T19:44:05.553" v="203" actId="20577"/>
          <ac:spMkLst>
            <pc:docMk/>
            <pc:sldMk cId="0" sldId="383"/>
            <ac:spMk id="57345" creationId="{00000000-0000-0000-0000-000000000000}"/>
          </ac:spMkLst>
        </pc:spChg>
        <pc:picChg chg="add mod">
          <ac:chgData name="Colon, Jeffrey M." userId="615143b1-cdee-493d-9a9d-1565ce8666d9" providerId="ADAL" clId="{DC1DB158-BAB1-5930-B714-AEF472873853}" dt="2026-09-18T19:45:24.976" v="211" actId="1076"/>
          <ac:picMkLst>
            <pc:docMk/>
            <pc:sldMk cId="0" sldId="383"/>
            <ac:picMk id="5" creationId="{EBA2C4F0-69C3-81C8-2EDD-85B2408A6E12}"/>
          </ac:picMkLst>
        </pc:picChg>
      </pc:sldChg>
      <pc:sldChg chg="addSp delSp modSp mod ord">
        <pc:chgData name="Colon, Jeffrey M." userId="615143b1-cdee-493d-9a9d-1565ce8666d9" providerId="ADAL" clId="{DC1DB158-BAB1-5930-B714-AEF472873853}" dt="2026-09-18T19:46:43.640" v="274" actId="20577"/>
        <pc:sldMkLst>
          <pc:docMk/>
          <pc:sldMk cId="0" sldId="403"/>
        </pc:sldMkLst>
        <pc:spChg chg="mod">
          <ac:chgData name="Colon, Jeffrey M." userId="615143b1-cdee-493d-9a9d-1565ce8666d9" providerId="ADAL" clId="{DC1DB158-BAB1-5930-B714-AEF472873853}" dt="2026-09-18T19:46:43.640" v="274" actId="20577"/>
          <ac:spMkLst>
            <pc:docMk/>
            <pc:sldMk cId="0" sldId="403"/>
            <ac:spMk id="10" creationId="{D87B12F4-1100-B34A-8D9E-1B1624EAFD61}"/>
          </ac:spMkLst>
        </pc:spChg>
        <pc:spChg chg="mod">
          <ac:chgData name="Colon, Jeffrey M." userId="615143b1-cdee-493d-9a9d-1565ce8666d9" providerId="ADAL" clId="{DC1DB158-BAB1-5930-B714-AEF472873853}" dt="2026-09-18T19:46:27.758" v="269" actId="20577"/>
          <ac:spMkLst>
            <pc:docMk/>
            <pc:sldMk cId="0" sldId="403"/>
            <ac:spMk id="58369" creationId="{00000000-0000-0000-0000-000000000000}"/>
          </ac:spMkLst>
        </pc:spChg>
        <pc:picChg chg="add mod">
          <ac:chgData name="Colon, Jeffrey M." userId="615143b1-cdee-493d-9a9d-1565ce8666d9" providerId="ADAL" clId="{DC1DB158-BAB1-5930-B714-AEF472873853}" dt="2026-09-18T19:46:40.773" v="272" actId="14100"/>
          <ac:picMkLst>
            <pc:docMk/>
            <pc:sldMk cId="0" sldId="403"/>
            <ac:picMk id="5" creationId="{A81BAD96-81F3-F36C-DD87-AB11BA36631C}"/>
          </ac:picMkLst>
        </pc:picChg>
      </pc:sldChg>
      <pc:sldChg chg="addSp delSp modSp mod">
        <pc:chgData name="Colon, Jeffrey M." userId="615143b1-cdee-493d-9a9d-1565ce8666d9" providerId="ADAL" clId="{DC1DB158-BAB1-5930-B714-AEF472873853}" dt="2026-09-18T15:24:00.955" v="57" actId="14100"/>
        <pc:sldMkLst>
          <pc:docMk/>
          <pc:sldMk cId="3950753335" sldId="413"/>
        </pc:sldMkLst>
        <pc:spChg chg="mod">
          <ac:chgData name="Colon, Jeffrey M." userId="615143b1-cdee-493d-9a9d-1565ce8666d9" providerId="ADAL" clId="{DC1DB158-BAB1-5930-B714-AEF472873853}" dt="2026-09-18T15:19:52.250" v="42" actId="20577"/>
          <ac:spMkLst>
            <pc:docMk/>
            <pc:sldMk cId="3950753335" sldId="413"/>
            <ac:spMk id="7" creationId="{00000000-0000-0000-0000-000000000000}"/>
          </ac:spMkLst>
        </pc:spChg>
        <pc:picChg chg="add mod">
          <ac:chgData name="Colon, Jeffrey M." userId="615143b1-cdee-493d-9a9d-1565ce8666d9" providerId="ADAL" clId="{DC1DB158-BAB1-5930-B714-AEF472873853}" dt="2026-09-18T15:24:00.955" v="57" actId="14100"/>
          <ac:picMkLst>
            <pc:docMk/>
            <pc:sldMk cId="3950753335" sldId="413"/>
            <ac:picMk id="6" creationId="{D7E5BC53-B7BD-C5B7-4E77-8A5F8A597AE5}"/>
          </ac:picMkLst>
        </pc:picChg>
        <pc:picChg chg="add mod">
          <ac:chgData name="Colon, Jeffrey M." userId="615143b1-cdee-493d-9a9d-1565ce8666d9" providerId="ADAL" clId="{DC1DB158-BAB1-5930-B714-AEF472873853}" dt="2026-09-18T15:23:55.376" v="55" actId="14100"/>
          <ac:picMkLst>
            <pc:docMk/>
            <pc:sldMk cId="3950753335" sldId="413"/>
            <ac:picMk id="10" creationId="{B82D82FF-0635-236D-78C4-9DB71EC4BF75}"/>
          </ac:picMkLst>
        </pc:picChg>
      </pc:sldChg>
      <pc:sldChg chg="addSp delSp modSp mod">
        <pc:chgData name="Colon, Jeffrey M." userId="615143b1-cdee-493d-9a9d-1565ce8666d9" providerId="ADAL" clId="{DC1DB158-BAB1-5930-B714-AEF472873853}" dt="2026-09-18T15:27:24.936" v="69" actId="14100"/>
        <pc:sldMkLst>
          <pc:docMk/>
          <pc:sldMk cId="2028823039" sldId="418"/>
        </pc:sldMkLst>
        <pc:spChg chg="add mod">
          <ac:chgData name="Colon, Jeffrey M." userId="615143b1-cdee-493d-9a9d-1565ce8666d9" providerId="ADAL" clId="{DC1DB158-BAB1-5930-B714-AEF472873853}" dt="2026-09-18T15:27:15.470" v="67" actId="1076"/>
          <ac:spMkLst>
            <pc:docMk/>
            <pc:sldMk cId="2028823039" sldId="418"/>
            <ac:spMk id="9" creationId="{CBB5F74C-7CDB-E2D0-D4FE-59707A390AD2}"/>
          </ac:spMkLst>
        </pc:spChg>
        <pc:picChg chg="add mod">
          <ac:chgData name="Colon, Jeffrey M." userId="615143b1-cdee-493d-9a9d-1565ce8666d9" providerId="ADAL" clId="{DC1DB158-BAB1-5930-B714-AEF472873853}" dt="2026-09-18T15:27:24.936" v="69" actId="14100"/>
          <ac:picMkLst>
            <pc:docMk/>
            <pc:sldMk cId="2028823039" sldId="418"/>
            <ac:picMk id="7" creationId="{3052E067-DE0C-010D-C792-134820F60C2E}"/>
          </ac:picMkLst>
        </pc:picChg>
      </pc:sldChg>
      <pc:sldChg chg="modSp mod">
        <pc:chgData name="Colon, Jeffrey M." userId="615143b1-cdee-493d-9a9d-1565ce8666d9" providerId="ADAL" clId="{DC1DB158-BAB1-5930-B714-AEF472873853}" dt="2026-09-18T23:20:38.574" v="383" actId="14100"/>
        <pc:sldMkLst>
          <pc:docMk/>
          <pc:sldMk cId="889229726" sldId="421"/>
        </pc:sldMkLst>
        <pc:picChg chg="mod">
          <ac:chgData name="Colon, Jeffrey M." userId="615143b1-cdee-493d-9a9d-1565ce8666d9" providerId="ADAL" clId="{DC1DB158-BAB1-5930-B714-AEF472873853}" dt="2026-09-18T23:20:38.574" v="383" actId="14100"/>
          <ac:picMkLst>
            <pc:docMk/>
            <pc:sldMk cId="889229726" sldId="421"/>
            <ac:picMk id="8" creationId="{271C13BE-CCC4-DDED-2F9E-1AAECB8B9EB0}"/>
          </ac:picMkLst>
        </pc:picChg>
      </pc:sldChg>
      <pc:sldChg chg="addSp delSp modSp mod">
        <pc:chgData name="Colon, Jeffrey M." userId="615143b1-cdee-493d-9a9d-1565ce8666d9" providerId="ADAL" clId="{DC1DB158-BAB1-5930-B714-AEF472873853}" dt="2026-09-18T15:04:35.932" v="36" actId="14100"/>
        <pc:sldMkLst>
          <pc:docMk/>
          <pc:sldMk cId="635623991" sldId="423"/>
        </pc:sldMkLst>
        <pc:spChg chg="mod">
          <ac:chgData name="Colon, Jeffrey M." userId="615143b1-cdee-493d-9a9d-1565ce8666d9" providerId="ADAL" clId="{DC1DB158-BAB1-5930-B714-AEF472873853}" dt="2026-09-18T15:04:27.027" v="33" actId="20577"/>
          <ac:spMkLst>
            <pc:docMk/>
            <pc:sldMk cId="635623991" sldId="423"/>
            <ac:spMk id="8" creationId="{1643E4A4-973C-790E-554B-C97406941136}"/>
          </ac:spMkLst>
        </pc:spChg>
        <pc:picChg chg="add mod">
          <ac:chgData name="Colon, Jeffrey M." userId="615143b1-cdee-493d-9a9d-1565ce8666d9" providerId="ADAL" clId="{DC1DB158-BAB1-5930-B714-AEF472873853}" dt="2026-09-18T15:04:35.932" v="36" actId="14100"/>
          <ac:picMkLst>
            <pc:docMk/>
            <pc:sldMk cId="635623991" sldId="423"/>
            <ac:picMk id="6" creationId="{15D4F7FA-A9FB-2873-FDBB-4FFB6A30F507}"/>
          </ac:picMkLst>
        </pc:picChg>
      </pc:sldChg>
      <pc:sldChg chg="addSp modSp new mod">
        <pc:chgData name="Colon, Jeffrey M." userId="615143b1-cdee-493d-9a9d-1565ce8666d9" providerId="ADAL" clId="{DC1DB158-BAB1-5930-B714-AEF472873853}" dt="2026-09-18T21:40:01.845" v="382" actId="13926"/>
        <pc:sldMkLst>
          <pc:docMk/>
          <pc:sldMk cId="424963001" sldId="425"/>
        </pc:sldMkLst>
        <pc:spChg chg="mod">
          <ac:chgData name="Colon, Jeffrey M." userId="615143b1-cdee-493d-9a9d-1565ce8666d9" providerId="ADAL" clId="{DC1DB158-BAB1-5930-B714-AEF472873853}" dt="2026-09-18T21:40:01.845" v="382" actId="13926"/>
          <ac:spMkLst>
            <pc:docMk/>
            <pc:sldMk cId="424963001" sldId="425"/>
            <ac:spMk id="2" creationId="{91EFF900-47C1-ED20-BB8F-ECD288145924}"/>
          </ac:spMkLst>
        </pc:spChg>
        <pc:spChg chg="mod">
          <ac:chgData name="Colon, Jeffrey M." userId="615143b1-cdee-493d-9a9d-1565ce8666d9" providerId="ADAL" clId="{DC1DB158-BAB1-5930-B714-AEF472873853}" dt="2026-09-18T21:38:38.600" v="373" actId="20577"/>
          <ac:spMkLst>
            <pc:docMk/>
            <pc:sldMk cId="424963001" sldId="425"/>
            <ac:spMk id="3" creationId="{BD2268DD-9DB3-9E9A-0B83-4E3F66B090B8}"/>
          </ac:spMkLst>
        </pc:spChg>
        <pc:picChg chg="add mod">
          <ac:chgData name="Colon, Jeffrey M." userId="615143b1-cdee-493d-9a9d-1565ce8666d9" providerId="ADAL" clId="{DC1DB158-BAB1-5930-B714-AEF472873853}" dt="2026-09-18T21:29:23.536" v="349" actId="1076"/>
          <ac:picMkLst>
            <pc:docMk/>
            <pc:sldMk cId="424963001" sldId="425"/>
            <ac:picMk id="7" creationId="{FDE8AC8F-64DF-0B65-0040-DCD01BE2DE16}"/>
          </ac:picMkLst>
        </pc:picChg>
      </pc:sldChg>
      <pc:sldChg chg="addSp delSp modSp new mod">
        <pc:chgData name="Colon, Jeffrey M." userId="615143b1-cdee-493d-9a9d-1565ce8666d9" providerId="ADAL" clId="{DC1DB158-BAB1-5930-B714-AEF472873853}" dt="2026-09-18T23:23:10.004" v="401" actId="14100"/>
        <pc:sldMkLst>
          <pc:docMk/>
          <pc:sldMk cId="320401300" sldId="426"/>
        </pc:sldMkLst>
        <pc:spChg chg="mod">
          <ac:chgData name="Colon, Jeffrey M." userId="615143b1-cdee-493d-9a9d-1565ce8666d9" providerId="ADAL" clId="{DC1DB158-BAB1-5930-B714-AEF472873853}" dt="2026-09-18T23:22:05.572" v="397" actId="20577"/>
          <ac:spMkLst>
            <pc:docMk/>
            <pc:sldMk cId="320401300" sldId="426"/>
            <ac:spMk id="3" creationId="{74D6525A-3F2A-4853-F42F-310B09144036}"/>
          </ac:spMkLst>
        </pc:spChg>
        <pc:picChg chg="add mod ord">
          <ac:chgData name="Colon, Jeffrey M." userId="615143b1-cdee-493d-9a9d-1565ce8666d9" providerId="ADAL" clId="{DC1DB158-BAB1-5930-B714-AEF472873853}" dt="2026-09-18T23:23:10.004" v="401" actId="14100"/>
          <ac:picMkLst>
            <pc:docMk/>
            <pc:sldMk cId="320401300" sldId="426"/>
            <ac:picMk id="7" creationId="{B130768E-2B64-8FBA-1DFD-3FC23B05B035}"/>
          </ac:picMkLst>
        </pc:picChg>
      </pc:sldChg>
      <pc:sldMasterChg chg="modSp mod">
        <pc:chgData name="Colon, Jeffrey M." userId="615143b1-cdee-493d-9a9d-1565ce8666d9" providerId="ADAL" clId="{DC1DB158-BAB1-5930-B714-AEF472873853}" dt="2026-09-18T14:24:13.518" v="3" actId="403"/>
        <pc:sldMasterMkLst>
          <pc:docMk/>
          <pc:sldMasterMk cId="1198770841" sldId="2147483834"/>
        </pc:sldMasterMkLst>
        <pc:spChg chg="mod">
          <ac:chgData name="Colon, Jeffrey M." userId="615143b1-cdee-493d-9a9d-1565ce8666d9" providerId="ADAL" clId="{DC1DB158-BAB1-5930-B714-AEF472873853}" dt="2026-09-18T14:24:13.518" v="3" actId="403"/>
          <ac:spMkLst>
            <pc:docMk/>
            <pc:sldMasterMk cId="1198770841" sldId="2147483834"/>
            <ac:spMk id="9" creationId="{00000000-0000-0000-0000-000000000000}"/>
          </ac:spMkLst>
        </pc:spChg>
        <pc:spChg chg="mod">
          <ac:chgData name="Colon, Jeffrey M." userId="615143b1-cdee-493d-9a9d-1565ce8666d9" providerId="ADAL" clId="{DC1DB158-BAB1-5930-B714-AEF472873853}" dt="2026-09-18T14:24:04.292" v="2" actId="403"/>
          <ac:spMkLst>
            <pc:docMk/>
            <pc:sldMasterMk cId="1198770841" sldId="2147483834"/>
            <ac:spMk id="10"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037840" cy="46156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lvl1pPr defTabSz="927804">
              <a:defRPr sz="1200">
                <a:latin typeface="Calibri"/>
                <a:ea typeface="+mn-ea"/>
                <a:cs typeface="+mn-cs"/>
              </a:defRPr>
            </a:lvl1pPr>
          </a:lstStyle>
          <a:p>
            <a:pPr>
              <a:defRPr/>
            </a:pPr>
            <a:endParaRPr lang="en-US"/>
          </a:p>
        </p:txBody>
      </p:sp>
      <p:sp>
        <p:nvSpPr>
          <p:cNvPr id="92163" name="Rectangle 3"/>
          <p:cNvSpPr>
            <a:spLocks noGrp="1" noChangeArrowheads="1"/>
          </p:cNvSpPr>
          <p:nvPr>
            <p:ph type="dt" sz="quarter" idx="1"/>
          </p:nvPr>
        </p:nvSpPr>
        <p:spPr bwMode="auto">
          <a:xfrm>
            <a:off x="3970938" y="0"/>
            <a:ext cx="3037840" cy="46156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lvl1pPr algn="r" defTabSz="927804">
              <a:defRPr sz="1200">
                <a:latin typeface="Calibri"/>
                <a:ea typeface="+mn-ea"/>
                <a:cs typeface="+mn-cs"/>
              </a:defRPr>
            </a:lvl1pPr>
          </a:lstStyle>
          <a:p>
            <a:pPr>
              <a:defRPr/>
            </a:pPr>
            <a:endParaRPr lang="en-US"/>
          </a:p>
        </p:txBody>
      </p:sp>
      <p:sp>
        <p:nvSpPr>
          <p:cNvPr id="92164" name="Rectangle 4"/>
          <p:cNvSpPr>
            <a:spLocks noGrp="1" noChangeArrowheads="1"/>
          </p:cNvSpPr>
          <p:nvPr>
            <p:ph type="ftr" sz="quarter" idx="2"/>
          </p:nvPr>
        </p:nvSpPr>
        <p:spPr bwMode="auto">
          <a:xfrm>
            <a:off x="0" y="8772914"/>
            <a:ext cx="3037840" cy="461564"/>
          </a:xfrm>
          <a:prstGeom prst="rect">
            <a:avLst/>
          </a:prstGeom>
          <a:noFill/>
          <a:ln w="9525">
            <a:noFill/>
            <a:miter lim="800000"/>
            <a:headEnd/>
            <a:tailEnd/>
          </a:ln>
          <a:effectLst/>
        </p:spPr>
        <p:txBody>
          <a:bodyPr vert="horz" wrap="square" lIns="92818" tIns="46409" rIns="92818" bIns="46409" numCol="1" anchor="b" anchorCtr="0" compatLnSpc="1">
            <a:prstTxWarp prst="textNoShape">
              <a:avLst/>
            </a:prstTxWarp>
          </a:bodyPr>
          <a:lstStyle>
            <a:lvl1pPr defTabSz="927804">
              <a:defRPr sz="1200">
                <a:latin typeface="Calibri"/>
                <a:ea typeface="+mn-ea"/>
                <a:cs typeface="+mn-cs"/>
              </a:defRPr>
            </a:lvl1pPr>
          </a:lstStyle>
          <a:p>
            <a:pPr>
              <a:defRPr/>
            </a:pPr>
            <a:endParaRPr lang="en-US"/>
          </a:p>
        </p:txBody>
      </p:sp>
      <p:sp>
        <p:nvSpPr>
          <p:cNvPr id="92165" name="Rectangle 5"/>
          <p:cNvSpPr>
            <a:spLocks noGrp="1" noChangeArrowheads="1"/>
          </p:cNvSpPr>
          <p:nvPr>
            <p:ph type="sldNum" sz="quarter" idx="3"/>
          </p:nvPr>
        </p:nvSpPr>
        <p:spPr bwMode="auto">
          <a:xfrm>
            <a:off x="3970938" y="8772914"/>
            <a:ext cx="3037840" cy="461564"/>
          </a:xfrm>
          <a:prstGeom prst="rect">
            <a:avLst/>
          </a:prstGeom>
          <a:noFill/>
          <a:ln w="9525">
            <a:noFill/>
            <a:miter lim="800000"/>
            <a:headEnd/>
            <a:tailEnd/>
          </a:ln>
          <a:effectLst/>
        </p:spPr>
        <p:txBody>
          <a:bodyPr vert="horz" wrap="square" lIns="92818" tIns="46409" rIns="92818" bIns="46409" numCol="1" anchor="b" anchorCtr="0" compatLnSpc="1">
            <a:prstTxWarp prst="textNoShape">
              <a:avLst/>
            </a:prstTxWarp>
          </a:bodyPr>
          <a:lstStyle>
            <a:lvl1pPr algn="r" defTabSz="927804">
              <a:defRPr sz="1200" smtClean="0">
                <a:latin typeface="Calibri"/>
              </a:defRPr>
            </a:lvl1pPr>
          </a:lstStyle>
          <a:p>
            <a:pPr>
              <a:defRPr/>
            </a:pPr>
            <a:fld id="{F9433022-AD75-114C-B0EE-FB00A9A7852F}" type="slidenum">
              <a:rPr lang="en-US"/>
              <a:pPr>
                <a:defRPr/>
              </a:pPr>
              <a:t>‹#›</a:t>
            </a:fld>
            <a:endParaRPr lang="en-US"/>
          </a:p>
        </p:txBody>
      </p:sp>
    </p:spTree>
    <p:extLst>
      <p:ext uri="{BB962C8B-B14F-4D97-AF65-F5344CB8AC3E}">
        <p14:creationId xmlns:p14="http://schemas.microsoft.com/office/powerpoint/2010/main" val="29413040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7840" cy="46156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lvl1pPr defTabSz="927804">
              <a:defRPr sz="1200">
                <a:latin typeface="Calibri"/>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970938" y="0"/>
            <a:ext cx="3037840" cy="46156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lvl1pPr algn="r" defTabSz="927804">
              <a:defRPr sz="1200">
                <a:latin typeface="Calibri"/>
                <a:ea typeface="+mn-ea"/>
                <a:cs typeface="+mn-cs"/>
              </a:defRPr>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95388" y="693738"/>
            <a:ext cx="4619625" cy="3463925"/>
          </a:xfrm>
          <a:prstGeom prst="rect">
            <a:avLst/>
          </a:prstGeom>
          <a:noFill/>
          <a:ln w="9525">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1040" y="4387256"/>
            <a:ext cx="5608320" cy="415567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2914"/>
            <a:ext cx="3037840" cy="461564"/>
          </a:xfrm>
          <a:prstGeom prst="rect">
            <a:avLst/>
          </a:prstGeom>
          <a:noFill/>
          <a:ln w="9525">
            <a:noFill/>
            <a:miter lim="800000"/>
            <a:headEnd/>
            <a:tailEnd/>
          </a:ln>
          <a:effectLst/>
        </p:spPr>
        <p:txBody>
          <a:bodyPr vert="horz" wrap="square" lIns="92818" tIns="46409" rIns="92818" bIns="46409" numCol="1" anchor="b" anchorCtr="0" compatLnSpc="1">
            <a:prstTxWarp prst="textNoShape">
              <a:avLst/>
            </a:prstTxWarp>
          </a:bodyPr>
          <a:lstStyle>
            <a:lvl1pPr defTabSz="927804">
              <a:defRPr sz="1200">
                <a:latin typeface="Calibri"/>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0938" y="8772914"/>
            <a:ext cx="3037840" cy="461564"/>
          </a:xfrm>
          <a:prstGeom prst="rect">
            <a:avLst/>
          </a:prstGeom>
          <a:noFill/>
          <a:ln w="9525">
            <a:noFill/>
            <a:miter lim="800000"/>
            <a:headEnd/>
            <a:tailEnd/>
          </a:ln>
          <a:effectLst/>
        </p:spPr>
        <p:txBody>
          <a:bodyPr vert="horz" wrap="square" lIns="92818" tIns="46409" rIns="92818" bIns="46409" numCol="1" anchor="b" anchorCtr="0" compatLnSpc="1">
            <a:prstTxWarp prst="textNoShape">
              <a:avLst/>
            </a:prstTxWarp>
          </a:bodyPr>
          <a:lstStyle>
            <a:lvl1pPr algn="r" defTabSz="927804">
              <a:defRPr sz="1200" smtClean="0">
                <a:latin typeface="Calibri"/>
              </a:defRPr>
            </a:lvl1pPr>
          </a:lstStyle>
          <a:p>
            <a:pPr>
              <a:defRPr/>
            </a:pPr>
            <a:fld id="{5205D13A-D87A-DC43-B033-00FB4B60DA29}" type="slidenum">
              <a:rPr lang="en-US"/>
              <a:pPr>
                <a:defRPr/>
              </a:pPr>
              <a:t>‹#›</a:t>
            </a:fld>
            <a:endParaRPr lang="en-US"/>
          </a:p>
        </p:txBody>
      </p:sp>
    </p:spTree>
    <p:extLst>
      <p:ext uri="{BB962C8B-B14F-4D97-AF65-F5344CB8AC3E}">
        <p14:creationId xmlns:p14="http://schemas.microsoft.com/office/powerpoint/2010/main" val="249837350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2pPr>
    <a:lvl3pPr marL="9144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3pPr>
    <a:lvl4pPr marL="13716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4pPr>
    <a:lvl5pPr marL="18288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2A4D45-8B45-AB4A-B4BF-67025D02223F}" type="slidenum">
              <a:rPr lang="en-US" sz="1200">
                <a:latin typeface="Calibri" charset="0"/>
              </a:rPr>
              <a:pPr eaLnBrk="1" hangingPunct="1"/>
              <a:t>3</a:t>
            </a:fld>
            <a:endParaRPr lang="en-US" sz="1200">
              <a:latin typeface="Calibri" charset="0"/>
            </a:endParaRPr>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dirty="0">
              <a:latin typeface="Calibri" charset="0"/>
              <a:ea typeface="ＭＳ Ｐゴシック" charset="0"/>
              <a:cs typeface="ＭＳ Ｐゴシック" charset="0"/>
            </a:endParaRPr>
          </a:p>
        </p:txBody>
      </p:sp>
    </p:spTree>
    <p:extLst>
      <p:ext uri="{BB962C8B-B14F-4D97-AF65-F5344CB8AC3E}">
        <p14:creationId xmlns:p14="http://schemas.microsoft.com/office/powerpoint/2010/main" val="44975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2B49542-E2C8-F841-9898-ED0A0C96843E}" type="slidenum">
              <a:rPr lang="en-US" sz="1200">
                <a:latin typeface="Calibri" charset="0"/>
              </a:rPr>
              <a:pPr eaLnBrk="1" hangingPunct="1"/>
              <a:t>6</a:t>
            </a:fld>
            <a:endParaRPr lang="en-US" sz="1200">
              <a:latin typeface="Calibri" charset="0"/>
            </a:endParaRPr>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2129342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C98F106-93C6-5141-AAE3-F7C4D3B52191}" type="slidenum">
              <a:rPr lang="en-US" sz="1200">
                <a:latin typeface="Calibri" charset="0"/>
              </a:rPr>
              <a:pPr eaLnBrk="1" hangingPunct="1"/>
              <a:t>7</a:t>
            </a:fld>
            <a:endParaRPr lang="en-US" sz="1200">
              <a:latin typeface="Calibri" charset="0"/>
            </a:endParaRPr>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39966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C4597E-313C-4743-81C7-3499193FC98D}" type="slidenum">
              <a:rPr lang="en-US" sz="1200">
                <a:latin typeface="Calibri" charset="0"/>
              </a:rPr>
              <a:pPr eaLnBrk="1" hangingPunct="1"/>
              <a:t>8</a:t>
            </a:fld>
            <a:endParaRPr lang="en-US" sz="1200">
              <a:latin typeface="Calibri" charset="0"/>
            </a:endParaRPr>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700218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78638E4-B592-484C-BB80-8EE6F425976F}" type="slidenum">
              <a:rPr lang="en-US" sz="1200">
                <a:latin typeface="Calibri" charset="0"/>
              </a:rPr>
              <a:pPr eaLnBrk="1" hangingPunct="1"/>
              <a:t>9</a:t>
            </a:fld>
            <a:endParaRPr lang="en-US" sz="1200">
              <a:latin typeface="Calibri" charset="0"/>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161073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DF65ED4-6F19-624D-BE86-E09F8F24C255}" type="slidenum">
              <a:rPr lang="en-US" sz="1200">
                <a:latin typeface="Calibri" charset="0"/>
              </a:rPr>
              <a:pPr eaLnBrk="1" hangingPunct="1"/>
              <a:t>10</a:t>
            </a:fld>
            <a:endParaRPr lang="en-US" sz="1200">
              <a:latin typeface="Calibri" charset="0"/>
            </a:endParaRPr>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2132284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36C8603-CC00-C048-BF65-26FB91F46A61}" type="slidenum">
              <a:rPr lang="en-US" sz="1200">
                <a:latin typeface="Calibri" charset="0"/>
              </a:rPr>
              <a:pPr eaLnBrk="1" hangingPunct="1"/>
              <a:t>11</a:t>
            </a:fld>
            <a:endParaRPr lang="en-US" sz="1200">
              <a:latin typeface="Calibri" charset="0"/>
            </a:endParaRPr>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98792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2556682-145D-7943-9252-DE9B5FAB3226}" type="slidenum">
              <a:rPr lang="en-US" sz="1200">
                <a:latin typeface="Calibri" charset="0"/>
              </a:rPr>
              <a:pPr eaLnBrk="1" hangingPunct="1"/>
              <a:t>12</a:t>
            </a:fld>
            <a:endParaRPr lang="en-US" sz="1200">
              <a:latin typeface="Calibri"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xfrm>
            <a:off x="934720" y="4387256"/>
            <a:ext cx="5140960" cy="4155675"/>
          </a:xfrm>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407243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79D732E-76FA-A343-BC90-B604E2BB910B}" type="slidenum">
              <a:rPr lang="en-US" sz="1200">
                <a:latin typeface="Calibri" charset="0"/>
              </a:rPr>
              <a:pPr eaLnBrk="1" hangingPunct="1"/>
              <a:t>13</a:t>
            </a:fld>
            <a:endParaRPr lang="en-US" sz="1200">
              <a:latin typeface="Calibri" charset="0"/>
            </a:endParaRPr>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504381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989F7D5-185C-4F41-90FE-54AEC4428D6A}" type="slidenum">
              <a:rPr lang="en-US" sz="1200">
                <a:latin typeface="Calibri" charset="0"/>
              </a:rPr>
              <a:pPr eaLnBrk="1" hangingPunct="1"/>
              <a:t>14</a:t>
            </a:fld>
            <a:endParaRPr lang="en-US" sz="1200">
              <a:latin typeface="Calibri" charset="0"/>
            </a:endParaRPr>
          </a:p>
        </p:txBody>
      </p:sp>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028705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D380E5F-CC1F-1B4E-B15F-C75A1E1C4F1B}" type="slidenum">
              <a:rPr lang="en-US" sz="1200">
                <a:latin typeface="Calibri" charset="0"/>
              </a:rPr>
              <a:pPr eaLnBrk="1" hangingPunct="1"/>
              <a:t>15</a:t>
            </a:fld>
            <a:endParaRPr lang="en-US" sz="1200">
              <a:latin typeface="Calibri" charset="0"/>
            </a:endParaRPr>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67857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BC04D62-3E04-0444-AFAA-794809BA959D}" type="slidenum">
              <a:rPr lang="en-US" sz="1200">
                <a:latin typeface="Calibri" charset="0"/>
              </a:rPr>
              <a:pPr eaLnBrk="1" hangingPunct="1"/>
              <a:t>16</a:t>
            </a:fld>
            <a:endParaRPr lang="en-US" sz="1200">
              <a:latin typeface="Calibri" charset="0"/>
            </a:endParaRPr>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74513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4ED1958-DCA8-1546-9D87-B53012E19C65}" type="slidenum">
              <a:rPr lang="en-US" sz="1200">
                <a:latin typeface="Calibri" charset="0"/>
              </a:rPr>
              <a:pPr eaLnBrk="1" hangingPunct="1"/>
              <a:t>17</a:t>
            </a:fld>
            <a:endParaRPr lang="en-US" sz="1200">
              <a:latin typeface="Calibri" charset="0"/>
            </a:endParaRPr>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738174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8269CCA-5209-8E4C-805E-F1103938CCEB}" type="slidenum">
              <a:rPr lang="en-US" sz="1200">
                <a:latin typeface="Calibri" charset="0"/>
              </a:rPr>
              <a:pPr eaLnBrk="1" hangingPunct="1"/>
              <a:t>18</a:t>
            </a:fld>
            <a:endParaRPr lang="en-US" sz="1200">
              <a:latin typeface="Calibri" charset="0"/>
            </a:endParaRPr>
          </a:p>
        </p:txBody>
      </p:sp>
      <p:sp>
        <p:nvSpPr>
          <p:cNvPr id="46082" name="Rectangle 2"/>
          <p:cNvSpPr>
            <a:spLocks noGrp="1" noRot="1" noChangeAspect="1" noChangeArrowheads="1" noTextEdit="1"/>
          </p:cNvSpPr>
          <p:nvPr>
            <p:ph type="sldImg"/>
          </p:nvPr>
        </p:nvSpPr>
        <p:spPr>
          <a:solidFill>
            <a:srgbClr val="FFFFFF"/>
          </a:solidFill>
          <a:ln/>
        </p:spPr>
      </p:sp>
      <p:sp>
        <p:nvSpPr>
          <p:cNvPr id="46083"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lIns="91230" tIns="45615" rIns="91230" bIns="45615"/>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277258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F25796B-4712-0248-895B-AB5800B710F6}" type="slidenum">
              <a:rPr lang="en-US" sz="1200">
                <a:latin typeface="Calibri" charset="0"/>
              </a:rPr>
              <a:pPr eaLnBrk="1" hangingPunct="1"/>
              <a:t>22</a:t>
            </a:fld>
            <a:endParaRPr lang="en-US" sz="1200">
              <a:latin typeface="Calibri" charset="0"/>
            </a:endParaRPr>
          </a:p>
        </p:txBody>
      </p:sp>
      <p:sp>
        <p:nvSpPr>
          <p:cNvPr id="49154" name="Rectangle 2"/>
          <p:cNvSpPr>
            <a:spLocks noGrp="1" noRot="1" noChangeAspect="1" noChangeArrowheads="1" noTextEdit="1"/>
          </p:cNvSpPr>
          <p:nvPr>
            <p:ph type="sldImg"/>
          </p:nvPr>
        </p:nvSpPr>
        <p:spPr>
          <a:solidFill>
            <a:srgbClr val="FFFFFF"/>
          </a:solidFill>
          <a:ln/>
        </p:spPr>
      </p:sp>
      <p:sp>
        <p:nvSpPr>
          <p:cNvPr id="4915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lIns="91230" tIns="45615" rIns="91230" bIns="45615"/>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640922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F00F2DA-DC33-3F44-B245-2292B237C3AD}" type="slidenum">
              <a:rPr lang="en-US" sz="1200">
                <a:latin typeface="Calibri" charset="0"/>
              </a:rPr>
              <a:pPr eaLnBrk="1" hangingPunct="1"/>
              <a:t>24</a:t>
            </a:fld>
            <a:endParaRPr lang="en-US" sz="1200">
              <a:latin typeface="Calibri" charset="0"/>
            </a:endParaRPr>
          </a:p>
        </p:txBody>
      </p:sp>
      <p:sp>
        <p:nvSpPr>
          <p:cNvPr id="52226" name="Rectangle 2"/>
          <p:cNvSpPr>
            <a:spLocks noGrp="1" noRot="1" noChangeAspect="1" noChangeArrowheads="1" noTextEdit="1"/>
          </p:cNvSpPr>
          <p:nvPr>
            <p:ph type="sldImg"/>
          </p:nvPr>
        </p:nvSpPr>
        <p:spPr>
          <a:solidFill>
            <a:srgbClr val="FFFFFF"/>
          </a:solidFill>
          <a:ln/>
        </p:spPr>
      </p:sp>
      <p:sp>
        <p:nvSpPr>
          <p:cNvPr id="52227"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lIns="91230" tIns="45615" rIns="91230" bIns="45615"/>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213055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68D740F-C454-3347-A0B0-FC78E4863E69}" type="slidenum">
              <a:rPr lang="en-US" sz="1200">
                <a:latin typeface="Calibri" charset="0"/>
              </a:rPr>
              <a:pPr eaLnBrk="1" hangingPunct="1"/>
              <a:t>25</a:t>
            </a:fld>
            <a:endParaRPr lang="en-US" sz="1200">
              <a:latin typeface="Calibri" charset="0"/>
            </a:endParaRPr>
          </a:p>
        </p:txBody>
      </p:sp>
      <p:sp>
        <p:nvSpPr>
          <p:cNvPr id="54274" name="Rectangle 2"/>
          <p:cNvSpPr>
            <a:spLocks noGrp="1" noRot="1" noChangeAspect="1" noChangeArrowheads="1" noTextEdit="1"/>
          </p:cNvSpPr>
          <p:nvPr>
            <p:ph type="sldImg"/>
          </p:nvPr>
        </p:nvSpPr>
        <p:spPr>
          <a:solidFill>
            <a:srgbClr val="FFFFFF"/>
          </a:solidFill>
          <a:ln/>
        </p:spPr>
      </p:sp>
      <p:sp>
        <p:nvSpPr>
          <p:cNvPr id="5427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lIns="91230" tIns="45615" rIns="91230" bIns="45615"/>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971658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E07D3D7-3DC5-CF4E-9482-BAB4564A6F0F}" type="slidenum">
              <a:rPr lang="en-US" sz="1200">
                <a:latin typeface="Calibri" charset="0"/>
              </a:rPr>
              <a:pPr eaLnBrk="1" hangingPunct="1"/>
              <a:t>26</a:t>
            </a:fld>
            <a:endParaRPr lang="en-US" sz="1200">
              <a:latin typeface="Calibri" charset="0"/>
            </a:endParaRPr>
          </a:p>
        </p:txBody>
      </p:sp>
      <p:sp>
        <p:nvSpPr>
          <p:cNvPr id="56322" name="Rectangle 2"/>
          <p:cNvSpPr>
            <a:spLocks noGrp="1" noRot="1" noChangeAspect="1" noChangeArrowheads="1" noTextEdit="1"/>
          </p:cNvSpPr>
          <p:nvPr>
            <p:ph type="sldImg"/>
          </p:nvPr>
        </p:nvSpPr>
        <p:spPr>
          <a:solidFill>
            <a:srgbClr val="FFFFFF"/>
          </a:solidFill>
          <a:ln/>
        </p:spPr>
      </p:sp>
      <p:sp>
        <p:nvSpPr>
          <p:cNvPr id="56323"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lIns="91230" tIns="45615" rIns="91230" bIns="45615"/>
          <a:lstStyle/>
          <a:p>
            <a:pPr eaLnBrk="1" hangingPunct="1"/>
            <a:endParaRPr lang="en-US" dirty="0">
              <a:latin typeface="Calibri" charset="0"/>
              <a:ea typeface="ＭＳ Ｐゴシック" charset="0"/>
              <a:cs typeface="ＭＳ Ｐゴシック" charset="0"/>
            </a:endParaRPr>
          </a:p>
        </p:txBody>
      </p:sp>
    </p:spTree>
    <p:extLst>
      <p:ext uri="{BB962C8B-B14F-4D97-AF65-F5344CB8AC3E}">
        <p14:creationId xmlns:p14="http://schemas.microsoft.com/office/powerpoint/2010/main" val="1194488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205D13A-D87A-DC43-B033-00FB4B60DA29}" type="slidenum">
              <a:rPr lang="en-US" smtClean="0"/>
              <a:pPr>
                <a:defRPr/>
              </a:pPr>
              <a:t>34</a:t>
            </a:fld>
            <a:endParaRPr lang="en-US"/>
          </a:p>
        </p:txBody>
      </p:sp>
    </p:spTree>
    <p:extLst>
      <p:ext uri="{BB962C8B-B14F-4D97-AF65-F5344CB8AC3E}">
        <p14:creationId xmlns:p14="http://schemas.microsoft.com/office/powerpoint/2010/main" val="3420754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3786ADA-A8C8-5746-A4E0-7CCF934DDE07}" type="slidenum">
              <a:rPr lang="en-US" sz="1200">
                <a:latin typeface="Calibri" charset="0"/>
              </a:rPr>
              <a:pPr eaLnBrk="1" hangingPunct="1"/>
              <a:t>35</a:t>
            </a:fld>
            <a:endParaRPr lang="en-US" sz="1200">
              <a:latin typeface="Calibri" charset="0"/>
            </a:endParaRPr>
          </a:p>
        </p:txBody>
      </p:sp>
      <p:sp>
        <p:nvSpPr>
          <p:cNvPr id="67586" name="Rectangle 2"/>
          <p:cNvSpPr>
            <a:spLocks noGrp="1" noRot="1" noChangeAspect="1" noChangeArrowheads="1" noTextEdit="1"/>
          </p:cNvSpPr>
          <p:nvPr>
            <p:ph type="sldImg"/>
          </p:nvPr>
        </p:nvSpPr>
        <p:spPr>
          <a:solidFill>
            <a:srgbClr val="FFFFFF"/>
          </a:solidFill>
          <a:ln/>
        </p:spPr>
      </p:sp>
      <p:sp>
        <p:nvSpPr>
          <p:cNvPr id="67587"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69344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47BDA9F-8291-9247-8E10-CEE85F374C90}" type="slidenum">
              <a:rPr lang="en-US" sz="1200">
                <a:latin typeface="Calibri" charset="0"/>
              </a:rPr>
              <a:pPr eaLnBrk="1" hangingPunct="1"/>
              <a:t>36</a:t>
            </a:fld>
            <a:endParaRPr lang="en-US" sz="1200">
              <a:latin typeface="Calibri" charset="0"/>
            </a:endParaRPr>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529883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205D13A-D87A-DC43-B033-00FB4B60DA29}" type="slidenum">
              <a:rPr lang="en-US" smtClean="0"/>
              <a:pPr>
                <a:defRPr/>
              </a:pPr>
              <a:t>39</a:t>
            </a:fld>
            <a:endParaRPr lang="en-US"/>
          </a:p>
        </p:txBody>
      </p:sp>
    </p:spTree>
    <p:extLst>
      <p:ext uri="{BB962C8B-B14F-4D97-AF65-F5344CB8AC3E}">
        <p14:creationId xmlns:p14="http://schemas.microsoft.com/office/powerpoint/2010/main" val="111182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80EBE85-5DB4-514A-815C-0DCDBC2A3F27}" type="slidenum">
              <a:rPr lang="en-US" sz="1200">
                <a:latin typeface="Calibri" charset="0"/>
              </a:rPr>
              <a:pPr eaLnBrk="1" hangingPunct="1"/>
              <a:t>43</a:t>
            </a:fld>
            <a:endParaRPr lang="en-US" sz="1200">
              <a:latin typeface="Calibri" charset="0"/>
            </a:endParaRPr>
          </a:p>
        </p:txBody>
      </p:sp>
      <p:sp>
        <p:nvSpPr>
          <p:cNvPr id="80898" name="Rectangle 2"/>
          <p:cNvSpPr>
            <a:spLocks noGrp="1" noRot="1" noChangeAspect="1" noChangeArrowheads="1" noTextEdit="1"/>
          </p:cNvSpPr>
          <p:nvPr>
            <p:ph type="sldImg"/>
          </p:nvPr>
        </p:nvSpPr>
        <p:spPr>
          <a:xfrm>
            <a:off x="1198563" y="261938"/>
            <a:ext cx="4613275" cy="3459162"/>
          </a:xfrm>
          <a:ln w="12699" cap="flat">
            <a:solidFill>
              <a:schemeClr val="tx1"/>
            </a:solidFill>
          </a:ln>
        </p:spPr>
      </p:sp>
      <p:sp>
        <p:nvSpPr>
          <p:cNvPr id="80899" name="Rectangle 3"/>
          <p:cNvSpPr>
            <a:spLocks noChangeArrowheads="1"/>
          </p:cNvSpPr>
          <p:nvPr/>
        </p:nvSpPr>
        <p:spPr bwMode="auto">
          <a:xfrm>
            <a:off x="2166410" y="1598"/>
            <a:ext cx="2675517" cy="2477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2921" tIns="46462" rIns="92921" bIns="46462">
            <a:spAutoFit/>
          </a:bodyPr>
          <a:lstStyle/>
          <a:p>
            <a:pPr defTabSz="922980" eaLnBrk="0" hangingPunct="0"/>
            <a:r>
              <a:rPr lang="en-US" sz="1000">
                <a:latin typeface="Times New Roman" charset="0"/>
              </a:rPr>
              <a:t>2. Forwards and Futures  </a:t>
            </a:r>
            <a:r>
              <a:rPr lang="en-US" sz="1000">
                <a:latin typeface="Symbol" charset="0"/>
              </a:rPr>
              <a:t>®</a:t>
            </a:r>
            <a:r>
              <a:rPr lang="en-US" sz="1000">
                <a:latin typeface="Times New Roman" charset="0"/>
              </a:rPr>
              <a:t>  2.1 Asset and Cash</a:t>
            </a:r>
          </a:p>
        </p:txBody>
      </p:sp>
      <p:sp>
        <p:nvSpPr>
          <p:cNvPr id="80900" name="Rectangle 4"/>
          <p:cNvSpPr>
            <a:spLocks noGrp="1" noChangeArrowheads="1"/>
          </p:cNvSpPr>
          <p:nvPr>
            <p:ph type="body" idx="1"/>
          </p:nvPr>
        </p:nvSpPr>
        <p:spPr>
          <a:xfrm>
            <a:off x="233680" y="3954439"/>
            <a:ext cx="6543040" cy="4762576"/>
          </a:xfrm>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080" tIns="45539" rIns="91080" bIns="45539"/>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150311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437DA51-8F47-1D46-8057-8136D2C8B6A9}" type="slidenum">
              <a:rPr lang="en-US" sz="1200">
                <a:latin typeface="Calibri" charset="0"/>
              </a:rPr>
              <a:pPr eaLnBrk="1" hangingPunct="1"/>
              <a:t>44</a:t>
            </a:fld>
            <a:endParaRPr lang="en-US" sz="1200">
              <a:latin typeface="Calibri" charset="0"/>
            </a:endParaRPr>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5712318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E377FFB-2B57-7948-AE3D-75D1465BB17D}" type="slidenum">
              <a:rPr lang="en-US" sz="1200">
                <a:latin typeface="Calibri" charset="0"/>
              </a:rPr>
              <a:pPr eaLnBrk="1" hangingPunct="1"/>
              <a:t>45</a:t>
            </a:fld>
            <a:endParaRPr lang="en-US" sz="1200">
              <a:latin typeface="Calibri" charset="0"/>
            </a:endParaRPr>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441548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dirty="0"/>
              <a:t>Interest Rate and Credit Risks</a:t>
            </a:r>
          </a:p>
        </p:txBody>
      </p:sp>
    </p:spTree>
    <p:extLst>
      <p:ext uri="{BB962C8B-B14F-4D97-AF65-F5344CB8AC3E}">
        <p14:creationId xmlns:p14="http://schemas.microsoft.com/office/powerpoint/2010/main" val="196637180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dirty="0"/>
              <a:t>Interest Rate and Credit Risks</a:t>
            </a: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79593099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Interest Rate and Credit Risks</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2016917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214319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2026604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371666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Interest Rate and Credit Risks</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26091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52023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340401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610846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2087875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605512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Interest Rate and Credit Risks</a:t>
            </a:r>
            <a:endParaRPr lang="en-US" dirty="0"/>
          </a:p>
        </p:txBody>
      </p:sp>
    </p:spTree>
    <p:extLst>
      <p:ext uri="{BB962C8B-B14F-4D97-AF65-F5344CB8AC3E}">
        <p14:creationId xmlns:p14="http://schemas.microsoft.com/office/powerpoint/2010/main" val="1834111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817859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296328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9083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321770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6505028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8272187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1931012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996506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8810490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669816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2047996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6629034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5184345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316032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4487426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2035787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8657838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7955270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3943577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961000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5070837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9656773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8199699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9564660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3771371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5929330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5470250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5885527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8604667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1009170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9629168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8273526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736551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5030538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6092061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20755402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4177281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7616714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3219673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7473687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20071301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Interest Rate and Credit Risks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1322844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Interest Rate and Credit Risks</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9572980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hart Placeholder 2"/>
          <p:cNvSpPr>
            <a:spLocks noGrp="1"/>
          </p:cNvSpPr>
          <p:nvPr>
            <p:ph type="chart" idx="1"/>
          </p:nvPr>
        </p:nvSpPr>
        <p:spPr>
          <a:xfrm>
            <a:off x="457200" y="1371600"/>
            <a:ext cx="8229600" cy="4754563"/>
          </a:xfrm>
          <a:prstGeom prst="rect">
            <a:avLst/>
          </a:prstGeom>
        </p:spPr>
        <p:txBody>
          <a:bodyPr/>
          <a:lstStyle/>
          <a:p>
            <a:pPr lvl="0"/>
            <a:endParaRPr lang="en-US" noProof="0"/>
          </a:p>
        </p:txBody>
      </p:sp>
      <p:sp>
        <p:nvSpPr>
          <p:cNvPr id="4" name="Rectangle 4"/>
          <p:cNvSpPr>
            <a:spLocks noGrp="1" noChangeArrowheads="1"/>
          </p:cNvSpPr>
          <p:nvPr>
            <p:ph type="ftr" sz="quarter" idx="10"/>
          </p:nvPr>
        </p:nvSpPr>
        <p:spPr/>
        <p:txBody>
          <a:bodyPr/>
          <a:lstStyle>
            <a:lvl1pPr>
              <a:defRPr/>
            </a:lvl1pPr>
          </a:lstStyle>
          <a:p>
            <a:r>
              <a:rPr lang="en-US"/>
              <a:t>Interest Rate and Credit Risks</a:t>
            </a:r>
            <a:endParaRPr lang="en-US" dirty="0"/>
          </a:p>
        </p:txBody>
      </p:sp>
      <p:sp>
        <p:nvSpPr>
          <p:cNvPr id="5" name="Rectangle 5"/>
          <p:cNvSpPr>
            <a:spLocks noGrp="1" noChangeArrowheads="1"/>
          </p:cNvSpPr>
          <p:nvPr>
            <p:ph type="sldNum" sz="quarter" idx="11"/>
          </p:nvPr>
        </p:nvSpPr>
        <p:spPr/>
        <p:txBody>
          <a:bodyPr/>
          <a:lstStyle>
            <a:lvl1pPr>
              <a:defRPr sz="900">
                <a:latin typeface="Calibri"/>
              </a:defRPr>
            </a:lvl1pPr>
          </a:lstStyle>
          <a:p>
            <a:fld id="{D73BDDF0-D611-5747-98E9-44F7AB039170}" type="slidenum">
              <a:rPr lang="en-US"/>
              <a:pPr/>
              <a:t>‹#›</a:t>
            </a:fld>
            <a:endParaRPr lang="en-US"/>
          </a:p>
        </p:txBody>
      </p:sp>
    </p:spTree>
    <p:extLst>
      <p:ext uri="{BB962C8B-B14F-4D97-AF65-F5344CB8AC3E}">
        <p14:creationId xmlns:p14="http://schemas.microsoft.com/office/powerpoint/2010/main" val="13860171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0"/>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371600"/>
            <a:ext cx="4038600" cy="23002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24288"/>
            <a:ext cx="4038600" cy="23018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ftr" sz="quarter" idx="10"/>
          </p:nvPr>
        </p:nvSpPr>
        <p:spPr/>
        <p:txBody>
          <a:bodyPr/>
          <a:lstStyle>
            <a:lvl1pPr>
              <a:defRPr/>
            </a:lvl1pPr>
          </a:lstStyle>
          <a:p>
            <a:r>
              <a:rPr lang="en-US"/>
              <a:t>Interest Rate and Credit Risks</a:t>
            </a:r>
            <a:endParaRPr lang="en-US" dirty="0"/>
          </a:p>
        </p:txBody>
      </p:sp>
      <p:sp>
        <p:nvSpPr>
          <p:cNvPr id="7" name="Rectangle 5"/>
          <p:cNvSpPr>
            <a:spLocks noGrp="1" noChangeArrowheads="1"/>
          </p:cNvSpPr>
          <p:nvPr>
            <p:ph type="sldNum" sz="quarter" idx="11"/>
          </p:nvPr>
        </p:nvSpPr>
        <p:spPr/>
        <p:txBody>
          <a:bodyPr/>
          <a:lstStyle>
            <a:lvl1pPr>
              <a:defRPr sz="900">
                <a:latin typeface="Calibri"/>
              </a:defRPr>
            </a:lvl1pPr>
          </a:lstStyle>
          <a:p>
            <a:fld id="{B964C707-BAA9-614C-A59F-B1F1B822DCE9}" type="slidenum">
              <a:rPr lang="en-US"/>
              <a:pPr/>
              <a:t>‹#›</a:t>
            </a:fld>
            <a:endParaRPr lang="en-US"/>
          </a:p>
        </p:txBody>
      </p:sp>
    </p:spTree>
    <p:extLst>
      <p:ext uri="{BB962C8B-B14F-4D97-AF65-F5344CB8AC3E}">
        <p14:creationId xmlns:p14="http://schemas.microsoft.com/office/powerpoint/2010/main" val="9635851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371600"/>
            <a:ext cx="4038600" cy="4754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754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p:txBody>
          <a:bodyPr/>
          <a:lstStyle>
            <a:lvl1pPr>
              <a:defRPr sz="900" smtClean="0">
                <a:latin typeface="Calibri"/>
                <a:cs typeface="Calibri"/>
              </a:defRPr>
            </a:lvl1pPr>
          </a:lstStyle>
          <a:p>
            <a:pPr>
              <a:defRPr/>
            </a:pPr>
            <a:r>
              <a:rPr lang="en-US"/>
              <a:t>Interest Rate and Credit Risks</a:t>
            </a:r>
          </a:p>
        </p:txBody>
      </p:sp>
      <p:sp>
        <p:nvSpPr>
          <p:cNvPr id="6" name="Rectangle 5"/>
          <p:cNvSpPr>
            <a:spLocks noGrp="1" noChangeArrowheads="1"/>
          </p:cNvSpPr>
          <p:nvPr>
            <p:ph type="sldNum" sz="quarter" idx="11"/>
          </p:nvPr>
        </p:nvSpPr>
        <p:spPr/>
        <p:txBody>
          <a:bodyPr/>
          <a:lstStyle>
            <a:lvl1pPr>
              <a:defRPr sz="1000" smtClean="0">
                <a:latin typeface="Calibri"/>
              </a:defRPr>
            </a:lvl1pPr>
          </a:lstStyle>
          <a:p>
            <a:pPr>
              <a:defRPr/>
            </a:pPr>
            <a:fld id="{EDF37BE0-0BF3-6642-A185-F61474C9F253}" type="slidenum">
              <a:rPr lang="en-US"/>
              <a:pPr>
                <a:defRPr/>
              </a:pPr>
              <a:t>‹#›</a:t>
            </a:fld>
            <a:endParaRPr lang="en-US"/>
          </a:p>
        </p:txBody>
      </p:sp>
    </p:spTree>
    <p:extLst>
      <p:ext uri="{BB962C8B-B14F-4D97-AF65-F5344CB8AC3E}">
        <p14:creationId xmlns:p14="http://schemas.microsoft.com/office/powerpoint/2010/main" val="7998676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700" b="1">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Interest Rate and Credit Risks</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700" b="1" dirty="0">
                <a:latin typeface="+mn-lt"/>
              </a:rPr>
              <a:t>CF_Ch6_CreditRisk_25</a:t>
            </a:r>
          </a:p>
        </p:txBody>
      </p:sp>
    </p:spTree>
    <p:extLst>
      <p:ext uri="{BB962C8B-B14F-4D97-AF65-F5344CB8AC3E}">
        <p14:creationId xmlns:p14="http://schemas.microsoft.com/office/powerpoint/2010/main" val="1198770841"/>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 id="2147483852" r:id="rId18"/>
    <p:sldLayoutId id="2147483853" r:id="rId19"/>
    <p:sldLayoutId id="2147483854" r:id="rId20"/>
    <p:sldLayoutId id="2147483855" r:id="rId21"/>
    <p:sldLayoutId id="2147483856" r:id="rId22"/>
    <p:sldLayoutId id="2147483857" r:id="rId23"/>
    <p:sldLayoutId id="2147483858" r:id="rId24"/>
    <p:sldLayoutId id="2147483859" r:id="rId25"/>
    <p:sldLayoutId id="2147483860" r:id="rId26"/>
    <p:sldLayoutId id="2147483861" r:id="rId27"/>
    <p:sldLayoutId id="2147483862" r:id="rId28"/>
    <p:sldLayoutId id="2147483863" r:id="rId29"/>
    <p:sldLayoutId id="2147483864" r:id="rId30"/>
    <p:sldLayoutId id="2147483865" r:id="rId31"/>
    <p:sldLayoutId id="2147483866" r:id="rId32"/>
    <p:sldLayoutId id="2147483867" r:id="rId33"/>
    <p:sldLayoutId id="2147483868" r:id="rId34"/>
    <p:sldLayoutId id="2147483869" r:id="rId35"/>
    <p:sldLayoutId id="2147483870" r:id="rId36"/>
    <p:sldLayoutId id="2147483871" r:id="rId37"/>
    <p:sldLayoutId id="2147483872" r:id="rId38"/>
    <p:sldLayoutId id="2147483873" r:id="rId39"/>
    <p:sldLayoutId id="2147483874" r:id="rId40"/>
    <p:sldLayoutId id="2147483875" r:id="rId41"/>
    <p:sldLayoutId id="2147483876" r:id="rId42"/>
    <p:sldLayoutId id="2147483877" r:id="rId43"/>
    <p:sldLayoutId id="2147483878" r:id="rId44"/>
    <p:sldLayoutId id="2147483879" r:id="rId45"/>
    <p:sldLayoutId id="2147483880" r:id="rId46"/>
    <p:sldLayoutId id="2147483881" r:id="rId47"/>
    <p:sldLayoutId id="2147483882" r:id="rId48"/>
    <p:sldLayoutId id="2147483883" r:id="rId49"/>
    <p:sldLayoutId id="2147483884" r:id="rId50"/>
    <p:sldLayoutId id="2147483885" r:id="rId51"/>
    <p:sldLayoutId id="2147483886" r:id="rId52"/>
    <p:sldLayoutId id="2147483887" r:id="rId53"/>
    <p:sldLayoutId id="2147483888" r:id="rId54"/>
    <p:sldLayoutId id="2147483889" r:id="rId55"/>
    <p:sldLayoutId id="2147483890" r:id="rId56"/>
    <p:sldLayoutId id="2147483891" r:id="rId57"/>
    <p:sldLayoutId id="2147483892" r:id="rId58"/>
    <p:sldLayoutId id="2147483893" r:id="rId59"/>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3.bin"/><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oleObject" Target="../embeddings/oleObject6.bin"/><Relationship Id="rId10" Type="http://schemas.openxmlformats.org/officeDocument/2006/relationships/image" Target="../media/image15.emf"/><Relationship Id="rId4" Type="http://schemas.openxmlformats.org/officeDocument/2006/relationships/image" Target="../media/image12.emf"/><Relationship Id="rId9"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oleObject" Target="../embeddings/oleObject10.bin"/><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annualcreditreport.co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sec.gov/ocr"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hyperlink" Target="https://fred.stlouisfed.org/graph/?g=1Mi0F"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dirty="0"/>
              <a:t>Interest Rate and Credit Risks</a:t>
            </a: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3000821"/>
          </a:xfrm>
          <a:prstGeom prst="rect">
            <a:avLst/>
          </a:prstGeom>
        </p:spPr>
        <p:txBody>
          <a:bodyPr wrap="square">
            <a:spAutoFit/>
          </a:bodyPr>
          <a:lstStyle/>
          <a:p>
            <a:pPr algn="ctr"/>
            <a:r>
              <a:rPr lang="en-US" sz="3600" b="1" dirty="0"/>
              <a:t>Corporate Finance</a:t>
            </a:r>
          </a:p>
          <a:p>
            <a:pPr algn="ctr"/>
            <a:r>
              <a:rPr lang="en-US" sz="2700" b="1" dirty="0"/>
              <a:t>Uncertainty, Default, &amp; Risk</a:t>
            </a:r>
          </a:p>
          <a:p>
            <a:pPr algn="ctr"/>
            <a:endParaRPr lang="en-US" sz="2700" b="1" dirty="0"/>
          </a:p>
          <a:p>
            <a:pPr algn="ctr"/>
            <a:endParaRPr lang="en-US" sz="2700" b="1" dirty="0"/>
          </a:p>
          <a:p>
            <a:pPr algn="ctr"/>
            <a:endParaRPr lang="en-US" b="1" dirty="0">
              <a:ea typeface="ＭＳ Ｐゴシック" charset="0"/>
              <a:cs typeface="ＭＳ Ｐゴシック" charset="0"/>
            </a:endParaRPr>
          </a:p>
          <a:p>
            <a:pPr algn="ctr"/>
            <a:endParaRPr lang="en-US" b="1" dirty="0"/>
          </a:p>
          <a:p>
            <a:pPr algn="ctr">
              <a:buNone/>
            </a:pPr>
            <a:r>
              <a:rPr lang="en-US" b="1" dirty="0"/>
              <a:t>Fall 2026</a:t>
            </a:r>
          </a:p>
          <a:p>
            <a:pPr algn="ctr"/>
            <a:r>
              <a:rPr lang="en-US" b="1" dirty="0"/>
              <a:t>Prof. Jeffrey Colón</a:t>
            </a:r>
            <a:endParaRPr lang="en-US"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Same</a:t>
            </a:r>
          </a:p>
          <a:p>
            <a:pPr lvl="1" algn="l"/>
            <a:r>
              <a:rPr lang="en-US" dirty="0"/>
              <a:t>No differences in opinion</a:t>
            </a:r>
          </a:p>
          <a:p>
            <a:pPr lvl="1" algn="l"/>
            <a:r>
              <a:rPr lang="en-US" dirty="0"/>
              <a:t> No taxes</a:t>
            </a:r>
          </a:p>
          <a:p>
            <a:pPr lvl="1" algn="l"/>
            <a:r>
              <a:rPr lang="en-US" dirty="0"/>
              <a:t>No transaction costs.</a:t>
            </a:r>
          </a:p>
          <a:p>
            <a:pPr lvl="1" algn="l"/>
            <a:r>
              <a:rPr lang="en-US" dirty="0"/>
              <a:t>No big sellers/buyers</a:t>
            </a:r>
          </a:p>
          <a:p>
            <a:pPr lvl="1" algn="l"/>
            <a:endParaRPr lang="en-US" dirty="0"/>
          </a:p>
          <a:p>
            <a:pPr algn="l"/>
            <a:r>
              <a:rPr lang="en-US" dirty="0"/>
              <a:t>Different</a:t>
            </a:r>
          </a:p>
          <a:p>
            <a:pPr lvl="1"/>
            <a:r>
              <a:rPr lang="en-US" dirty="0"/>
              <a:t>Project cash flows are not certain</a:t>
            </a:r>
          </a:p>
          <a:p>
            <a:pPr lvl="2"/>
            <a:r>
              <a:rPr lang="en-US" dirty="0"/>
              <a:t>Cash flows to be discounted are the </a:t>
            </a:r>
            <a:r>
              <a:rPr lang="en-US" i="1" dirty="0"/>
              <a:t>expected</a:t>
            </a:r>
            <a:r>
              <a:rPr lang="en-US" dirty="0"/>
              <a:t> cash flows</a:t>
            </a:r>
          </a:p>
          <a:p>
            <a:pPr lvl="2"/>
            <a:r>
              <a:rPr lang="en-US" dirty="0"/>
              <a:t>Distinction between </a:t>
            </a:r>
            <a:r>
              <a:rPr lang="en-US" i="1" dirty="0"/>
              <a:t>promised (quoted or stated) </a:t>
            </a:r>
            <a:r>
              <a:rPr lang="en-US" dirty="0"/>
              <a:t>returns and </a:t>
            </a:r>
            <a:r>
              <a:rPr lang="en-US" i="1" dirty="0"/>
              <a:t>expected returns</a:t>
            </a:r>
            <a:endParaRPr lang="en-US" dirty="0"/>
          </a:p>
        </p:txBody>
      </p:sp>
      <p:sp>
        <p:nvSpPr>
          <p:cNvPr id="3" name="Title 2"/>
          <p:cNvSpPr>
            <a:spLocks noGrp="1"/>
          </p:cNvSpPr>
          <p:nvPr>
            <p:ph type="title"/>
          </p:nvPr>
        </p:nvSpPr>
        <p:spPr/>
        <p:txBody>
          <a:bodyPr/>
          <a:lstStyle/>
          <a:p>
            <a:r>
              <a:rPr lang="en-US" dirty="0"/>
              <a:t>Uncertainty, Default, &amp; Risk</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
        <p:nvSpPr>
          <p:cNvPr id="5" name="Footer Placeholder 4"/>
          <p:cNvSpPr>
            <a:spLocks noGrp="1"/>
          </p:cNvSpPr>
          <p:nvPr>
            <p:ph type="ftr" sz="quarter" idx="11"/>
          </p:nvPr>
        </p:nvSpPr>
        <p:spPr/>
        <p:txBody>
          <a:bodyPr/>
          <a:lstStyle/>
          <a:p>
            <a:pPr>
              <a:defRPr/>
            </a:pPr>
            <a:r>
              <a:rPr lang="en-US" dirty="0"/>
              <a:t>Interest Rate and Credit Risks</a:t>
            </a:r>
          </a:p>
        </p:txBody>
      </p:sp>
    </p:spTree>
    <p:extLst>
      <p:ext uri="{BB962C8B-B14F-4D97-AF65-F5344CB8AC3E}">
        <p14:creationId xmlns:p14="http://schemas.microsoft.com/office/powerpoint/2010/main" val="123582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latin typeface="Calibri" charset="0"/>
              </a:rPr>
              <a:t>Risk: Percentage Change in SP500 by Year</a:t>
            </a:r>
          </a:p>
        </p:txBody>
      </p:sp>
      <p:sp>
        <p:nvSpPr>
          <p:cNvPr id="18435" name="Rectangle 3"/>
          <p:cNvSpPr>
            <a:spLocks noChangeArrowheads="1"/>
          </p:cNvSpPr>
          <p:nvPr/>
        </p:nvSpPr>
        <p:spPr bwMode="auto">
          <a:xfrm>
            <a:off x="3201988" y="390525"/>
            <a:ext cx="184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endParaRPr lang="en-US">
              <a:latin typeface="Calibri" charset="0"/>
            </a:endParaRPr>
          </a:p>
        </p:txBody>
      </p:sp>
      <p:sp>
        <p:nvSpPr>
          <p:cNvPr id="18436" name="Rectangle 4"/>
          <p:cNvSpPr>
            <a:spLocks noChangeArrowheads="1"/>
          </p:cNvSpPr>
          <p:nvPr/>
        </p:nvSpPr>
        <p:spPr bwMode="auto">
          <a:xfrm>
            <a:off x="2922588" y="355600"/>
            <a:ext cx="184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endParaRPr lang="en-US">
              <a:latin typeface="Calibri" charset="0"/>
            </a:endParaRPr>
          </a:p>
        </p:txBody>
      </p:sp>
      <p:pic>
        <p:nvPicPr>
          <p:cNvPr id="18438" name="Picture 6" descr="SP_from_18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143000"/>
            <a:ext cx="4800600" cy="518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439" name="Oval 7"/>
          <p:cNvSpPr>
            <a:spLocks noChangeArrowheads="1"/>
          </p:cNvSpPr>
          <p:nvPr/>
        </p:nvSpPr>
        <p:spPr bwMode="auto">
          <a:xfrm>
            <a:off x="2057400" y="5569624"/>
            <a:ext cx="533400" cy="533400"/>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8440" name="Oval 8"/>
          <p:cNvSpPr>
            <a:spLocks noChangeArrowheads="1"/>
          </p:cNvSpPr>
          <p:nvPr/>
        </p:nvSpPr>
        <p:spPr bwMode="auto">
          <a:xfrm>
            <a:off x="2913063" y="5238763"/>
            <a:ext cx="381000" cy="457200"/>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latin typeface="Calibri" charset="0"/>
            </a:endParaRPr>
          </a:p>
        </p:txBody>
      </p:sp>
      <p:sp>
        <p:nvSpPr>
          <p:cNvPr id="18441" name="Oval 9"/>
          <p:cNvSpPr>
            <a:spLocks noChangeArrowheads="1"/>
          </p:cNvSpPr>
          <p:nvPr/>
        </p:nvSpPr>
        <p:spPr bwMode="auto">
          <a:xfrm>
            <a:off x="3261081" y="4191000"/>
            <a:ext cx="533400" cy="193936"/>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8442" name="Oval 10"/>
          <p:cNvSpPr>
            <a:spLocks noChangeArrowheads="1"/>
          </p:cNvSpPr>
          <p:nvPr/>
        </p:nvSpPr>
        <p:spPr bwMode="auto">
          <a:xfrm>
            <a:off x="3682253" y="2901236"/>
            <a:ext cx="533400" cy="152401"/>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7" name="Rectangle 16"/>
          <p:cNvSpPr/>
          <p:nvPr/>
        </p:nvSpPr>
        <p:spPr>
          <a:xfrm>
            <a:off x="5029200" y="3429001"/>
            <a:ext cx="381000" cy="100806"/>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09</a:t>
            </a:r>
          </a:p>
        </p:txBody>
      </p:sp>
      <p:sp>
        <p:nvSpPr>
          <p:cNvPr id="18" name="Rectangle 17"/>
          <p:cNvSpPr/>
          <p:nvPr/>
        </p:nvSpPr>
        <p:spPr>
          <a:xfrm>
            <a:off x="4572000" y="1981200"/>
            <a:ext cx="457200"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10</a:t>
            </a:r>
          </a:p>
        </p:txBody>
      </p:sp>
      <p:sp>
        <p:nvSpPr>
          <p:cNvPr id="15" name="Rectangle 14"/>
          <p:cNvSpPr/>
          <p:nvPr/>
        </p:nvSpPr>
        <p:spPr>
          <a:xfrm>
            <a:off x="4114800" y="997624"/>
            <a:ext cx="457200"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11</a:t>
            </a:r>
          </a:p>
        </p:txBody>
      </p:sp>
      <p:sp>
        <p:nvSpPr>
          <p:cNvPr id="16" name="Rectangle 15"/>
          <p:cNvSpPr/>
          <p:nvPr/>
        </p:nvSpPr>
        <p:spPr>
          <a:xfrm>
            <a:off x="4572000" y="1828800"/>
            <a:ext cx="457200"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12</a:t>
            </a:r>
          </a:p>
        </p:txBody>
      </p:sp>
      <p:sp>
        <p:nvSpPr>
          <p:cNvPr id="19" name="Rectangle 18"/>
          <p:cNvSpPr/>
          <p:nvPr/>
        </p:nvSpPr>
        <p:spPr>
          <a:xfrm>
            <a:off x="5410200" y="4274224"/>
            <a:ext cx="457200"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13</a:t>
            </a:r>
          </a:p>
        </p:txBody>
      </p:sp>
      <p:sp>
        <p:nvSpPr>
          <p:cNvPr id="20" name="Rectangle 19"/>
          <p:cNvSpPr/>
          <p:nvPr/>
        </p:nvSpPr>
        <p:spPr>
          <a:xfrm>
            <a:off x="4572000" y="1676400"/>
            <a:ext cx="457200"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14</a:t>
            </a:r>
          </a:p>
        </p:txBody>
      </p:sp>
      <p:sp>
        <p:nvSpPr>
          <p:cNvPr id="21" name="Rectangle 20"/>
          <p:cNvSpPr/>
          <p:nvPr/>
        </p:nvSpPr>
        <p:spPr>
          <a:xfrm>
            <a:off x="4114800" y="838200"/>
            <a:ext cx="457200" cy="159423"/>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15</a:t>
            </a:r>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
        <p:nvSpPr>
          <p:cNvPr id="6" name="Footer Placeholder 5"/>
          <p:cNvSpPr>
            <a:spLocks noGrp="1"/>
          </p:cNvSpPr>
          <p:nvPr>
            <p:ph type="ftr" sz="quarter" idx="11"/>
          </p:nvPr>
        </p:nvSpPr>
        <p:spPr/>
        <p:txBody>
          <a:bodyPr/>
          <a:lstStyle/>
          <a:p>
            <a:pPr>
              <a:defRPr/>
            </a:pPr>
            <a:r>
              <a:rPr lang="en-US" dirty="0"/>
              <a:t>Interest Rate and Credit Risks</a:t>
            </a:r>
          </a:p>
        </p:txBody>
      </p:sp>
      <p:sp>
        <p:nvSpPr>
          <p:cNvPr id="22" name="Rectangle 21"/>
          <p:cNvSpPr/>
          <p:nvPr/>
        </p:nvSpPr>
        <p:spPr>
          <a:xfrm>
            <a:off x="4114800" y="693522"/>
            <a:ext cx="457200" cy="159423"/>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16</a:t>
            </a:r>
          </a:p>
        </p:txBody>
      </p:sp>
      <p:sp>
        <p:nvSpPr>
          <p:cNvPr id="23" name="Rectangle 22">
            <a:extLst>
              <a:ext uri="{FF2B5EF4-FFF2-40B4-BE49-F238E27FC236}">
                <a16:creationId xmlns:a16="http://schemas.microsoft.com/office/drawing/2014/main" id="{701A0858-FF88-F247-82F1-2B6184560729}"/>
              </a:ext>
            </a:extLst>
          </p:cNvPr>
          <p:cNvSpPr/>
          <p:nvPr/>
        </p:nvSpPr>
        <p:spPr>
          <a:xfrm>
            <a:off x="5029200" y="3328195"/>
            <a:ext cx="381000" cy="100806"/>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17</a:t>
            </a:r>
          </a:p>
        </p:txBody>
      </p:sp>
      <p:sp>
        <p:nvSpPr>
          <p:cNvPr id="24" name="Rectangle 23">
            <a:extLst>
              <a:ext uri="{FF2B5EF4-FFF2-40B4-BE49-F238E27FC236}">
                <a16:creationId xmlns:a16="http://schemas.microsoft.com/office/drawing/2014/main" id="{D23A24F9-1871-594E-9914-885E9EF93137}"/>
              </a:ext>
            </a:extLst>
          </p:cNvPr>
          <p:cNvSpPr/>
          <p:nvPr/>
        </p:nvSpPr>
        <p:spPr>
          <a:xfrm>
            <a:off x="3733800" y="2749208"/>
            <a:ext cx="381000" cy="152028"/>
          </a:xfrm>
          <a:prstGeom prst="rect">
            <a:avLst/>
          </a:prstGeom>
          <a:solidFill>
            <a:schemeClr val="accent1">
              <a:lumMod val="60000"/>
              <a:lumOff val="40000"/>
              <a:alpha val="61176"/>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dirty="0">
                <a:solidFill>
                  <a:schemeClr val="tx1"/>
                </a:solidFill>
                <a:latin typeface="Calibri"/>
              </a:rPr>
              <a:t>18</a:t>
            </a:r>
          </a:p>
        </p:txBody>
      </p:sp>
      <p:sp>
        <p:nvSpPr>
          <p:cNvPr id="25" name="Rectangle 24">
            <a:extLst>
              <a:ext uri="{FF2B5EF4-FFF2-40B4-BE49-F238E27FC236}">
                <a16:creationId xmlns:a16="http://schemas.microsoft.com/office/drawing/2014/main" id="{4CE6B0DF-9892-B44D-9073-BAADBBF85350}"/>
              </a:ext>
            </a:extLst>
          </p:cNvPr>
          <p:cNvSpPr/>
          <p:nvPr/>
        </p:nvSpPr>
        <p:spPr>
          <a:xfrm>
            <a:off x="5410200" y="4121046"/>
            <a:ext cx="457200"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19</a:t>
            </a:r>
          </a:p>
        </p:txBody>
      </p:sp>
      <p:sp>
        <p:nvSpPr>
          <p:cNvPr id="3" name="Oval 2">
            <a:extLst>
              <a:ext uri="{FF2B5EF4-FFF2-40B4-BE49-F238E27FC236}">
                <a16:creationId xmlns:a16="http://schemas.microsoft.com/office/drawing/2014/main" id="{074A4FDF-A920-A94A-A51B-F1EF8601C338}"/>
              </a:ext>
            </a:extLst>
          </p:cNvPr>
          <p:cNvSpPr/>
          <p:nvPr/>
        </p:nvSpPr>
        <p:spPr>
          <a:xfrm rot="20240035">
            <a:off x="4465413" y="244710"/>
            <a:ext cx="1192322" cy="4679085"/>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53EE61CF-5225-BD40-A54A-A7433CBDD92E}"/>
              </a:ext>
            </a:extLst>
          </p:cNvPr>
          <p:cNvSpPr/>
          <p:nvPr/>
        </p:nvSpPr>
        <p:spPr>
          <a:xfrm>
            <a:off x="4572000" y="1499394"/>
            <a:ext cx="457200"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20</a:t>
            </a:r>
          </a:p>
        </p:txBody>
      </p:sp>
      <p:sp>
        <p:nvSpPr>
          <p:cNvPr id="7" name="Rectangle 6">
            <a:extLst>
              <a:ext uri="{FF2B5EF4-FFF2-40B4-BE49-F238E27FC236}">
                <a16:creationId xmlns:a16="http://schemas.microsoft.com/office/drawing/2014/main" id="{1F741FFF-1A74-CA6C-DF57-23947A56A75D}"/>
              </a:ext>
            </a:extLst>
          </p:cNvPr>
          <p:cNvSpPr/>
          <p:nvPr/>
        </p:nvSpPr>
        <p:spPr>
          <a:xfrm>
            <a:off x="5036906" y="3233737"/>
            <a:ext cx="381000" cy="100806"/>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21</a:t>
            </a:r>
          </a:p>
        </p:txBody>
      </p:sp>
      <p:sp>
        <p:nvSpPr>
          <p:cNvPr id="4" name="Rectangle 3">
            <a:extLst>
              <a:ext uri="{FF2B5EF4-FFF2-40B4-BE49-F238E27FC236}">
                <a16:creationId xmlns:a16="http://schemas.microsoft.com/office/drawing/2014/main" id="{6324D385-873D-FCF3-7425-2F17BE97DF4D}"/>
              </a:ext>
            </a:extLst>
          </p:cNvPr>
          <p:cNvSpPr/>
          <p:nvPr/>
        </p:nvSpPr>
        <p:spPr>
          <a:xfrm>
            <a:off x="3299181" y="4038600"/>
            <a:ext cx="457200" cy="152400"/>
          </a:xfrm>
          <a:prstGeom prst="rect">
            <a:avLst/>
          </a:prstGeom>
          <a:solidFill>
            <a:schemeClr val="accent1">
              <a:lumMod val="60000"/>
              <a:lumOff val="4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22</a:t>
            </a:r>
          </a:p>
        </p:txBody>
      </p:sp>
      <p:sp>
        <p:nvSpPr>
          <p:cNvPr id="10" name="Rectangle 9">
            <a:extLst>
              <a:ext uri="{FF2B5EF4-FFF2-40B4-BE49-F238E27FC236}">
                <a16:creationId xmlns:a16="http://schemas.microsoft.com/office/drawing/2014/main" id="{DB169ACF-E490-F821-52C4-FC3BF56825C5}"/>
              </a:ext>
            </a:extLst>
          </p:cNvPr>
          <p:cNvSpPr/>
          <p:nvPr/>
        </p:nvSpPr>
        <p:spPr>
          <a:xfrm>
            <a:off x="4582063" y="1346994"/>
            <a:ext cx="457200"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25</a:t>
            </a:r>
          </a:p>
        </p:txBody>
      </p:sp>
      <p:sp>
        <p:nvSpPr>
          <p:cNvPr id="11" name="Rectangle 10">
            <a:extLst>
              <a:ext uri="{FF2B5EF4-FFF2-40B4-BE49-F238E27FC236}">
                <a16:creationId xmlns:a16="http://schemas.microsoft.com/office/drawing/2014/main" id="{DDE1CEB0-C6D8-D01F-D352-E44C51C592A9}"/>
              </a:ext>
            </a:extLst>
          </p:cNvPr>
          <p:cNvSpPr/>
          <p:nvPr/>
        </p:nvSpPr>
        <p:spPr>
          <a:xfrm>
            <a:off x="5061573" y="3115849"/>
            <a:ext cx="356333" cy="11154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23</a:t>
            </a:r>
          </a:p>
        </p:txBody>
      </p:sp>
      <p:sp>
        <p:nvSpPr>
          <p:cNvPr id="8" name="Rectangle 7">
            <a:extLst>
              <a:ext uri="{FF2B5EF4-FFF2-40B4-BE49-F238E27FC236}">
                <a16:creationId xmlns:a16="http://schemas.microsoft.com/office/drawing/2014/main" id="{D2AD1599-8DC5-35B7-564B-E533BD4E987C}"/>
              </a:ext>
            </a:extLst>
          </p:cNvPr>
          <p:cNvSpPr/>
          <p:nvPr/>
        </p:nvSpPr>
        <p:spPr>
          <a:xfrm>
            <a:off x="5061573" y="2992962"/>
            <a:ext cx="356333" cy="11154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24</a:t>
            </a:r>
          </a:p>
        </p:txBody>
      </p:sp>
      <p:sp>
        <p:nvSpPr>
          <p:cNvPr id="9" name="Rectangle 8">
            <a:extLst>
              <a:ext uri="{FF2B5EF4-FFF2-40B4-BE49-F238E27FC236}">
                <a16:creationId xmlns:a16="http://schemas.microsoft.com/office/drawing/2014/main" id="{5D166195-42A1-1E81-1069-628B4834123A}"/>
              </a:ext>
            </a:extLst>
          </p:cNvPr>
          <p:cNvSpPr/>
          <p:nvPr/>
        </p:nvSpPr>
        <p:spPr>
          <a:xfrm>
            <a:off x="4595947" y="1193929"/>
            <a:ext cx="433253" cy="152400"/>
          </a:xfrm>
          <a:prstGeom prst="rect">
            <a:avLst/>
          </a:prstGeom>
          <a:solidFill>
            <a:srgbClr val="00B050">
              <a:alpha val="61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2BF114-830D-9242-9797-9AA1274227C0}"/>
              </a:ext>
            </a:extLst>
          </p:cNvPr>
          <p:cNvSpPr>
            <a:spLocks noGrp="1"/>
          </p:cNvSpPr>
          <p:nvPr>
            <p:ph type="title"/>
          </p:nvPr>
        </p:nvSpPr>
        <p:spPr/>
        <p:txBody>
          <a:bodyPr/>
          <a:lstStyle/>
          <a:p>
            <a:r>
              <a:rPr lang="en-US" dirty="0"/>
              <a:t>Annual returns can obscure useful information </a:t>
            </a:r>
          </a:p>
        </p:txBody>
      </p:sp>
      <p:sp>
        <p:nvSpPr>
          <p:cNvPr id="4" name="Slide Number Placeholder 3">
            <a:extLst>
              <a:ext uri="{FF2B5EF4-FFF2-40B4-BE49-F238E27FC236}">
                <a16:creationId xmlns:a16="http://schemas.microsoft.com/office/drawing/2014/main" id="{A7E6120C-53AB-4C42-912E-F7683ED5496C}"/>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4977E4E4-31FA-4842-823A-142DD2FBAAB9}"/>
              </a:ext>
            </a:extLst>
          </p:cNvPr>
          <p:cNvSpPr>
            <a:spLocks noGrp="1"/>
          </p:cNvSpPr>
          <p:nvPr>
            <p:ph type="ftr" sz="quarter" idx="11"/>
          </p:nvPr>
        </p:nvSpPr>
        <p:spPr/>
        <p:txBody>
          <a:bodyPr/>
          <a:lstStyle/>
          <a:p>
            <a:pPr>
              <a:defRPr/>
            </a:pPr>
            <a:r>
              <a:rPr lang="en-US"/>
              <a:t>Interest Rate and Credit Risks</a:t>
            </a:r>
            <a:endParaRPr lang="en-US" dirty="0"/>
          </a:p>
        </p:txBody>
      </p:sp>
      <p:pic>
        <p:nvPicPr>
          <p:cNvPr id="12" name="Picture 11" descr="Chart, line chart&#10;&#10;Description automatically generated">
            <a:extLst>
              <a:ext uri="{FF2B5EF4-FFF2-40B4-BE49-F238E27FC236}">
                <a16:creationId xmlns:a16="http://schemas.microsoft.com/office/drawing/2014/main" id="{066C42A9-2CF6-8E4D-BD7B-595CA925B73E}"/>
              </a:ext>
            </a:extLst>
          </p:cNvPr>
          <p:cNvPicPr>
            <a:picLocks noChangeAspect="1"/>
          </p:cNvPicPr>
          <p:nvPr/>
        </p:nvPicPr>
        <p:blipFill>
          <a:blip r:embed="rId2"/>
          <a:stretch>
            <a:fillRect/>
          </a:stretch>
        </p:blipFill>
        <p:spPr>
          <a:xfrm>
            <a:off x="301752" y="762000"/>
            <a:ext cx="8458200" cy="5105400"/>
          </a:xfrm>
          <a:prstGeom prst="rect">
            <a:avLst/>
          </a:prstGeom>
          <a:ln>
            <a:solidFill>
              <a:schemeClr val="bg1"/>
            </a:solidFill>
          </a:ln>
        </p:spPr>
      </p:pic>
      <p:sp>
        <p:nvSpPr>
          <p:cNvPr id="13" name="Oval 12">
            <a:extLst>
              <a:ext uri="{FF2B5EF4-FFF2-40B4-BE49-F238E27FC236}">
                <a16:creationId xmlns:a16="http://schemas.microsoft.com/office/drawing/2014/main" id="{B65FE92F-1582-AC4E-90AE-50BE13B2F4EF}"/>
              </a:ext>
            </a:extLst>
          </p:cNvPr>
          <p:cNvSpPr/>
          <p:nvPr/>
        </p:nvSpPr>
        <p:spPr>
          <a:xfrm>
            <a:off x="1676400" y="4495800"/>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67C52DC7-F007-564A-A5D8-409EE75201E4}"/>
              </a:ext>
            </a:extLst>
          </p:cNvPr>
          <p:cNvSpPr/>
          <p:nvPr/>
        </p:nvSpPr>
        <p:spPr>
          <a:xfrm>
            <a:off x="914400" y="2531572"/>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42397D06-65FD-904D-BF42-2CA1E3CB945E}"/>
              </a:ext>
            </a:extLst>
          </p:cNvPr>
          <p:cNvSpPr/>
          <p:nvPr/>
        </p:nvSpPr>
        <p:spPr>
          <a:xfrm>
            <a:off x="7775448" y="1878939"/>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434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007FF-68CC-B573-4EE3-475C8C3A18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3D7EE56-B9E9-9E89-F1E1-0F6082717D5F}"/>
              </a:ext>
            </a:extLst>
          </p:cNvPr>
          <p:cNvSpPr>
            <a:spLocks noGrp="1"/>
          </p:cNvSpPr>
          <p:nvPr>
            <p:ph type="title"/>
          </p:nvPr>
        </p:nvSpPr>
        <p:spPr/>
        <p:txBody>
          <a:bodyPr/>
          <a:lstStyle/>
          <a:p>
            <a:r>
              <a:rPr lang="en-US" dirty="0"/>
              <a:t>Annual returns can obscure useful information </a:t>
            </a:r>
          </a:p>
        </p:txBody>
      </p:sp>
      <p:sp>
        <p:nvSpPr>
          <p:cNvPr id="4" name="Slide Number Placeholder 3">
            <a:extLst>
              <a:ext uri="{FF2B5EF4-FFF2-40B4-BE49-F238E27FC236}">
                <a16:creationId xmlns:a16="http://schemas.microsoft.com/office/drawing/2014/main" id="{0B7651B5-0F09-99B9-240B-C3482458B1EC}"/>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a:extLst>
              <a:ext uri="{FF2B5EF4-FFF2-40B4-BE49-F238E27FC236}">
                <a16:creationId xmlns:a16="http://schemas.microsoft.com/office/drawing/2014/main" id="{EF752C74-0A5F-AE93-BD52-C2832296A8FA}"/>
              </a:ext>
            </a:extLst>
          </p:cNvPr>
          <p:cNvSpPr>
            <a:spLocks noGrp="1"/>
          </p:cNvSpPr>
          <p:nvPr>
            <p:ph type="ftr" sz="quarter" idx="11"/>
          </p:nvPr>
        </p:nvSpPr>
        <p:spPr/>
        <p:txBody>
          <a:bodyPr/>
          <a:lstStyle/>
          <a:p>
            <a:pPr>
              <a:defRPr/>
            </a:pPr>
            <a:r>
              <a:rPr lang="en-US"/>
              <a:t>Interest Rate and Credit Risks</a:t>
            </a:r>
            <a:endParaRPr lang="en-US" dirty="0"/>
          </a:p>
        </p:txBody>
      </p:sp>
      <p:sp>
        <p:nvSpPr>
          <p:cNvPr id="13" name="Oval 12">
            <a:extLst>
              <a:ext uri="{FF2B5EF4-FFF2-40B4-BE49-F238E27FC236}">
                <a16:creationId xmlns:a16="http://schemas.microsoft.com/office/drawing/2014/main" id="{9455AC56-9751-B5A1-8D19-4672BFCFDC01}"/>
              </a:ext>
            </a:extLst>
          </p:cNvPr>
          <p:cNvSpPr/>
          <p:nvPr/>
        </p:nvSpPr>
        <p:spPr>
          <a:xfrm>
            <a:off x="1676400" y="4495800"/>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60459245-D9AC-A0EB-1C37-F513C650F806}"/>
              </a:ext>
            </a:extLst>
          </p:cNvPr>
          <p:cNvSpPr/>
          <p:nvPr/>
        </p:nvSpPr>
        <p:spPr>
          <a:xfrm>
            <a:off x="914400" y="2531572"/>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5EBC955B-6B7E-E5E0-3A48-E88FFD346664}"/>
              </a:ext>
            </a:extLst>
          </p:cNvPr>
          <p:cNvSpPr/>
          <p:nvPr/>
        </p:nvSpPr>
        <p:spPr>
          <a:xfrm>
            <a:off x="7775448" y="1878939"/>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1643E4A4-973C-790E-554B-C97406941136}"/>
              </a:ext>
            </a:extLst>
          </p:cNvPr>
          <p:cNvSpPr txBox="1"/>
          <p:nvPr/>
        </p:nvSpPr>
        <p:spPr>
          <a:xfrm>
            <a:off x="3797429" y="6110927"/>
            <a:ext cx="1569660" cy="215444"/>
          </a:xfrm>
          <a:prstGeom prst="rect">
            <a:avLst/>
          </a:prstGeom>
          <a:noFill/>
        </p:spPr>
        <p:txBody>
          <a:bodyPr wrap="none" rtlCol="0">
            <a:spAutoFit/>
          </a:bodyPr>
          <a:lstStyle/>
          <a:p>
            <a:r>
              <a:rPr lang="en-US" sz="800" dirty="0"/>
              <a:t>Source: JPM; as of June 2026</a:t>
            </a:r>
          </a:p>
        </p:txBody>
      </p:sp>
      <p:pic>
        <p:nvPicPr>
          <p:cNvPr id="6" name="Picture 5">
            <a:extLst>
              <a:ext uri="{FF2B5EF4-FFF2-40B4-BE49-F238E27FC236}">
                <a16:creationId xmlns:a16="http://schemas.microsoft.com/office/drawing/2014/main" id="{15D4F7FA-A9FB-2873-FDBB-4FFB6A30F507}"/>
              </a:ext>
            </a:extLst>
          </p:cNvPr>
          <p:cNvPicPr>
            <a:picLocks noChangeAspect="1"/>
          </p:cNvPicPr>
          <p:nvPr/>
        </p:nvPicPr>
        <p:blipFill>
          <a:blip r:embed="rId2"/>
          <a:stretch>
            <a:fillRect/>
          </a:stretch>
        </p:blipFill>
        <p:spPr>
          <a:xfrm>
            <a:off x="304800" y="726962"/>
            <a:ext cx="8537448" cy="5267848"/>
          </a:xfrm>
          <a:prstGeom prst="rect">
            <a:avLst/>
          </a:prstGeom>
        </p:spPr>
      </p:pic>
    </p:spTree>
    <p:extLst>
      <p:ext uri="{BB962C8B-B14F-4D97-AF65-F5344CB8AC3E}">
        <p14:creationId xmlns:p14="http://schemas.microsoft.com/office/powerpoint/2010/main" val="635623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Random variable:</a:t>
            </a:r>
          </a:p>
          <a:p>
            <a:pPr eaLnBrk="1" hangingPunct="1"/>
            <a:endParaRPr lang="en-US" dirty="0">
              <a:latin typeface="Calibri" charset="0"/>
              <a:ea typeface="ＭＳ Ｐゴシック" charset="0"/>
              <a:cs typeface="ＭＳ Ｐゴシック" charset="0"/>
            </a:endParaRPr>
          </a:p>
          <a:p>
            <a:pPr eaLnBrk="1" hangingPunct="1"/>
            <a:r>
              <a:rPr lang="en-US" dirty="0">
                <a:latin typeface="Calibri" charset="0"/>
                <a:ea typeface="ＭＳ Ｐゴシック" charset="0"/>
                <a:cs typeface="ＭＳ Ｐゴシック" charset="0"/>
              </a:rPr>
              <a:t>Examples:  Cash flows and Returns</a:t>
            </a:r>
          </a:p>
          <a:p>
            <a:pPr eaLnBrk="1" hangingPunct="1"/>
            <a:endParaRPr lang="en-US" dirty="0">
              <a:latin typeface="Calibri" charset="0"/>
              <a:ea typeface="ＭＳ Ｐゴシック" charset="0"/>
              <a:cs typeface="ＭＳ Ｐゴシック" charset="0"/>
            </a:endParaRPr>
          </a:p>
        </p:txBody>
      </p:sp>
      <p:sp>
        <p:nvSpPr>
          <p:cNvPr id="20483"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Random Variables</a:t>
            </a:r>
            <a:endParaRPr lang="en-US" dirty="0">
              <a:latin typeface="Calibri" charset="0"/>
              <a:ea typeface="ＭＳ Ｐゴシック" charset="0"/>
              <a:cs typeface="ＭＳ Ｐゴシック" charset="0"/>
            </a:endParaRPr>
          </a:p>
        </p:txBody>
      </p:sp>
      <p:sp>
        <p:nvSpPr>
          <p:cNvPr id="20482"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65B62E5-DC3F-0843-B910-DBEB786482D0}" type="slidenum">
              <a:rPr lang="en-US" sz="800">
                <a:latin typeface="Calibri" charset="0"/>
              </a:rPr>
              <a:pPr eaLnBrk="1" hangingPunct="1"/>
              <a:t>6</a:t>
            </a:fld>
            <a:endParaRPr lang="en-US" sz="800">
              <a:latin typeface="Calibri" charset="0"/>
            </a:endParaRPr>
          </a:p>
        </p:txBody>
      </p:sp>
      <p:graphicFrame>
        <p:nvGraphicFramePr>
          <p:cNvPr id="20485" name="Object 2"/>
          <p:cNvGraphicFramePr>
            <a:graphicFrameLocks noChangeAspect="1"/>
          </p:cNvGraphicFramePr>
          <p:nvPr>
            <p:extLst>
              <p:ext uri="{D42A27DB-BD31-4B8C-83A1-F6EECF244321}">
                <p14:modId xmlns:p14="http://schemas.microsoft.com/office/powerpoint/2010/main" val="1703495928"/>
              </p:ext>
            </p:extLst>
          </p:nvPr>
        </p:nvGraphicFramePr>
        <p:xfrm>
          <a:off x="2895600" y="547437"/>
          <a:ext cx="457200" cy="428625"/>
        </p:xfrm>
        <a:graphic>
          <a:graphicData uri="http://schemas.openxmlformats.org/presentationml/2006/ole">
            <mc:AlternateContent xmlns:mc="http://schemas.openxmlformats.org/markup-compatibility/2006">
              <mc:Choice xmlns:v="urn:schemas-microsoft-com:vml" Requires="v">
                <p:oleObj name="Equation" r:id="rId3" imgW="136800" imgH="155160" progId="Equation.3">
                  <p:embed/>
                </p:oleObj>
              </mc:Choice>
              <mc:Fallback>
                <p:oleObj name="Equation" r:id="rId3" imgW="136800" imgH="155160" progId="Equation.3">
                  <p:embed/>
                  <p:pic>
                    <p:nvPicPr>
                      <p:cNvPr id="2048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547437"/>
                        <a:ext cx="4572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486" name="Picture 5" descr="imag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3581400"/>
            <a:ext cx="1905000" cy="182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0487" name="Picture 6" descr="images-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3733800"/>
            <a:ext cx="1600200" cy="152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p:cNvSpPr>
            <a:spLocks noGrp="1" noChangeArrowheads="1"/>
          </p:cNvSpPr>
          <p:nvPr>
            <p:ph idx="1"/>
          </p:nvPr>
        </p:nvSpPr>
        <p:spPr/>
        <p:txBody>
          <a:bodyPr/>
          <a:lstStyle/>
          <a:p>
            <a:pPr eaLnBrk="1" hangingPunct="1">
              <a:lnSpc>
                <a:spcPct val="90000"/>
              </a:lnSpc>
            </a:pPr>
            <a:r>
              <a:rPr lang="en-US" dirty="0">
                <a:latin typeface="Calibri" charset="0"/>
                <a:ea typeface="ＭＳ Ｐゴシック" charset="0"/>
                <a:cs typeface="ＭＳ Ｐゴシック" charset="0"/>
              </a:rPr>
              <a:t>Expectation of a RV: </a:t>
            </a:r>
          </a:p>
          <a:p>
            <a:pPr eaLnBrk="1" hangingPunct="1">
              <a:lnSpc>
                <a:spcPct val="90000"/>
              </a:lnSpc>
            </a:pPr>
            <a:endParaRPr lang="en-US" dirty="0">
              <a:latin typeface="Calibri" charset="0"/>
              <a:ea typeface="ＭＳ Ｐゴシック" charset="0"/>
              <a:cs typeface="ＭＳ Ｐゴシック" charset="0"/>
            </a:endParaRPr>
          </a:p>
          <a:p>
            <a:pPr eaLnBrk="1" hangingPunct="1">
              <a:lnSpc>
                <a:spcPct val="90000"/>
              </a:lnSpc>
            </a:pPr>
            <a:endParaRPr lang="en-US" dirty="0">
              <a:latin typeface="Calibri" charset="0"/>
              <a:ea typeface="ＭＳ Ｐゴシック" charset="0"/>
              <a:cs typeface="ＭＳ Ｐゴシック" charset="0"/>
            </a:endParaRPr>
          </a:p>
          <a:p>
            <a:pPr eaLnBrk="1" hangingPunct="1">
              <a:lnSpc>
                <a:spcPct val="90000"/>
              </a:lnSpc>
            </a:pPr>
            <a:endParaRPr lang="en-US" dirty="0">
              <a:latin typeface="Calibri" charset="0"/>
              <a:ea typeface="ＭＳ Ｐゴシック" charset="0"/>
              <a:cs typeface="ＭＳ Ｐゴシック" charset="0"/>
            </a:endParaRPr>
          </a:p>
          <a:p>
            <a:pPr eaLnBrk="1" hangingPunct="1">
              <a:lnSpc>
                <a:spcPct val="90000"/>
              </a:lnSpc>
            </a:pPr>
            <a:endParaRPr lang="en-US" dirty="0">
              <a:latin typeface="Calibri" charset="0"/>
              <a:ea typeface="ＭＳ Ｐゴシック" charset="0"/>
              <a:cs typeface="ＭＳ Ｐゴシック" charset="0"/>
            </a:endParaRPr>
          </a:p>
          <a:p>
            <a:pPr eaLnBrk="1" hangingPunct="1">
              <a:lnSpc>
                <a:spcPct val="90000"/>
              </a:lnSpc>
            </a:pPr>
            <a:endParaRPr lang="en-US" b="1" dirty="0">
              <a:latin typeface="Calibri" charset="0"/>
              <a:ea typeface="ＭＳ Ｐゴシック" charset="0"/>
              <a:cs typeface="ＭＳ Ｐゴシック" charset="0"/>
            </a:endParaRPr>
          </a:p>
          <a:p>
            <a:pPr eaLnBrk="1" hangingPunct="1">
              <a:lnSpc>
                <a:spcPct val="90000"/>
              </a:lnSpc>
            </a:pPr>
            <a:r>
              <a:rPr lang="en-US" b="1" dirty="0">
                <a:latin typeface="Calibri" charset="0"/>
                <a:ea typeface="ＭＳ Ｐゴシック" charset="0"/>
                <a:cs typeface="ＭＳ Ｐゴシック" charset="0"/>
              </a:rPr>
              <a:t>Examples:</a:t>
            </a:r>
            <a:endParaRPr lang="en-US" dirty="0">
              <a:latin typeface="Calibri" charset="0"/>
              <a:ea typeface="ＭＳ Ｐゴシック" charset="0"/>
              <a:cs typeface="ＭＳ Ｐゴシック" charset="0"/>
            </a:endParaRPr>
          </a:p>
          <a:p>
            <a:pPr lvl="1" eaLnBrk="1" hangingPunct="1">
              <a:lnSpc>
                <a:spcPct val="90000"/>
              </a:lnSpc>
            </a:pPr>
            <a:r>
              <a:rPr lang="en-US" dirty="0">
                <a:latin typeface="Calibri" charset="0"/>
                <a:ea typeface="ＭＳ Ｐゴシック" charset="0"/>
              </a:rPr>
              <a:t>You throw a die.  What’s the expected value?</a:t>
            </a:r>
          </a:p>
          <a:p>
            <a:pPr lvl="1" eaLnBrk="1" hangingPunct="1">
              <a:lnSpc>
                <a:spcPct val="90000"/>
              </a:lnSpc>
            </a:pPr>
            <a:r>
              <a:rPr lang="en-US" dirty="0">
                <a:latin typeface="Calibri" charset="0"/>
                <a:ea typeface="ＭＳ Ｐゴシック" charset="0"/>
              </a:rPr>
              <a:t>You throw a pair of dice and add the two faces.  What’s the expected value? </a:t>
            </a:r>
          </a:p>
        </p:txBody>
      </p:sp>
      <p:sp>
        <p:nvSpPr>
          <p:cNvPr id="22531"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Expectation of a Random Variable</a:t>
            </a:r>
            <a:endParaRPr lang="en-US" dirty="0">
              <a:latin typeface="Calibri" charset="0"/>
              <a:ea typeface="ＭＳ Ｐゴシック" charset="0"/>
              <a:cs typeface="ＭＳ Ｐゴシック" charset="0"/>
            </a:endParaRPr>
          </a:p>
        </p:txBody>
      </p:sp>
      <p:sp>
        <p:nvSpPr>
          <p:cNvPr id="22530"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648181F-21B1-3E46-829E-D296E0263137}" type="slidenum">
              <a:rPr lang="en-US" sz="800">
                <a:latin typeface="Calibri" charset="0"/>
              </a:rPr>
              <a:pPr eaLnBrk="1" hangingPunct="1"/>
              <a:t>7</a:t>
            </a:fld>
            <a:endParaRPr lang="en-US" sz="800">
              <a:latin typeface="Calibri" charset="0"/>
            </a:endParaRPr>
          </a:p>
        </p:txBody>
      </p:sp>
      <p:graphicFrame>
        <p:nvGraphicFramePr>
          <p:cNvPr id="22533" name="Object 2"/>
          <p:cNvGraphicFramePr>
            <a:graphicFrameLocks noChangeAspect="1"/>
          </p:cNvGraphicFramePr>
          <p:nvPr>
            <p:extLst>
              <p:ext uri="{D42A27DB-BD31-4B8C-83A1-F6EECF244321}">
                <p14:modId xmlns:p14="http://schemas.microsoft.com/office/powerpoint/2010/main" val="506881888"/>
              </p:ext>
            </p:extLst>
          </p:nvPr>
        </p:nvGraphicFramePr>
        <p:xfrm>
          <a:off x="3200400" y="543426"/>
          <a:ext cx="990600" cy="383021"/>
        </p:xfrm>
        <a:graphic>
          <a:graphicData uri="http://schemas.openxmlformats.org/presentationml/2006/ole">
            <mc:AlternateContent xmlns:mc="http://schemas.openxmlformats.org/markup-compatibility/2006">
              <mc:Choice xmlns:v="urn:schemas-microsoft-com:vml" Requires="v">
                <p:oleObj name="Equation" r:id="rId3" imgW="365400" imgH="182520" progId="Equation.3">
                  <p:embed/>
                </p:oleObj>
              </mc:Choice>
              <mc:Fallback>
                <p:oleObj name="Equation" r:id="rId3" imgW="365400" imgH="182520" progId="Equation.3">
                  <p:embed/>
                  <p:pic>
                    <p:nvPicPr>
                      <p:cNvPr id="2253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543426"/>
                        <a:ext cx="990600" cy="383021"/>
                      </a:xfrm>
                      <a:prstGeom prst="rect">
                        <a:avLst/>
                      </a:prstGeom>
                      <a:noFill/>
                      <a:ln>
                        <a:noFill/>
                      </a:ln>
                      <a:effectLst/>
                    </p:spPr>
                  </p:pic>
                </p:oleObj>
              </mc:Fallback>
            </mc:AlternateContent>
          </a:graphicData>
        </a:graphic>
      </p:graphicFrame>
      <p:graphicFrame>
        <p:nvGraphicFramePr>
          <p:cNvPr id="22534" name="Object 3"/>
          <p:cNvGraphicFramePr>
            <a:graphicFrameLocks noChangeAspect="1"/>
          </p:cNvGraphicFramePr>
          <p:nvPr>
            <p:extLst>
              <p:ext uri="{D42A27DB-BD31-4B8C-83A1-F6EECF244321}">
                <p14:modId xmlns:p14="http://schemas.microsoft.com/office/powerpoint/2010/main" val="531940877"/>
              </p:ext>
            </p:extLst>
          </p:nvPr>
        </p:nvGraphicFramePr>
        <p:xfrm>
          <a:off x="507206" y="1160136"/>
          <a:ext cx="7367588" cy="434975"/>
        </p:xfrm>
        <a:graphic>
          <a:graphicData uri="http://schemas.openxmlformats.org/presentationml/2006/ole">
            <mc:AlternateContent xmlns:mc="http://schemas.openxmlformats.org/markup-compatibility/2006">
              <mc:Choice xmlns:v="urn:schemas-microsoft-com:vml" Requires="v">
                <p:oleObj name="Equation" r:id="rId5" imgW="4269600" imgH="228240" progId="Equation.3">
                  <p:embed/>
                </p:oleObj>
              </mc:Choice>
              <mc:Fallback>
                <p:oleObj name="Equation" r:id="rId5" imgW="4269600" imgH="228240" progId="Equation.3">
                  <p:embed/>
                  <p:pic>
                    <p:nvPicPr>
                      <p:cNvPr id="2253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6" y="1160136"/>
                        <a:ext cx="7367588"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2535" name="Object 4"/>
          <p:cNvGraphicFramePr>
            <a:graphicFrameLocks noChangeAspect="1"/>
          </p:cNvGraphicFramePr>
          <p:nvPr>
            <p:extLst>
              <p:ext uri="{D42A27DB-BD31-4B8C-83A1-F6EECF244321}">
                <p14:modId xmlns:p14="http://schemas.microsoft.com/office/powerpoint/2010/main" val="747111099"/>
              </p:ext>
            </p:extLst>
          </p:nvPr>
        </p:nvGraphicFramePr>
        <p:xfrm>
          <a:off x="457200" y="1828800"/>
          <a:ext cx="2917783" cy="762000"/>
        </p:xfrm>
        <a:graphic>
          <a:graphicData uri="http://schemas.openxmlformats.org/presentationml/2006/ole">
            <mc:AlternateContent xmlns:mc="http://schemas.openxmlformats.org/markup-compatibility/2006">
              <mc:Choice xmlns:v="urn:schemas-microsoft-com:vml" Requires="v">
                <p:oleObj name="Equation" r:id="rId7" imgW="1700280" imgH="447840" progId="Equation.3">
                  <p:embed/>
                </p:oleObj>
              </mc:Choice>
              <mc:Fallback>
                <p:oleObj name="Equation" r:id="rId7" imgW="1700280" imgH="447840" progId="Equation.3">
                  <p:embed/>
                  <p:pic>
                    <p:nvPicPr>
                      <p:cNvPr id="22535"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1828800"/>
                        <a:ext cx="2917783" cy="762000"/>
                      </a:xfrm>
                      <a:prstGeom prst="rect">
                        <a:avLst/>
                      </a:prstGeom>
                      <a:noFill/>
                    </p:spPr>
                  </p:pic>
                </p:oleObj>
              </mc:Fallback>
            </mc:AlternateContent>
          </a:graphicData>
        </a:graphic>
      </p:graphicFrame>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53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53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idx="1"/>
          </p:nvPr>
        </p:nvSpPr>
        <p:spPr/>
        <p:txBody>
          <a:bodyPr/>
          <a:lstStyle/>
          <a:p>
            <a:pPr eaLnBrk="1" hangingPunct="1">
              <a:buFontTx/>
              <a:buNone/>
            </a:pPr>
            <a:r>
              <a:rPr lang="en-US">
                <a:latin typeface="Calibri" charset="0"/>
                <a:ea typeface="ＭＳ Ｐゴシック" charset="0"/>
                <a:cs typeface="ＭＳ Ｐゴシック" charset="0"/>
              </a:rPr>
              <a:t>  </a:t>
            </a:r>
          </a:p>
        </p:txBody>
      </p:sp>
      <p:sp>
        <p:nvSpPr>
          <p:cNvPr id="24579"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Probability Distribution: Single Die </a:t>
            </a:r>
          </a:p>
        </p:txBody>
      </p:sp>
      <p:sp>
        <p:nvSpPr>
          <p:cNvPr id="24578"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174ADDB-A377-C14D-A622-3AC2A12C40F2}" type="slidenum">
              <a:rPr lang="en-US" sz="800">
                <a:latin typeface="Calibri" charset="0"/>
              </a:rPr>
              <a:pPr eaLnBrk="1" hangingPunct="1"/>
              <a:t>8</a:t>
            </a:fld>
            <a:endParaRPr lang="en-US" sz="800">
              <a:latin typeface="Calibri" charset="0"/>
            </a:endParaRPr>
          </a:p>
        </p:txBody>
      </p:sp>
      <p:pic>
        <p:nvPicPr>
          <p:cNvPr id="24581" name="Picture 4" descr="fi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286000"/>
            <a:ext cx="4724400" cy="2590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4582" name="Line 5"/>
          <p:cNvSpPr>
            <a:spLocks noChangeShapeType="1"/>
          </p:cNvSpPr>
          <p:nvPr/>
        </p:nvSpPr>
        <p:spPr bwMode="auto">
          <a:xfrm flipV="1">
            <a:off x="4114800" y="4612032"/>
            <a:ext cx="532913" cy="798167"/>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4583" name="Oval 6"/>
          <p:cNvSpPr>
            <a:spLocks noChangeArrowheads="1"/>
          </p:cNvSpPr>
          <p:nvPr/>
        </p:nvSpPr>
        <p:spPr bwMode="auto">
          <a:xfrm>
            <a:off x="2133600" y="5410200"/>
            <a:ext cx="3581400" cy="609600"/>
          </a:xfrm>
          <a:prstGeom prst="ellipse">
            <a:avLst/>
          </a:prstGeom>
          <a:solidFill>
            <a:schemeClr val="accent3">
              <a:lumMod val="10000"/>
              <a:lumOff val="90000"/>
            </a:schemeClr>
          </a:solidFill>
          <a:ln w="9525">
            <a:solidFill>
              <a:schemeClr val="tx1"/>
            </a:solidFill>
            <a:round/>
            <a:headEnd/>
            <a:tailEnd/>
          </a:ln>
        </p:spPr>
        <p:txBody>
          <a:bodyPr wrap="none" anchor="ctr"/>
          <a:lstStyle/>
          <a:p>
            <a:pPr algn="ctr"/>
            <a:r>
              <a:rPr lang="en-US" b="1">
                <a:latin typeface="Calibri" charset="0"/>
              </a:rPr>
              <a:t>EV= 3.5 = 1/6*1 + 1/6*2…+1/6*6</a:t>
            </a:r>
          </a:p>
        </p:txBody>
      </p:sp>
      <p:sp>
        <p:nvSpPr>
          <p:cNvPr id="24584" name="Text Box 7"/>
          <p:cNvSpPr txBox="1">
            <a:spLocks noChangeArrowheads="1"/>
          </p:cNvSpPr>
          <p:nvPr/>
        </p:nvSpPr>
        <p:spPr bwMode="auto">
          <a:xfrm rot="-5434642">
            <a:off x="969169" y="3166269"/>
            <a:ext cx="1200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dirty="0">
                <a:latin typeface="Calibri" charset="0"/>
              </a:rPr>
              <a:t>Probability</a:t>
            </a:r>
          </a:p>
        </p:txBody>
      </p:sp>
      <p:sp>
        <p:nvSpPr>
          <p:cNvPr id="24585" name="Text Box 8"/>
          <p:cNvSpPr txBox="1">
            <a:spLocks noChangeArrowheads="1"/>
          </p:cNvSpPr>
          <p:nvPr/>
        </p:nvSpPr>
        <p:spPr bwMode="auto">
          <a:xfrm>
            <a:off x="4724400" y="4876800"/>
            <a:ext cx="114617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Outcomes</a:t>
            </a: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58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5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5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5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animBg="1"/>
      <p:bldP spid="24583" grpId="0" animBg="1"/>
      <p:bldP spid="24584" grpId="0"/>
      <p:bldP spid="2458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3"/>
          <p:cNvSpPr>
            <a:spLocks noGrp="1" noChangeArrowheads="1"/>
          </p:cNvSpPr>
          <p:nvPr>
            <p:ph idx="1"/>
          </p:nvPr>
        </p:nvSpPr>
        <p:spPr/>
        <p:txBody>
          <a:bodyPr/>
          <a:lstStyle/>
          <a:p>
            <a:pPr eaLnBrk="1" hangingPunct="1">
              <a:buFontTx/>
              <a:buNone/>
            </a:pPr>
            <a:r>
              <a:rPr lang="en-US">
                <a:latin typeface="Calibri" charset="0"/>
                <a:ea typeface="ＭＳ Ｐゴシック" charset="0"/>
                <a:cs typeface="ＭＳ Ｐゴシック" charset="0"/>
              </a:rPr>
              <a:t> </a:t>
            </a:r>
          </a:p>
        </p:txBody>
      </p:sp>
      <p:sp>
        <p:nvSpPr>
          <p:cNvPr id="26627"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Probability Distribution:  Sum of 2 Dice</a:t>
            </a:r>
            <a:endParaRPr lang="en-US" dirty="0">
              <a:latin typeface="Calibri" charset="0"/>
              <a:ea typeface="ＭＳ Ｐゴシック" charset="0"/>
              <a:cs typeface="ＭＳ Ｐゴシック" charset="0"/>
            </a:endParaRPr>
          </a:p>
        </p:txBody>
      </p:sp>
      <p:sp>
        <p:nvSpPr>
          <p:cNvPr id="26626"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1A465E1-9D02-5F4A-A014-3E1A4931DAE8}" type="slidenum">
              <a:rPr lang="en-US" sz="800">
                <a:latin typeface="Calibri" charset="0"/>
              </a:rPr>
              <a:pPr eaLnBrk="1" hangingPunct="1"/>
              <a:t>9</a:t>
            </a:fld>
            <a:endParaRPr lang="en-US" sz="800">
              <a:latin typeface="Calibri" charset="0"/>
            </a:endParaRPr>
          </a:p>
        </p:txBody>
      </p:sp>
      <p:sp>
        <p:nvSpPr>
          <p:cNvPr id="26629" name="Line 4"/>
          <p:cNvSpPr>
            <a:spLocks noChangeShapeType="1"/>
          </p:cNvSpPr>
          <p:nvPr/>
        </p:nvSpPr>
        <p:spPr bwMode="auto">
          <a:xfrm flipV="1">
            <a:off x="3793665" y="4967288"/>
            <a:ext cx="778335" cy="760410"/>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6630" name="Oval 5"/>
          <p:cNvSpPr>
            <a:spLocks noChangeArrowheads="1"/>
          </p:cNvSpPr>
          <p:nvPr/>
        </p:nvSpPr>
        <p:spPr bwMode="auto">
          <a:xfrm>
            <a:off x="3230479" y="5685732"/>
            <a:ext cx="914400" cy="457200"/>
          </a:xfrm>
          <a:prstGeom prst="ellipse">
            <a:avLst/>
          </a:prstGeom>
          <a:solidFill>
            <a:schemeClr val="accent3">
              <a:lumMod val="10000"/>
              <a:lumOff val="90000"/>
            </a:schemeClr>
          </a:solidFill>
          <a:ln w="9525">
            <a:solidFill>
              <a:schemeClr val="tx1"/>
            </a:solidFill>
            <a:round/>
            <a:headEnd/>
            <a:tailEnd/>
          </a:ln>
        </p:spPr>
        <p:txBody>
          <a:bodyPr wrap="none" anchor="ctr"/>
          <a:lstStyle/>
          <a:p>
            <a:pPr algn="ctr"/>
            <a:r>
              <a:rPr lang="en-US" b="1">
                <a:latin typeface="Calibri" charset="0"/>
              </a:rPr>
              <a:t>EV=7</a:t>
            </a:r>
            <a:endParaRPr lang="en-US">
              <a:latin typeface="Calibri" charset="0"/>
            </a:endParaRPr>
          </a:p>
        </p:txBody>
      </p:sp>
      <p:pic>
        <p:nvPicPr>
          <p:cNvPr id="26631" name="Picture 6" descr="die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905000"/>
            <a:ext cx="6172200" cy="312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6632" name="Text Box 7"/>
          <p:cNvSpPr txBox="1">
            <a:spLocks noChangeArrowheads="1"/>
          </p:cNvSpPr>
          <p:nvPr/>
        </p:nvSpPr>
        <p:spPr bwMode="auto">
          <a:xfrm rot="-5434642">
            <a:off x="174625" y="3024188"/>
            <a:ext cx="1538288"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Probability</a:t>
            </a:r>
          </a:p>
        </p:txBody>
      </p:sp>
      <p:sp>
        <p:nvSpPr>
          <p:cNvPr id="26633" name="Text Box 8"/>
          <p:cNvSpPr txBox="1">
            <a:spLocks noChangeArrowheads="1"/>
          </p:cNvSpPr>
          <p:nvPr/>
        </p:nvSpPr>
        <p:spPr bwMode="auto">
          <a:xfrm>
            <a:off x="4724400" y="4967288"/>
            <a:ext cx="1146175"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Outcomes</a:t>
            </a: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animBg="1"/>
      <p:bldP spid="26630" grpId="0" animBg="1"/>
      <p:bldP spid="26632" grpId="0"/>
      <p:bldP spid="266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Probability weighted dispersion of returns around the expected return</a:t>
            </a:r>
          </a:p>
          <a:p>
            <a:pPr eaLnBrk="1" hangingPunct="1"/>
            <a:r>
              <a:rPr lang="en-US" b="1" dirty="0">
                <a:latin typeface="Calibri" charset="0"/>
                <a:ea typeface="ＭＳ Ｐゴシック" charset="0"/>
                <a:cs typeface="ＭＳ Ｐゴシック" charset="0"/>
              </a:rPr>
              <a:t>Variance</a:t>
            </a:r>
            <a:r>
              <a:rPr lang="en-US" dirty="0">
                <a:latin typeface="Calibri" charset="0"/>
                <a:ea typeface="ＭＳ Ｐゴシック" charset="0"/>
                <a:cs typeface="ＭＳ Ｐゴシック" charset="0"/>
              </a:rPr>
              <a:t>: </a:t>
            </a:r>
          </a:p>
          <a:p>
            <a:pPr lvl="1" eaLnBrk="1" hangingPunct="1"/>
            <a:r>
              <a:rPr lang="en-US" dirty="0">
                <a:latin typeface="Calibri" charset="0"/>
                <a:ea typeface="ＭＳ Ｐゴシック" charset="0"/>
              </a:rPr>
              <a:t>Find             ,</a:t>
            </a:r>
          </a:p>
          <a:p>
            <a:pPr lvl="1" eaLnBrk="1" hangingPunct="1"/>
            <a:r>
              <a:rPr lang="en-US" dirty="0">
                <a:latin typeface="Calibri" charset="0"/>
                <a:ea typeface="ＭＳ Ｐゴシック" charset="0"/>
              </a:rPr>
              <a:t>Subtract each return from              and square the result.</a:t>
            </a:r>
          </a:p>
          <a:p>
            <a:pPr lvl="1" eaLnBrk="1" hangingPunct="1"/>
            <a:r>
              <a:rPr lang="en-US" dirty="0">
                <a:latin typeface="Calibri" charset="0"/>
                <a:ea typeface="ＭＳ Ｐゴシック" charset="0"/>
              </a:rPr>
              <a:t>Multiply each value by its probability, and</a:t>
            </a:r>
          </a:p>
          <a:p>
            <a:pPr lvl="1" eaLnBrk="1" hangingPunct="1"/>
            <a:r>
              <a:rPr lang="en-US" dirty="0">
                <a:latin typeface="Calibri" charset="0"/>
                <a:ea typeface="ＭＳ Ｐゴシック" charset="0"/>
              </a:rPr>
              <a:t>Add</a:t>
            </a:r>
          </a:p>
          <a:p>
            <a:pPr eaLnBrk="1" hangingPunct="1"/>
            <a:r>
              <a:rPr lang="en-US" b="1" dirty="0">
                <a:latin typeface="Calibri" charset="0"/>
                <a:ea typeface="ＭＳ Ｐゴシック" charset="0"/>
                <a:cs typeface="ＭＳ Ｐゴシック" charset="0"/>
              </a:rPr>
              <a:t>Standard Deviation</a:t>
            </a:r>
            <a:r>
              <a:rPr lang="en-US" dirty="0">
                <a:latin typeface="Calibri" charset="0"/>
                <a:ea typeface="ＭＳ Ｐゴシック" charset="0"/>
                <a:cs typeface="ＭＳ Ｐゴシック" charset="0"/>
              </a:rPr>
              <a:t>:</a:t>
            </a:r>
          </a:p>
        </p:txBody>
      </p:sp>
      <p:sp>
        <p:nvSpPr>
          <p:cNvPr id="28675"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Risk</a:t>
            </a:r>
            <a:endParaRPr lang="en-US" dirty="0">
              <a:latin typeface="Calibri" charset="0"/>
              <a:ea typeface="ＭＳ Ｐゴシック" charset="0"/>
              <a:cs typeface="ＭＳ Ｐゴシック" charset="0"/>
            </a:endParaRPr>
          </a:p>
        </p:txBody>
      </p:sp>
      <p:sp>
        <p:nvSpPr>
          <p:cNvPr id="28674"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14B7B0F-7514-D843-B268-A2F246E625FA}" type="slidenum">
              <a:rPr lang="en-US" sz="800">
                <a:latin typeface="Calibri" charset="0"/>
              </a:rPr>
              <a:pPr eaLnBrk="1" hangingPunct="1"/>
              <a:t>10</a:t>
            </a:fld>
            <a:endParaRPr lang="en-US" sz="800">
              <a:latin typeface="Calibri" charset="0"/>
            </a:endParaRPr>
          </a:p>
        </p:txBody>
      </p:sp>
      <p:graphicFrame>
        <p:nvGraphicFramePr>
          <p:cNvPr id="28677" name="Object 2"/>
          <p:cNvGraphicFramePr>
            <a:graphicFrameLocks noChangeAspect="1"/>
          </p:cNvGraphicFramePr>
          <p:nvPr>
            <p:extLst>
              <p:ext uri="{D42A27DB-BD31-4B8C-83A1-F6EECF244321}">
                <p14:modId xmlns:p14="http://schemas.microsoft.com/office/powerpoint/2010/main" val="2143883701"/>
              </p:ext>
            </p:extLst>
          </p:nvPr>
        </p:nvGraphicFramePr>
        <p:xfrm>
          <a:off x="1943100" y="1313657"/>
          <a:ext cx="381000" cy="393700"/>
        </p:xfrm>
        <a:graphic>
          <a:graphicData uri="http://schemas.openxmlformats.org/presentationml/2006/ole">
            <mc:AlternateContent xmlns:mc="http://schemas.openxmlformats.org/markup-compatibility/2006">
              <mc:Choice xmlns:v="urn:schemas-microsoft-com:vml" Requires="v">
                <p:oleObj name="Equation" r:id="rId3" imgW="164520" imgH="155160" progId="Equation.3">
                  <p:embed/>
                </p:oleObj>
              </mc:Choice>
              <mc:Fallback>
                <p:oleObj name="Equation" r:id="rId3" imgW="164520" imgH="155160" progId="Equation.3">
                  <p:embed/>
                  <p:pic>
                    <p:nvPicPr>
                      <p:cNvPr id="2867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1313657"/>
                        <a:ext cx="3810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8678" name="Object 3"/>
          <p:cNvGraphicFramePr>
            <a:graphicFrameLocks noChangeAspect="1"/>
          </p:cNvGraphicFramePr>
          <p:nvPr>
            <p:extLst>
              <p:ext uri="{D42A27DB-BD31-4B8C-83A1-F6EECF244321}">
                <p14:modId xmlns:p14="http://schemas.microsoft.com/office/powerpoint/2010/main" val="1912235681"/>
              </p:ext>
            </p:extLst>
          </p:nvPr>
        </p:nvGraphicFramePr>
        <p:xfrm>
          <a:off x="3352800" y="3172732"/>
          <a:ext cx="1066800" cy="533400"/>
        </p:xfrm>
        <a:graphic>
          <a:graphicData uri="http://schemas.openxmlformats.org/presentationml/2006/ole">
            <mc:AlternateContent xmlns:mc="http://schemas.openxmlformats.org/markup-compatibility/2006">
              <mc:Choice xmlns:v="urn:schemas-microsoft-com:vml" Requires="v">
                <p:oleObj name="Equation" r:id="rId5" imgW="393120" imgH="200880" progId="Equation.3">
                  <p:embed/>
                </p:oleObj>
              </mc:Choice>
              <mc:Fallback>
                <p:oleObj name="Equation" r:id="rId5" imgW="393120" imgH="200880" progId="Equation.3">
                  <p:embed/>
                  <p:pic>
                    <p:nvPicPr>
                      <p:cNvPr id="28678"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3172732"/>
                        <a:ext cx="1066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8679" name="Object 4"/>
          <p:cNvGraphicFramePr>
            <a:graphicFrameLocks noChangeAspect="1"/>
          </p:cNvGraphicFramePr>
          <p:nvPr>
            <p:extLst>
              <p:ext uri="{D42A27DB-BD31-4B8C-83A1-F6EECF244321}">
                <p14:modId xmlns:p14="http://schemas.microsoft.com/office/powerpoint/2010/main" val="776803932"/>
              </p:ext>
            </p:extLst>
          </p:nvPr>
        </p:nvGraphicFramePr>
        <p:xfrm>
          <a:off x="1371600" y="1752600"/>
          <a:ext cx="571500" cy="421348"/>
        </p:xfrm>
        <a:graphic>
          <a:graphicData uri="http://schemas.openxmlformats.org/presentationml/2006/ole">
            <mc:AlternateContent xmlns:mc="http://schemas.openxmlformats.org/markup-compatibility/2006">
              <mc:Choice xmlns:v="urn:schemas-microsoft-com:vml" Requires="v">
                <p:oleObj name="Equation" r:id="rId7" imgW="356400" imgH="219240" progId="Equation.3">
                  <p:embed/>
                </p:oleObj>
              </mc:Choice>
              <mc:Fallback>
                <p:oleObj name="Equation" r:id="rId7" imgW="356400" imgH="219240" progId="Equation.3">
                  <p:embed/>
                  <p:pic>
                    <p:nvPicPr>
                      <p:cNvPr id="28679"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1752600"/>
                        <a:ext cx="571500" cy="421348"/>
                      </a:xfrm>
                      <a:prstGeom prst="rect">
                        <a:avLst/>
                      </a:prstGeom>
                      <a:noFill/>
                    </p:spPr>
                  </p:pic>
                </p:oleObj>
              </mc:Fallback>
            </mc:AlternateContent>
          </a:graphicData>
        </a:graphic>
      </p:graphicFrame>
      <p:graphicFrame>
        <p:nvGraphicFramePr>
          <p:cNvPr id="28680" name="Object 5"/>
          <p:cNvGraphicFramePr>
            <a:graphicFrameLocks noChangeAspect="1"/>
          </p:cNvGraphicFramePr>
          <p:nvPr>
            <p:extLst>
              <p:ext uri="{D42A27DB-BD31-4B8C-83A1-F6EECF244321}">
                <p14:modId xmlns:p14="http://schemas.microsoft.com/office/powerpoint/2010/main" val="77727131"/>
              </p:ext>
            </p:extLst>
          </p:nvPr>
        </p:nvGraphicFramePr>
        <p:xfrm>
          <a:off x="3581400" y="2133600"/>
          <a:ext cx="609600" cy="381000"/>
        </p:xfrm>
        <a:graphic>
          <a:graphicData uri="http://schemas.openxmlformats.org/presentationml/2006/ole">
            <mc:AlternateContent xmlns:mc="http://schemas.openxmlformats.org/markup-compatibility/2006">
              <mc:Choice xmlns:v="urn:schemas-microsoft-com:vml" Requires="v">
                <p:oleObj name="Equation" r:id="rId9" imgW="365400" imgH="182520" progId="Equation.3">
                  <p:embed/>
                </p:oleObj>
              </mc:Choice>
              <mc:Fallback>
                <p:oleObj name="Equation" r:id="rId9" imgW="365400" imgH="182520" progId="Equation.3">
                  <p:embed/>
                  <p:pic>
                    <p:nvPicPr>
                      <p:cNvPr id="2868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1400" y="2133600"/>
                        <a:ext cx="609600" cy="381000"/>
                      </a:xfrm>
                      <a:prstGeom prst="rect">
                        <a:avLst/>
                      </a:prstGeom>
                      <a:noFill/>
                      <a:ln>
                        <a:noFill/>
                      </a:ln>
                      <a:effectLst/>
                    </p:spPr>
                  </p:pic>
                </p:oleObj>
              </mc:Fallback>
            </mc:AlternateContent>
          </a:graphicData>
        </a:graphic>
      </p:graphicFrame>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67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68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67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676">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676">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67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6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What are the </a:t>
            </a:r>
            <a:r>
              <a:rPr lang="en-US" dirty="0" err="1">
                <a:latin typeface="Calibri" charset="0"/>
                <a:ea typeface="ＭＳ Ｐゴシック" charset="0"/>
                <a:cs typeface="ＭＳ Ｐゴシック" charset="0"/>
              </a:rPr>
              <a:t>Var</a:t>
            </a:r>
            <a:r>
              <a:rPr lang="en-US" dirty="0">
                <a:latin typeface="Calibri" charset="0"/>
                <a:ea typeface="ＭＳ Ｐゴシック" charset="0"/>
                <a:cs typeface="ＭＳ Ｐゴシック" charset="0"/>
              </a:rPr>
              <a:t> and SD of the throw of dice?</a:t>
            </a:r>
          </a:p>
          <a:p>
            <a:pPr lvl="1" eaLnBrk="1" hangingPunct="1"/>
            <a:endParaRPr lang="en-US" b="1" dirty="0">
              <a:latin typeface="Calibri" charset="0"/>
              <a:ea typeface="ＭＳ Ｐゴシック" charset="0"/>
            </a:endParaRPr>
          </a:p>
          <a:p>
            <a:pPr lvl="1" eaLnBrk="1" hangingPunct="1"/>
            <a:r>
              <a:rPr lang="en-US" b="1" dirty="0" err="1">
                <a:latin typeface="Calibri" charset="0"/>
                <a:ea typeface="ＭＳ Ｐゴシック" charset="0"/>
              </a:rPr>
              <a:t>Var</a:t>
            </a:r>
            <a:r>
              <a:rPr lang="en-US" dirty="0">
                <a:latin typeface="Calibri" charset="0"/>
                <a:ea typeface="ＭＳ Ｐゴシック" charset="0"/>
              </a:rPr>
              <a:t>:</a:t>
            </a:r>
          </a:p>
          <a:p>
            <a:pPr lvl="1" eaLnBrk="1" hangingPunct="1"/>
            <a:endParaRPr lang="en-US" dirty="0">
              <a:latin typeface="Calibri" charset="0"/>
              <a:ea typeface="ＭＳ Ｐゴシック" charset="0"/>
            </a:endParaRPr>
          </a:p>
          <a:p>
            <a:pPr lvl="1" eaLnBrk="1" hangingPunct="1"/>
            <a:endParaRPr lang="en-US" dirty="0">
              <a:latin typeface="Calibri" charset="0"/>
              <a:ea typeface="ＭＳ Ｐゴシック" charset="0"/>
            </a:endParaRPr>
          </a:p>
          <a:p>
            <a:pPr lvl="1" eaLnBrk="1" hangingPunct="1"/>
            <a:r>
              <a:rPr lang="en-US" b="1" dirty="0">
                <a:latin typeface="Calibri" charset="0"/>
                <a:ea typeface="ＭＳ Ｐゴシック" charset="0"/>
              </a:rPr>
              <a:t>SD</a:t>
            </a:r>
            <a:r>
              <a:rPr lang="en-US" dirty="0">
                <a:latin typeface="Calibri" charset="0"/>
                <a:ea typeface="ＭＳ Ｐゴシック" charset="0"/>
              </a:rPr>
              <a:t>: </a:t>
            </a:r>
          </a:p>
          <a:p>
            <a:pPr lvl="1" eaLnBrk="1" hangingPunct="1"/>
            <a:endParaRPr lang="en-US" dirty="0">
              <a:latin typeface="Calibri" charset="0"/>
              <a:ea typeface="ＭＳ Ｐゴシック" charset="0"/>
            </a:endParaRPr>
          </a:p>
          <a:p>
            <a:pPr eaLnBrk="1" hangingPunct="1"/>
            <a:endParaRPr lang="en-US" dirty="0">
              <a:latin typeface="Calibri" charset="0"/>
              <a:ea typeface="ＭＳ Ｐゴシック" charset="0"/>
              <a:cs typeface="ＭＳ Ｐゴシック" charset="0"/>
            </a:endParaRPr>
          </a:p>
          <a:p>
            <a:pPr eaLnBrk="1" hangingPunct="1"/>
            <a:r>
              <a:rPr lang="en-US" dirty="0">
                <a:latin typeface="Calibri" charset="0"/>
                <a:ea typeface="ＭＳ Ｐゴシック" charset="0"/>
                <a:cs typeface="ＭＳ Ｐゴシック" charset="0"/>
              </a:rPr>
              <a:t>Units of SD same as the units of the underlying variable:  </a:t>
            </a:r>
          </a:p>
          <a:p>
            <a:pPr lvl="1" eaLnBrk="1" hangingPunct="1"/>
            <a:r>
              <a:rPr lang="en-US" i="1" dirty="0">
                <a:latin typeface="Calibri" charset="0"/>
                <a:ea typeface="ＭＳ Ｐゴシック" charset="0"/>
              </a:rPr>
              <a:t>SD</a:t>
            </a:r>
            <a:r>
              <a:rPr lang="en-US" dirty="0">
                <a:latin typeface="Calibri" charset="0"/>
                <a:ea typeface="ＭＳ Ｐゴシック" charset="0"/>
              </a:rPr>
              <a:t> of annual returns--&gt;   % </a:t>
            </a:r>
          </a:p>
          <a:p>
            <a:pPr lvl="1" eaLnBrk="1" hangingPunct="1"/>
            <a:r>
              <a:rPr lang="en-US" i="1" dirty="0" err="1">
                <a:latin typeface="Calibri" charset="0"/>
                <a:ea typeface="ＭＳ Ｐゴシック" charset="0"/>
              </a:rPr>
              <a:t>Var</a:t>
            </a:r>
            <a:r>
              <a:rPr lang="en-US" i="1" dirty="0">
                <a:latin typeface="Calibri" charset="0"/>
                <a:ea typeface="ＭＳ Ｐゴシック" charset="0"/>
              </a:rPr>
              <a:t> </a:t>
            </a:r>
            <a:r>
              <a:rPr lang="en-US" dirty="0">
                <a:latin typeface="Calibri" charset="0"/>
                <a:ea typeface="ＭＳ Ｐゴシック" charset="0"/>
              </a:rPr>
              <a:t>of annual returns--&gt;   %</a:t>
            </a:r>
            <a:r>
              <a:rPr lang="en-US" baseline="30000" dirty="0">
                <a:latin typeface="Calibri" charset="0"/>
                <a:ea typeface="ＭＳ Ｐゴシック" charset="0"/>
              </a:rPr>
              <a:t>2</a:t>
            </a:r>
            <a:r>
              <a:rPr lang="en-US" dirty="0">
                <a:latin typeface="Calibri" charset="0"/>
                <a:ea typeface="ＭＳ Ｐゴシック" charset="0"/>
              </a:rPr>
              <a:t> </a:t>
            </a:r>
          </a:p>
        </p:txBody>
      </p:sp>
      <p:sp>
        <p:nvSpPr>
          <p:cNvPr id="30723"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Risk:  Example</a:t>
            </a:r>
            <a:endParaRPr lang="en-US" dirty="0">
              <a:latin typeface="Calibri" charset="0"/>
              <a:ea typeface="ＭＳ Ｐゴシック" charset="0"/>
              <a:cs typeface="ＭＳ Ｐゴシック" charset="0"/>
            </a:endParaRPr>
          </a:p>
        </p:txBody>
      </p:sp>
      <p:sp>
        <p:nvSpPr>
          <p:cNvPr id="30722"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B08D3BD-EC3D-2E4E-933D-4C8356659286}" type="slidenum">
              <a:rPr lang="en-US" sz="800">
                <a:latin typeface="Calibri" charset="0"/>
              </a:rPr>
              <a:pPr eaLnBrk="1" hangingPunct="1"/>
              <a:t>11</a:t>
            </a:fld>
            <a:endParaRPr lang="en-US" sz="800">
              <a:latin typeface="Calibri" charset="0"/>
            </a:endParaRPr>
          </a:p>
        </p:txBody>
      </p:sp>
      <p:graphicFrame>
        <p:nvGraphicFramePr>
          <p:cNvPr id="30725" name="Object 2"/>
          <p:cNvGraphicFramePr>
            <a:graphicFrameLocks noChangeAspect="1"/>
          </p:cNvGraphicFramePr>
          <p:nvPr>
            <p:extLst>
              <p:ext uri="{D42A27DB-BD31-4B8C-83A1-F6EECF244321}">
                <p14:modId xmlns:p14="http://schemas.microsoft.com/office/powerpoint/2010/main" val="29519456"/>
              </p:ext>
            </p:extLst>
          </p:nvPr>
        </p:nvGraphicFramePr>
        <p:xfrm>
          <a:off x="1447800" y="1295400"/>
          <a:ext cx="5029200" cy="685800"/>
        </p:xfrm>
        <a:graphic>
          <a:graphicData uri="http://schemas.openxmlformats.org/presentationml/2006/ole">
            <mc:AlternateContent xmlns:mc="http://schemas.openxmlformats.org/markup-compatibility/2006">
              <mc:Choice xmlns:v="urn:schemas-microsoft-com:vml" Requires="v">
                <p:oleObj name="Equation" r:id="rId3" imgW="2605680" imgH="356400" progId="Equation.3">
                  <p:embed/>
                </p:oleObj>
              </mc:Choice>
              <mc:Fallback>
                <p:oleObj name="Equation" r:id="rId3" imgW="2605680" imgH="356400" progId="Equation.3">
                  <p:embed/>
                  <p:pic>
                    <p:nvPicPr>
                      <p:cNvPr id="3072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295400"/>
                        <a:ext cx="5029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30726" name="Object 3"/>
          <p:cNvGraphicFramePr>
            <a:graphicFrameLocks noChangeAspect="1"/>
          </p:cNvGraphicFramePr>
          <p:nvPr>
            <p:extLst>
              <p:ext uri="{D42A27DB-BD31-4B8C-83A1-F6EECF244321}">
                <p14:modId xmlns:p14="http://schemas.microsoft.com/office/powerpoint/2010/main" val="132933762"/>
              </p:ext>
            </p:extLst>
          </p:nvPr>
        </p:nvGraphicFramePr>
        <p:xfrm>
          <a:off x="1447800" y="2364581"/>
          <a:ext cx="5273675" cy="757238"/>
        </p:xfrm>
        <a:graphic>
          <a:graphicData uri="http://schemas.openxmlformats.org/presentationml/2006/ole">
            <mc:AlternateContent xmlns:mc="http://schemas.openxmlformats.org/markup-compatibility/2006">
              <mc:Choice xmlns:v="urn:schemas-microsoft-com:vml" Requires="v">
                <p:oleObj name="Equation" r:id="rId5" imgW="2733480" imgH="393120" progId="Equation.3">
                  <p:embed/>
                </p:oleObj>
              </mc:Choice>
              <mc:Fallback>
                <p:oleObj name="Equation" r:id="rId5" imgW="2733480" imgH="393120" progId="Equation.3">
                  <p:embed/>
                  <p:pic>
                    <p:nvPicPr>
                      <p:cNvPr id="3072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2364581"/>
                        <a:ext cx="5273675"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8" name="TextBox 7"/>
          <p:cNvSpPr txBox="1"/>
          <p:nvPr/>
        </p:nvSpPr>
        <p:spPr>
          <a:xfrm>
            <a:off x="1295400" y="914400"/>
            <a:ext cx="710451" cy="230832"/>
          </a:xfrm>
          <a:prstGeom prst="rect">
            <a:avLst/>
          </a:prstGeom>
          <a:noFill/>
        </p:spPr>
        <p:txBody>
          <a:bodyPr wrap="none" rtlCol="0">
            <a:spAutoFit/>
          </a:bodyPr>
          <a:lstStyle/>
          <a:p>
            <a:r>
              <a:rPr lang="en-US" sz="900" dirty="0"/>
              <a:t>probability</a:t>
            </a:r>
          </a:p>
        </p:txBody>
      </p:sp>
      <p:sp>
        <p:nvSpPr>
          <p:cNvPr id="9" name="TextBox 8"/>
          <p:cNvSpPr txBox="1"/>
          <p:nvPr/>
        </p:nvSpPr>
        <p:spPr>
          <a:xfrm>
            <a:off x="1820052" y="1924521"/>
            <a:ext cx="627095" cy="230832"/>
          </a:xfrm>
          <a:prstGeom prst="rect">
            <a:avLst/>
          </a:prstGeom>
          <a:noFill/>
        </p:spPr>
        <p:txBody>
          <a:bodyPr wrap="none" rtlCol="0">
            <a:spAutoFit/>
          </a:bodyPr>
          <a:lstStyle/>
          <a:p>
            <a:r>
              <a:rPr lang="en-US" sz="900" dirty="0"/>
              <a:t>outcome</a:t>
            </a:r>
          </a:p>
        </p:txBody>
      </p:sp>
      <p:sp>
        <p:nvSpPr>
          <p:cNvPr id="10" name="TextBox 9"/>
          <p:cNvSpPr txBox="1"/>
          <p:nvPr/>
        </p:nvSpPr>
        <p:spPr>
          <a:xfrm>
            <a:off x="2133600" y="914400"/>
            <a:ext cx="473206" cy="230832"/>
          </a:xfrm>
          <a:prstGeom prst="rect">
            <a:avLst/>
          </a:prstGeom>
          <a:noFill/>
        </p:spPr>
        <p:txBody>
          <a:bodyPr wrap="none" rtlCol="0">
            <a:spAutoFit/>
          </a:bodyPr>
          <a:lstStyle/>
          <a:p>
            <a:r>
              <a:rPr lang="en-US" sz="900" dirty="0"/>
              <a:t>mean</a:t>
            </a:r>
          </a:p>
        </p:txBody>
      </p:sp>
      <p:cxnSp>
        <p:nvCxnSpPr>
          <p:cNvPr id="12" name="Straight Arrow Connector 11"/>
          <p:cNvCxnSpPr>
            <a:stCxn id="8" idx="2"/>
          </p:cNvCxnSpPr>
          <p:nvPr/>
        </p:nvCxnSpPr>
        <p:spPr>
          <a:xfrm>
            <a:off x="1650626" y="1145232"/>
            <a:ext cx="25774" cy="150168"/>
          </a:xfrm>
          <a:prstGeom prst="straightConnector1">
            <a:avLst/>
          </a:prstGeom>
          <a:ln w="6350">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a:stCxn id="10" idx="2"/>
          </p:cNvCxnSpPr>
          <p:nvPr/>
        </p:nvCxnSpPr>
        <p:spPr>
          <a:xfrm>
            <a:off x="2370203" y="1145232"/>
            <a:ext cx="68197" cy="302568"/>
          </a:xfrm>
          <a:prstGeom prst="straightConnector1">
            <a:avLst/>
          </a:prstGeom>
          <a:ln w="6350">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a:stCxn id="9" idx="0"/>
          </p:cNvCxnSpPr>
          <p:nvPr/>
        </p:nvCxnSpPr>
        <p:spPr>
          <a:xfrm flipH="1" flipV="1">
            <a:off x="2124852" y="1772121"/>
            <a:ext cx="8748" cy="152400"/>
          </a:xfrm>
          <a:prstGeom prst="straightConnector1">
            <a:avLst/>
          </a:prstGeom>
          <a:ln w="6350">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p:nvPr/>
        </p:nvCxnSpPr>
        <p:spPr>
          <a:xfrm flipH="1">
            <a:off x="3733800" y="4267200"/>
            <a:ext cx="312803" cy="226368"/>
          </a:xfrm>
          <a:prstGeom prst="straightConnector1">
            <a:avLst/>
          </a:prstGeom>
          <a:ln w="15875">
            <a:solidFill>
              <a:schemeClr val="accent1">
                <a:lumMod val="75000"/>
              </a:schemeClr>
            </a:solidFill>
            <a:tailEnd type="arrow"/>
          </a:ln>
        </p:spPr>
        <p:style>
          <a:lnRef idx="2">
            <a:schemeClr val="dk1"/>
          </a:lnRef>
          <a:fillRef idx="0">
            <a:schemeClr val="dk1"/>
          </a:fillRef>
          <a:effectRef idx="1">
            <a:schemeClr val="dk1"/>
          </a:effectRef>
          <a:fontRef idx="minor">
            <a:schemeClr val="tx1"/>
          </a:fontRef>
        </p:style>
      </p:cxn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724">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7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2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72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724">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uiExpand="1" build="p"/>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idx="1"/>
          </p:nvPr>
        </p:nvSpPr>
        <p:spPr/>
        <p:txBody>
          <a:bodyPr/>
          <a:lstStyle/>
          <a:p>
            <a:pPr marL="342900" indent="-342900" eaLnBrk="1" hangingPunct="1">
              <a:lnSpc>
                <a:spcPct val="90000"/>
              </a:lnSpc>
            </a:pPr>
            <a:r>
              <a:rPr lang="en-US" sz="2400" dirty="0">
                <a:solidFill>
                  <a:srgbClr val="010004"/>
                </a:solidFill>
                <a:latin typeface="Calibri" charset="0"/>
                <a:ea typeface="ＭＳ Ｐゴシック" charset="0"/>
                <a:cs typeface="ＭＳ Ｐゴシック" charset="0"/>
              </a:rPr>
              <a:t>A large enough sample drawn from a </a:t>
            </a:r>
            <a:r>
              <a:rPr lang="en-US" sz="2400" b="1" i="1" dirty="0">
                <a:solidFill>
                  <a:srgbClr val="010004"/>
                </a:solidFill>
                <a:latin typeface="Calibri" charset="0"/>
                <a:ea typeface="ＭＳ Ｐゴシック" charset="0"/>
                <a:cs typeface="ＭＳ Ｐゴシック" charset="0"/>
              </a:rPr>
              <a:t>normal distribution</a:t>
            </a:r>
            <a:r>
              <a:rPr lang="en-US" sz="2400" b="1" dirty="0">
                <a:solidFill>
                  <a:srgbClr val="010004"/>
                </a:solidFill>
                <a:latin typeface="Calibri" charset="0"/>
                <a:ea typeface="ＭＳ Ｐゴシック" charset="0"/>
                <a:cs typeface="ＭＳ Ｐゴシック" charset="0"/>
              </a:rPr>
              <a:t> </a:t>
            </a:r>
            <a:r>
              <a:rPr lang="en-US" sz="2400" dirty="0">
                <a:solidFill>
                  <a:srgbClr val="010004"/>
                </a:solidFill>
                <a:latin typeface="Calibri" charset="0"/>
                <a:ea typeface="ＭＳ Ｐゴシック" charset="0"/>
                <a:cs typeface="ＭＳ Ｐゴシック" charset="0"/>
              </a:rPr>
              <a:t>looks like a bell-shaped curve.</a:t>
            </a:r>
          </a:p>
        </p:txBody>
      </p:sp>
      <p:sp>
        <p:nvSpPr>
          <p:cNvPr id="3277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SDs and the Normal Distribution</a:t>
            </a:r>
          </a:p>
        </p:txBody>
      </p:sp>
      <p:sp>
        <p:nvSpPr>
          <p:cNvPr id="32770"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FF18D2B-DC77-9C41-8F25-7A217A612D42}" type="slidenum">
              <a:rPr lang="en-US" sz="800">
                <a:latin typeface="Calibri" charset="0"/>
              </a:rPr>
              <a:pPr eaLnBrk="1" hangingPunct="1"/>
              <a:t>12</a:t>
            </a:fld>
            <a:endParaRPr lang="en-US" sz="800">
              <a:latin typeface="Calibri" charset="0"/>
            </a:endParaRPr>
          </a:p>
        </p:txBody>
      </p:sp>
      <p:sp>
        <p:nvSpPr>
          <p:cNvPr id="32773" name="Rectangle 4"/>
          <p:cNvSpPr>
            <a:spLocks noChangeArrowheads="1"/>
          </p:cNvSpPr>
          <p:nvPr/>
        </p:nvSpPr>
        <p:spPr bwMode="auto">
          <a:xfrm>
            <a:off x="3400425" y="1643062"/>
            <a:ext cx="1235075"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eaLnBrk="0" hangingPunct="0"/>
            <a:r>
              <a:rPr lang="en-US" b="1" dirty="0">
                <a:latin typeface="Calibri" charset="0"/>
              </a:rPr>
              <a:t>Probability</a:t>
            </a:r>
          </a:p>
        </p:txBody>
      </p:sp>
      <p:sp>
        <p:nvSpPr>
          <p:cNvPr id="264197" name="Rectangle 5"/>
          <p:cNvSpPr>
            <a:spLocks noChangeArrowheads="1"/>
          </p:cNvSpPr>
          <p:nvPr/>
        </p:nvSpPr>
        <p:spPr bwMode="auto">
          <a:xfrm>
            <a:off x="6791325" y="4448175"/>
            <a:ext cx="2286000"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lIns="90488" tIns="44450" rIns="90488" bIns="44450">
            <a:spAutoFit/>
          </a:bodyPr>
          <a:lstStyle/>
          <a:p>
            <a:pPr eaLnBrk="0" hangingPunct="0"/>
            <a:r>
              <a:rPr lang="en-US" sz="1600" b="1" dirty="0">
                <a:latin typeface="Times New Roman" charset="0"/>
              </a:rPr>
              <a:t>Return on</a:t>
            </a:r>
            <a:br>
              <a:rPr lang="en-US" sz="1600" b="1" dirty="0">
                <a:latin typeface="Times New Roman" charset="0"/>
              </a:rPr>
            </a:br>
            <a:r>
              <a:rPr lang="en-US" sz="1600" b="1" dirty="0">
                <a:latin typeface="Times New Roman" charset="0"/>
              </a:rPr>
              <a:t>large company common</a:t>
            </a:r>
            <a:br>
              <a:rPr lang="en-US" sz="1600" b="1" dirty="0">
                <a:latin typeface="Times New Roman" charset="0"/>
              </a:rPr>
            </a:br>
            <a:r>
              <a:rPr lang="en-US" sz="1600" b="1" dirty="0">
                <a:latin typeface="Times New Roman" charset="0"/>
              </a:rPr>
              <a:t>stocks</a:t>
            </a:r>
          </a:p>
        </p:txBody>
      </p:sp>
      <p:sp>
        <p:nvSpPr>
          <p:cNvPr id="32775" name="Rectangle 6"/>
          <p:cNvSpPr>
            <a:spLocks noChangeArrowheads="1"/>
          </p:cNvSpPr>
          <p:nvPr/>
        </p:nvSpPr>
        <p:spPr bwMode="auto">
          <a:xfrm>
            <a:off x="3732213" y="5715000"/>
            <a:ext cx="766762"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eaLnBrk="0" hangingPunct="0"/>
            <a:r>
              <a:rPr lang="en-US" sz="1400" b="1">
                <a:latin typeface="Calibri" charset="0"/>
              </a:rPr>
              <a:t> 99.74%</a:t>
            </a:r>
          </a:p>
        </p:txBody>
      </p:sp>
      <p:sp>
        <p:nvSpPr>
          <p:cNvPr id="32776" name="Rectangle 7"/>
          <p:cNvSpPr>
            <a:spLocks noChangeArrowheads="1"/>
          </p:cNvSpPr>
          <p:nvPr/>
        </p:nvSpPr>
        <p:spPr bwMode="auto">
          <a:xfrm>
            <a:off x="1485900" y="4359275"/>
            <a:ext cx="763588"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3s    </a:t>
            </a:r>
            <a:br>
              <a:rPr lang="en-US" sz="1400" b="1">
                <a:latin typeface="Calibri" charset="0"/>
              </a:rPr>
            </a:br>
            <a:r>
              <a:rPr lang="en-US" sz="1400" b="1">
                <a:latin typeface="Calibri" charset="0"/>
              </a:rPr>
              <a:t>– 49.3%</a:t>
            </a:r>
          </a:p>
        </p:txBody>
      </p:sp>
      <p:sp>
        <p:nvSpPr>
          <p:cNvPr id="32777" name="Rectangle 8"/>
          <p:cNvSpPr>
            <a:spLocks noChangeArrowheads="1"/>
          </p:cNvSpPr>
          <p:nvPr/>
        </p:nvSpPr>
        <p:spPr bwMode="auto">
          <a:xfrm>
            <a:off x="2235200" y="4359275"/>
            <a:ext cx="763588"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2s    </a:t>
            </a:r>
            <a:br>
              <a:rPr lang="en-US" sz="1400" b="1">
                <a:latin typeface="Calibri" charset="0"/>
              </a:rPr>
            </a:br>
            <a:r>
              <a:rPr lang="en-US" sz="1400" b="1">
                <a:latin typeface="Calibri" charset="0"/>
              </a:rPr>
              <a:t>– 28.8%</a:t>
            </a:r>
          </a:p>
        </p:txBody>
      </p:sp>
      <p:sp>
        <p:nvSpPr>
          <p:cNvPr id="32778" name="Rectangle 9"/>
          <p:cNvSpPr>
            <a:spLocks noChangeArrowheads="1"/>
          </p:cNvSpPr>
          <p:nvPr/>
        </p:nvSpPr>
        <p:spPr bwMode="auto">
          <a:xfrm>
            <a:off x="3041650" y="4359275"/>
            <a:ext cx="674688"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1s   </a:t>
            </a:r>
            <a:br>
              <a:rPr lang="en-US" sz="1400" b="1">
                <a:latin typeface="Calibri" charset="0"/>
              </a:rPr>
            </a:br>
            <a:r>
              <a:rPr lang="en-US" sz="1400" b="1">
                <a:latin typeface="Calibri" charset="0"/>
              </a:rPr>
              <a:t>– 8.3%</a:t>
            </a:r>
          </a:p>
        </p:txBody>
      </p:sp>
      <p:sp>
        <p:nvSpPr>
          <p:cNvPr id="32779" name="Rectangle 10"/>
          <p:cNvSpPr>
            <a:spLocks noChangeArrowheads="1"/>
          </p:cNvSpPr>
          <p:nvPr/>
        </p:nvSpPr>
        <p:spPr bwMode="auto">
          <a:xfrm>
            <a:off x="3773488" y="4359275"/>
            <a:ext cx="6350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algn="ctr" eaLnBrk="0" hangingPunct="0"/>
            <a:r>
              <a:rPr lang="en-US" sz="1400" b="1" dirty="0">
                <a:latin typeface="Calibri" charset="0"/>
              </a:rPr>
              <a:t>0</a:t>
            </a:r>
            <a:br>
              <a:rPr lang="en-US" sz="1400" b="1" dirty="0">
                <a:latin typeface="Calibri" charset="0"/>
              </a:rPr>
            </a:br>
            <a:r>
              <a:rPr lang="en-US" sz="1400" b="1" dirty="0">
                <a:latin typeface="Calibri" charset="0"/>
              </a:rPr>
              <a:t>12.2%</a:t>
            </a:r>
          </a:p>
        </p:txBody>
      </p:sp>
      <p:sp>
        <p:nvSpPr>
          <p:cNvPr id="32780" name="Rectangle 11"/>
          <p:cNvSpPr>
            <a:spLocks noChangeArrowheads="1"/>
          </p:cNvSpPr>
          <p:nvPr/>
        </p:nvSpPr>
        <p:spPr bwMode="auto">
          <a:xfrm>
            <a:off x="4505325" y="4359275"/>
            <a:ext cx="6350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algn="ctr" eaLnBrk="0" hangingPunct="0"/>
            <a:r>
              <a:rPr lang="en-US" sz="1400" b="1" dirty="0">
                <a:latin typeface="Calibri" charset="0"/>
              </a:rPr>
              <a:t>+ 1s    </a:t>
            </a:r>
            <a:br>
              <a:rPr lang="en-US" sz="1400" b="1" dirty="0">
                <a:latin typeface="Calibri" charset="0"/>
              </a:rPr>
            </a:br>
            <a:r>
              <a:rPr lang="en-US" sz="1400" b="1" dirty="0">
                <a:latin typeface="Calibri" charset="0"/>
              </a:rPr>
              <a:t>32.7%</a:t>
            </a:r>
          </a:p>
        </p:txBody>
      </p:sp>
      <p:sp>
        <p:nvSpPr>
          <p:cNvPr id="32781" name="Rectangle 12"/>
          <p:cNvSpPr>
            <a:spLocks noChangeArrowheads="1"/>
          </p:cNvSpPr>
          <p:nvPr/>
        </p:nvSpPr>
        <p:spPr bwMode="auto">
          <a:xfrm>
            <a:off x="5254625" y="4359275"/>
            <a:ext cx="6350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+ 2s    </a:t>
            </a:r>
            <a:br>
              <a:rPr lang="en-US" sz="1400" b="1">
                <a:latin typeface="Calibri" charset="0"/>
              </a:rPr>
            </a:br>
            <a:r>
              <a:rPr lang="en-US" sz="1400" b="1">
                <a:latin typeface="Calibri" charset="0"/>
              </a:rPr>
              <a:t>53.2%</a:t>
            </a:r>
          </a:p>
        </p:txBody>
      </p:sp>
      <p:sp>
        <p:nvSpPr>
          <p:cNvPr id="32782" name="Rectangle 13"/>
          <p:cNvSpPr>
            <a:spLocks noChangeArrowheads="1"/>
          </p:cNvSpPr>
          <p:nvPr/>
        </p:nvSpPr>
        <p:spPr bwMode="auto">
          <a:xfrm>
            <a:off x="5922963" y="4352925"/>
            <a:ext cx="6350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+ 3s    </a:t>
            </a:r>
            <a:br>
              <a:rPr lang="en-US" sz="1400" b="1">
                <a:latin typeface="Calibri" charset="0"/>
              </a:rPr>
            </a:br>
            <a:r>
              <a:rPr lang="en-US" sz="1400" b="1">
                <a:latin typeface="Calibri" charset="0"/>
              </a:rPr>
              <a:t>73.7%</a:t>
            </a:r>
          </a:p>
        </p:txBody>
      </p:sp>
      <p:sp>
        <p:nvSpPr>
          <p:cNvPr id="264206" name="Rectangle 14"/>
          <p:cNvSpPr>
            <a:spLocks noChangeArrowheads="1"/>
          </p:cNvSpPr>
          <p:nvPr/>
        </p:nvSpPr>
        <p:spPr bwMode="auto">
          <a:xfrm>
            <a:off x="5047457" y="1413920"/>
            <a:ext cx="3810000" cy="1311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p>
            <a:pPr>
              <a:spcBef>
                <a:spcPct val="20000"/>
              </a:spcBef>
              <a:buClr>
                <a:srgbClr val="671739"/>
              </a:buClr>
            </a:pPr>
            <a:r>
              <a:rPr lang="en-US" sz="2000" dirty="0">
                <a:solidFill>
                  <a:srgbClr val="010004"/>
                </a:solidFill>
                <a:latin typeface="+mn-lt"/>
              </a:rPr>
              <a:t>The probability that a yearly return will fall within 20.1 percent of the mean of 13.3 percent will be approximately 2/3.</a:t>
            </a:r>
          </a:p>
        </p:txBody>
      </p:sp>
      <p:sp>
        <p:nvSpPr>
          <p:cNvPr id="32784" name="Line 15"/>
          <p:cNvSpPr>
            <a:spLocks noChangeShapeType="1"/>
          </p:cNvSpPr>
          <p:nvPr/>
        </p:nvSpPr>
        <p:spPr bwMode="auto">
          <a:xfrm>
            <a:off x="1209675" y="4310062"/>
            <a:ext cx="5581650" cy="1588"/>
          </a:xfrm>
          <a:prstGeom prst="line">
            <a:avLst/>
          </a:prstGeom>
          <a:noFill/>
          <a:ln w="20638">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2785" name="Rectangle 16"/>
          <p:cNvSpPr>
            <a:spLocks noChangeArrowheads="1"/>
          </p:cNvSpPr>
          <p:nvPr/>
        </p:nvSpPr>
        <p:spPr bwMode="auto">
          <a:xfrm>
            <a:off x="5410200" y="4325937"/>
            <a:ext cx="20638" cy="60325"/>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charset="0"/>
            </a:endParaRPr>
          </a:p>
        </p:txBody>
      </p:sp>
      <p:sp>
        <p:nvSpPr>
          <p:cNvPr id="32786" name="Freeform 17"/>
          <p:cNvSpPr>
            <a:spLocks/>
          </p:cNvSpPr>
          <p:nvPr/>
        </p:nvSpPr>
        <p:spPr bwMode="auto">
          <a:xfrm>
            <a:off x="6791325" y="4291012"/>
            <a:ext cx="122238" cy="80963"/>
          </a:xfrm>
          <a:custGeom>
            <a:avLst/>
            <a:gdLst>
              <a:gd name="T0" fmla="*/ 2147483647 w 77"/>
              <a:gd name="T1" fmla="*/ 2147483647 h 51"/>
              <a:gd name="T2" fmla="*/ 0 w 77"/>
              <a:gd name="T3" fmla="*/ 0 h 51"/>
              <a:gd name="T4" fmla="*/ 2147483647 w 77"/>
              <a:gd name="T5" fmla="*/ 2147483647 h 51"/>
              <a:gd name="T6" fmla="*/ 0 w 77"/>
              <a:gd name="T7" fmla="*/ 2147483647 h 51"/>
              <a:gd name="T8" fmla="*/ 2147483647 w 77"/>
              <a:gd name="T9" fmla="*/ 2147483647 h 51"/>
              <a:gd name="T10" fmla="*/ 0 60000 65536"/>
              <a:gd name="T11" fmla="*/ 0 60000 65536"/>
              <a:gd name="T12" fmla="*/ 0 60000 65536"/>
              <a:gd name="T13" fmla="*/ 0 60000 65536"/>
              <a:gd name="T14" fmla="*/ 0 60000 65536"/>
              <a:gd name="T15" fmla="*/ 0 w 77"/>
              <a:gd name="T16" fmla="*/ 0 h 51"/>
              <a:gd name="T17" fmla="*/ 77 w 77"/>
              <a:gd name="T18" fmla="*/ 51 h 51"/>
            </a:gdLst>
            <a:ahLst/>
            <a:cxnLst>
              <a:cxn ang="T10">
                <a:pos x="T0" y="T1"/>
              </a:cxn>
              <a:cxn ang="T11">
                <a:pos x="T2" y="T3"/>
              </a:cxn>
              <a:cxn ang="T12">
                <a:pos x="T4" y="T5"/>
              </a:cxn>
              <a:cxn ang="T13">
                <a:pos x="T6" y="T7"/>
              </a:cxn>
              <a:cxn ang="T14">
                <a:pos x="T8" y="T9"/>
              </a:cxn>
            </a:cxnLst>
            <a:rect l="T15" t="T16" r="T17" b="T18"/>
            <a:pathLst>
              <a:path w="77" h="51">
                <a:moveTo>
                  <a:pt x="77" y="25"/>
                </a:moveTo>
                <a:lnTo>
                  <a:pt x="0" y="0"/>
                </a:lnTo>
                <a:lnTo>
                  <a:pt x="12" y="25"/>
                </a:lnTo>
                <a:lnTo>
                  <a:pt x="0" y="51"/>
                </a:lnTo>
                <a:lnTo>
                  <a:pt x="77" y="25"/>
                </a:lnTo>
                <a:close/>
              </a:path>
            </a:pathLst>
          </a:custGeom>
          <a:solidFill>
            <a:srgbClr val="000000"/>
          </a:solidFill>
          <a:ln w="20638">
            <a:solidFill>
              <a:srgbClr val="000000"/>
            </a:solidFill>
            <a:round/>
            <a:headEnd/>
            <a:tailEnd/>
          </a:ln>
        </p:spPr>
        <p:txBody>
          <a:bodyPr/>
          <a:lstStyle/>
          <a:p>
            <a:endParaRPr lang="en-US"/>
          </a:p>
        </p:txBody>
      </p:sp>
      <p:sp>
        <p:nvSpPr>
          <p:cNvPr id="32787" name="Freeform 18"/>
          <p:cNvSpPr>
            <a:spLocks/>
          </p:cNvSpPr>
          <p:nvPr/>
        </p:nvSpPr>
        <p:spPr bwMode="auto">
          <a:xfrm>
            <a:off x="1108075" y="4270375"/>
            <a:ext cx="122238" cy="80962"/>
          </a:xfrm>
          <a:custGeom>
            <a:avLst/>
            <a:gdLst>
              <a:gd name="T0" fmla="*/ 0 w 77"/>
              <a:gd name="T1" fmla="*/ 2147483647 h 51"/>
              <a:gd name="T2" fmla="*/ 2147483647 w 77"/>
              <a:gd name="T3" fmla="*/ 2147483647 h 51"/>
              <a:gd name="T4" fmla="*/ 2147483647 w 77"/>
              <a:gd name="T5" fmla="*/ 2147483647 h 51"/>
              <a:gd name="T6" fmla="*/ 2147483647 w 77"/>
              <a:gd name="T7" fmla="*/ 0 h 51"/>
              <a:gd name="T8" fmla="*/ 0 w 77"/>
              <a:gd name="T9" fmla="*/ 2147483647 h 51"/>
              <a:gd name="T10" fmla="*/ 0 60000 65536"/>
              <a:gd name="T11" fmla="*/ 0 60000 65536"/>
              <a:gd name="T12" fmla="*/ 0 60000 65536"/>
              <a:gd name="T13" fmla="*/ 0 60000 65536"/>
              <a:gd name="T14" fmla="*/ 0 60000 65536"/>
              <a:gd name="T15" fmla="*/ 0 w 77"/>
              <a:gd name="T16" fmla="*/ 0 h 51"/>
              <a:gd name="T17" fmla="*/ 77 w 77"/>
              <a:gd name="T18" fmla="*/ 51 h 51"/>
            </a:gdLst>
            <a:ahLst/>
            <a:cxnLst>
              <a:cxn ang="T10">
                <a:pos x="T0" y="T1"/>
              </a:cxn>
              <a:cxn ang="T11">
                <a:pos x="T2" y="T3"/>
              </a:cxn>
              <a:cxn ang="T12">
                <a:pos x="T4" y="T5"/>
              </a:cxn>
              <a:cxn ang="T13">
                <a:pos x="T6" y="T7"/>
              </a:cxn>
              <a:cxn ang="T14">
                <a:pos x="T8" y="T9"/>
              </a:cxn>
            </a:cxnLst>
            <a:rect l="T15" t="T16" r="T17" b="T18"/>
            <a:pathLst>
              <a:path w="77" h="51">
                <a:moveTo>
                  <a:pt x="0" y="25"/>
                </a:moveTo>
                <a:lnTo>
                  <a:pt x="77" y="51"/>
                </a:lnTo>
                <a:lnTo>
                  <a:pt x="64" y="25"/>
                </a:lnTo>
                <a:lnTo>
                  <a:pt x="77" y="0"/>
                </a:lnTo>
                <a:lnTo>
                  <a:pt x="0" y="25"/>
                </a:lnTo>
                <a:close/>
              </a:path>
            </a:pathLst>
          </a:custGeom>
          <a:solidFill>
            <a:srgbClr val="000000"/>
          </a:solidFill>
          <a:ln w="20638">
            <a:solidFill>
              <a:srgbClr val="000000"/>
            </a:solidFill>
            <a:round/>
            <a:headEnd/>
            <a:tailEnd/>
          </a:ln>
        </p:spPr>
        <p:txBody>
          <a:bodyPr/>
          <a:lstStyle/>
          <a:p>
            <a:endParaRPr lang="en-US"/>
          </a:p>
        </p:txBody>
      </p:sp>
      <p:sp>
        <p:nvSpPr>
          <p:cNvPr id="32788" name="Rectangle 19"/>
          <p:cNvSpPr>
            <a:spLocks noChangeArrowheads="1"/>
          </p:cNvSpPr>
          <p:nvPr/>
        </p:nvSpPr>
        <p:spPr bwMode="auto">
          <a:xfrm>
            <a:off x="4025900" y="4222750"/>
            <a:ext cx="20638" cy="163512"/>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charset="0"/>
            </a:endParaRPr>
          </a:p>
        </p:txBody>
      </p:sp>
      <p:sp>
        <p:nvSpPr>
          <p:cNvPr id="32789" name="Rectangle 20"/>
          <p:cNvSpPr>
            <a:spLocks noChangeArrowheads="1"/>
          </p:cNvSpPr>
          <p:nvPr/>
        </p:nvSpPr>
        <p:spPr bwMode="auto">
          <a:xfrm>
            <a:off x="4724400" y="4310062"/>
            <a:ext cx="20638" cy="60325"/>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charset="0"/>
            </a:endParaRPr>
          </a:p>
        </p:txBody>
      </p:sp>
      <p:sp>
        <p:nvSpPr>
          <p:cNvPr id="32790" name="Rectangle 21"/>
          <p:cNvSpPr>
            <a:spLocks noChangeArrowheads="1"/>
          </p:cNvSpPr>
          <p:nvPr/>
        </p:nvSpPr>
        <p:spPr bwMode="auto">
          <a:xfrm>
            <a:off x="6096000" y="4310062"/>
            <a:ext cx="20638" cy="60325"/>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charset="0"/>
            </a:endParaRPr>
          </a:p>
        </p:txBody>
      </p:sp>
      <p:sp>
        <p:nvSpPr>
          <p:cNvPr id="32791" name="Rectangle 22"/>
          <p:cNvSpPr>
            <a:spLocks noChangeArrowheads="1"/>
          </p:cNvSpPr>
          <p:nvPr/>
        </p:nvSpPr>
        <p:spPr bwMode="auto">
          <a:xfrm>
            <a:off x="3332163" y="4325937"/>
            <a:ext cx="20637" cy="60325"/>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charset="0"/>
            </a:endParaRPr>
          </a:p>
        </p:txBody>
      </p:sp>
      <p:sp>
        <p:nvSpPr>
          <p:cNvPr id="32792" name="Rectangle 23"/>
          <p:cNvSpPr>
            <a:spLocks noChangeArrowheads="1"/>
          </p:cNvSpPr>
          <p:nvPr/>
        </p:nvSpPr>
        <p:spPr bwMode="auto">
          <a:xfrm>
            <a:off x="2646363" y="4310062"/>
            <a:ext cx="20637" cy="60325"/>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charset="0"/>
            </a:endParaRPr>
          </a:p>
        </p:txBody>
      </p:sp>
      <p:sp>
        <p:nvSpPr>
          <p:cNvPr id="32793" name="Rectangle 24"/>
          <p:cNvSpPr>
            <a:spLocks noChangeArrowheads="1"/>
          </p:cNvSpPr>
          <p:nvPr/>
        </p:nvSpPr>
        <p:spPr bwMode="auto">
          <a:xfrm>
            <a:off x="4017963" y="4310062"/>
            <a:ext cx="20637" cy="60325"/>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charset="0"/>
            </a:endParaRPr>
          </a:p>
        </p:txBody>
      </p:sp>
      <p:sp>
        <p:nvSpPr>
          <p:cNvPr id="32794" name="Rectangle 25"/>
          <p:cNvSpPr>
            <a:spLocks noChangeArrowheads="1"/>
          </p:cNvSpPr>
          <p:nvPr/>
        </p:nvSpPr>
        <p:spPr bwMode="auto">
          <a:xfrm>
            <a:off x="1960563" y="4310062"/>
            <a:ext cx="20637" cy="60325"/>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Calibri" charset="0"/>
            </a:endParaRPr>
          </a:p>
        </p:txBody>
      </p:sp>
      <p:sp>
        <p:nvSpPr>
          <p:cNvPr id="32795" name="Freeform 26"/>
          <p:cNvSpPr>
            <a:spLocks/>
          </p:cNvSpPr>
          <p:nvPr/>
        </p:nvSpPr>
        <p:spPr bwMode="auto">
          <a:xfrm>
            <a:off x="1235075" y="2065337"/>
            <a:ext cx="5581650" cy="2244725"/>
          </a:xfrm>
          <a:custGeom>
            <a:avLst/>
            <a:gdLst>
              <a:gd name="T0" fmla="*/ 2147483647 w 3516"/>
              <a:gd name="T1" fmla="*/ 2147483647 h 1414"/>
              <a:gd name="T2" fmla="*/ 2147483647 w 3516"/>
              <a:gd name="T3" fmla="*/ 2147483647 h 1414"/>
              <a:gd name="T4" fmla="*/ 0 w 3516"/>
              <a:gd name="T5" fmla="*/ 2147483647 h 1414"/>
              <a:gd name="T6" fmla="*/ 0 w 3516"/>
              <a:gd name="T7" fmla="*/ 2147483647 h 1414"/>
              <a:gd name="T8" fmla="*/ 2147483647 w 3516"/>
              <a:gd name="T9" fmla="*/ 2147483647 h 1414"/>
              <a:gd name="T10" fmla="*/ 2147483647 w 3516"/>
              <a:gd name="T11" fmla="*/ 2147483647 h 1414"/>
              <a:gd name="T12" fmla="*/ 2147483647 w 3516"/>
              <a:gd name="T13" fmla="*/ 2147483647 h 1414"/>
              <a:gd name="T14" fmla="*/ 2147483647 w 3516"/>
              <a:gd name="T15" fmla="*/ 2147483647 h 1414"/>
              <a:gd name="T16" fmla="*/ 2147483647 w 3516"/>
              <a:gd name="T17" fmla="*/ 2147483647 h 1414"/>
              <a:gd name="T18" fmla="*/ 2147483647 w 3516"/>
              <a:gd name="T19" fmla="*/ 2147483647 h 1414"/>
              <a:gd name="T20" fmla="*/ 2147483647 w 3516"/>
              <a:gd name="T21" fmla="*/ 2147483647 h 1414"/>
              <a:gd name="T22" fmla="*/ 2147483647 w 3516"/>
              <a:gd name="T23" fmla="*/ 2147483647 h 1414"/>
              <a:gd name="T24" fmla="*/ 2147483647 w 3516"/>
              <a:gd name="T25" fmla="*/ 2147483647 h 1414"/>
              <a:gd name="T26" fmla="*/ 2147483647 w 3516"/>
              <a:gd name="T27" fmla="*/ 2147483647 h 1414"/>
              <a:gd name="T28" fmla="*/ 2147483647 w 3516"/>
              <a:gd name="T29" fmla="*/ 2147483647 h 1414"/>
              <a:gd name="T30" fmla="*/ 2147483647 w 3516"/>
              <a:gd name="T31" fmla="*/ 2147483647 h 1414"/>
              <a:gd name="T32" fmla="*/ 2147483647 w 3516"/>
              <a:gd name="T33" fmla="*/ 0 h 1414"/>
              <a:gd name="T34" fmla="*/ 2147483647 w 3516"/>
              <a:gd name="T35" fmla="*/ 2147483647 h 1414"/>
              <a:gd name="T36" fmla="*/ 2147483647 w 3516"/>
              <a:gd name="T37" fmla="*/ 2147483647 h 1414"/>
              <a:gd name="T38" fmla="*/ 2147483647 w 3516"/>
              <a:gd name="T39" fmla="*/ 2147483647 h 1414"/>
              <a:gd name="T40" fmla="*/ 2147483647 w 3516"/>
              <a:gd name="T41" fmla="*/ 2147483647 h 1414"/>
              <a:gd name="T42" fmla="*/ 2147483647 w 3516"/>
              <a:gd name="T43" fmla="*/ 2147483647 h 1414"/>
              <a:gd name="T44" fmla="*/ 2147483647 w 3516"/>
              <a:gd name="T45" fmla="*/ 2147483647 h 1414"/>
              <a:gd name="T46" fmla="*/ 2147483647 w 3516"/>
              <a:gd name="T47" fmla="*/ 2147483647 h 1414"/>
              <a:gd name="T48" fmla="*/ 2147483647 w 3516"/>
              <a:gd name="T49" fmla="*/ 2147483647 h 1414"/>
              <a:gd name="T50" fmla="*/ 2147483647 w 3516"/>
              <a:gd name="T51" fmla="*/ 2147483647 h 1414"/>
              <a:gd name="T52" fmla="*/ 2147483647 w 3516"/>
              <a:gd name="T53" fmla="*/ 2147483647 h 1414"/>
              <a:gd name="T54" fmla="*/ 2147483647 w 3516"/>
              <a:gd name="T55" fmla="*/ 2147483647 h 1414"/>
              <a:gd name="T56" fmla="*/ 2147483647 w 3516"/>
              <a:gd name="T57" fmla="*/ 2147483647 h 1414"/>
              <a:gd name="T58" fmla="*/ 2147483647 w 3516"/>
              <a:gd name="T59" fmla="*/ 2147483647 h 1414"/>
              <a:gd name="T60" fmla="*/ 2147483647 w 3516"/>
              <a:gd name="T61" fmla="*/ 2147483647 h 141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516"/>
              <a:gd name="T94" fmla="*/ 0 h 1414"/>
              <a:gd name="T95" fmla="*/ 3516 w 3516"/>
              <a:gd name="T96" fmla="*/ 1414 h 141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516" h="1414">
                <a:moveTo>
                  <a:pt x="3516" y="1376"/>
                </a:moveTo>
                <a:lnTo>
                  <a:pt x="3516" y="1414"/>
                </a:lnTo>
                <a:lnTo>
                  <a:pt x="0" y="1414"/>
                </a:lnTo>
                <a:lnTo>
                  <a:pt x="0" y="1376"/>
                </a:lnTo>
                <a:lnTo>
                  <a:pt x="143" y="1376"/>
                </a:lnTo>
                <a:lnTo>
                  <a:pt x="311" y="1376"/>
                </a:lnTo>
                <a:lnTo>
                  <a:pt x="479" y="1350"/>
                </a:lnTo>
                <a:lnTo>
                  <a:pt x="634" y="1312"/>
                </a:lnTo>
                <a:lnTo>
                  <a:pt x="802" y="1234"/>
                </a:lnTo>
                <a:lnTo>
                  <a:pt x="905" y="1144"/>
                </a:lnTo>
                <a:lnTo>
                  <a:pt x="1073" y="926"/>
                </a:lnTo>
                <a:lnTo>
                  <a:pt x="1332" y="437"/>
                </a:lnTo>
                <a:lnTo>
                  <a:pt x="1461" y="218"/>
                </a:lnTo>
                <a:lnTo>
                  <a:pt x="1525" y="128"/>
                </a:lnTo>
                <a:lnTo>
                  <a:pt x="1590" y="64"/>
                </a:lnTo>
                <a:lnTo>
                  <a:pt x="1668" y="13"/>
                </a:lnTo>
                <a:lnTo>
                  <a:pt x="1758" y="0"/>
                </a:lnTo>
                <a:lnTo>
                  <a:pt x="1848" y="13"/>
                </a:lnTo>
                <a:lnTo>
                  <a:pt x="1926" y="64"/>
                </a:lnTo>
                <a:lnTo>
                  <a:pt x="1991" y="128"/>
                </a:lnTo>
                <a:lnTo>
                  <a:pt x="2055" y="218"/>
                </a:lnTo>
                <a:lnTo>
                  <a:pt x="2172" y="437"/>
                </a:lnTo>
                <a:lnTo>
                  <a:pt x="2443" y="926"/>
                </a:lnTo>
                <a:lnTo>
                  <a:pt x="2533" y="1054"/>
                </a:lnTo>
                <a:lnTo>
                  <a:pt x="2611" y="1144"/>
                </a:lnTo>
                <a:lnTo>
                  <a:pt x="2714" y="1234"/>
                </a:lnTo>
                <a:lnTo>
                  <a:pt x="2882" y="1312"/>
                </a:lnTo>
                <a:lnTo>
                  <a:pt x="3037" y="1350"/>
                </a:lnTo>
                <a:lnTo>
                  <a:pt x="3205" y="1376"/>
                </a:lnTo>
                <a:lnTo>
                  <a:pt x="3348" y="1376"/>
                </a:lnTo>
                <a:lnTo>
                  <a:pt x="3516" y="1376"/>
                </a:lnTo>
                <a:close/>
              </a:path>
            </a:pathLst>
          </a:custGeom>
          <a:solidFill>
            <a:srgbClr val="D9F1F7"/>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796" name="AutoShape 27"/>
          <p:cNvSpPr>
            <a:spLocks/>
          </p:cNvSpPr>
          <p:nvPr/>
        </p:nvSpPr>
        <p:spPr bwMode="auto">
          <a:xfrm rot="-5400000">
            <a:off x="4000500" y="4195762"/>
            <a:ext cx="228600" cy="1371600"/>
          </a:xfrm>
          <a:prstGeom prst="leftBrace">
            <a:avLst>
              <a:gd name="adj1" fmla="val 50000"/>
              <a:gd name="adj2" fmla="val 50000"/>
            </a:avLst>
          </a:prstGeom>
          <a:noFill/>
          <a:ln w="12700" cap="sq">
            <a:solidFill>
              <a:schemeClr val="tx1"/>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2797" name="Rectangle 28"/>
          <p:cNvSpPr>
            <a:spLocks noChangeArrowheads="1"/>
          </p:cNvSpPr>
          <p:nvPr/>
        </p:nvSpPr>
        <p:spPr bwMode="auto">
          <a:xfrm>
            <a:off x="3783013" y="4953000"/>
            <a:ext cx="725487"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eaLnBrk="0" hangingPunct="0"/>
            <a:r>
              <a:rPr lang="en-US" sz="1400" b="1">
                <a:latin typeface="Calibri" charset="0"/>
              </a:rPr>
              <a:t>68.26%</a:t>
            </a:r>
          </a:p>
        </p:txBody>
      </p:sp>
      <p:sp>
        <p:nvSpPr>
          <p:cNvPr id="32798" name="Rectangle 29"/>
          <p:cNvSpPr>
            <a:spLocks noChangeArrowheads="1"/>
          </p:cNvSpPr>
          <p:nvPr/>
        </p:nvSpPr>
        <p:spPr bwMode="auto">
          <a:xfrm>
            <a:off x="3795713" y="5334000"/>
            <a:ext cx="725487"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0488" tIns="44450" rIns="90488" bIns="44450">
            <a:spAutoFit/>
          </a:bodyPr>
          <a:lstStyle/>
          <a:p>
            <a:pPr eaLnBrk="0" hangingPunct="0"/>
            <a:r>
              <a:rPr lang="en-US" sz="1400" b="1">
                <a:latin typeface="Calibri" charset="0"/>
              </a:rPr>
              <a:t>95.44%</a:t>
            </a:r>
          </a:p>
        </p:txBody>
      </p:sp>
      <p:sp>
        <p:nvSpPr>
          <p:cNvPr id="32799" name="AutoShape 30"/>
          <p:cNvSpPr>
            <a:spLocks/>
          </p:cNvSpPr>
          <p:nvPr/>
        </p:nvSpPr>
        <p:spPr bwMode="auto">
          <a:xfrm rot="-5400000">
            <a:off x="3924300" y="3890962"/>
            <a:ext cx="228600" cy="2743200"/>
          </a:xfrm>
          <a:prstGeom prst="leftBrace">
            <a:avLst>
              <a:gd name="adj1" fmla="val 100000"/>
              <a:gd name="adj2" fmla="val 50000"/>
            </a:avLst>
          </a:prstGeom>
          <a:noFill/>
          <a:ln w="12700" cap="sq">
            <a:solidFill>
              <a:schemeClr val="tx1"/>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2800" name="Line 31"/>
          <p:cNvSpPr>
            <a:spLocks noChangeShapeType="1"/>
          </p:cNvSpPr>
          <p:nvPr/>
        </p:nvSpPr>
        <p:spPr bwMode="auto">
          <a:xfrm flipV="1">
            <a:off x="3352800" y="2786062"/>
            <a:ext cx="0" cy="1524000"/>
          </a:xfrm>
          <a:prstGeom prst="line">
            <a:avLst/>
          </a:prstGeom>
          <a:noFill/>
          <a:ln w="12700">
            <a:solidFill>
              <a:schemeClr val="tx1"/>
            </a:solidFill>
            <a:prstDash val="dash"/>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p>
        </p:txBody>
      </p:sp>
      <p:sp>
        <p:nvSpPr>
          <p:cNvPr id="32801" name="Line 32"/>
          <p:cNvSpPr>
            <a:spLocks noChangeShapeType="1"/>
          </p:cNvSpPr>
          <p:nvPr/>
        </p:nvSpPr>
        <p:spPr bwMode="auto">
          <a:xfrm flipV="1">
            <a:off x="4724400" y="2786062"/>
            <a:ext cx="0" cy="1524000"/>
          </a:xfrm>
          <a:prstGeom prst="line">
            <a:avLst/>
          </a:prstGeom>
          <a:noFill/>
          <a:ln w="12700">
            <a:solidFill>
              <a:schemeClr val="tx1"/>
            </a:solidFill>
            <a:prstDash val="dash"/>
            <a:round/>
            <a:headEnd type="none" w="sm" len="sm"/>
            <a:tailEnd type="none" w="sm" len="sm"/>
          </a:ln>
          <a:extLst>
            <a:ext uri="{909E8E84-426E-40dd-AFC4-6F175D3DCCD1}">
              <a14:hiddenFill xmlns="" xmlns:a14="http://schemas.microsoft.com/office/drawing/2010/main">
                <a:noFill/>
              </a14:hiddenFill>
            </a:ext>
          </a:extLst>
        </p:spPr>
        <p:txBody>
          <a:bodyPr wrap="none"/>
          <a:lstStyle/>
          <a:p>
            <a:endParaRPr lang="en-US"/>
          </a:p>
        </p:txBody>
      </p:sp>
      <p:sp>
        <p:nvSpPr>
          <p:cNvPr id="32802" name="Freeform 33"/>
          <p:cNvSpPr>
            <a:spLocks/>
          </p:cNvSpPr>
          <p:nvPr/>
        </p:nvSpPr>
        <p:spPr bwMode="auto">
          <a:xfrm>
            <a:off x="1143000" y="2049462"/>
            <a:ext cx="5764213" cy="2184400"/>
          </a:xfrm>
          <a:custGeom>
            <a:avLst/>
            <a:gdLst>
              <a:gd name="T0" fmla="*/ 0 w 3631"/>
              <a:gd name="T1" fmla="*/ 2147483647 h 1376"/>
              <a:gd name="T2" fmla="*/ 2147483647 w 3631"/>
              <a:gd name="T3" fmla="*/ 2147483647 h 1376"/>
              <a:gd name="T4" fmla="*/ 2147483647 w 3631"/>
              <a:gd name="T5" fmla="*/ 2147483647 h 1376"/>
              <a:gd name="T6" fmla="*/ 2147483647 w 3631"/>
              <a:gd name="T7" fmla="*/ 2147483647 h 1376"/>
              <a:gd name="T8" fmla="*/ 2147483647 w 3631"/>
              <a:gd name="T9" fmla="*/ 2147483647 h 1376"/>
              <a:gd name="T10" fmla="*/ 2147483647 w 3631"/>
              <a:gd name="T11" fmla="*/ 2147483647 h 1376"/>
              <a:gd name="T12" fmla="*/ 2147483647 w 3631"/>
              <a:gd name="T13" fmla="*/ 2147483647 h 1376"/>
              <a:gd name="T14" fmla="*/ 2147483647 w 3631"/>
              <a:gd name="T15" fmla="*/ 2147483647 h 1376"/>
              <a:gd name="T16" fmla="*/ 2147483647 w 3631"/>
              <a:gd name="T17" fmla="*/ 2147483647 h 1376"/>
              <a:gd name="T18" fmla="*/ 2147483647 w 3631"/>
              <a:gd name="T19" fmla="*/ 2147483647 h 1376"/>
              <a:gd name="T20" fmla="*/ 2147483647 w 3631"/>
              <a:gd name="T21" fmla="*/ 2147483647 h 1376"/>
              <a:gd name="T22" fmla="*/ 2147483647 w 3631"/>
              <a:gd name="T23" fmla="*/ 2147483647 h 1376"/>
              <a:gd name="T24" fmla="*/ 2147483647 w 3631"/>
              <a:gd name="T25" fmla="*/ 2147483647 h 1376"/>
              <a:gd name="T26" fmla="*/ 2147483647 w 3631"/>
              <a:gd name="T27" fmla="*/ 0 h 1376"/>
              <a:gd name="T28" fmla="*/ 2147483647 w 3631"/>
              <a:gd name="T29" fmla="*/ 2147483647 h 1376"/>
              <a:gd name="T30" fmla="*/ 2147483647 w 3631"/>
              <a:gd name="T31" fmla="*/ 2147483647 h 1376"/>
              <a:gd name="T32" fmla="*/ 2147483647 w 3631"/>
              <a:gd name="T33" fmla="*/ 2147483647 h 1376"/>
              <a:gd name="T34" fmla="*/ 2147483647 w 3631"/>
              <a:gd name="T35" fmla="*/ 2147483647 h 1376"/>
              <a:gd name="T36" fmla="*/ 2147483647 w 3631"/>
              <a:gd name="T37" fmla="*/ 2147483647 h 1376"/>
              <a:gd name="T38" fmla="*/ 2147483647 w 3631"/>
              <a:gd name="T39" fmla="*/ 2147483647 h 1376"/>
              <a:gd name="T40" fmla="*/ 2147483647 w 3631"/>
              <a:gd name="T41" fmla="*/ 2147483647 h 1376"/>
              <a:gd name="T42" fmla="*/ 2147483647 w 3631"/>
              <a:gd name="T43" fmla="*/ 2147483647 h 1376"/>
              <a:gd name="T44" fmla="*/ 2147483647 w 3631"/>
              <a:gd name="T45" fmla="*/ 2147483647 h 1376"/>
              <a:gd name="T46" fmla="*/ 2147483647 w 3631"/>
              <a:gd name="T47" fmla="*/ 2147483647 h 1376"/>
              <a:gd name="T48" fmla="*/ 2147483647 w 3631"/>
              <a:gd name="T49" fmla="*/ 2147483647 h 1376"/>
              <a:gd name="T50" fmla="*/ 2147483647 w 3631"/>
              <a:gd name="T51" fmla="*/ 2147483647 h 1376"/>
              <a:gd name="T52" fmla="*/ 2147483647 w 3631"/>
              <a:gd name="T53" fmla="*/ 2147483647 h 1376"/>
              <a:gd name="T54" fmla="*/ 2147483647 w 3631"/>
              <a:gd name="T55" fmla="*/ 2147483647 h 137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631"/>
              <a:gd name="T85" fmla="*/ 0 h 1376"/>
              <a:gd name="T86" fmla="*/ 3631 w 3631"/>
              <a:gd name="T87" fmla="*/ 1376 h 137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631" h="1376">
                <a:moveTo>
                  <a:pt x="0" y="1376"/>
                </a:moveTo>
                <a:lnTo>
                  <a:pt x="207" y="1376"/>
                </a:lnTo>
                <a:lnTo>
                  <a:pt x="375" y="1376"/>
                </a:lnTo>
                <a:lnTo>
                  <a:pt x="543" y="1350"/>
                </a:lnTo>
                <a:lnTo>
                  <a:pt x="698" y="1312"/>
                </a:lnTo>
                <a:lnTo>
                  <a:pt x="866" y="1234"/>
                </a:lnTo>
                <a:lnTo>
                  <a:pt x="969" y="1144"/>
                </a:lnTo>
                <a:lnTo>
                  <a:pt x="1137" y="926"/>
                </a:lnTo>
                <a:lnTo>
                  <a:pt x="1396" y="437"/>
                </a:lnTo>
                <a:lnTo>
                  <a:pt x="1525" y="218"/>
                </a:lnTo>
                <a:lnTo>
                  <a:pt x="1589" y="128"/>
                </a:lnTo>
                <a:lnTo>
                  <a:pt x="1654" y="64"/>
                </a:lnTo>
                <a:lnTo>
                  <a:pt x="1732" y="13"/>
                </a:lnTo>
                <a:lnTo>
                  <a:pt x="1822" y="0"/>
                </a:lnTo>
                <a:lnTo>
                  <a:pt x="1912" y="13"/>
                </a:lnTo>
                <a:lnTo>
                  <a:pt x="1990" y="64"/>
                </a:lnTo>
                <a:lnTo>
                  <a:pt x="2055" y="128"/>
                </a:lnTo>
                <a:lnTo>
                  <a:pt x="2119" y="218"/>
                </a:lnTo>
                <a:lnTo>
                  <a:pt x="2236" y="437"/>
                </a:lnTo>
                <a:lnTo>
                  <a:pt x="2507" y="926"/>
                </a:lnTo>
                <a:lnTo>
                  <a:pt x="2597" y="1054"/>
                </a:lnTo>
                <a:lnTo>
                  <a:pt x="2675" y="1144"/>
                </a:lnTo>
                <a:lnTo>
                  <a:pt x="2778" y="1234"/>
                </a:lnTo>
                <a:lnTo>
                  <a:pt x="2946" y="1312"/>
                </a:lnTo>
                <a:lnTo>
                  <a:pt x="3101" y="1350"/>
                </a:lnTo>
                <a:lnTo>
                  <a:pt x="3269" y="1376"/>
                </a:lnTo>
                <a:lnTo>
                  <a:pt x="3412" y="1376"/>
                </a:lnTo>
                <a:lnTo>
                  <a:pt x="3631" y="1376"/>
                </a:lnTo>
              </a:path>
            </a:pathLst>
          </a:custGeom>
          <a:noFill/>
          <a:ln w="41275">
            <a:solidFill>
              <a:srgbClr val="9933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2803" name="AutoShape 34"/>
          <p:cNvSpPr>
            <a:spLocks/>
          </p:cNvSpPr>
          <p:nvPr/>
        </p:nvSpPr>
        <p:spPr bwMode="auto">
          <a:xfrm rot="-5400000">
            <a:off x="3886200" y="3395662"/>
            <a:ext cx="304800" cy="4419600"/>
          </a:xfrm>
          <a:prstGeom prst="leftBrace">
            <a:avLst>
              <a:gd name="adj1" fmla="val 120833"/>
              <a:gd name="adj2" fmla="val 50000"/>
            </a:avLst>
          </a:prstGeom>
          <a:noFill/>
          <a:ln w="12700" cap="sq">
            <a:solidFill>
              <a:schemeClr val="tx1"/>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4197"/>
                                        </p:tgtEl>
                                        <p:attrNameLst>
                                          <p:attrName>style.visibility</p:attrName>
                                        </p:attrNameLst>
                                      </p:cBhvr>
                                      <p:to>
                                        <p:strVal val="visible"/>
                                      </p:to>
                                    </p:set>
                                    <p:animEffect transition="in" filter="wipe(left)">
                                      <p:cBhvr>
                                        <p:cTn id="7" dur="500"/>
                                        <p:tgtEl>
                                          <p:spTgt spid="2641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64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7" grpId="0" autoUpdateAnimBg="0"/>
      <p:bldP spid="26420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p:cNvSpPr>
            <a:spLocks noGrp="1" noChangeArrowheads="1"/>
          </p:cNvSpPr>
          <p:nvPr>
            <p:ph idx="1"/>
          </p:nvPr>
        </p:nvSpPr>
        <p:spPr/>
        <p:txBody>
          <a:bodyPr/>
          <a:lstStyle/>
          <a:p>
            <a:pPr eaLnBrk="1" hangingPunct="1"/>
            <a:r>
              <a:rPr lang="en-US" sz="2400" b="1" dirty="0">
                <a:latin typeface="Calibri" charset="0"/>
                <a:ea typeface="ＭＳ Ｐゴシック" charset="0"/>
                <a:cs typeface="ＭＳ Ｐゴシック" charset="0"/>
              </a:rPr>
              <a:t>Fair bet:  Cost = E(value)</a:t>
            </a:r>
          </a:p>
          <a:p>
            <a:pPr eaLnBrk="1" hangingPunct="1"/>
            <a:r>
              <a:rPr lang="en-US" sz="2400" b="1" dirty="0">
                <a:latin typeface="Calibri" charset="0"/>
                <a:ea typeface="ＭＳ Ｐゴシック" charset="0"/>
                <a:cs typeface="ＭＳ Ｐゴシック" charset="0"/>
              </a:rPr>
              <a:t>Risk Averse</a:t>
            </a:r>
            <a:r>
              <a:rPr lang="en-US" sz="2400" dirty="0">
                <a:latin typeface="Calibri" charset="0"/>
                <a:ea typeface="ＭＳ Ｐゴシック" charset="0"/>
                <a:cs typeface="ＭＳ Ｐゴシック" charset="0"/>
              </a:rPr>
              <a:t>:  </a:t>
            </a:r>
          </a:p>
          <a:p>
            <a:pPr lvl="1" eaLnBrk="1" hangingPunct="1"/>
            <a:r>
              <a:rPr lang="en-US" sz="2000" dirty="0">
                <a:latin typeface="Calibri" charset="0"/>
                <a:ea typeface="ＭＳ Ｐゴシック" charset="0"/>
              </a:rPr>
              <a:t>rejects </a:t>
            </a:r>
            <a:r>
              <a:rPr lang="en-US" sz="2000" b="1" dirty="0">
                <a:latin typeface="Calibri" charset="0"/>
                <a:ea typeface="ＭＳ Ｐゴシック" charset="0"/>
              </a:rPr>
              <a:t>fair bets</a:t>
            </a:r>
            <a:r>
              <a:rPr lang="en-US" sz="2000" dirty="0">
                <a:latin typeface="Calibri" charset="0"/>
                <a:ea typeface="ＭＳ Ｐゴシック" charset="0"/>
              </a:rPr>
              <a:t>; </a:t>
            </a:r>
          </a:p>
          <a:p>
            <a:pPr lvl="1" eaLnBrk="1" hangingPunct="1"/>
            <a:r>
              <a:rPr lang="en-US" sz="2000" dirty="0">
                <a:latin typeface="Calibri" charset="0"/>
                <a:ea typeface="ＭＳ Ｐゴシック" charset="0"/>
              </a:rPr>
              <a:t>pays premium (more than expected value) for insurance</a:t>
            </a:r>
          </a:p>
          <a:p>
            <a:pPr eaLnBrk="1" hangingPunct="1"/>
            <a:r>
              <a:rPr lang="en-US" sz="2400" dirty="0">
                <a:latin typeface="Calibri" charset="0"/>
                <a:ea typeface="ＭＳ Ｐゴシック" charset="0"/>
                <a:cs typeface="ＭＳ Ｐゴシック" charset="0"/>
              </a:rPr>
              <a:t>   </a:t>
            </a:r>
          </a:p>
          <a:p>
            <a:pPr lvl="1" eaLnBrk="1" hangingPunct="1"/>
            <a:r>
              <a:rPr lang="en-US" sz="2000" dirty="0">
                <a:latin typeface="Calibri" charset="0"/>
                <a:ea typeface="ＭＳ Ｐゴシック" charset="0"/>
              </a:rPr>
              <a:t>is indifferent about </a:t>
            </a:r>
            <a:r>
              <a:rPr lang="en-US" sz="2000" b="1" dirty="0">
                <a:latin typeface="Calibri" charset="0"/>
                <a:ea typeface="ＭＳ Ｐゴシック" charset="0"/>
              </a:rPr>
              <a:t>fair bets</a:t>
            </a:r>
            <a:r>
              <a:rPr lang="en-US" sz="2000" dirty="0">
                <a:latin typeface="Calibri" charset="0"/>
                <a:ea typeface="ＭＳ Ｐゴシック" charset="0"/>
              </a:rPr>
              <a:t> (will write or take)</a:t>
            </a:r>
          </a:p>
          <a:p>
            <a:pPr lvl="1" eaLnBrk="1" hangingPunct="1"/>
            <a:r>
              <a:rPr lang="en-US" sz="2000" dirty="0">
                <a:latin typeface="Calibri" charset="0"/>
                <a:ea typeface="ＭＳ Ｐゴシック" charset="0"/>
              </a:rPr>
              <a:t>Evaluates outcomes solely on the basis of expected value and </a:t>
            </a:r>
            <a:r>
              <a:rPr lang="en-US" sz="2000" i="1" dirty="0">
                <a:latin typeface="Calibri" charset="0"/>
                <a:ea typeface="ＭＳ Ｐゴシック" charset="0"/>
              </a:rPr>
              <a:t>not</a:t>
            </a:r>
            <a:r>
              <a:rPr lang="en-US" sz="2000" dirty="0">
                <a:latin typeface="Calibri" charset="0"/>
                <a:ea typeface="ＭＳ Ｐゴシック" charset="0"/>
              </a:rPr>
              <a:t> risk </a:t>
            </a:r>
          </a:p>
          <a:p>
            <a:pPr lvl="1" eaLnBrk="1" hangingPunct="1"/>
            <a:r>
              <a:rPr lang="en-US" sz="2000" dirty="0">
                <a:latin typeface="Calibri" charset="0"/>
                <a:ea typeface="ＭＳ Ｐゴシック" charset="0"/>
              </a:rPr>
              <a:t>does not pay a premium for insurance</a:t>
            </a:r>
          </a:p>
          <a:p>
            <a:pPr eaLnBrk="1" hangingPunct="1"/>
            <a:r>
              <a:rPr lang="en-US" sz="2400" b="1" dirty="0">
                <a:latin typeface="Calibri" charset="0"/>
                <a:ea typeface="ＭＳ Ｐゴシック" charset="0"/>
                <a:cs typeface="ＭＳ Ｐゴシック" charset="0"/>
              </a:rPr>
              <a:t>Risk Lover</a:t>
            </a:r>
            <a:r>
              <a:rPr lang="en-US" sz="2400" dirty="0">
                <a:latin typeface="Calibri" charset="0"/>
                <a:ea typeface="ＭＳ Ｐゴシック" charset="0"/>
                <a:cs typeface="ＭＳ Ｐゴシック" charset="0"/>
              </a:rPr>
              <a:t>:  </a:t>
            </a:r>
          </a:p>
          <a:p>
            <a:pPr lvl="1" eaLnBrk="1" hangingPunct="1"/>
            <a:r>
              <a:rPr lang="en-US" sz="2000" dirty="0">
                <a:latin typeface="Calibri" charset="0"/>
                <a:ea typeface="ＭＳ Ｐゴシック" charset="0"/>
              </a:rPr>
              <a:t>accepts all </a:t>
            </a:r>
            <a:r>
              <a:rPr lang="en-US" sz="2000" b="1" dirty="0">
                <a:latin typeface="Calibri" charset="0"/>
                <a:ea typeface="ＭＳ Ｐゴシック" charset="0"/>
              </a:rPr>
              <a:t>fair </a:t>
            </a:r>
            <a:r>
              <a:rPr lang="en-US" sz="2000" dirty="0">
                <a:latin typeface="Calibri" charset="0"/>
                <a:ea typeface="ＭＳ Ｐゴシック" charset="0"/>
              </a:rPr>
              <a:t>(and some </a:t>
            </a:r>
            <a:r>
              <a:rPr lang="en-US" sz="2000" b="1" dirty="0">
                <a:latin typeface="Calibri" charset="0"/>
                <a:ea typeface="ＭＳ Ｐゴシック" charset="0"/>
              </a:rPr>
              <a:t>unfair</a:t>
            </a:r>
            <a:r>
              <a:rPr lang="en-US" sz="2000" dirty="0">
                <a:latin typeface="Calibri" charset="0"/>
                <a:ea typeface="ＭＳ Ｐゴシック" charset="0"/>
              </a:rPr>
              <a:t>) </a:t>
            </a:r>
            <a:r>
              <a:rPr lang="en-US" sz="2000" b="1" dirty="0">
                <a:latin typeface="Calibri" charset="0"/>
                <a:ea typeface="ＭＳ Ｐゴシック" charset="0"/>
              </a:rPr>
              <a:t>bets</a:t>
            </a:r>
            <a:r>
              <a:rPr lang="en-US" sz="2000" dirty="0">
                <a:latin typeface="Calibri" charset="0"/>
                <a:ea typeface="ＭＳ Ｐゴシック" charset="0"/>
              </a:rPr>
              <a:t>; </a:t>
            </a:r>
          </a:p>
          <a:p>
            <a:pPr lvl="1" eaLnBrk="1" hangingPunct="1"/>
            <a:r>
              <a:rPr lang="en-US" sz="2000" dirty="0">
                <a:latin typeface="Calibri" charset="0"/>
                <a:ea typeface="ＭＳ Ｐゴシック" charset="0"/>
              </a:rPr>
              <a:t>never purchases insurance</a:t>
            </a:r>
          </a:p>
          <a:p>
            <a:pPr eaLnBrk="1" hangingPunct="1"/>
            <a:r>
              <a:rPr lang="en-US" sz="2400" b="1" dirty="0">
                <a:latin typeface="Calibri" charset="0"/>
                <a:ea typeface="ＭＳ Ｐゴシック" charset="0"/>
                <a:cs typeface="ＭＳ Ｐゴシック" charset="0"/>
              </a:rPr>
              <a:t>Market vs. Personal Risk Aversion</a:t>
            </a:r>
          </a:p>
        </p:txBody>
      </p:sp>
      <p:sp>
        <p:nvSpPr>
          <p:cNvPr id="34819"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Risk Adverse, Risk Neutral, and Risk Lover</a:t>
            </a:r>
          </a:p>
        </p:txBody>
      </p:sp>
      <p:sp>
        <p:nvSpPr>
          <p:cNvPr id="34818"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FDCFAFD-B341-5D42-B99F-BBE563C707A4}" type="slidenum">
              <a:rPr lang="en-US" sz="800">
                <a:latin typeface="Calibri" charset="0"/>
              </a:rPr>
              <a:pPr eaLnBrk="1" hangingPunct="1"/>
              <a:t>13</a:t>
            </a:fld>
            <a:endParaRPr lang="en-US" sz="800">
              <a:latin typeface="Calibri" charset="0"/>
            </a:endParaRPr>
          </a:p>
        </p:txBody>
      </p:sp>
      <p:sp>
        <p:nvSpPr>
          <p:cNvPr id="34821" name="Oval 4"/>
          <p:cNvSpPr>
            <a:spLocks noChangeArrowheads="1"/>
          </p:cNvSpPr>
          <p:nvPr/>
        </p:nvSpPr>
        <p:spPr bwMode="auto">
          <a:xfrm>
            <a:off x="685800" y="2133600"/>
            <a:ext cx="2590800" cy="457200"/>
          </a:xfrm>
          <a:prstGeom prst="ellipse">
            <a:avLst/>
          </a:prstGeom>
          <a:solidFill>
            <a:schemeClr val="accent3">
              <a:lumMod val="10000"/>
              <a:lumOff val="90000"/>
            </a:schemeClr>
          </a:solidFill>
          <a:ln w="9525">
            <a:solidFill>
              <a:schemeClr val="tx1"/>
            </a:solidFill>
            <a:round/>
            <a:headEnd/>
            <a:tailEnd/>
          </a:ln>
        </p:spPr>
        <p:txBody>
          <a:bodyPr wrap="none" anchor="ctr"/>
          <a:lstStyle/>
          <a:p>
            <a:pPr algn="ctr"/>
            <a:r>
              <a:rPr lang="en-US" sz="2400" b="1">
                <a:latin typeface="Calibri" charset="0"/>
              </a:rPr>
              <a:t>Risk Neutral</a:t>
            </a: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8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820">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820">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820">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4820">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820">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820">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482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3"/>
          <p:cNvSpPr>
            <a:spLocks noGrp="1" noChangeArrowheads="1"/>
          </p:cNvSpPr>
          <p:nvPr>
            <p:ph idx="1"/>
          </p:nvPr>
        </p:nvSpPr>
        <p:spPr/>
        <p:txBody>
          <a:bodyPr/>
          <a:lstStyle/>
          <a:p>
            <a:pPr eaLnBrk="1" hangingPunct="1">
              <a:lnSpc>
                <a:spcPct val="90000"/>
              </a:lnSpc>
            </a:pPr>
            <a:r>
              <a:rPr lang="en-US" sz="2800" dirty="0">
                <a:latin typeface="Calibri" charset="0"/>
                <a:ea typeface="ＭＳ Ｐゴシック" charset="0"/>
                <a:cs typeface="ＭＳ Ｐゴシック" charset="0"/>
              </a:rPr>
              <a:t>Interest Rate </a:t>
            </a:r>
          </a:p>
          <a:p>
            <a:pPr eaLnBrk="1" hangingPunct="1">
              <a:lnSpc>
                <a:spcPct val="90000"/>
              </a:lnSpc>
            </a:pPr>
            <a:r>
              <a:rPr lang="en-US" sz="2800" dirty="0">
                <a:latin typeface="Calibri" charset="0"/>
                <a:ea typeface="ＭＳ Ｐゴシック" charset="0"/>
                <a:cs typeface="ＭＳ Ｐゴシック" charset="0"/>
              </a:rPr>
              <a:t>Reinvestment Risk </a:t>
            </a:r>
          </a:p>
          <a:p>
            <a:pPr eaLnBrk="1" hangingPunct="1">
              <a:lnSpc>
                <a:spcPct val="90000"/>
              </a:lnSpc>
            </a:pPr>
            <a:r>
              <a:rPr lang="en-US" sz="2800" dirty="0">
                <a:latin typeface="Calibri" charset="0"/>
                <a:ea typeface="ＭＳ Ｐゴシック" charset="0"/>
                <a:cs typeface="ＭＳ Ｐゴシック" charset="0"/>
              </a:rPr>
              <a:t>Inflation Risk </a:t>
            </a:r>
          </a:p>
          <a:p>
            <a:pPr eaLnBrk="1" hangingPunct="1">
              <a:lnSpc>
                <a:spcPct val="90000"/>
              </a:lnSpc>
            </a:pPr>
            <a:r>
              <a:rPr lang="en-US" sz="2800" b="1" dirty="0">
                <a:latin typeface="Calibri" charset="0"/>
                <a:ea typeface="ＭＳ Ｐゴシック" charset="0"/>
                <a:cs typeface="ＭＳ Ｐゴシック" charset="0"/>
              </a:rPr>
              <a:t>Credit (Default) Risk</a:t>
            </a:r>
            <a:r>
              <a:rPr lang="en-US" sz="2800" dirty="0">
                <a:latin typeface="Calibri" charset="0"/>
                <a:ea typeface="ＭＳ Ｐゴシック" charset="0"/>
                <a:cs typeface="ＭＳ Ｐゴシック" charset="0"/>
              </a:rPr>
              <a:t> </a:t>
            </a:r>
          </a:p>
          <a:p>
            <a:pPr eaLnBrk="1" hangingPunct="1">
              <a:lnSpc>
                <a:spcPct val="90000"/>
              </a:lnSpc>
            </a:pPr>
            <a:r>
              <a:rPr lang="en-US" sz="2800" dirty="0">
                <a:latin typeface="Calibri" charset="0"/>
                <a:ea typeface="ＭＳ Ｐゴシック" charset="0"/>
                <a:cs typeface="ＭＳ Ｐゴシック" charset="0"/>
              </a:rPr>
              <a:t>Liquidity</a:t>
            </a:r>
          </a:p>
          <a:p>
            <a:pPr eaLnBrk="1" hangingPunct="1">
              <a:lnSpc>
                <a:spcPct val="90000"/>
              </a:lnSpc>
            </a:pPr>
            <a:r>
              <a:rPr lang="en-US" sz="2800" dirty="0">
                <a:latin typeface="Calibri" charset="0"/>
                <a:ea typeface="ＭＳ Ｐゴシック" charset="0"/>
                <a:cs typeface="ＭＳ Ｐゴシック" charset="0"/>
              </a:rPr>
              <a:t>Contract Risk, </a:t>
            </a:r>
            <a:r>
              <a:rPr lang="en-US" sz="2800" i="1" dirty="0">
                <a:latin typeface="Calibri" charset="0"/>
                <a:ea typeface="ＭＳ Ｐゴシック" charset="0"/>
                <a:cs typeface="ＭＳ Ｐゴシック" charset="0"/>
              </a:rPr>
              <a:t>e.g</a:t>
            </a:r>
            <a:r>
              <a:rPr lang="en-US" sz="2800" dirty="0">
                <a:latin typeface="Calibri" charset="0"/>
                <a:ea typeface="ＭＳ Ｐゴシック" charset="0"/>
                <a:cs typeface="ＭＳ Ｐゴシック" charset="0"/>
              </a:rPr>
              <a:t>., Redemption (Call) Risk</a:t>
            </a:r>
          </a:p>
          <a:p>
            <a:pPr eaLnBrk="1" hangingPunct="1">
              <a:lnSpc>
                <a:spcPct val="90000"/>
              </a:lnSpc>
            </a:pPr>
            <a:r>
              <a:rPr lang="en-US" sz="2800" dirty="0">
                <a:latin typeface="Calibri" charset="0"/>
                <a:ea typeface="ＭＳ Ｐゴシック" charset="0"/>
                <a:cs typeface="ＭＳ Ｐゴシック" charset="0"/>
              </a:rPr>
              <a:t>Exchange (FX) Risk</a:t>
            </a:r>
          </a:p>
          <a:p>
            <a:pPr eaLnBrk="1" hangingPunct="1">
              <a:lnSpc>
                <a:spcPct val="90000"/>
              </a:lnSpc>
            </a:pPr>
            <a:endParaRPr lang="en-US" sz="3200" dirty="0">
              <a:latin typeface="Calibri" charset="0"/>
              <a:ea typeface="ＭＳ Ｐゴシック" charset="0"/>
              <a:cs typeface="ＭＳ Ｐゴシック" charset="0"/>
            </a:endParaRPr>
          </a:p>
        </p:txBody>
      </p:sp>
      <p:sp>
        <p:nvSpPr>
          <p:cNvPr id="36867"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Debt Risk Factors</a:t>
            </a:r>
            <a:endParaRPr lang="en-US" dirty="0">
              <a:latin typeface="Calibri" charset="0"/>
              <a:ea typeface="ＭＳ Ｐゴシック" charset="0"/>
              <a:cs typeface="ＭＳ Ｐゴシック" charset="0"/>
            </a:endParaRPr>
          </a:p>
        </p:txBody>
      </p:sp>
      <p:sp>
        <p:nvSpPr>
          <p:cNvPr id="36866"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99BAC5E-3217-1A4C-A160-D6FD417F305E}" type="slidenum">
              <a:rPr lang="en-US" sz="800">
                <a:latin typeface="Calibri" charset="0"/>
              </a:rPr>
              <a:pPr eaLnBrk="1" hangingPunct="1"/>
              <a:t>14</a:t>
            </a:fld>
            <a:endParaRPr lang="en-US" sz="800">
              <a:latin typeface="Calibri" charset="0"/>
            </a:endParaRPr>
          </a:p>
        </p:txBody>
      </p:sp>
      <p:pic>
        <p:nvPicPr>
          <p:cNvPr id="36869" name="Picture 4" descr="WB01518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066800"/>
            <a:ext cx="381000"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6870" name="Picture 5" descr="WB01518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609600"/>
            <a:ext cx="322263"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6871" name="Picture 6" descr="WB01518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524000"/>
            <a:ext cx="339726" cy="32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6872" name="Line 7"/>
          <p:cNvSpPr>
            <a:spLocks noChangeShapeType="1"/>
          </p:cNvSpPr>
          <p:nvPr/>
        </p:nvSpPr>
        <p:spPr bwMode="auto">
          <a:xfrm flipH="1">
            <a:off x="3810000" y="2209800"/>
            <a:ext cx="1371600" cy="0"/>
          </a:xfrm>
          <a:prstGeom prst="line">
            <a:avLst/>
          </a:prstGeom>
          <a:noFill/>
          <a:ln w="38100">
            <a:solidFill>
              <a:srgbClr val="FF0000"/>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86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8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868">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87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868">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8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868">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868">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86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uiExpand="1" build="p"/>
      <p:bldP spid="3687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idx="1"/>
          </p:nvPr>
        </p:nvSpPr>
        <p:spPr/>
        <p:txBody>
          <a:bodyPr/>
          <a:lstStyle/>
          <a:p>
            <a:pPr marL="292100" indent="-292100" eaLnBrk="1" hangingPunct="1"/>
            <a:r>
              <a:rPr lang="en-US" sz="2800" dirty="0">
                <a:latin typeface="Calibri" charset="0"/>
                <a:ea typeface="ＭＳ Ｐゴシック" charset="0"/>
                <a:cs typeface="ＭＳ Ｐゴシック" charset="0"/>
              </a:rPr>
              <a:t>A bank is considering a loan of $1M to a customer.  The </a:t>
            </a:r>
            <a:r>
              <a:rPr lang="en-US" sz="2800" b="1" dirty="0" err="1">
                <a:latin typeface="Calibri" charset="0"/>
                <a:ea typeface="ＭＳ Ｐゴシック" charset="0"/>
                <a:cs typeface="ＭＳ Ｐゴシック" charset="0"/>
              </a:rPr>
              <a:t>r</a:t>
            </a:r>
            <a:r>
              <a:rPr lang="en-US" sz="2800" b="1" baseline="-25000" dirty="0" err="1">
                <a:latin typeface="Calibri" charset="0"/>
                <a:ea typeface="ＭＳ Ｐゴシック" charset="0"/>
                <a:cs typeface="ＭＳ Ｐゴシック" charset="0"/>
              </a:rPr>
              <a:t>f</a:t>
            </a:r>
            <a:r>
              <a:rPr lang="en-US" sz="2800" baseline="-25000" dirty="0">
                <a:latin typeface="Calibri" charset="0"/>
                <a:ea typeface="ＭＳ Ｐゴシック" charset="0"/>
                <a:cs typeface="ＭＳ Ｐゴシック" charset="0"/>
              </a:rPr>
              <a:t> </a:t>
            </a:r>
            <a:r>
              <a:rPr lang="en-US" sz="2800" dirty="0">
                <a:latin typeface="Calibri" charset="0"/>
                <a:ea typeface="ＭＳ Ｐゴシック" charset="0"/>
                <a:cs typeface="ＭＳ Ｐゴシック" charset="0"/>
              </a:rPr>
              <a:t>is</a:t>
            </a:r>
            <a:r>
              <a:rPr lang="en-US" sz="2800" baseline="-25000" dirty="0">
                <a:latin typeface="Calibri" charset="0"/>
                <a:ea typeface="ＭＳ Ｐゴシック" charset="0"/>
                <a:cs typeface="ＭＳ Ｐゴシック" charset="0"/>
              </a:rPr>
              <a:t> </a:t>
            </a:r>
            <a:r>
              <a:rPr lang="en-US" sz="2800" dirty="0">
                <a:latin typeface="Calibri" charset="0"/>
                <a:ea typeface="ＭＳ Ｐゴシック" charset="0"/>
                <a:cs typeface="ＭＳ Ｐゴシック" charset="0"/>
              </a:rPr>
              <a:t>5% and the </a:t>
            </a:r>
            <a:r>
              <a:rPr lang="en-US" sz="2800" b="1" dirty="0">
                <a:latin typeface="Calibri" charset="0"/>
                <a:ea typeface="ＭＳ Ｐゴシック" charset="0"/>
                <a:cs typeface="ＭＳ Ｐゴシック" charset="0"/>
              </a:rPr>
              <a:t>default risk</a:t>
            </a:r>
            <a:r>
              <a:rPr lang="en-US" sz="2800" dirty="0">
                <a:latin typeface="Calibri" charset="0"/>
                <a:ea typeface="ＭＳ Ｐゴシック" charset="0"/>
                <a:cs typeface="ＭＳ Ｐゴシック" charset="0"/>
              </a:rPr>
              <a:t> is 50%, in which case the bank will </a:t>
            </a:r>
            <a:r>
              <a:rPr lang="en-US" sz="2800" b="1" dirty="0">
                <a:latin typeface="Calibri" charset="0"/>
                <a:ea typeface="ＭＳ Ｐゴシック" charset="0"/>
                <a:cs typeface="ＭＳ Ｐゴシック" charset="0"/>
              </a:rPr>
              <a:t>recover</a:t>
            </a:r>
            <a:r>
              <a:rPr lang="en-US" sz="2800" dirty="0">
                <a:latin typeface="Calibri" charset="0"/>
                <a:ea typeface="ＭＳ Ｐゴシック" charset="0"/>
                <a:cs typeface="ＭＳ Ｐゴシック" charset="0"/>
              </a:rPr>
              <a:t> $750,000.  </a:t>
            </a:r>
          </a:p>
          <a:p>
            <a:pPr marL="292100" indent="-292100" eaLnBrk="1" hangingPunct="1"/>
            <a:endParaRPr lang="en-US" sz="2800" dirty="0">
              <a:latin typeface="Calibri" charset="0"/>
              <a:ea typeface="ＭＳ Ｐゴシック" charset="0"/>
              <a:cs typeface="ＭＳ Ｐゴシック" charset="0"/>
            </a:endParaRPr>
          </a:p>
          <a:p>
            <a:pPr marL="292100" indent="-292100" eaLnBrk="1" hangingPunct="1"/>
            <a:r>
              <a:rPr lang="en-US" sz="2800" dirty="0">
                <a:latin typeface="Calibri" charset="0"/>
                <a:ea typeface="ＭＳ Ｐゴシック" charset="0"/>
                <a:cs typeface="ＭＳ Ｐゴシック" charset="0"/>
              </a:rPr>
              <a:t>If the bank charges </a:t>
            </a:r>
            <a:r>
              <a:rPr lang="en-US" sz="2800" b="1" dirty="0" err="1">
                <a:latin typeface="Calibri" charset="0"/>
                <a:ea typeface="ＭＳ Ｐゴシック" charset="0"/>
                <a:cs typeface="ＭＳ Ｐゴシック" charset="0"/>
              </a:rPr>
              <a:t>r</a:t>
            </a:r>
            <a:r>
              <a:rPr lang="en-US" sz="2800" b="1" baseline="-25000" dirty="0" err="1">
                <a:latin typeface="Calibri" charset="0"/>
                <a:ea typeface="ＭＳ Ｐゴシック" charset="0"/>
                <a:cs typeface="ＭＳ Ｐゴシック" charset="0"/>
              </a:rPr>
              <a:t>f</a:t>
            </a:r>
            <a:r>
              <a:rPr lang="en-US" sz="2800" dirty="0">
                <a:latin typeface="Calibri" charset="0"/>
                <a:ea typeface="ＭＳ Ｐゴシック" charset="0"/>
                <a:cs typeface="ＭＳ Ｐゴシック" charset="0"/>
              </a:rPr>
              <a:t>, calculate its </a:t>
            </a:r>
            <a:r>
              <a:rPr lang="en-US" sz="2800" i="1" dirty="0">
                <a:latin typeface="Calibri" charset="0"/>
                <a:ea typeface="ＭＳ Ｐゴシック" charset="0"/>
                <a:cs typeface="ＭＳ Ｐゴシック" charset="0"/>
              </a:rPr>
              <a:t>E</a:t>
            </a:r>
            <a:r>
              <a:rPr lang="en-US" sz="2800" dirty="0">
                <a:latin typeface="Calibri" charset="0"/>
                <a:ea typeface="ＭＳ Ｐゴシック" charset="0"/>
                <a:cs typeface="ＭＳ Ｐゴシック" charset="0"/>
              </a:rPr>
              <a:t>(</a:t>
            </a:r>
            <a:r>
              <a:rPr lang="en-US" sz="2800" dirty="0" err="1">
                <a:latin typeface="Calibri" charset="0"/>
                <a:ea typeface="ＭＳ Ｐゴシック" charset="0"/>
                <a:cs typeface="ＭＳ Ｐゴシック" charset="0"/>
              </a:rPr>
              <a:t>ROR</a:t>
            </a:r>
            <a:r>
              <a:rPr lang="en-US" sz="2800" dirty="0">
                <a:latin typeface="Calibri" charset="0"/>
                <a:ea typeface="ＭＳ Ｐゴシック" charset="0"/>
                <a:cs typeface="ＭＳ Ｐゴシック" charset="0"/>
              </a:rPr>
              <a:t>) on the loan?</a:t>
            </a:r>
          </a:p>
          <a:p>
            <a:pPr marL="292100" indent="-292100" eaLnBrk="1" hangingPunct="1"/>
            <a:endParaRPr lang="en-US" sz="2800" dirty="0">
              <a:ea typeface="ＭＳ Ｐゴシック" charset="0"/>
              <a:cs typeface="ＭＳ Ｐゴシック" charset="0"/>
            </a:endParaRPr>
          </a:p>
          <a:p>
            <a:pPr marL="292100" indent="-292100"/>
            <a:r>
              <a:rPr lang="en-US" sz="2800" dirty="0">
                <a:ea typeface="ＭＳ Ｐゴシック" charset="0"/>
                <a:cs typeface="ＭＳ Ｐゴシック" charset="0"/>
              </a:rPr>
              <a:t>Assume that the bank is </a:t>
            </a:r>
            <a:r>
              <a:rPr lang="en-US" sz="2800" i="1" dirty="0">
                <a:ea typeface="ＭＳ Ｐゴシック" charset="0"/>
                <a:cs typeface="ＭＳ Ｐゴシック" charset="0"/>
              </a:rPr>
              <a:t>risk neutral.  </a:t>
            </a:r>
            <a:r>
              <a:rPr lang="en-US" sz="2800" dirty="0">
                <a:ea typeface="ＭＳ Ｐゴシック" charset="0"/>
                <a:cs typeface="ＭＳ Ｐゴシック" charset="0"/>
              </a:rPr>
              <a:t>How much does it have to charge on the loan to </a:t>
            </a:r>
            <a:r>
              <a:rPr lang="en-US" sz="2800" i="1" dirty="0">
                <a:ea typeface="ＭＳ Ｐゴシック" charset="0"/>
                <a:cs typeface="ＭＳ Ｐゴシック" charset="0"/>
              </a:rPr>
              <a:t>expect</a:t>
            </a:r>
            <a:r>
              <a:rPr lang="en-US" sz="2800" dirty="0">
                <a:ea typeface="ＭＳ Ｐゴシック" charset="0"/>
                <a:cs typeface="ＭＳ Ｐゴシック" charset="0"/>
              </a:rPr>
              <a:t> to earn the </a:t>
            </a:r>
            <a:r>
              <a:rPr lang="en-US" sz="2800" b="1" dirty="0" err="1">
                <a:ea typeface="ＭＳ Ｐゴシック" charset="0"/>
                <a:cs typeface="ＭＳ Ｐゴシック" charset="0"/>
              </a:rPr>
              <a:t>r</a:t>
            </a:r>
            <a:r>
              <a:rPr lang="en-US" sz="2800" b="1" baseline="-25000" dirty="0" err="1">
                <a:ea typeface="ＭＳ Ｐゴシック" charset="0"/>
                <a:cs typeface="ＭＳ Ｐゴシック" charset="0"/>
              </a:rPr>
              <a:t>f</a:t>
            </a:r>
            <a:r>
              <a:rPr lang="en-US" sz="2800" dirty="0">
                <a:ea typeface="ＭＳ Ｐゴシック" charset="0"/>
                <a:cs typeface="ＭＳ Ｐゴシック" charset="0"/>
              </a:rPr>
              <a:t>?</a:t>
            </a:r>
          </a:p>
        </p:txBody>
      </p:sp>
      <p:sp>
        <p:nvSpPr>
          <p:cNvPr id="38915"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Credit Risk:  Example</a:t>
            </a:r>
            <a:endParaRPr lang="en-US">
              <a:latin typeface="Calibri" charset="0"/>
              <a:ea typeface="ＭＳ Ｐゴシック" charset="0"/>
              <a:cs typeface="ＭＳ Ｐゴシック" charset="0"/>
            </a:endParaRPr>
          </a:p>
        </p:txBody>
      </p:sp>
      <p:sp>
        <p:nvSpPr>
          <p:cNvPr id="38914"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83F3152-F639-5849-807F-A9BC70A7F68E}" type="slidenum">
              <a:rPr lang="en-US" sz="800">
                <a:latin typeface="Calibri" charset="0"/>
              </a:rPr>
              <a:pPr eaLnBrk="1" hangingPunct="1"/>
              <a:t>15</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p:cNvSpPr>
            <a:spLocks noGrp="1" noChangeArrowheads="1"/>
          </p:cNvSpPr>
          <p:nvPr>
            <p:ph idx="1"/>
          </p:nvPr>
        </p:nvSpPr>
        <p:spPr/>
        <p:txBody>
          <a:bodyPr/>
          <a:lstStyle/>
          <a:p>
            <a:pPr eaLnBrk="1" hangingPunct="1"/>
            <a:endParaRPr lang="en-US" dirty="0">
              <a:latin typeface="Calibri" charset="0"/>
              <a:ea typeface="ＭＳ Ｐゴシック" charset="0"/>
              <a:cs typeface="ＭＳ Ｐゴシック" charset="0"/>
            </a:endParaRPr>
          </a:p>
          <a:p>
            <a:pPr eaLnBrk="1" hangingPunct="1"/>
            <a:endParaRPr lang="en-US" dirty="0">
              <a:latin typeface="Calibri" charset="0"/>
              <a:ea typeface="ＭＳ Ｐゴシック" charset="0"/>
              <a:cs typeface="ＭＳ Ｐゴシック" charset="0"/>
            </a:endParaRPr>
          </a:p>
        </p:txBody>
      </p:sp>
      <p:sp>
        <p:nvSpPr>
          <p:cNvPr id="40963"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Credit Risk:  Example</a:t>
            </a:r>
            <a:endParaRPr lang="en-US">
              <a:latin typeface="Calibri" charset="0"/>
              <a:ea typeface="ＭＳ Ｐゴシック" charset="0"/>
              <a:cs typeface="ＭＳ Ｐゴシック" charset="0"/>
            </a:endParaRPr>
          </a:p>
        </p:txBody>
      </p:sp>
      <p:sp>
        <p:nvSpPr>
          <p:cNvPr id="40962"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4C58008-369B-4E42-A677-3F093BEFD25C}" type="slidenum">
              <a:rPr lang="en-US" sz="800">
                <a:latin typeface="Calibri" charset="0"/>
              </a:rPr>
              <a:pPr eaLnBrk="1" hangingPunct="1"/>
              <a:t>16</a:t>
            </a:fld>
            <a:endParaRPr lang="en-US" sz="800">
              <a:latin typeface="Calibri" charset="0"/>
            </a:endParaRPr>
          </a:p>
        </p:txBody>
      </p:sp>
      <p:sp>
        <p:nvSpPr>
          <p:cNvPr id="40965" name="Rectangle 4"/>
          <p:cNvSpPr>
            <a:spLocks noChangeArrowheads="1"/>
          </p:cNvSpPr>
          <p:nvPr/>
        </p:nvSpPr>
        <p:spPr bwMode="auto">
          <a:xfrm>
            <a:off x="3735260" y="1714736"/>
            <a:ext cx="685800" cy="1905000"/>
          </a:xfrm>
          <a:prstGeom prst="rect">
            <a:avLst/>
          </a:prstGeom>
          <a:solidFill>
            <a:srgbClr val="FF0502"/>
          </a:solidFill>
          <a:ln w="9525">
            <a:solidFill>
              <a:srgbClr val="A3FBF9"/>
            </a:solidFill>
            <a:miter lim="800000"/>
            <a:headEnd/>
            <a:tailEnd/>
          </a:ln>
        </p:spPr>
        <p:txBody>
          <a:bodyPr wrap="none" anchor="ctr"/>
          <a:lstStyle/>
          <a:p>
            <a:endParaRPr lang="en-US">
              <a:latin typeface="Calibri" charset="0"/>
            </a:endParaRPr>
          </a:p>
        </p:txBody>
      </p:sp>
      <p:sp>
        <p:nvSpPr>
          <p:cNvPr id="40966" name="AutoShape 5"/>
          <p:cNvSpPr>
            <a:spLocks/>
          </p:cNvSpPr>
          <p:nvPr/>
        </p:nvSpPr>
        <p:spPr bwMode="auto">
          <a:xfrm>
            <a:off x="3216498" y="1641711"/>
            <a:ext cx="304800" cy="2286000"/>
          </a:xfrm>
          <a:prstGeom prst="leftBrace">
            <a:avLst>
              <a:gd name="adj1" fmla="val 62500"/>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0967" name="Text Box 6"/>
          <p:cNvSpPr txBox="1">
            <a:spLocks noChangeArrowheads="1"/>
          </p:cNvSpPr>
          <p:nvPr/>
        </p:nvSpPr>
        <p:spPr bwMode="auto">
          <a:xfrm>
            <a:off x="452907" y="2572543"/>
            <a:ext cx="26670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dirty="0">
                <a:latin typeface="Calibri" charset="0"/>
              </a:rPr>
              <a:t>Promised/Quoted/Stated Interest = 35%</a:t>
            </a:r>
          </a:p>
        </p:txBody>
      </p:sp>
      <p:sp>
        <p:nvSpPr>
          <p:cNvPr id="40968" name="AutoShape 7"/>
          <p:cNvSpPr>
            <a:spLocks/>
          </p:cNvSpPr>
          <p:nvPr/>
        </p:nvSpPr>
        <p:spPr bwMode="auto">
          <a:xfrm>
            <a:off x="4649660" y="3619736"/>
            <a:ext cx="533400" cy="533400"/>
          </a:xfrm>
          <a:prstGeom prst="rightBrace">
            <a:avLst>
              <a:gd name="adj1" fmla="val 8333"/>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0969" name="Text Box 8"/>
          <p:cNvSpPr txBox="1">
            <a:spLocks noChangeArrowheads="1"/>
          </p:cNvSpPr>
          <p:nvPr/>
        </p:nvSpPr>
        <p:spPr bwMode="auto">
          <a:xfrm>
            <a:off x="5259260" y="2414824"/>
            <a:ext cx="3125788"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Default/Credit Premium = 30%</a:t>
            </a:r>
          </a:p>
        </p:txBody>
      </p:sp>
      <p:sp>
        <p:nvSpPr>
          <p:cNvPr id="40970" name="AutoShape 9"/>
          <p:cNvSpPr>
            <a:spLocks/>
          </p:cNvSpPr>
          <p:nvPr/>
        </p:nvSpPr>
        <p:spPr bwMode="auto">
          <a:xfrm>
            <a:off x="4649660" y="1714736"/>
            <a:ext cx="533400" cy="1828800"/>
          </a:xfrm>
          <a:prstGeom prst="rightBrace">
            <a:avLst>
              <a:gd name="adj1" fmla="val 28571"/>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0971" name="Text Box 10"/>
          <p:cNvSpPr txBox="1">
            <a:spLocks noChangeArrowheads="1"/>
          </p:cNvSpPr>
          <p:nvPr/>
        </p:nvSpPr>
        <p:spPr bwMode="auto">
          <a:xfrm>
            <a:off x="5487860" y="3710224"/>
            <a:ext cx="2093913"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Time Premium = 5%</a:t>
            </a:r>
          </a:p>
        </p:txBody>
      </p:sp>
      <p:sp>
        <p:nvSpPr>
          <p:cNvPr id="40972" name="Rectangle 11"/>
          <p:cNvSpPr>
            <a:spLocks noChangeArrowheads="1"/>
          </p:cNvSpPr>
          <p:nvPr/>
        </p:nvSpPr>
        <p:spPr bwMode="auto">
          <a:xfrm>
            <a:off x="3735260" y="3619736"/>
            <a:ext cx="685800" cy="533400"/>
          </a:xfrm>
          <a:prstGeom prst="rect">
            <a:avLst/>
          </a:prstGeom>
          <a:solidFill>
            <a:srgbClr val="E3FF10"/>
          </a:solidFill>
          <a:ln w="9525">
            <a:solidFill>
              <a:schemeClr val="tx1"/>
            </a:solidFill>
            <a:miter lim="800000"/>
            <a:headEnd/>
            <a:tailEnd/>
          </a:ln>
        </p:spPr>
        <p:txBody>
          <a:bodyPr wrap="none" anchor="ctr"/>
          <a:lstStyle/>
          <a:p>
            <a:endParaRPr lang="en-US">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6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9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7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9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7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9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nimBg="1"/>
      <p:bldP spid="40966" grpId="0" animBg="1"/>
      <p:bldP spid="40967" grpId="0"/>
      <p:bldP spid="40968" grpId="0" animBg="1"/>
      <p:bldP spid="40969" grpId="0"/>
      <p:bldP spid="40970" grpId="0" animBg="1"/>
      <p:bldP spid="40971" grpId="0"/>
      <p:bldP spid="4097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3"/>
          <p:cNvSpPr>
            <a:spLocks noGrp="1" noChangeArrowheads="1"/>
          </p:cNvSpPr>
          <p:nvPr>
            <p:ph idx="1"/>
          </p:nvPr>
        </p:nvSpPr>
        <p:spPr/>
        <p:txBody>
          <a:bodyPr/>
          <a:lstStyle/>
          <a:p>
            <a:pPr eaLnBrk="1" hangingPunct="1">
              <a:lnSpc>
                <a:spcPct val="90000"/>
              </a:lnSpc>
            </a:pPr>
            <a:r>
              <a:rPr lang="en-US" sz="2400" b="1" dirty="0">
                <a:latin typeface="Calibri" charset="0"/>
                <a:ea typeface="ＭＳ Ｐゴシック" charset="0"/>
                <a:cs typeface="ＭＳ Ｐゴシック" charset="0"/>
              </a:rPr>
              <a:t>Promised/Quoted</a:t>
            </a:r>
            <a:r>
              <a:rPr lang="en-US" sz="2400" dirty="0">
                <a:latin typeface="Calibri" charset="0"/>
                <a:ea typeface="ＭＳ Ｐゴシック" charset="0"/>
                <a:cs typeface="ＭＳ Ｐゴシック" charset="0"/>
              </a:rPr>
              <a:t> Rate of Return =</a:t>
            </a:r>
          </a:p>
          <a:p>
            <a:pPr lvl="1" eaLnBrk="1" hangingPunct="1">
              <a:lnSpc>
                <a:spcPct val="90000"/>
              </a:lnSpc>
            </a:pPr>
            <a:r>
              <a:rPr lang="en-US" sz="2000" dirty="0">
                <a:latin typeface="Calibri" charset="0"/>
                <a:ea typeface="ＭＳ Ｐゴシック" charset="0"/>
              </a:rPr>
              <a:t>Time Premium + Default/Credit Premium</a:t>
            </a:r>
          </a:p>
          <a:p>
            <a:pPr lvl="1" eaLnBrk="1" hangingPunct="1">
              <a:lnSpc>
                <a:spcPct val="90000"/>
              </a:lnSpc>
            </a:pPr>
            <a:endParaRPr lang="en-US" sz="2000" dirty="0">
              <a:latin typeface="Calibri" charset="0"/>
              <a:ea typeface="ＭＳ Ｐゴシック" charset="0"/>
            </a:endParaRPr>
          </a:p>
          <a:p>
            <a:pPr eaLnBrk="1" hangingPunct="1">
              <a:lnSpc>
                <a:spcPct val="90000"/>
              </a:lnSpc>
            </a:pPr>
            <a:r>
              <a:rPr lang="en-US" sz="2400" b="1" dirty="0">
                <a:latin typeface="Calibri" charset="0"/>
                <a:ea typeface="ＭＳ Ｐゴシック" charset="0"/>
                <a:cs typeface="ＭＳ Ｐゴシック" charset="0"/>
              </a:rPr>
              <a:t>Expected</a:t>
            </a:r>
            <a:r>
              <a:rPr lang="en-US" sz="2400" dirty="0">
                <a:latin typeface="Calibri" charset="0"/>
                <a:ea typeface="ＭＳ Ｐゴシック" charset="0"/>
                <a:cs typeface="ＭＳ Ｐゴシック" charset="0"/>
              </a:rPr>
              <a:t> Rate of Return [</a:t>
            </a:r>
            <a:r>
              <a:rPr lang="en-US" sz="2400" i="1" dirty="0">
                <a:latin typeface="Calibri" charset="0"/>
                <a:ea typeface="ＭＳ Ｐゴシック" charset="0"/>
                <a:cs typeface="ＭＳ Ｐゴシック" charset="0"/>
              </a:rPr>
              <a:t>E</a:t>
            </a:r>
            <a:r>
              <a:rPr lang="en-US" sz="2400" dirty="0">
                <a:latin typeface="Calibri" charset="0"/>
                <a:ea typeface="ＭＳ Ｐゴシック" charset="0"/>
                <a:cs typeface="ＭＳ Ｐゴシック" charset="0"/>
              </a:rPr>
              <a:t>(r)] =</a:t>
            </a:r>
          </a:p>
          <a:p>
            <a:pPr lvl="1" eaLnBrk="1" hangingPunct="1">
              <a:lnSpc>
                <a:spcPct val="90000"/>
              </a:lnSpc>
            </a:pPr>
            <a:r>
              <a:rPr lang="en-US" sz="2000" i="1" dirty="0">
                <a:latin typeface="Calibri" charset="0"/>
                <a:ea typeface="ＭＳ Ｐゴシック" charset="0"/>
              </a:rPr>
              <a:t>E</a:t>
            </a:r>
            <a:r>
              <a:rPr lang="en-US" sz="2000" dirty="0">
                <a:latin typeface="Calibri" charset="0"/>
                <a:ea typeface="ＭＳ Ｐゴシック" charset="0"/>
              </a:rPr>
              <a:t>(Time Premium)  + </a:t>
            </a:r>
            <a:r>
              <a:rPr lang="en-US" sz="2000" i="1" dirty="0">
                <a:latin typeface="Calibri" charset="0"/>
                <a:ea typeface="ＭＳ Ｐゴシック" charset="0"/>
              </a:rPr>
              <a:t>E</a:t>
            </a:r>
            <a:r>
              <a:rPr lang="en-US" sz="2000" dirty="0">
                <a:latin typeface="Calibri" charset="0"/>
                <a:ea typeface="ＭＳ Ｐゴシック" charset="0"/>
              </a:rPr>
              <a:t>(Default Premium)</a:t>
            </a:r>
          </a:p>
          <a:p>
            <a:pPr lvl="1" eaLnBrk="1" hangingPunct="1">
              <a:lnSpc>
                <a:spcPct val="90000"/>
              </a:lnSpc>
            </a:pPr>
            <a:r>
              <a:rPr lang="en-US" sz="2000" i="1" dirty="0">
                <a:latin typeface="Calibri" charset="0"/>
                <a:ea typeface="ＭＳ Ｐゴシック" charset="0"/>
              </a:rPr>
              <a:t>E</a:t>
            </a:r>
            <a:r>
              <a:rPr lang="en-US" sz="2000" dirty="0">
                <a:latin typeface="Calibri" charset="0"/>
                <a:ea typeface="ＭＳ Ｐゴシック" charset="0"/>
              </a:rPr>
              <a:t>(Time Premium)  +     0</a:t>
            </a:r>
          </a:p>
          <a:p>
            <a:pPr lvl="1" eaLnBrk="1" hangingPunct="1">
              <a:lnSpc>
                <a:spcPct val="90000"/>
              </a:lnSpc>
            </a:pPr>
            <a:r>
              <a:rPr lang="en-US" sz="2000" dirty="0">
                <a:latin typeface="Calibri" charset="0"/>
                <a:ea typeface="ＭＳ Ｐゴシック" charset="0"/>
              </a:rPr>
              <a:t>From prior example:  (.5)*(35%-5%) + (.5)(-25%-5%) = 0</a:t>
            </a:r>
          </a:p>
          <a:p>
            <a:pPr lvl="2" eaLnBrk="1" hangingPunct="1">
              <a:lnSpc>
                <a:spcPct val="90000"/>
              </a:lnSpc>
              <a:buFontTx/>
              <a:buChar char="o"/>
            </a:pPr>
            <a:r>
              <a:rPr lang="en-US" sz="1800" dirty="0">
                <a:latin typeface="Calibri" charset="0"/>
                <a:ea typeface="ＭＳ Ｐゴシック" charset="0"/>
              </a:rPr>
              <a:t>The </a:t>
            </a:r>
            <a:r>
              <a:rPr lang="en-US" sz="1800" i="1" dirty="0">
                <a:latin typeface="Calibri" charset="0"/>
                <a:ea typeface="ＭＳ Ｐゴシック" charset="0"/>
              </a:rPr>
              <a:t>E</a:t>
            </a:r>
            <a:r>
              <a:rPr lang="en-US" sz="1800" dirty="0">
                <a:latin typeface="Calibri" charset="0"/>
                <a:ea typeface="ＭＳ Ｐゴシック" charset="0"/>
              </a:rPr>
              <a:t>(</a:t>
            </a:r>
            <a:r>
              <a:rPr lang="en-US" sz="1800" dirty="0" err="1">
                <a:latin typeface="Calibri" charset="0"/>
                <a:ea typeface="ＭＳ Ｐゴシック" charset="0"/>
              </a:rPr>
              <a:t>DefaultPremium</a:t>
            </a:r>
            <a:r>
              <a:rPr lang="en-US" sz="1800" dirty="0">
                <a:latin typeface="Calibri" charset="0"/>
                <a:ea typeface="ＭＳ Ｐゴシック" charset="0"/>
              </a:rPr>
              <a:t>) is the expected difference between expected outcomes ( + or - ) and the time premium</a:t>
            </a:r>
          </a:p>
          <a:p>
            <a:pPr eaLnBrk="1" hangingPunct="1">
              <a:lnSpc>
                <a:spcPct val="90000"/>
              </a:lnSpc>
            </a:pPr>
            <a:endParaRPr lang="en-US" sz="2400" b="1" dirty="0">
              <a:latin typeface="Calibri" charset="0"/>
              <a:ea typeface="ＭＳ Ｐゴシック" charset="0"/>
            </a:endParaRPr>
          </a:p>
          <a:p>
            <a:pPr eaLnBrk="1" hangingPunct="1">
              <a:lnSpc>
                <a:spcPct val="90000"/>
              </a:lnSpc>
            </a:pPr>
            <a:r>
              <a:rPr lang="en-US" sz="2400" b="1" dirty="0">
                <a:latin typeface="Calibri" charset="0"/>
                <a:ea typeface="ＭＳ Ｐゴシック" charset="0"/>
              </a:rPr>
              <a:t>In </a:t>
            </a:r>
            <a:r>
              <a:rPr lang="en-US" sz="2400" b="1" i="1" dirty="0">
                <a:latin typeface="Calibri" charset="0"/>
                <a:ea typeface="ＭＳ Ｐゴシック" charset="0"/>
              </a:rPr>
              <a:t>risk neutral </a:t>
            </a:r>
            <a:r>
              <a:rPr lang="en-US" sz="2400" b="1" dirty="0">
                <a:latin typeface="Calibri" charset="0"/>
                <a:ea typeface="ＭＳ Ｐゴシック" charset="0"/>
              </a:rPr>
              <a:t>world, all investments are </a:t>
            </a:r>
            <a:r>
              <a:rPr lang="en-US" sz="2400" b="1" u="sng" dirty="0">
                <a:latin typeface="Calibri" charset="0"/>
                <a:ea typeface="ＭＳ Ｐゴシック" charset="0"/>
              </a:rPr>
              <a:t>expected</a:t>
            </a:r>
            <a:r>
              <a:rPr lang="en-US" sz="2400" b="1" dirty="0">
                <a:latin typeface="Calibri" charset="0"/>
                <a:ea typeface="ＭＳ Ｐゴシック" charset="0"/>
              </a:rPr>
              <a:t> to earn the risk-free rate</a:t>
            </a:r>
          </a:p>
          <a:p>
            <a:pPr lvl="1" eaLnBrk="1" hangingPunct="1">
              <a:lnSpc>
                <a:spcPct val="90000"/>
              </a:lnSpc>
            </a:pPr>
            <a:endParaRPr lang="en-US" sz="2000" dirty="0">
              <a:latin typeface="Calibri" charset="0"/>
              <a:ea typeface="ＭＳ Ｐゴシック" charset="0"/>
            </a:endParaRPr>
          </a:p>
          <a:p>
            <a:pPr algn="l" eaLnBrk="1" hangingPunct="1">
              <a:lnSpc>
                <a:spcPct val="90000"/>
              </a:lnSpc>
            </a:pPr>
            <a:r>
              <a:rPr lang="en-US" b="1" dirty="0">
                <a:latin typeface="Calibri" charset="0"/>
                <a:ea typeface="ＭＳ Ｐゴシック" charset="0"/>
                <a:cs typeface="ＭＳ Ｐゴシック" charset="0"/>
              </a:rPr>
              <a:t>Actual Earned (</a:t>
            </a:r>
            <a:r>
              <a:rPr lang="en-US" b="1" i="1" dirty="0">
                <a:latin typeface="Calibri" charset="0"/>
                <a:ea typeface="ＭＳ Ｐゴシック" charset="0"/>
                <a:cs typeface="ＭＳ Ｐゴシック" charset="0"/>
              </a:rPr>
              <a:t>Realized</a:t>
            </a:r>
            <a:r>
              <a:rPr lang="en-US" b="1" dirty="0">
                <a:latin typeface="Calibri" charset="0"/>
                <a:ea typeface="ＭＳ Ｐゴシック" charset="0"/>
                <a:cs typeface="ＭＳ Ｐゴシック" charset="0"/>
              </a:rPr>
              <a:t>) Rate </a:t>
            </a:r>
            <a:r>
              <a:rPr lang="en-US" dirty="0">
                <a:latin typeface="Calibri" charset="0"/>
                <a:ea typeface="ＭＳ Ｐゴシック" charset="0"/>
                <a:cs typeface="ＭＳ Ｐゴシック" charset="0"/>
              </a:rPr>
              <a:t>= </a:t>
            </a:r>
            <a:r>
              <a:rPr lang="en-US" dirty="0">
                <a:latin typeface="Calibri" charset="0"/>
                <a:ea typeface="ＭＳ Ｐゴシック" charset="0"/>
              </a:rPr>
              <a:t>Time Premium + Default Realization</a:t>
            </a:r>
            <a:endParaRPr lang="en-US" b="1" dirty="0">
              <a:latin typeface="Calibri" charset="0"/>
              <a:ea typeface="ＭＳ Ｐゴシック" charset="0"/>
            </a:endParaRPr>
          </a:p>
        </p:txBody>
      </p:sp>
      <p:sp>
        <p:nvSpPr>
          <p:cNvPr id="43011"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Default Premiums in a Risk Neutral World</a:t>
            </a:r>
            <a:endParaRPr lang="en-US" dirty="0">
              <a:latin typeface="Calibri" charset="0"/>
              <a:ea typeface="ＭＳ Ｐゴシック" charset="0"/>
              <a:cs typeface="ＭＳ Ｐゴシック" charset="0"/>
            </a:endParaRPr>
          </a:p>
        </p:txBody>
      </p:sp>
      <p:sp>
        <p:nvSpPr>
          <p:cNvPr id="43010"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12043A0-F347-EC47-8167-14BD764053C0}" type="slidenum">
              <a:rPr lang="en-US" sz="800">
                <a:latin typeface="Calibri" charset="0"/>
              </a:rPr>
              <a:pPr eaLnBrk="1" hangingPunct="1"/>
              <a:t>17</a:t>
            </a:fld>
            <a:endParaRPr lang="en-US" sz="800" dirty="0">
              <a:latin typeface="Calibri" charset="0"/>
            </a:endParaRPr>
          </a:p>
        </p:txBody>
      </p:sp>
      <p:sp>
        <p:nvSpPr>
          <p:cNvPr id="43013" name="Oval 4"/>
          <p:cNvSpPr>
            <a:spLocks noChangeArrowheads="1"/>
          </p:cNvSpPr>
          <p:nvPr/>
        </p:nvSpPr>
        <p:spPr bwMode="auto">
          <a:xfrm>
            <a:off x="2971800" y="2286000"/>
            <a:ext cx="533400" cy="381000"/>
          </a:xfrm>
          <a:prstGeom prst="ellipse">
            <a:avLst/>
          </a:prstGeom>
          <a:noFill/>
          <a:ln w="28575">
            <a:solidFill>
              <a:srgbClr val="E32F1B"/>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 name="Footer Placeholder 1"/>
          <p:cNvSpPr>
            <a:spLocks noGrp="1"/>
          </p:cNvSpPr>
          <p:nvPr>
            <p:ph type="ftr" sz="quarter" idx="11"/>
          </p:nvPr>
        </p:nvSpPr>
        <p:spPr/>
        <p:txBody>
          <a:bodyPr/>
          <a:lstStyle/>
          <a:p>
            <a:pPr>
              <a:defRPr/>
            </a:pPr>
            <a:r>
              <a:rPr lang="en-US" dirty="0"/>
              <a:t>Interest Rate and Credit Risks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2">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0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01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3012">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012">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30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idx="1"/>
          </p:nvPr>
        </p:nvSpPr>
        <p:spPr/>
        <p:txBody>
          <a:bodyPr>
            <a:normAutofit/>
          </a:bodyPr>
          <a:lstStyle/>
          <a:p>
            <a:pPr eaLnBrk="1" hangingPunct="1">
              <a:lnSpc>
                <a:spcPct val="90000"/>
              </a:lnSpc>
            </a:pPr>
            <a:r>
              <a:rPr lang="en-US" dirty="0">
                <a:latin typeface="Calibri" charset="0"/>
                <a:ea typeface="ＭＳ Ｐゴシック" charset="0"/>
                <a:cs typeface="ＭＳ Ｐゴシック" charset="0"/>
              </a:rPr>
              <a:t>What is rated:</a:t>
            </a:r>
          </a:p>
          <a:p>
            <a:pPr lvl="1" eaLnBrk="1" hangingPunct="1">
              <a:lnSpc>
                <a:spcPct val="90000"/>
              </a:lnSpc>
            </a:pPr>
            <a:r>
              <a:rPr lang="en-US" dirty="0">
                <a:latin typeface="Calibri" charset="0"/>
                <a:ea typeface="ＭＳ Ｐゴシック" charset="0"/>
              </a:rPr>
              <a:t>The likelihood that the firm will default.</a:t>
            </a:r>
          </a:p>
          <a:p>
            <a:pPr lvl="1" eaLnBrk="1" hangingPunct="1">
              <a:lnSpc>
                <a:spcPct val="90000"/>
              </a:lnSpc>
            </a:pPr>
            <a:r>
              <a:rPr lang="en-US" dirty="0">
                <a:latin typeface="Calibri" charset="0"/>
                <a:ea typeface="ＭＳ Ｐゴシック" charset="0"/>
              </a:rPr>
              <a:t>The protection afforded by the loan contract in the event of default.</a:t>
            </a:r>
          </a:p>
          <a:p>
            <a:pPr eaLnBrk="1" hangingPunct="1">
              <a:lnSpc>
                <a:spcPct val="90000"/>
              </a:lnSpc>
            </a:pPr>
            <a:r>
              <a:rPr lang="en-US" dirty="0">
                <a:latin typeface="Calibri" charset="0"/>
                <a:ea typeface="ＭＳ Ｐゴシック" charset="0"/>
                <a:cs typeface="ＭＳ Ｐゴシック" charset="0"/>
              </a:rPr>
              <a:t>Who pays for ratings:</a:t>
            </a:r>
          </a:p>
          <a:p>
            <a:pPr lvl="1" eaLnBrk="1" hangingPunct="1">
              <a:lnSpc>
                <a:spcPct val="90000"/>
              </a:lnSpc>
            </a:pPr>
            <a:r>
              <a:rPr lang="en-US" dirty="0">
                <a:latin typeface="Calibri" charset="0"/>
                <a:ea typeface="ＭＳ Ｐゴシック" charset="0"/>
              </a:rPr>
              <a:t>Issuers pay to have their bonds rated.</a:t>
            </a:r>
          </a:p>
          <a:p>
            <a:pPr lvl="1" eaLnBrk="1" hangingPunct="1">
              <a:lnSpc>
                <a:spcPct val="90000"/>
              </a:lnSpc>
            </a:pPr>
            <a:r>
              <a:rPr lang="en-US" dirty="0">
                <a:latin typeface="Calibri" charset="0"/>
                <a:ea typeface="ＭＳ Ｐゴシック" charset="0"/>
              </a:rPr>
              <a:t>The ratings are constructed from the financial statements supplied by the firm.</a:t>
            </a:r>
          </a:p>
          <a:p>
            <a:pPr lvl="1" eaLnBrk="1" hangingPunct="1">
              <a:lnSpc>
                <a:spcPct val="90000"/>
              </a:lnSpc>
            </a:pPr>
            <a:r>
              <a:rPr lang="en-US" dirty="0">
                <a:latin typeface="Calibri" charset="0"/>
                <a:ea typeface="ＭＳ Ｐゴシック" charset="0"/>
              </a:rPr>
              <a:t>Subscriptions</a:t>
            </a:r>
          </a:p>
          <a:p>
            <a:pPr eaLnBrk="1" hangingPunct="1">
              <a:lnSpc>
                <a:spcPct val="90000"/>
              </a:lnSpc>
            </a:pPr>
            <a:r>
              <a:rPr lang="en-US" dirty="0">
                <a:latin typeface="Calibri" charset="0"/>
                <a:ea typeface="ＭＳ Ｐゴシック" charset="0"/>
                <a:cs typeface="ＭＳ Ｐゴシック" charset="0"/>
              </a:rPr>
              <a:t>Ratings can change.  </a:t>
            </a:r>
            <a:r>
              <a:rPr lang="en-US" i="1" dirty="0">
                <a:latin typeface="Calibri" charset="0"/>
                <a:ea typeface="ＭＳ Ｐゴシック" charset="0"/>
                <a:cs typeface="ＭＳ Ｐゴシック" charset="0"/>
              </a:rPr>
              <a:t>See, e.g</a:t>
            </a:r>
            <a:r>
              <a:rPr lang="en-US" dirty="0">
                <a:latin typeface="Calibri" charset="0"/>
                <a:ea typeface="ＭＳ Ｐゴシック" charset="0"/>
                <a:cs typeface="ＭＳ Ｐゴシック" charset="0"/>
              </a:rPr>
              <a:t>., ratings of CDOs, subprime MBS</a:t>
            </a:r>
          </a:p>
          <a:p>
            <a:pPr eaLnBrk="1" hangingPunct="1">
              <a:lnSpc>
                <a:spcPct val="90000"/>
              </a:lnSpc>
            </a:pPr>
            <a:r>
              <a:rPr lang="en-US" dirty="0">
                <a:latin typeface="Calibri" charset="0"/>
                <a:ea typeface="ＭＳ Ｐゴシック" charset="0"/>
                <a:cs typeface="ＭＳ Ｐゴシック" charset="0"/>
              </a:rPr>
              <a:t>Raters can disagree.</a:t>
            </a:r>
          </a:p>
          <a:p>
            <a:pPr eaLnBrk="1" hangingPunct="1">
              <a:lnSpc>
                <a:spcPct val="90000"/>
              </a:lnSpc>
            </a:pPr>
            <a:r>
              <a:rPr lang="en-US" dirty="0">
                <a:latin typeface="Calibri" charset="0"/>
                <a:ea typeface="ＭＳ Ｐゴシック" charset="0"/>
                <a:cs typeface="ＭＳ Ｐゴシック" charset="0"/>
              </a:rPr>
              <a:t>Personal:  </a:t>
            </a:r>
            <a:r>
              <a:rPr lang="en-US" dirty="0">
                <a:latin typeface="Calibri" charset="0"/>
                <a:ea typeface="ＭＳ Ｐゴシック" charset="0"/>
                <a:cs typeface="ＭＳ Ｐゴシック" charset="0"/>
                <a:hlinkClick r:id="rId3"/>
              </a:rPr>
              <a:t>annualcreditreport.com</a:t>
            </a:r>
            <a:endParaRPr lang="en-US" dirty="0">
              <a:latin typeface="Calibri" charset="0"/>
              <a:ea typeface="ＭＳ Ｐゴシック" charset="0"/>
              <a:cs typeface="ＭＳ Ｐゴシック" charset="0"/>
            </a:endParaRPr>
          </a:p>
          <a:p>
            <a:pPr eaLnBrk="1" hangingPunct="1">
              <a:lnSpc>
                <a:spcPct val="90000"/>
              </a:lnSpc>
            </a:pPr>
            <a:endParaRPr lang="en-US" sz="2400" dirty="0">
              <a:latin typeface="Calibri" charset="0"/>
              <a:ea typeface="ＭＳ Ｐゴシック" charset="0"/>
              <a:cs typeface="ＭＳ Ｐゴシック" charset="0"/>
            </a:endParaRPr>
          </a:p>
        </p:txBody>
      </p:sp>
      <p:sp>
        <p:nvSpPr>
          <p:cNvPr id="45059"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Corporate Bond Ratings</a:t>
            </a:r>
            <a:endParaRPr lang="en-US" dirty="0">
              <a:latin typeface="Calibri" charset="0"/>
              <a:ea typeface="ＭＳ Ｐゴシック" charset="0"/>
              <a:cs typeface="ＭＳ Ｐゴシック" charset="0"/>
            </a:endParaRPr>
          </a:p>
        </p:txBody>
      </p:sp>
      <p:sp>
        <p:nvSpPr>
          <p:cNvPr id="45058"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F0493A5-E134-4A4E-86F5-5F94453DA47C}" type="slidenum">
              <a:rPr lang="en-US" sz="800">
                <a:latin typeface="Calibri" charset="0"/>
              </a:rPr>
              <a:pPr eaLnBrk="1" hangingPunct="1"/>
              <a:t>18</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6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6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6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06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06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06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506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p:cNvSpPr>
            <a:spLocks noGrp="1"/>
          </p:cNvSpPr>
          <p:nvPr>
            <p:ph idx="1"/>
          </p:nvPr>
        </p:nvSpPr>
        <p:spPr/>
        <p:txBody>
          <a:bodyPr>
            <a:normAutofit/>
          </a:bodyPr>
          <a:lstStyle/>
          <a:p>
            <a:r>
              <a:rPr lang="en-US" sz="2400" dirty="0">
                <a:latin typeface="Calibri" charset="0"/>
                <a:ea typeface="ＭＳ Ｐゴシック" charset="0"/>
                <a:cs typeface="ＭＳ Ｐゴシック" charset="0"/>
              </a:rPr>
              <a:t>Credit Rating Agencies (NRSROs)</a:t>
            </a:r>
          </a:p>
          <a:p>
            <a:pPr lvl="1"/>
            <a:r>
              <a:rPr lang="en-US" sz="2000" dirty="0">
                <a:latin typeface="Calibri" charset="0"/>
                <a:ea typeface="ＭＳ Ｐゴシック" charset="0"/>
              </a:rPr>
              <a:t>Federal securities law (mutual funds), financial legislation, state legislation with respect to insurance companies, some foreign legislation, and private contracts</a:t>
            </a:r>
          </a:p>
          <a:p>
            <a:r>
              <a:rPr lang="en-US" sz="2400" dirty="0">
                <a:latin typeface="Calibri" charset="0"/>
                <a:ea typeface="ＭＳ Ｐゴシック" charset="0"/>
                <a:cs typeface="ＭＳ Ｐゴシック" charset="0"/>
              </a:rPr>
              <a:t>Credit Rating Agency Reform Act of 2006 (§15E of the Exchange Act)</a:t>
            </a:r>
          </a:p>
          <a:p>
            <a:pPr lvl="1"/>
            <a:r>
              <a:rPr lang="en-US" sz="2000" dirty="0">
                <a:latin typeface="Calibri" charset="0"/>
                <a:ea typeface="ＭＳ Ｐゴシック" charset="0"/>
              </a:rPr>
              <a:t>Analysts level conflicts</a:t>
            </a:r>
          </a:p>
          <a:p>
            <a:pPr lvl="1"/>
            <a:r>
              <a:rPr lang="en-US" sz="2000" dirty="0">
                <a:latin typeface="Calibri" charset="0"/>
                <a:ea typeface="ＭＳ Ｐゴシック" charset="0"/>
              </a:rPr>
              <a:t>Rating level conflicts</a:t>
            </a:r>
          </a:p>
          <a:p>
            <a:pPr lvl="1"/>
            <a:r>
              <a:rPr lang="en-US" sz="2000" dirty="0">
                <a:latin typeface="Calibri" charset="0"/>
                <a:ea typeface="ＭＳ Ｐゴシック" charset="0"/>
              </a:rPr>
              <a:t>Expanded record keeping requirements</a:t>
            </a:r>
          </a:p>
          <a:p>
            <a:pPr lvl="1"/>
            <a:r>
              <a:rPr lang="en-US" sz="2000" dirty="0">
                <a:latin typeface="Calibri" charset="0"/>
                <a:ea typeface="ＭＳ Ｐゴシック" charset="0"/>
              </a:rPr>
              <a:t>Disclosure of performance statistics</a:t>
            </a:r>
          </a:p>
          <a:p>
            <a:pPr lvl="2"/>
            <a:r>
              <a:rPr lang="en-US" sz="1600" dirty="0">
                <a:latin typeface="Calibri" charset="0"/>
                <a:ea typeface="ＭＳ Ｐゴシック" charset="0"/>
              </a:rPr>
              <a:t>Transition and default rates</a:t>
            </a:r>
          </a:p>
          <a:p>
            <a:pPr lvl="2"/>
            <a:r>
              <a:rPr lang="en-US" sz="1600" dirty="0">
                <a:latin typeface="Calibri" charset="0"/>
                <a:ea typeface="ＭＳ Ｐゴシック" charset="0"/>
              </a:rPr>
              <a:t>10% Rating Sample</a:t>
            </a:r>
          </a:p>
          <a:p>
            <a:pPr lvl="2"/>
            <a:r>
              <a:rPr lang="en-US" sz="1600" dirty="0">
                <a:latin typeface="Calibri" charset="0"/>
                <a:ea typeface="ＭＳ Ｐゴシック" charset="0"/>
              </a:rPr>
              <a:t>Disclosure of all ratings for all sectors </a:t>
            </a:r>
          </a:p>
          <a:p>
            <a:r>
              <a:rPr lang="en-US" sz="2400" dirty="0">
                <a:latin typeface="Calibri" charset="0"/>
                <a:ea typeface="ＭＳ Ｐゴシック" charset="0"/>
              </a:rPr>
              <a:t>Dodd-Frank Act, Title IX, Subsection C</a:t>
            </a:r>
          </a:p>
          <a:p>
            <a:r>
              <a:rPr lang="en-US" sz="2400" dirty="0">
                <a:latin typeface="Calibri" charset="0"/>
                <a:ea typeface="ＭＳ Ｐゴシック" charset="0"/>
                <a:hlinkClick r:id="rId2"/>
              </a:rPr>
              <a:t>SEC Office of Credit Ratings</a:t>
            </a:r>
            <a:endParaRPr lang="en-US" sz="2400" dirty="0">
              <a:latin typeface="Calibri" charset="0"/>
              <a:ea typeface="ＭＳ Ｐゴシック" charset="0"/>
            </a:endParaRPr>
          </a:p>
          <a:p>
            <a:endParaRPr lang="en-US" sz="2400" dirty="0">
              <a:latin typeface="Calibri" charset="0"/>
              <a:ea typeface="ＭＳ Ｐゴシック" charset="0"/>
            </a:endParaRPr>
          </a:p>
        </p:txBody>
      </p:sp>
      <p:sp>
        <p:nvSpPr>
          <p:cNvPr id="47105" name="Title 1"/>
          <p:cNvSpPr>
            <a:spLocks noGrp="1"/>
          </p:cNvSpPr>
          <p:nvPr>
            <p:ph type="title"/>
          </p:nvPr>
        </p:nvSpPr>
        <p:spPr/>
        <p:txBody>
          <a:bodyPr/>
          <a:lstStyle/>
          <a:p>
            <a:r>
              <a:rPr lang="en-US" b="1">
                <a:latin typeface="Calibri" charset="0"/>
                <a:ea typeface="ＭＳ Ｐゴシック" charset="0"/>
                <a:cs typeface="ＭＳ Ｐゴシック" charset="0"/>
              </a:rPr>
              <a:t>Corporate Bond Ratings</a:t>
            </a:r>
          </a:p>
        </p:txBody>
      </p:sp>
      <p:sp>
        <p:nvSpPr>
          <p:cNvPr id="47108"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endParaRPr lang="en-US" sz="800">
              <a:latin typeface="Calibri" charset="0"/>
            </a:endParaRPr>
          </a:p>
          <a:p>
            <a:pPr eaLnBrk="1" hangingPunct="1"/>
            <a:fld id="{16C8EBC2-B874-7843-98ED-766847704A89}" type="slidenum">
              <a:rPr lang="en-US" sz="800">
                <a:latin typeface="Calibri" charset="0"/>
              </a:rPr>
              <a:pPr eaLnBrk="1" hangingPunct="1"/>
              <a:t>19</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10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10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10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710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710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Outstanding Credit Ratings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5" name="Footer Placeholder 4"/>
          <p:cNvSpPr>
            <a:spLocks noGrp="1"/>
          </p:cNvSpPr>
          <p:nvPr>
            <p:ph type="ftr" sz="quarter" idx="11"/>
          </p:nvPr>
        </p:nvSpPr>
        <p:spPr/>
        <p:txBody>
          <a:bodyPr/>
          <a:lstStyle/>
          <a:p>
            <a:pPr>
              <a:defRPr/>
            </a:pPr>
            <a:r>
              <a:rPr lang="en-US"/>
              <a:t>Interest Rate and Credit Risks</a:t>
            </a:r>
            <a:endParaRPr lang="en-US" dirty="0"/>
          </a:p>
        </p:txBody>
      </p:sp>
      <p:sp>
        <p:nvSpPr>
          <p:cNvPr id="7" name="TextBox 6"/>
          <p:cNvSpPr txBox="1"/>
          <p:nvPr/>
        </p:nvSpPr>
        <p:spPr>
          <a:xfrm>
            <a:off x="3505200" y="6227044"/>
            <a:ext cx="1816523" cy="215444"/>
          </a:xfrm>
          <a:prstGeom prst="rect">
            <a:avLst/>
          </a:prstGeom>
          <a:noFill/>
        </p:spPr>
        <p:txBody>
          <a:bodyPr wrap="none" rtlCol="0">
            <a:spAutoFit/>
          </a:bodyPr>
          <a:lstStyle/>
          <a:p>
            <a:r>
              <a:rPr lang="en-US" sz="800" dirty="0">
                <a:latin typeface="+mj-lt"/>
              </a:rPr>
              <a:t>SEC, Annual Report on NRSRO (Apr ‘25)</a:t>
            </a:r>
          </a:p>
        </p:txBody>
      </p:sp>
      <p:pic>
        <p:nvPicPr>
          <p:cNvPr id="6" name="Picture 5">
            <a:extLst>
              <a:ext uri="{FF2B5EF4-FFF2-40B4-BE49-F238E27FC236}">
                <a16:creationId xmlns:a16="http://schemas.microsoft.com/office/drawing/2014/main" id="{D7E5BC53-B7BD-C5B7-4E77-8A5F8A597AE5}"/>
              </a:ext>
            </a:extLst>
          </p:cNvPr>
          <p:cNvPicPr>
            <a:picLocks noChangeAspect="1"/>
          </p:cNvPicPr>
          <p:nvPr/>
        </p:nvPicPr>
        <p:blipFill>
          <a:blip r:embed="rId2"/>
          <a:stretch>
            <a:fillRect/>
          </a:stretch>
        </p:blipFill>
        <p:spPr>
          <a:xfrm>
            <a:off x="384048" y="562764"/>
            <a:ext cx="8458200" cy="3628237"/>
          </a:xfrm>
          <a:prstGeom prst="rect">
            <a:avLst/>
          </a:prstGeom>
        </p:spPr>
      </p:pic>
      <p:pic>
        <p:nvPicPr>
          <p:cNvPr id="10" name="Picture 9">
            <a:extLst>
              <a:ext uri="{FF2B5EF4-FFF2-40B4-BE49-F238E27FC236}">
                <a16:creationId xmlns:a16="http://schemas.microsoft.com/office/drawing/2014/main" id="{B82D82FF-0635-236D-78C4-9DB71EC4BF75}"/>
              </a:ext>
            </a:extLst>
          </p:cNvPr>
          <p:cNvPicPr>
            <a:picLocks noChangeAspect="1"/>
          </p:cNvPicPr>
          <p:nvPr/>
        </p:nvPicPr>
        <p:blipFill>
          <a:blip r:embed="rId3"/>
          <a:stretch>
            <a:fillRect/>
          </a:stretch>
        </p:blipFill>
        <p:spPr>
          <a:xfrm>
            <a:off x="457200" y="4406444"/>
            <a:ext cx="8534400" cy="1880341"/>
          </a:xfrm>
          <a:prstGeom prst="rect">
            <a:avLst/>
          </a:prstGeom>
        </p:spPr>
      </p:pic>
    </p:spTree>
    <p:extLst>
      <p:ext uri="{BB962C8B-B14F-4D97-AF65-F5344CB8AC3E}">
        <p14:creationId xmlns:p14="http://schemas.microsoft.com/office/powerpoint/2010/main" val="3950753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5BE709-F39F-4645-A851-F7A0789156BB}"/>
              </a:ext>
            </a:extLst>
          </p:cNvPr>
          <p:cNvSpPr>
            <a:spLocks noGrp="1"/>
          </p:cNvSpPr>
          <p:nvPr>
            <p:ph type="title"/>
          </p:nvPr>
        </p:nvSpPr>
        <p:spPr/>
        <p:txBody>
          <a:bodyPr/>
          <a:lstStyle/>
          <a:p>
            <a:r>
              <a:rPr lang="en-US"/>
              <a:t>Breakdown of Ratings</a:t>
            </a:r>
            <a:endParaRPr lang="en-US" dirty="0"/>
          </a:p>
        </p:txBody>
      </p:sp>
      <p:sp>
        <p:nvSpPr>
          <p:cNvPr id="4" name="Slide Number Placeholder 3">
            <a:extLst>
              <a:ext uri="{FF2B5EF4-FFF2-40B4-BE49-F238E27FC236}">
                <a16:creationId xmlns:a16="http://schemas.microsoft.com/office/drawing/2014/main" id="{C40C4B4C-0C2E-3B4D-A479-E67F761F65DA}"/>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a:extLst>
              <a:ext uri="{FF2B5EF4-FFF2-40B4-BE49-F238E27FC236}">
                <a16:creationId xmlns:a16="http://schemas.microsoft.com/office/drawing/2014/main" id="{7D6F1F7D-7E29-AA4C-B9DD-DBF101FA8124}"/>
              </a:ext>
            </a:extLst>
          </p:cNvPr>
          <p:cNvSpPr>
            <a:spLocks noGrp="1"/>
          </p:cNvSpPr>
          <p:nvPr>
            <p:ph type="ftr" sz="quarter" idx="11"/>
          </p:nvPr>
        </p:nvSpPr>
        <p:spPr/>
        <p:txBody>
          <a:bodyPr/>
          <a:lstStyle/>
          <a:p>
            <a:pPr>
              <a:defRPr/>
            </a:pPr>
            <a:r>
              <a:rPr lang="en-US"/>
              <a:t>Interest Rate and Credit Risks</a:t>
            </a:r>
            <a:endParaRPr lang="en-US" dirty="0"/>
          </a:p>
        </p:txBody>
      </p:sp>
      <p:pic>
        <p:nvPicPr>
          <p:cNvPr id="7" name="Picture 6">
            <a:extLst>
              <a:ext uri="{FF2B5EF4-FFF2-40B4-BE49-F238E27FC236}">
                <a16:creationId xmlns:a16="http://schemas.microsoft.com/office/drawing/2014/main" id="{3052E067-DE0C-010D-C792-134820F60C2E}"/>
              </a:ext>
            </a:extLst>
          </p:cNvPr>
          <p:cNvPicPr>
            <a:picLocks noChangeAspect="1"/>
          </p:cNvPicPr>
          <p:nvPr/>
        </p:nvPicPr>
        <p:blipFill>
          <a:blip r:embed="rId2"/>
          <a:stretch>
            <a:fillRect/>
          </a:stretch>
        </p:blipFill>
        <p:spPr>
          <a:xfrm>
            <a:off x="384048" y="609600"/>
            <a:ext cx="8378952" cy="5418550"/>
          </a:xfrm>
          <a:prstGeom prst="rect">
            <a:avLst/>
          </a:prstGeom>
        </p:spPr>
      </p:pic>
      <p:sp>
        <p:nvSpPr>
          <p:cNvPr id="9" name="TextBox 8">
            <a:extLst>
              <a:ext uri="{FF2B5EF4-FFF2-40B4-BE49-F238E27FC236}">
                <a16:creationId xmlns:a16="http://schemas.microsoft.com/office/drawing/2014/main" id="{CBB5F74C-7CDB-E2D0-D4FE-59707A390AD2}"/>
              </a:ext>
            </a:extLst>
          </p:cNvPr>
          <p:cNvSpPr txBox="1"/>
          <p:nvPr/>
        </p:nvSpPr>
        <p:spPr>
          <a:xfrm>
            <a:off x="3625638" y="6127597"/>
            <a:ext cx="1816523" cy="215444"/>
          </a:xfrm>
          <a:prstGeom prst="rect">
            <a:avLst/>
          </a:prstGeom>
          <a:noFill/>
        </p:spPr>
        <p:txBody>
          <a:bodyPr wrap="none" rtlCol="0">
            <a:spAutoFit/>
          </a:bodyPr>
          <a:lstStyle/>
          <a:p>
            <a:r>
              <a:rPr lang="en-US" sz="800" dirty="0">
                <a:latin typeface="+mj-lt"/>
              </a:rPr>
              <a:t>SEC, Annual Report on NRSRO (Apr ‘25)</a:t>
            </a:r>
          </a:p>
        </p:txBody>
      </p:sp>
    </p:spTree>
    <p:extLst>
      <p:ext uri="{BB962C8B-B14F-4D97-AF65-F5344CB8AC3E}">
        <p14:creationId xmlns:p14="http://schemas.microsoft.com/office/powerpoint/2010/main" val="2028823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Bond Ratings:  Investment Grade</a:t>
            </a:r>
            <a:endParaRPr lang="en-US">
              <a:latin typeface="Calibri" charset="0"/>
              <a:ea typeface="ＭＳ Ｐゴシック" charset="0"/>
              <a:cs typeface="ＭＳ Ｐゴシック" charset="0"/>
            </a:endParaRPr>
          </a:p>
        </p:txBody>
      </p:sp>
      <p:sp>
        <p:nvSpPr>
          <p:cNvPr id="48130"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FB817E5-C81F-CA45-B768-97A6511AC415}" type="slidenum">
              <a:rPr lang="en-US" sz="800">
                <a:latin typeface="Calibri" charset="0"/>
              </a:rPr>
              <a:pPr eaLnBrk="1" hangingPunct="1"/>
              <a:t>22</a:t>
            </a:fld>
            <a:endParaRPr lang="en-US" sz="800">
              <a:latin typeface="Calibri" charset="0"/>
            </a:endParaRPr>
          </a:p>
        </p:txBody>
      </p:sp>
      <p:pic>
        <p:nvPicPr>
          <p:cNvPr id="48132" name="Picture 4" descr="ratecompari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19200"/>
            <a:ext cx="8229600" cy="510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Bond Ratings:  Non-Investment Grade (Junk)</a:t>
            </a:r>
          </a:p>
        </p:txBody>
      </p:sp>
      <p:sp>
        <p:nvSpPr>
          <p:cNvPr id="50178"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780FAB6-069A-994F-BDD8-1C9037965626}" type="slidenum">
              <a:rPr lang="en-US" sz="800">
                <a:latin typeface="Calibri" charset="0"/>
              </a:rPr>
              <a:pPr eaLnBrk="1" hangingPunct="1"/>
              <a:t>23</a:t>
            </a:fld>
            <a:endParaRPr lang="en-US" sz="800">
              <a:latin typeface="Calibri" charset="0"/>
            </a:endParaRPr>
          </a:p>
        </p:txBody>
      </p:sp>
      <p:pic>
        <p:nvPicPr>
          <p:cNvPr id="50180" name="Picture 4" descr="ratecomparisonSp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8001000" cy="5029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p:cNvSpPr>
            <a:spLocks noGrp="1" noChangeArrowheads="1"/>
          </p:cNvSpPr>
          <p:nvPr>
            <p:ph idx="1"/>
          </p:nvPr>
        </p:nvSpPr>
        <p:spPr>
          <a:xfrm>
            <a:off x="990600" y="-304800"/>
            <a:ext cx="8458200" cy="5812064"/>
          </a:xfrm>
        </p:spPr>
        <p:txBody>
          <a:bodyPr/>
          <a:lstStyle/>
          <a:p>
            <a:pPr eaLnBrk="1" hangingPunct="1">
              <a:buFontTx/>
              <a:buNone/>
            </a:pPr>
            <a:r>
              <a:rPr lang="en-US">
                <a:latin typeface="Calibri" charset="0"/>
                <a:ea typeface="ＭＳ Ｐゴシック" charset="0"/>
                <a:cs typeface="ＭＳ Ｐゴシック" charset="0"/>
              </a:rPr>
              <a:t> </a:t>
            </a:r>
          </a:p>
        </p:txBody>
      </p:sp>
      <p:sp>
        <p:nvSpPr>
          <p:cNvPr id="51203"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S&amp;P Ratings:  Investment</a:t>
            </a:r>
            <a:endParaRPr lang="en-US" dirty="0">
              <a:latin typeface="Calibri" charset="0"/>
              <a:ea typeface="ＭＳ Ｐゴシック" charset="0"/>
              <a:cs typeface="ＭＳ Ｐゴシック" charset="0"/>
            </a:endParaRPr>
          </a:p>
        </p:txBody>
      </p:sp>
      <p:sp>
        <p:nvSpPr>
          <p:cNvPr id="51202"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7B90831-CA70-DC46-AD42-501CE4F62670}" type="slidenum">
              <a:rPr lang="en-US" sz="800">
                <a:latin typeface="Calibri" charset="0"/>
              </a:rPr>
              <a:pPr eaLnBrk="1" hangingPunct="1"/>
              <a:t>24</a:t>
            </a:fld>
            <a:endParaRPr lang="en-US" sz="800">
              <a:latin typeface="Calibri" charset="0"/>
            </a:endParaRPr>
          </a:p>
        </p:txBody>
      </p:sp>
      <p:sp>
        <p:nvSpPr>
          <p:cNvPr id="3" name="TextBox 2"/>
          <p:cNvSpPr txBox="1"/>
          <p:nvPr/>
        </p:nvSpPr>
        <p:spPr>
          <a:xfrm>
            <a:off x="2890574" y="6113058"/>
            <a:ext cx="1991251" cy="215444"/>
          </a:xfrm>
          <a:prstGeom prst="rect">
            <a:avLst/>
          </a:prstGeom>
          <a:noFill/>
        </p:spPr>
        <p:txBody>
          <a:bodyPr wrap="none" rtlCol="0">
            <a:spAutoFit/>
          </a:bodyPr>
          <a:lstStyle/>
          <a:p>
            <a:r>
              <a:rPr lang="en-US" sz="800" dirty="0"/>
              <a:t>Source: S&amp;P Global Ratings Definitions</a:t>
            </a:r>
          </a:p>
        </p:txBody>
      </p:sp>
      <p:sp>
        <p:nvSpPr>
          <p:cNvPr id="4" name="Footer Placeholder 3"/>
          <p:cNvSpPr>
            <a:spLocks noGrp="1"/>
          </p:cNvSpPr>
          <p:nvPr>
            <p:ph type="ftr" sz="quarter" idx="11"/>
          </p:nvPr>
        </p:nvSpPr>
        <p:spPr/>
        <p:txBody>
          <a:bodyPr/>
          <a:lstStyle/>
          <a:p>
            <a:pPr>
              <a:defRPr/>
            </a:pPr>
            <a:r>
              <a:rPr lang="en-US"/>
              <a:t>Interest Rate and Credit Risks</a:t>
            </a:r>
            <a:endParaRPr lang="en-US" dirty="0"/>
          </a:p>
        </p:txBody>
      </p:sp>
      <p:pic>
        <p:nvPicPr>
          <p:cNvPr id="6" name="Picture 5">
            <a:extLst>
              <a:ext uri="{FF2B5EF4-FFF2-40B4-BE49-F238E27FC236}">
                <a16:creationId xmlns:a16="http://schemas.microsoft.com/office/drawing/2014/main" id="{115F02F1-FB7F-4F02-4205-3D0AB3ED7C5A}"/>
              </a:ext>
            </a:extLst>
          </p:cNvPr>
          <p:cNvPicPr>
            <a:picLocks noChangeAspect="1"/>
          </p:cNvPicPr>
          <p:nvPr/>
        </p:nvPicPr>
        <p:blipFill>
          <a:blip r:embed="rId3"/>
          <a:stretch>
            <a:fillRect/>
          </a:stretch>
        </p:blipFill>
        <p:spPr>
          <a:xfrm>
            <a:off x="417628" y="573720"/>
            <a:ext cx="8345372" cy="5425352"/>
          </a:xfrm>
          <a:prstGeom prst="rect">
            <a:avLst/>
          </a:prstGeom>
        </p:spPr>
      </p:pic>
      <p:cxnSp>
        <p:nvCxnSpPr>
          <p:cNvPr id="8" name="Straight Connector 7">
            <a:extLst>
              <a:ext uri="{FF2B5EF4-FFF2-40B4-BE49-F238E27FC236}">
                <a16:creationId xmlns:a16="http://schemas.microsoft.com/office/drawing/2014/main" id="{6D1A044E-B7AB-BEF0-F2E7-3E73322BC78D}"/>
              </a:ext>
            </a:extLst>
          </p:cNvPr>
          <p:cNvCxnSpPr/>
          <p:nvPr/>
        </p:nvCxnSpPr>
        <p:spPr>
          <a:xfrm>
            <a:off x="2133600" y="2057400"/>
            <a:ext cx="609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D695290-DB6C-70A6-DD70-B03D645DB495}"/>
              </a:ext>
            </a:extLst>
          </p:cNvPr>
          <p:cNvCxnSpPr>
            <a:cxnSpLocks/>
          </p:cNvCxnSpPr>
          <p:nvPr/>
        </p:nvCxnSpPr>
        <p:spPr>
          <a:xfrm>
            <a:off x="7010400" y="3048000"/>
            <a:ext cx="914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F7458B6-0C8B-379B-BECD-69153819C031}"/>
              </a:ext>
            </a:extLst>
          </p:cNvPr>
          <p:cNvCxnSpPr>
            <a:cxnSpLocks/>
          </p:cNvCxnSpPr>
          <p:nvPr/>
        </p:nvCxnSpPr>
        <p:spPr>
          <a:xfrm>
            <a:off x="7239000" y="4343400"/>
            <a:ext cx="914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60D52A0-74F5-F7CD-8424-B0DDF6F4F094}"/>
              </a:ext>
            </a:extLst>
          </p:cNvPr>
          <p:cNvCxnSpPr>
            <a:cxnSpLocks/>
          </p:cNvCxnSpPr>
          <p:nvPr/>
        </p:nvCxnSpPr>
        <p:spPr>
          <a:xfrm>
            <a:off x="1371600" y="5410200"/>
            <a:ext cx="5715000" cy="0"/>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3"/>
          <p:cNvSpPr>
            <a:spLocks noGrp="1" noChangeArrowheads="1"/>
          </p:cNvSpPr>
          <p:nvPr>
            <p:ph idx="1"/>
          </p:nvPr>
        </p:nvSpPr>
        <p:spPr/>
        <p:txBody>
          <a:bodyPr/>
          <a:lstStyle/>
          <a:p>
            <a:pPr eaLnBrk="1" hangingPunct="1">
              <a:buFontTx/>
              <a:buNone/>
            </a:pPr>
            <a:r>
              <a:rPr lang="en-US">
                <a:latin typeface="Calibri" charset="0"/>
                <a:ea typeface="ＭＳ Ｐゴシック" charset="0"/>
                <a:cs typeface="ＭＳ Ｐゴシック" charset="0"/>
              </a:rPr>
              <a:t>  </a:t>
            </a:r>
          </a:p>
          <a:p>
            <a:pPr eaLnBrk="1" hangingPunct="1">
              <a:buFontTx/>
              <a:buNone/>
            </a:pPr>
            <a:r>
              <a:rPr lang="en-US">
                <a:latin typeface="Calibri" charset="0"/>
                <a:ea typeface="ＭＳ Ｐゴシック" charset="0"/>
                <a:cs typeface="ＭＳ Ｐゴシック" charset="0"/>
              </a:rPr>
              <a:t> </a:t>
            </a:r>
          </a:p>
        </p:txBody>
      </p:sp>
      <p:sp>
        <p:nvSpPr>
          <p:cNvPr id="5325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S&amp;P Ratings:  Speculative</a:t>
            </a:r>
            <a:endParaRPr lang="en-US">
              <a:latin typeface="Calibri" charset="0"/>
              <a:ea typeface="ＭＳ Ｐゴシック" charset="0"/>
              <a:cs typeface="ＭＳ Ｐゴシック" charset="0"/>
            </a:endParaRPr>
          </a:p>
        </p:txBody>
      </p:sp>
      <p:sp>
        <p:nvSpPr>
          <p:cNvPr id="53250"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68FED40-9268-F34E-A076-D03A9A6FC06A}" type="slidenum">
              <a:rPr lang="en-US" sz="800">
                <a:latin typeface="Calibri" charset="0"/>
              </a:rPr>
              <a:pPr eaLnBrk="1" hangingPunct="1"/>
              <a:t>25</a:t>
            </a:fld>
            <a:endParaRPr lang="en-US" sz="800">
              <a:latin typeface="Calibri" charset="0"/>
            </a:endParaRPr>
          </a:p>
        </p:txBody>
      </p:sp>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pic>
        <p:nvPicPr>
          <p:cNvPr id="5" name="Picture 4">
            <a:extLst>
              <a:ext uri="{FF2B5EF4-FFF2-40B4-BE49-F238E27FC236}">
                <a16:creationId xmlns:a16="http://schemas.microsoft.com/office/drawing/2014/main" id="{269C9AF3-DC8D-6B73-7A12-1267ACB13127}"/>
              </a:ext>
            </a:extLst>
          </p:cNvPr>
          <p:cNvPicPr>
            <a:picLocks noChangeAspect="1"/>
          </p:cNvPicPr>
          <p:nvPr/>
        </p:nvPicPr>
        <p:blipFill>
          <a:blip r:embed="rId3"/>
          <a:stretch>
            <a:fillRect/>
          </a:stretch>
        </p:blipFill>
        <p:spPr>
          <a:xfrm>
            <a:off x="914400" y="512536"/>
            <a:ext cx="7773924" cy="5704342"/>
          </a:xfrm>
          <a:prstGeom prst="rect">
            <a:avLst/>
          </a:prstGeom>
        </p:spPr>
      </p:pic>
      <p:sp>
        <p:nvSpPr>
          <p:cNvPr id="6" name="TextBox 5">
            <a:extLst>
              <a:ext uri="{FF2B5EF4-FFF2-40B4-BE49-F238E27FC236}">
                <a16:creationId xmlns:a16="http://schemas.microsoft.com/office/drawing/2014/main" id="{91D37E71-2088-AC87-AE1E-59C8E8141889}"/>
              </a:ext>
            </a:extLst>
          </p:cNvPr>
          <p:cNvSpPr txBox="1"/>
          <p:nvPr/>
        </p:nvSpPr>
        <p:spPr>
          <a:xfrm>
            <a:off x="3576374" y="6216878"/>
            <a:ext cx="1991251" cy="215444"/>
          </a:xfrm>
          <a:prstGeom prst="rect">
            <a:avLst/>
          </a:prstGeom>
          <a:noFill/>
        </p:spPr>
        <p:txBody>
          <a:bodyPr wrap="none" rtlCol="0">
            <a:spAutoFit/>
          </a:bodyPr>
          <a:lstStyle/>
          <a:p>
            <a:r>
              <a:rPr lang="en-US" sz="800" dirty="0"/>
              <a:t>Source: S&amp;P Global Ratings Definitions</a:t>
            </a:r>
          </a:p>
        </p:txBody>
      </p:sp>
      <p:cxnSp>
        <p:nvCxnSpPr>
          <p:cNvPr id="7" name="Straight Connector 6">
            <a:extLst>
              <a:ext uri="{FF2B5EF4-FFF2-40B4-BE49-F238E27FC236}">
                <a16:creationId xmlns:a16="http://schemas.microsoft.com/office/drawing/2014/main" id="{6A19467D-E3A4-B489-D96F-D825AB378DFE}"/>
              </a:ext>
            </a:extLst>
          </p:cNvPr>
          <p:cNvCxnSpPr>
            <a:cxnSpLocks/>
          </p:cNvCxnSpPr>
          <p:nvPr/>
        </p:nvCxnSpPr>
        <p:spPr>
          <a:xfrm>
            <a:off x="6858000" y="762000"/>
            <a:ext cx="1676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0C3ABA4-6757-DD17-C293-CCA5C684342A}"/>
              </a:ext>
            </a:extLst>
          </p:cNvPr>
          <p:cNvCxnSpPr>
            <a:cxnSpLocks/>
          </p:cNvCxnSpPr>
          <p:nvPr/>
        </p:nvCxnSpPr>
        <p:spPr>
          <a:xfrm>
            <a:off x="1752600" y="838200"/>
            <a:ext cx="1143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BAB6E96-03DA-0F72-5D8B-529BF7B560BB}"/>
              </a:ext>
            </a:extLst>
          </p:cNvPr>
          <p:cNvCxnSpPr>
            <a:cxnSpLocks/>
          </p:cNvCxnSpPr>
          <p:nvPr/>
        </p:nvCxnSpPr>
        <p:spPr>
          <a:xfrm>
            <a:off x="2605755" y="1676400"/>
            <a:ext cx="592864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C04A34C-F10F-20F9-D64F-A5224ED8C92F}"/>
              </a:ext>
            </a:extLst>
          </p:cNvPr>
          <p:cNvCxnSpPr>
            <a:cxnSpLocks/>
          </p:cNvCxnSpPr>
          <p:nvPr/>
        </p:nvCxnSpPr>
        <p:spPr>
          <a:xfrm>
            <a:off x="2362200" y="2438400"/>
            <a:ext cx="4343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18DD42-F93B-A2CB-E8C6-E86CA44DE9B8}"/>
              </a:ext>
            </a:extLst>
          </p:cNvPr>
          <p:cNvCxnSpPr>
            <a:cxnSpLocks/>
          </p:cNvCxnSpPr>
          <p:nvPr/>
        </p:nvCxnSpPr>
        <p:spPr>
          <a:xfrm>
            <a:off x="3967425" y="3048000"/>
            <a:ext cx="243337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919F73D-EDDD-5878-6DA6-691B8F960167}"/>
              </a:ext>
            </a:extLst>
          </p:cNvPr>
          <p:cNvCxnSpPr>
            <a:cxnSpLocks/>
          </p:cNvCxnSpPr>
          <p:nvPr/>
        </p:nvCxnSpPr>
        <p:spPr>
          <a:xfrm>
            <a:off x="4421307" y="3962400"/>
            <a:ext cx="243337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2037A1-5C0D-5B4F-FDA3-604C7012375E}"/>
              </a:ext>
            </a:extLst>
          </p:cNvPr>
          <p:cNvCxnSpPr>
            <a:cxnSpLocks/>
          </p:cNvCxnSpPr>
          <p:nvPr/>
        </p:nvCxnSpPr>
        <p:spPr>
          <a:xfrm>
            <a:off x="3048000" y="4724400"/>
            <a:ext cx="3581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5E976C9-3016-9789-DD92-C601B31D2CED}"/>
              </a:ext>
            </a:extLst>
          </p:cNvPr>
          <p:cNvCxnSpPr>
            <a:cxnSpLocks/>
          </p:cNvCxnSpPr>
          <p:nvPr/>
        </p:nvCxnSpPr>
        <p:spPr>
          <a:xfrm>
            <a:off x="3939615" y="5257800"/>
            <a:ext cx="2994585" cy="0"/>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Bond Ratings: Moody’s Financial Metrics Key Ratios (Median 2016)</a:t>
            </a:r>
            <a:endParaRPr lang="en-US" dirty="0">
              <a:latin typeface="Calibri" charset="0"/>
              <a:ea typeface="ＭＳ Ｐゴシック" charset="0"/>
              <a:cs typeface="ＭＳ Ｐゴシック" charset="0"/>
            </a:endParaRPr>
          </a:p>
        </p:txBody>
      </p:sp>
      <p:sp>
        <p:nvSpPr>
          <p:cNvPr id="55298"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7EBA831-8D70-CA4B-9C35-585C72426B4B}" type="slidenum">
              <a:rPr lang="en-US" sz="800">
                <a:latin typeface="Calibri" charset="0"/>
              </a:rPr>
              <a:pPr eaLnBrk="1" hangingPunct="1"/>
              <a:t>26</a:t>
            </a:fld>
            <a:endParaRPr lang="en-US" sz="800">
              <a:latin typeface="Calibri" charset="0"/>
            </a:endParaRPr>
          </a:p>
        </p:txBody>
      </p:sp>
      <p:sp>
        <p:nvSpPr>
          <p:cNvPr id="4" name="TextBox 3"/>
          <p:cNvSpPr txBox="1"/>
          <p:nvPr/>
        </p:nvSpPr>
        <p:spPr>
          <a:xfrm>
            <a:off x="1828800" y="6021484"/>
            <a:ext cx="5314275" cy="246221"/>
          </a:xfrm>
          <a:prstGeom prst="rect">
            <a:avLst/>
          </a:prstGeom>
          <a:noFill/>
        </p:spPr>
        <p:txBody>
          <a:bodyPr wrap="none" rtlCol="0">
            <a:spAutoFit/>
          </a:bodyPr>
          <a:lstStyle/>
          <a:p>
            <a:r>
              <a:rPr lang="en-US" sz="1000" dirty="0"/>
              <a:t>Source</a:t>
            </a:r>
            <a:r>
              <a:rPr lang="en-US" sz="1000" i="1" dirty="0"/>
              <a:t>: Moody’s Financial Metrics Key Ratios for Global Non-Financial Corporations: 2016</a:t>
            </a: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pic>
        <p:nvPicPr>
          <p:cNvPr id="5" name="Picture 4">
            <a:extLst>
              <a:ext uri="{FF2B5EF4-FFF2-40B4-BE49-F238E27FC236}">
                <a16:creationId xmlns:a16="http://schemas.microsoft.com/office/drawing/2014/main" id="{1445DD1C-7806-274F-BD62-E84E2663D53A}"/>
              </a:ext>
            </a:extLst>
          </p:cNvPr>
          <p:cNvPicPr>
            <a:picLocks noChangeAspect="1"/>
          </p:cNvPicPr>
          <p:nvPr/>
        </p:nvPicPr>
        <p:blipFill>
          <a:blip r:embed="rId3"/>
          <a:stretch>
            <a:fillRect/>
          </a:stretch>
        </p:blipFill>
        <p:spPr>
          <a:xfrm>
            <a:off x="374904" y="3113545"/>
            <a:ext cx="844296" cy="2239973"/>
          </a:xfrm>
          <a:prstGeom prst="rect">
            <a:avLst/>
          </a:prstGeom>
        </p:spPr>
      </p:pic>
      <p:pic>
        <p:nvPicPr>
          <p:cNvPr id="8" name="Picture 7">
            <a:extLst>
              <a:ext uri="{FF2B5EF4-FFF2-40B4-BE49-F238E27FC236}">
                <a16:creationId xmlns:a16="http://schemas.microsoft.com/office/drawing/2014/main" id="{3D9AE531-3812-854C-8757-3D2BEB77176A}"/>
              </a:ext>
            </a:extLst>
          </p:cNvPr>
          <p:cNvPicPr>
            <a:picLocks noChangeAspect="1"/>
          </p:cNvPicPr>
          <p:nvPr/>
        </p:nvPicPr>
        <p:blipFill>
          <a:blip r:embed="rId4"/>
          <a:stretch>
            <a:fillRect/>
          </a:stretch>
        </p:blipFill>
        <p:spPr>
          <a:xfrm>
            <a:off x="1143000" y="2895600"/>
            <a:ext cx="7699248" cy="2689383"/>
          </a:xfrm>
          <a:prstGeom prst="rect">
            <a:avLst/>
          </a:prstGeom>
        </p:spPr>
      </p:pic>
      <p:pic>
        <p:nvPicPr>
          <p:cNvPr id="10" name="Picture 9">
            <a:extLst>
              <a:ext uri="{FF2B5EF4-FFF2-40B4-BE49-F238E27FC236}">
                <a16:creationId xmlns:a16="http://schemas.microsoft.com/office/drawing/2014/main" id="{55A8EE8C-BF21-254B-A450-58EA1AFB2C01}"/>
              </a:ext>
            </a:extLst>
          </p:cNvPr>
          <p:cNvPicPr>
            <a:picLocks noChangeAspect="1"/>
          </p:cNvPicPr>
          <p:nvPr/>
        </p:nvPicPr>
        <p:blipFill>
          <a:blip r:embed="rId5"/>
          <a:stretch>
            <a:fillRect/>
          </a:stretch>
        </p:blipFill>
        <p:spPr>
          <a:xfrm>
            <a:off x="457200" y="590295"/>
            <a:ext cx="8385048" cy="2239973"/>
          </a:xfrm>
          <a:prstGeom prst="rect">
            <a:avLst/>
          </a:prstGeom>
        </p:spPr>
      </p:pic>
      <p:sp>
        <p:nvSpPr>
          <p:cNvPr id="3" name="Oval 2">
            <a:extLst>
              <a:ext uri="{FF2B5EF4-FFF2-40B4-BE49-F238E27FC236}">
                <a16:creationId xmlns:a16="http://schemas.microsoft.com/office/drawing/2014/main" id="{B00BCD01-F06C-4D8A-6C7C-B3A4EAC6859C}"/>
              </a:ext>
            </a:extLst>
          </p:cNvPr>
          <p:cNvSpPr/>
          <p:nvPr/>
        </p:nvSpPr>
        <p:spPr>
          <a:xfrm>
            <a:off x="2438400" y="535570"/>
            <a:ext cx="1600200" cy="232736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7" name="Oval 6">
            <a:extLst>
              <a:ext uri="{FF2B5EF4-FFF2-40B4-BE49-F238E27FC236}">
                <a16:creationId xmlns:a16="http://schemas.microsoft.com/office/drawing/2014/main" id="{F8CAF7A5-38F2-621B-6832-2F7A703D4107}"/>
              </a:ext>
            </a:extLst>
          </p:cNvPr>
          <p:cNvSpPr/>
          <p:nvPr/>
        </p:nvSpPr>
        <p:spPr>
          <a:xfrm>
            <a:off x="3149600" y="2830268"/>
            <a:ext cx="1600200" cy="25799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r>
              <a:rPr lang="en-US" b="1" dirty="0">
                <a:latin typeface="Calibri" charset="0"/>
                <a:ea typeface="ＭＳ Ｐゴシック" charset="0"/>
                <a:cs typeface="ＭＳ Ｐゴシック" charset="0"/>
              </a:rPr>
              <a:t>Global Average Cumulative Default Rates by Rating:  1981-2025</a:t>
            </a:r>
          </a:p>
        </p:txBody>
      </p:sp>
      <p:sp>
        <p:nvSpPr>
          <p:cNvPr id="58371"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08B1A65-7F21-664C-9454-99C7F1A85241}" type="slidenum">
              <a:rPr lang="en-US" sz="800">
                <a:latin typeface="Calibri" charset="0"/>
              </a:rPr>
              <a:pPr eaLnBrk="1" hangingPunct="1"/>
              <a:t>27</a:t>
            </a:fld>
            <a:endParaRPr lang="en-US" sz="800">
              <a:latin typeface="Calibri" charset="0"/>
            </a:endParaRPr>
          </a:p>
        </p:txBody>
      </p:sp>
      <p:sp>
        <p:nvSpPr>
          <p:cNvPr id="4" name="Footer Placeholder 3"/>
          <p:cNvSpPr>
            <a:spLocks noGrp="1"/>
          </p:cNvSpPr>
          <p:nvPr>
            <p:ph type="ftr" sz="quarter" idx="11"/>
          </p:nvPr>
        </p:nvSpPr>
        <p:spPr/>
        <p:txBody>
          <a:bodyPr/>
          <a:lstStyle/>
          <a:p>
            <a:pPr>
              <a:defRPr/>
            </a:pPr>
            <a:r>
              <a:rPr lang="en-US"/>
              <a:t>Interest Rate and Credit Risks</a:t>
            </a:r>
            <a:endParaRPr lang="en-US" dirty="0"/>
          </a:p>
        </p:txBody>
      </p:sp>
      <p:sp>
        <p:nvSpPr>
          <p:cNvPr id="10" name="TextBox 9">
            <a:extLst>
              <a:ext uri="{FF2B5EF4-FFF2-40B4-BE49-F238E27FC236}">
                <a16:creationId xmlns:a16="http://schemas.microsoft.com/office/drawing/2014/main" id="{D87B12F4-1100-B34A-8D9E-1B1624EAFD61}"/>
              </a:ext>
            </a:extLst>
          </p:cNvPr>
          <p:cNvSpPr txBox="1"/>
          <p:nvPr/>
        </p:nvSpPr>
        <p:spPr>
          <a:xfrm>
            <a:off x="2286000" y="6130037"/>
            <a:ext cx="4423006" cy="230832"/>
          </a:xfrm>
          <a:prstGeom prst="rect">
            <a:avLst/>
          </a:prstGeom>
          <a:noFill/>
        </p:spPr>
        <p:txBody>
          <a:bodyPr wrap="none" rtlCol="0">
            <a:spAutoFit/>
          </a:bodyPr>
          <a:lstStyle/>
          <a:p>
            <a:pPr lvl="0"/>
            <a:r>
              <a:rPr lang="en-US" sz="900" dirty="0">
                <a:solidFill>
                  <a:srgbClr val="000000"/>
                </a:solidFill>
              </a:rPr>
              <a:t>Source:  S&amp;P 2025 Annual Global Corporate Default Study And Rating Transitions </a:t>
            </a:r>
          </a:p>
        </p:txBody>
      </p:sp>
      <p:pic>
        <p:nvPicPr>
          <p:cNvPr id="5" name="Picture 4">
            <a:extLst>
              <a:ext uri="{FF2B5EF4-FFF2-40B4-BE49-F238E27FC236}">
                <a16:creationId xmlns:a16="http://schemas.microsoft.com/office/drawing/2014/main" id="{A81BAD96-81F3-F36C-DD87-AB11BA36631C}"/>
              </a:ext>
            </a:extLst>
          </p:cNvPr>
          <p:cNvPicPr>
            <a:picLocks noChangeAspect="1"/>
          </p:cNvPicPr>
          <p:nvPr/>
        </p:nvPicPr>
        <p:blipFill>
          <a:blip r:embed="rId2"/>
          <a:stretch>
            <a:fillRect/>
          </a:stretch>
        </p:blipFill>
        <p:spPr>
          <a:xfrm>
            <a:off x="387360" y="762000"/>
            <a:ext cx="8454887" cy="528641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r>
              <a:rPr lang="en-US" b="1" dirty="0">
                <a:solidFill>
                  <a:schemeClr val="tx1"/>
                </a:solidFill>
                <a:latin typeface="Calibri" charset="0"/>
                <a:ea typeface="ＭＳ Ｐゴシック" charset="0"/>
                <a:cs typeface="Times New Roman" charset="0"/>
              </a:rPr>
              <a:t>Default rates of corporate bonds 1981-2025 by S&amp;P rating at time of issue</a:t>
            </a:r>
            <a:endParaRPr lang="en-US" dirty="0">
              <a:latin typeface="Calibri" charset="0"/>
              <a:ea typeface="ＭＳ Ｐゴシック" charset="0"/>
              <a:cs typeface="ＭＳ Ｐゴシック" charset="0"/>
            </a:endParaRPr>
          </a:p>
        </p:txBody>
      </p:sp>
      <p:sp>
        <p:nvSpPr>
          <p:cNvPr id="57347"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2EC1845-AB73-F34A-AFC3-F399FB314663}" type="slidenum">
              <a:rPr lang="en-US" sz="800">
                <a:latin typeface="Calibri" charset="0"/>
              </a:rPr>
              <a:pPr eaLnBrk="1" hangingPunct="1"/>
              <a:t>28</a:t>
            </a:fld>
            <a:endParaRPr lang="en-US" sz="800">
              <a:latin typeface="Calibri" charset="0"/>
            </a:endParaRPr>
          </a:p>
        </p:txBody>
      </p:sp>
      <p:sp>
        <p:nvSpPr>
          <p:cNvPr id="4" name="Footer Placeholder 3"/>
          <p:cNvSpPr>
            <a:spLocks noGrp="1"/>
          </p:cNvSpPr>
          <p:nvPr>
            <p:ph type="ftr" sz="quarter" idx="11"/>
          </p:nvPr>
        </p:nvSpPr>
        <p:spPr/>
        <p:txBody>
          <a:bodyPr/>
          <a:lstStyle/>
          <a:p>
            <a:pPr>
              <a:defRPr/>
            </a:pPr>
            <a:r>
              <a:rPr lang="en-US"/>
              <a:t>Interest Rate and Credit Risks</a:t>
            </a:r>
            <a:endParaRPr lang="en-US" dirty="0"/>
          </a:p>
        </p:txBody>
      </p:sp>
      <p:sp>
        <p:nvSpPr>
          <p:cNvPr id="8" name="TextBox 7">
            <a:extLst>
              <a:ext uri="{FF2B5EF4-FFF2-40B4-BE49-F238E27FC236}">
                <a16:creationId xmlns:a16="http://schemas.microsoft.com/office/drawing/2014/main" id="{6C087FC0-A613-394D-85C2-CC50344F7E0B}"/>
              </a:ext>
            </a:extLst>
          </p:cNvPr>
          <p:cNvSpPr txBox="1"/>
          <p:nvPr/>
        </p:nvSpPr>
        <p:spPr>
          <a:xfrm>
            <a:off x="2286000" y="6019800"/>
            <a:ext cx="4423006" cy="230832"/>
          </a:xfrm>
          <a:prstGeom prst="rect">
            <a:avLst/>
          </a:prstGeom>
          <a:noFill/>
        </p:spPr>
        <p:txBody>
          <a:bodyPr wrap="none" rtlCol="0">
            <a:spAutoFit/>
          </a:bodyPr>
          <a:lstStyle/>
          <a:p>
            <a:pPr lvl="0"/>
            <a:r>
              <a:rPr lang="en-US" sz="900" dirty="0">
                <a:solidFill>
                  <a:srgbClr val="000000"/>
                </a:solidFill>
              </a:rPr>
              <a:t>Source:  S&amp;P 2025 Annual Global Corporate Default Study And Rating Transitions </a:t>
            </a:r>
          </a:p>
        </p:txBody>
      </p:sp>
      <p:pic>
        <p:nvPicPr>
          <p:cNvPr id="5" name="Picture 4">
            <a:extLst>
              <a:ext uri="{FF2B5EF4-FFF2-40B4-BE49-F238E27FC236}">
                <a16:creationId xmlns:a16="http://schemas.microsoft.com/office/drawing/2014/main" id="{EBA2C4F0-69C3-81C8-2EDD-85B2408A6E12}"/>
              </a:ext>
            </a:extLst>
          </p:cNvPr>
          <p:cNvPicPr>
            <a:picLocks noChangeAspect="1"/>
          </p:cNvPicPr>
          <p:nvPr/>
        </p:nvPicPr>
        <p:blipFill>
          <a:blip r:embed="rId2"/>
          <a:stretch>
            <a:fillRect/>
          </a:stretch>
        </p:blipFill>
        <p:spPr>
          <a:xfrm>
            <a:off x="367551" y="965530"/>
            <a:ext cx="7772400" cy="4495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F66F0-0ED3-C432-BC78-0B5314A4777E}"/>
              </a:ext>
            </a:extLst>
          </p:cNvPr>
          <p:cNvSpPr>
            <a:spLocks noGrp="1"/>
          </p:cNvSpPr>
          <p:nvPr>
            <p:ph idx="1"/>
          </p:nvPr>
        </p:nvSpPr>
        <p:spPr/>
        <p:txBody>
          <a:bodyPr>
            <a:normAutofit fontScale="92500" lnSpcReduction="10000"/>
          </a:bodyPr>
          <a:lstStyle/>
          <a:p>
            <a:r>
              <a:rPr lang="en-US" sz="1400" b="0" i="0" dirty="0">
                <a:solidFill>
                  <a:srgbClr val="3B3C3E"/>
                </a:solidFill>
                <a:effectLst/>
                <a:latin typeface="Calibri" panose="020F0502020204030204" pitchFamily="34" charset="0"/>
                <a:cs typeface="Calibri" panose="020F0502020204030204" pitchFamily="34" charset="0"/>
              </a:rPr>
              <a:t>Fordham University's A2 issuer rating reflects its relatively large scope of operations and good market position as a prominent Jesuit institution located in New York City offering a diversity of undergraduate and graduate programs. Enrollment continues to rise with the exception of a coronavirus related dip in fall 2020 and </a:t>
            </a:r>
            <a:r>
              <a:rPr lang="en-US" sz="1400" b="1" i="0" dirty="0">
                <a:solidFill>
                  <a:srgbClr val="3B3C3E"/>
                </a:solidFill>
                <a:effectLst/>
                <a:latin typeface="Calibri" panose="020F0502020204030204" pitchFamily="34" charset="0"/>
                <a:cs typeface="Calibri" panose="020F0502020204030204" pitchFamily="34" charset="0"/>
              </a:rPr>
              <a:t>supports prospects for rising net tuition revenue</a:t>
            </a:r>
            <a:r>
              <a:rPr lang="en-US" sz="1400" b="0" i="0" dirty="0">
                <a:solidFill>
                  <a:srgbClr val="3B3C3E"/>
                </a:solidFill>
                <a:effectLst/>
                <a:latin typeface="Calibri" panose="020F0502020204030204" pitchFamily="34" charset="0"/>
                <a:cs typeface="Calibri" panose="020F0502020204030204" pitchFamily="34" charset="0"/>
              </a:rPr>
              <a:t>. That revenue growth along with strong fundraising is boosting operating performance and building reserves, with total cash and investments reaching $1 billion at June 30, 2021. </a:t>
            </a:r>
            <a:r>
              <a:rPr lang="en-US" sz="1400" b="0" i="0" dirty="0">
                <a:solidFill>
                  <a:srgbClr val="3B3C3E"/>
                </a:solidFill>
                <a:effectLst/>
                <a:highlight>
                  <a:srgbClr val="FFFF00"/>
                </a:highlight>
                <a:latin typeface="Calibri" panose="020F0502020204030204" pitchFamily="34" charset="0"/>
                <a:cs typeface="Calibri" panose="020F0502020204030204" pitchFamily="34" charset="0"/>
              </a:rPr>
              <a:t>Offsetting factors include a relatively high leverage compared to peers, limited flexible reserves relative to expenses, relatively low levels of liquidity, and a high dependence on student charge revenue in a competitive market.</a:t>
            </a:r>
          </a:p>
          <a:p>
            <a:pPr algn="l"/>
            <a:r>
              <a:rPr lang="en-US" sz="1400" b="1" i="0" dirty="0">
                <a:solidFill>
                  <a:srgbClr val="3B3C3E"/>
                </a:solidFill>
                <a:effectLst/>
                <a:latin typeface="Calibri" panose="020F0502020204030204" pitchFamily="34" charset="0"/>
                <a:cs typeface="Calibri" panose="020F0502020204030204" pitchFamily="34" charset="0"/>
              </a:rPr>
              <a:t>RATING OUTLOOK</a:t>
            </a:r>
          </a:p>
          <a:p>
            <a:pPr lvl="1" algn="l"/>
            <a:r>
              <a:rPr lang="en-US" sz="1400" b="0" i="0" dirty="0">
                <a:solidFill>
                  <a:srgbClr val="3B3C3E"/>
                </a:solidFill>
                <a:effectLst/>
                <a:latin typeface="Calibri" panose="020F0502020204030204" pitchFamily="34" charset="0"/>
                <a:cs typeface="Calibri" panose="020F0502020204030204" pitchFamily="34" charset="0"/>
              </a:rPr>
              <a:t>The stable outlook is based on expectations that EBIDA margins will recover post pandemic to provide debt service coverage of at least 2.5x, net tuition growth and strong donor support will continue, and that debt will not materially increase beyond the proposed series 2021 bonds.</a:t>
            </a:r>
            <a:br>
              <a:rPr lang="en-US" sz="1400" b="0" i="0" dirty="0">
                <a:solidFill>
                  <a:srgbClr val="3B3C3E"/>
                </a:solidFill>
                <a:effectLst/>
                <a:latin typeface="Calibri" panose="020F0502020204030204" pitchFamily="34" charset="0"/>
                <a:cs typeface="Calibri" panose="020F0502020204030204" pitchFamily="34" charset="0"/>
              </a:rPr>
            </a:br>
            <a:endParaRPr lang="en-US" sz="1400" b="0" i="0" dirty="0">
              <a:solidFill>
                <a:srgbClr val="3B3C3E"/>
              </a:solidFill>
              <a:effectLst/>
              <a:latin typeface="Calibri" panose="020F0502020204030204" pitchFamily="34" charset="0"/>
              <a:cs typeface="Calibri" panose="020F0502020204030204" pitchFamily="34" charset="0"/>
            </a:endParaRPr>
          </a:p>
          <a:p>
            <a:pPr algn="l"/>
            <a:r>
              <a:rPr lang="en-US" sz="1400" b="1" i="0" dirty="0">
                <a:solidFill>
                  <a:srgbClr val="3B3C3E"/>
                </a:solidFill>
                <a:effectLst/>
                <a:latin typeface="Calibri" panose="020F0502020204030204" pitchFamily="34" charset="0"/>
                <a:cs typeface="Calibri" panose="020F0502020204030204" pitchFamily="34" charset="0"/>
              </a:rPr>
              <a:t>FACTORS THAT COULD LEAD TO AN UPGRADE OF THE RATINGS</a:t>
            </a:r>
          </a:p>
          <a:p>
            <a:pPr lvl="1" algn="l"/>
            <a:r>
              <a:rPr lang="en-US" sz="1400" b="0" i="0" dirty="0">
                <a:solidFill>
                  <a:srgbClr val="3B3C3E"/>
                </a:solidFill>
                <a:effectLst/>
                <a:latin typeface="Calibri" panose="020F0502020204030204" pitchFamily="34" charset="0"/>
                <a:cs typeface="Calibri" panose="020F0502020204030204" pitchFamily="34" charset="0"/>
              </a:rPr>
              <a:t>Substantial growth in financial reserves and liquidity providing a stronger cushion relative to debt and operations</a:t>
            </a:r>
          </a:p>
          <a:p>
            <a:pPr lvl="1" algn="l"/>
            <a:r>
              <a:rPr lang="en-US" sz="1400" b="0" i="0" dirty="0">
                <a:solidFill>
                  <a:srgbClr val="3B3C3E"/>
                </a:solidFill>
                <a:effectLst/>
                <a:latin typeface="Calibri" panose="020F0502020204030204" pitchFamily="34" charset="0"/>
                <a:cs typeface="Calibri" panose="020F0502020204030204" pitchFamily="34" charset="0"/>
              </a:rPr>
              <a:t>Consistently stronger EBIDA, resulting in increased debt service coverage and additional financial flexibility</a:t>
            </a:r>
          </a:p>
          <a:p>
            <a:pPr lvl="1" algn="l"/>
            <a:r>
              <a:rPr lang="en-US" sz="1400" b="0" i="0" dirty="0">
                <a:solidFill>
                  <a:srgbClr val="3B3C3E"/>
                </a:solidFill>
                <a:effectLst/>
                <a:latin typeface="Calibri" panose="020F0502020204030204" pitchFamily="34" charset="0"/>
                <a:cs typeface="Calibri" panose="020F0502020204030204" pitchFamily="34" charset="0"/>
              </a:rPr>
              <a:t>Strengthening market position with increasing yield</a:t>
            </a:r>
            <a:br>
              <a:rPr lang="en-US" sz="1400" b="0" i="0" dirty="0">
                <a:solidFill>
                  <a:srgbClr val="3B3C3E"/>
                </a:solidFill>
                <a:effectLst/>
                <a:latin typeface="Calibri" panose="020F0502020204030204" pitchFamily="34" charset="0"/>
                <a:cs typeface="Calibri" panose="020F0502020204030204" pitchFamily="34" charset="0"/>
              </a:rPr>
            </a:br>
            <a:endParaRPr lang="en-US" sz="1400" b="0" i="0" dirty="0">
              <a:solidFill>
                <a:srgbClr val="3B3C3E"/>
              </a:solidFill>
              <a:effectLst/>
              <a:latin typeface="Calibri" panose="020F0502020204030204" pitchFamily="34" charset="0"/>
              <a:cs typeface="Calibri" panose="020F0502020204030204" pitchFamily="34" charset="0"/>
            </a:endParaRPr>
          </a:p>
          <a:p>
            <a:pPr algn="l"/>
            <a:r>
              <a:rPr lang="en-US" sz="1400" b="1" i="0" dirty="0">
                <a:solidFill>
                  <a:srgbClr val="3B3C3E"/>
                </a:solidFill>
                <a:effectLst/>
                <a:latin typeface="Calibri" panose="020F0502020204030204" pitchFamily="34" charset="0"/>
                <a:cs typeface="Calibri" panose="020F0502020204030204" pitchFamily="34" charset="0"/>
              </a:rPr>
              <a:t>FACTORS THAT COULD LEAD TO A DOWNGRADE OF THE RATINGS</a:t>
            </a:r>
          </a:p>
          <a:p>
            <a:pPr lvl="1" algn="l"/>
            <a:r>
              <a:rPr lang="en-US" sz="1400" b="0" i="0" dirty="0">
                <a:solidFill>
                  <a:srgbClr val="3B3C3E"/>
                </a:solidFill>
                <a:effectLst/>
                <a:latin typeface="Calibri" panose="020F0502020204030204" pitchFamily="34" charset="0"/>
                <a:cs typeface="Calibri" panose="020F0502020204030204" pitchFamily="34" charset="0"/>
              </a:rPr>
              <a:t>Deterioration in operating performance or decrease in debt service coverage below 2.5x</a:t>
            </a:r>
          </a:p>
          <a:p>
            <a:pPr lvl="1" algn="l"/>
            <a:r>
              <a:rPr lang="en-US" sz="1400" b="0" i="0" dirty="0">
                <a:solidFill>
                  <a:srgbClr val="3B3C3E"/>
                </a:solidFill>
                <a:effectLst/>
                <a:highlight>
                  <a:srgbClr val="FFFF00"/>
                </a:highlight>
                <a:latin typeface="Calibri" panose="020F0502020204030204" pitchFamily="34" charset="0"/>
                <a:cs typeface="Calibri" panose="020F0502020204030204" pitchFamily="34" charset="0"/>
              </a:rPr>
              <a:t>Weakened enrollment or net tuition revenue growth</a:t>
            </a:r>
          </a:p>
          <a:p>
            <a:pPr lvl="1" algn="l"/>
            <a:r>
              <a:rPr lang="en-US" sz="1400" b="0" i="0" dirty="0">
                <a:solidFill>
                  <a:srgbClr val="3B3C3E"/>
                </a:solidFill>
                <a:effectLst/>
                <a:latin typeface="Calibri" panose="020F0502020204030204" pitchFamily="34" charset="0"/>
                <a:cs typeface="Calibri" panose="020F0502020204030204" pitchFamily="34" charset="0"/>
              </a:rPr>
              <a:t>Increase in financial leverage beyond planned borrowing</a:t>
            </a:r>
          </a:p>
          <a:p>
            <a:pPr lvl="1" algn="l"/>
            <a:endParaRPr lang="en-US" sz="1400" b="0" i="0" dirty="0">
              <a:solidFill>
                <a:srgbClr val="3B3C3E"/>
              </a:solidFill>
              <a:effectLst/>
              <a:latin typeface="Calibri" panose="020F0502020204030204" pitchFamily="34" charset="0"/>
              <a:cs typeface="Calibri" panose="020F0502020204030204" pitchFamily="34" charset="0"/>
            </a:endParaRPr>
          </a:p>
          <a:p>
            <a:pPr algn="l"/>
            <a:r>
              <a:rPr lang="en-US" sz="1600" b="0" i="0" dirty="0">
                <a:solidFill>
                  <a:srgbClr val="3B3C3E"/>
                </a:solidFill>
                <a:effectLst/>
                <a:latin typeface="Calibri" panose="020F0502020204030204" pitchFamily="34" charset="0"/>
                <a:cs typeface="Calibri" panose="020F0502020204030204" pitchFamily="34" charset="0"/>
              </a:rPr>
              <a:t>The series 2021, bonds are a general obligation of the university on parity with series 2016A, 2017 and 2020. Prior bonds - including the Series 2008A and 2012 bonds - are further enhanced by </a:t>
            </a:r>
            <a:r>
              <a:rPr lang="en-US" sz="1600" b="1" i="0" dirty="0">
                <a:solidFill>
                  <a:srgbClr val="3B3C3E"/>
                </a:solidFill>
                <a:effectLst/>
                <a:latin typeface="Calibri" panose="020F0502020204030204" pitchFamily="34" charset="0"/>
                <a:cs typeface="Calibri" panose="020F0502020204030204" pitchFamily="34" charset="0"/>
              </a:rPr>
              <a:t>pledged revenues consisting of student tuition and fees, equal to maximum annual debt service, and series 2014 bonds are secured by a general pledge of tuition revenues</a:t>
            </a:r>
            <a:r>
              <a:rPr lang="en-US" sz="1600" b="0" i="0" dirty="0">
                <a:solidFill>
                  <a:srgbClr val="3B3C3E"/>
                </a:solidFill>
                <a:effectLst/>
                <a:latin typeface="Calibri" panose="020F0502020204030204" pitchFamily="34" charset="0"/>
                <a:cs typeface="Calibri" panose="020F0502020204030204" pitchFamily="34" charset="0"/>
              </a:rPr>
              <a:t>. The university covenants that if any future revenue bonds are granted a security pledge, the same security interest will also be provided to the series 2016A, series 2017, series 2020 and forthcoming series 2021 bondholders.</a:t>
            </a:r>
            <a:endParaRPr lang="en-US" sz="1800" b="0" i="0" dirty="0">
              <a:solidFill>
                <a:srgbClr val="3B3C3E"/>
              </a:solidFill>
              <a:effectLst/>
              <a:latin typeface="Calibri" panose="020F0502020204030204" pitchFamily="34" charset="0"/>
              <a:cs typeface="Calibri" panose="020F0502020204030204" pitchFamily="34" charset="0"/>
            </a:endParaRPr>
          </a:p>
          <a:p>
            <a:pPr lvl="1"/>
            <a:endParaRPr lang="en-US" sz="1400"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78AC8EFA-A182-DACB-AE10-04417BFBC64D}"/>
              </a:ext>
            </a:extLst>
          </p:cNvPr>
          <p:cNvSpPr>
            <a:spLocks noGrp="1"/>
          </p:cNvSpPr>
          <p:nvPr>
            <p:ph type="title"/>
          </p:nvPr>
        </p:nvSpPr>
        <p:spPr/>
        <p:txBody>
          <a:bodyPr/>
          <a:lstStyle/>
          <a:p>
            <a:r>
              <a:rPr lang="en-US" dirty="0"/>
              <a:t>Moody’s Assigns A2 to Fordham Revenue Bonds (Oct., 2021)</a:t>
            </a:r>
          </a:p>
        </p:txBody>
      </p:sp>
      <p:sp>
        <p:nvSpPr>
          <p:cNvPr id="4" name="Slide Number Placeholder 3">
            <a:extLst>
              <a:ext uri="{FF2B5EF4-FFF2-40B4-BE49-F238E27FC236}">
                <a16:creationId xmlns:a16="http://schemas.microsoft.com/office/drawing/2014/main" id="{7D327720-397C-6FEE-8756-57B0D4D1B909}"/>
              </a:ext>
            </a:extLst>
          </p:cNvPr>
          <p:cNvSpPr>
            <a:spLocks noGrp="1"/>
          </p:cNvSpPr>
          <p:nvPr>
            <p:ph type="sldNum" sz="quarter" idx="10"/>
          </p:nvPr>
        </p:nvSpPr>
        <p:spPr/>
        <p:txBody>
          <a:bodyPr/>
          <a:lstStyle/>
          <a:p>
            <a:fld id="{7B3E355C-57B9-BC4B-95D8-406A1F834537}" type="slidenum">
              <a:rPr lang="en-US" altLang="en-US" smtClean="0"/>
              <a:pPr/>
              <a:t>29</a:t>
            </a:fld>
            <a:endParaRPr lang="en-US" altLang="en-US" dirty="0"/>
          </a:p>
        </p:txBody>
      </p:sp>
      <p:sp>
        <p:nvSpPr>
          <p:cNvPr id="5" name="Footer Placeholder 4">
            <a:extLst>
              <a:ext uri="{FF2B5EF4-FFF2-40B4-BE49-F238E27FC236}">
                <a16:creationId xmlns:a16="http://schemas.microsoft.com/office/drawing/2014/main" id="{83AB32D1-E916-ED68-B30E-00A8C62DFD3B}"/>
              </a:ext>
            </a:extLst>
          </p:cNvPr>
          <p:cNvSpPr>
            <a:spLocks noGrp="1"/>
          </p:cNvSpPr>
          <p:nvPr>
            <p:ph type="ftr" sz="quarter" idx="11"/>
          </p:nvPr>
        </p:nvSpPr>
        <p:spPr/>
        <p:txBody>
          <a:bodyPr/>
          <a:lstStyle/>
          <a:p>
            <a:pPr>
              <a:defRPr/>
            </a:pPr>
            <a:r>
              <a:rPr lang="en-US"/>
              <a:t>Interest Rate and Credit Risks</a:t>
            </a:r>
            <a:endParaRPr lang="en-US" dirty="0"/>
          </a:p>
        </p:txBody>
      </p:sp>
    </p:spTree>
    <p:extLst>
      <p:ext uri="{BB962C8B-B14F-4D97-AF65-F5344CB8AC3E}">
        <p14:creationId xmlns:p14="http://schemas.microsoft.com/office/powerpoint/2010/main" val="2287694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EFF900-47C1-ED20-BB8F-ECD288145924}"/>
              </a:ext>
            </a:extLst>
          </p:cNvPr>
          <p:cNvSpPr>
            <a:spLocks noGrp="1"/>
          </p:cNvSpPr>
          <p:nvPr>
            <p:ph idx="1"/>
          </p:nvPr>
        </p:nvSpPr>
        <p:spPr/>
        <p:txBody>
          <a:bodyPr>
            <a:normAutofit fontScale="62500" lnSpcReduction="20000"/>
          </a:bodyPr>
          <a:lstStyle/>
          <a:p>
            <a:pPr marL="0" indent="0">
              <a:buNone/>
            </a:pPr>
            <a:br>
              <a:rPr lang="en-US" dirty="0"/>
            </a:br>
            <a:r>
              <a:rPr lang="en-US" dirty="0"/>
              <a:t>(c)   As used in this Agreement and in the other Loan Documents, </a:t>
            </a:r>
            <a:r>
              <a:rPr lang="en-US" dirty="0">
                <a:highlight>
                  <a:srgbClr val="E3FF10"/>
                </a:highlight>
              </a:rPr>
              <a:t>“</a:t>
            </a:r>
            <a:r>
              <a:rPr lang="en-US" u="sng" dirty="0">
                <a:highlight>
                  <a:srgbClr val="E3FF10"/>
                </a:highlight>
              </a:rPr>
              <a:t>Applicable Margin</a:t>
            </a:r>
            <a:r>
              <a:rPr lang="en-US" dirty="0"/>
              <a:t>” means, as to Loans consisting of a single Borrowing, a rate per annum determined pursuant to the table set forth below by reference to the Borrower’s S&amp;P Rating, Moody’s Rating or Fitch Rating (individually, a “</a:t>
            </a:r>
            <a:r>
              <a:rPr lang="en-US" u="sng" dirty="0"/>
              <a:t>Rating</a:t>
            </a:r>
            <a:r>
              <a:rPr lang="en-US" dirty="0"/>
              <a:t>” and collectively, the “</a:t>
            </a:r>
            <a:r>
              <a:rPr lang="en-US" u="sng" dirty="0"/>
              <a:t>Ratings</a:t>
            </a:r>
            <a:r>
              <a:rPr lang="en-US" dirty="0"/>
              <a:t>”) and the Type of Loans comprising such Borrowing, whereby </a:t>
            </a:r>
            <a:r>
              <a:rPr lang="en-US" dirty="0">
                <a:highlight>
                  <a:srgbClr val="FF0000"/>
                </a:highlight>
              </a:rPr>
              <a:t>(i) </a:t>
            </a:r>
            <a:r>
              <a:rPr lang="en-US" dirty="0"/>
              <a:t>if either Moody’s or S&amp;P shall not have in effect a Rating (other than by reason of the circumstances referred to in the last sentence of this </a:t>
            </a:r>
            <a:r>
              <a:rPr lang="en-US" u="sng" dirty="0"/>
              <a:t>Section 2.07(c)</a:t>
            </a:r>
            <a:r>
              <a:rPr lang="en-US" dirty="0"/>
              <a:t>) and the Borrower is using all commercially reasonable efforts to maintain both Ratings, then the remaining Rating shall determine the Pricing Level; </a:t>
            </a:r>
            <a:r>
              <a:rPr lang="en-US" dirty="0">
                <a:highlight>
                  <a:srgbClr val="FF0000"/>
                </a:highlight>
              </a:rPr>
              <a:t>(ii) </a:t>
            </a:r>
            <a:r>
              <a:rPr lang="en-US" dirty="0"/>
              <a:t>if the Moody’s Rating and the S&amp;P Rating shall differ by one level, the higher Rating shall determine the Pricing Level; </a:t>
            </a:r>
            <a:r>
              <a:rPr lang="en-US" dirty="0">
                <a:highlight>
                  <a:srgbClr val="FF0000"/>
                </a:highlight>
              </a:rPr>
              <a:t>(iii) </a:t>
            </a:r>
            <a:r>
              <a:rPr lang="en-US" dirty="0"/>
              <a:t>if the Moody’s Rating and the S&amp;P Rating shall differ by more than one level and the Fitch Rating is equal to the higher of the Moody’s Rating and the S&amp;P Rating, the higher Rating shall determine the Pricing Level; </a:t>
            </a:r>
            <a:r>
              <a:rPr lang="en-US" dirty="0">
                <a:highlight>
                  <a:srgbClr val="FF0000"/>
                </a:highlight>
              </a:rPr>
              <a:t>(iv) </a:t>
            </a:r>
            <a:r>
              <a:rPr lang="en-US" dirty="0"/>
              <a:t>if the Moody’s Rating, the S&amp;P Rating and the Fitch Rating each shall differ by one or more levels, and the Moody’s Rating and the S&amp;P Rating shall differ by more than one level, the Rating which is the middle Rating shall determine the Pricing Level</a:t>
            </a:r>
            <a:r>
              <a:rPr lang="en-US" dirty="0">
                <a:highlight>
                  <a:srgbClr val="FF0000"/>
                </a:highlight>
              </a:rPr>
              <a:t>; (v) i</a:t>
            </a:r>
            <a:r>
              <a:rPr lang="en-US" dirty="0"/>
              <a:t>f the Moody’s Rating and the S&amp;P Rating shall differ by more than one level and the Fitch Rating is equal to the lower of the Moody’s Rating and the S&amp;P Rating, the lower Rating shall determine the Pricing Level; </a:t>
            </a:r>
            <a:r>
              <a:rPr lang="en-US" dirty="0">
                <a:highlight>
                  <a:srgbClr val="FF0000"/>
                </a:highlight>
              </a:rPr>
              <a:t>(vi) </a:t>
            </a:r>
            <a:r>
              <a:rPr lang="en-US" dirty="0"/>
              <a:t>if the Moody’s Rating and the S&amp;P Rating shall differ by more than one level and Fitch shall not have in effect a Rating, the Rating which is one level below the higher of the Moody’s Rating and the S&amp;P Rating shall determine the Pricing Level; and </a:t>
            </a:r>
            <a:r>
              <a:rPr lang="en-US" dirty="0">
                <a:highlight>
                  <a:srgbClr val="FF0000"/>
                </a:highlight>
              </a:rPr>
              <a:t>(vii) </a:t>
            </a:r>
            <a:r>
              <a:rPr lang="en-US" dirty="0"/>
              <a:t>if the Moody’s Rating and the S&amp;P Rating are the same, that Rating shall determine the Pricing Level.  Each change in the Applicable Margin shall apply during the period commencing on the effective date of such change and ending on the date immediately preceding the effective date of the next such change.  If the rating system of Moody’s, S&amp;P or Fitch shall change, or if any such rating agency shall cease to be in the business of rating corporate debt obligations, the Borrower and the Banks shall negotiate in good faith to amend this definition to reflect such changed rating system or the unavailability of ratings from such rating agency and, pending the effectiveness of any such amendment, the Applicable Margin shall be determined by reference to the rating most recently in effect prior to such change or cessation.</a:t>
            </a:r>
          </a:p>
        </p:txBody>
      </p:sp>
      <p:sp>
        <p:nvSpPr>
          <p:cNvPr id="3" name="Title 2">
            <a:extLst>
              <a:ext uri="{FF2B5EF4-FFF2-40B4-BE49-F238E27FC236}">
                <a16:creationId xmlns:a16="http://schemas.microsoft.com/office/drawing/2014/main" id="{BD2268DD-9DB3-9E9A-0B83-4E3F66B090B8}"/>
              </a:ext>
            </a:extLst>
          </p:cNvPr>
          <p:cNvSpPr>
            <a:spLocks noGrp="1"/>
          </p:cNvSpPr>
          <p:nvPr>
            <p:ph type="title"/>
          </p:nvPr>
        </p:nvSpPr>
        <p:spPr/>
        <p:txBody>
          <a:bodyPr/>
          <a:lstStyle/>
          <a:p>
            <a:r>
              <a:rPr lang="en-US" dirty="0"/>
              <a:t>Credit Ratings Requirements Example</a:t>
            </a:r>
          </a:p>
        </p:txBody>
      </p:sp>
      <p:sp>
        <p:nvSpPr>
          <p:cNvPr id="4" name="Slide Number Placeholder 3">
            <a:extLst>
              <a:ext uri="{FF2B5EF4-FFF2-40B4-BE49-F238E27FC236}">
                <a16:creationId xmlns:a16="http://schemas.microsoft.com/office/drawing/2014/main" id="{C4C59321-6497-39BB-5570-B10CE94C168E}"/>
              </a:ext>
            </a:extLst>
          </p:cNvPr>
          <p:cNvSpPr>
            <a:spLocks noGrp="1"/>
          </p:cNvSpPr>
          <p:nvPr>
            <p:ph type="sldNum" sz="quarter" idx="10"/>
          </p:nvPr>
        </p:nvSpPr>
        <p:spPr/>
        <p:txBody>
          <a:bodyPr/>
          <a:lstStyle/>
          <a:p>
            <a:fld id="{7B3E355C-57B9-BC4B-95D8-406A1F834537}" type="slidenum">
              <a:rPr lang="en-US" altLang="en-US" smtClean="0"/>
              <a:pPr/>
              <a:t>30</a:t>
            </a:fld>
            <a:endParaRPr lang="en-US" altLang="en-US" dirty="0"/>
          </a:p>
        </p:txBody>
      </p:sp>
      <p:sp>
        <p:nvSpPr>
          <p:cNvPr id="5" name="Footer Placeholder 4">
            <a:extLst>
              <a:ext uri="{FF2B5EF4-FFF2-40B4-BE49-F238E27FC236}">
                <a16:creationId xmlns:a16="http://schemas.microsoft.com/office/drawing/2014/main" id="{1A408DC6-12B7-E9CF-3247-3593FF1B01C3}"/>
              </a:ext>
            </a:extLst>
          </p:cNvPr>
          <p:cNvSpPr>
            <a:spLocks noGrp="1"/>
          </p:cNvSpPr>
          <p:nvPr>
            <p:ph type="ftr" sz="quarter" idx="11"/>
          </p:nvPr>
        </p:nvSpPr>
        <p:spPr/>
        <p:txBody>
          <a:bodyPr/>
          <a:lstStyle/>
          <a:p>
            <a:pPr>
              <a:defRPr/>
            </a:pPr>
            <a:r>
              <a:rPr lang="en-US"/>
              <a:t>Interest Rate and Credit Risks</a:t>
            </a:r>
            <a:endParaRPr lang="en-US" dirty="0"/>
          </a:p>
        </p:txBody>
      </p:sp>
      <p:pic>
        <p:nvPicPr>
          <p:cNvPr id="7" name="Picture 6">
            <a:extLst>
              <a:ext uri="{FF2B5EF4-FFF2-40B4-BE49-F238E27FC236}">
                <a16:creationId xmlns:a16="http://schemas.microsoft.com/office/drawing/2014/main" id="{FDE8AC8F-64DF-0B65-0040-DCD01BE2DE16}"/>
              </a:ext>
            </a:extLst>
          </p:cNvPr>
          <p:cNvPicPr>
            <a:picLocks noChangeAspect="1"/>
          </p:cNvPicPr>
          <p:nvPr/>
        </p:nvPicPr>
        <p:blipFill>
          <a:blip r:embed="rId2"/>
          <a:stretch>
            <a:fillRect/>
          </a:stretch>
        </p:blipFill>
        <p:spPr>
          <a:xfrm>
            <a:off x="481054" y="5410200"/>
            <a:ext cx="7903994" cy="803689"/>
          </a:xfrm>
          <a:prstGeom prst="rect">
            <a:avLst/>
          </a:prstGeom>
        </p:spPr>
      </p:pic>
    </p:spTree>
    <p:extLst>
      <p:ext uri="{BB962C8B-B14F-4D97-AF65-F5344CB8AC3E}">
        <p14:creationId xmlns:p14="http://schemas.microsoft.com/office/powerpoint/2010/main" val="424963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B276B-CCFA-F946-81A9-EEFE87B5F35E}"/>
              </a:ext>
            </a:extLst>
          </p:cNvPr>
          <p:cNvSpPr>
            <a:spLocks noGrp="1"/>
          </p:cNvSpPr>
          <p:nvPr>
            <p:ph type="title"/>
          </p:nvPr>
        </p:nvSpPr>
        <p:spPr/>
        <p:txBody>
          <a:bodyPr/>
          <a:lstStyle/>
          <a:p>
            <a:r>
              <a:rPr lang="en-US" dirty="0"/>
              <a:t>Corporate Spreads: 1996-2025</a:t>
            </a:r>
          </a:p>
        </p:txBody>
      </p:sp>
      <p:sp>
        <p:nvSpPr>
          <p:cNvPr id="4" name="Slide Number Placeholder 3">
            <a:extLst>
              <a:ext uri="{FF2B5EF4-FFF2-40B4-BE49-F238E27FC236}">
                <a16:creationId xmlns:a16="http://schemas.microsoft.com/office/drawing/2014/main" id="{2A94230B-8AE5-9B45-9991-37A6BEA7AEFA}"/>
              </a:ext>
            </a:extLst>
          </p:cNvPr>
          <p:cNvSpPr>
            <a:spLocks noGrp="1"/>
          </p:cNvSpPr>
          <p:nvPr>
            <p:ph type="sldNum" sz="quarter" idx="10"/>
          </p:nvPr>
        </p:nvSpPr>
        <p:spPr/>
        <p:txBody>
          <a:bodyPr/>
          <a:lstStyle/>
          <a:p>
            <a:fld id="{7B3E355C-57B9-BC4B-95D8-406A1F834537}" type="slidenum">
              <a:rPr lang="en-US" altLang="en-US" smtClean="0"/>
              <a:pPr/>
              <a:t>31</a:t>
            </a:fld>
            <a:endParaRPr lang="en-US" altLang="en-US" dirty="0"/>
          </a:p>
        </p:txBody>
      </p:sp>
      <p:sp>
        <p:nvSpPr>
          <p:cNvPr id="5" name="Footer Placeholder 4">
            <a:extLst>
              <a:ext uri="{FF2B5EF4-FFF2-40B4-BE49-F238E27FC236}">
                <a16:creationId xmlns:a16="http://schemas.microsoft.com/office/drawing/2014/main" id="{AEAA1FB5-595B-974F-A787-C0A41CFCEFE5}"/>
              </a:ext>
            </a:extLst>
          </p:cNvPr>
          <p:cNvSpPr>
            <a:spLocks noGrp="1"/>
          </p:cNvSpPr>
          <p:nvPr>
            <p:ph type="ftr" sz="quarter" idx="11"/>
          </p:nvPr>
        </p:nvSpPr>
        <p:spPr/>
        <p:txBody>
          <a:bodyPr/>
          <a:lstStyle/>
          <a:p>
            <a:pPr>
              <a:defRPr/>
            </a:pPr>
            <a:r>
              <a:rPr lang="en-US"/>
              <a:t>Interest Rate and Credit Risks</a:t>
            </a:r>
            <a:endParaRPr lang="en-US" dirty="0"/>
          </a:p>
        </p:txBody>
      </p:sp>
      <p:pic>
        <p:nvPicPr>
          <p:cNvPr id="8" name="FRED Graph Chart" descr="FRED Graph">
            <a:hlinkClick r:id="rId2" tooltip="View this chart in your browser. "/>
            <a:extLst>
              <a:ext uri="{FF2B5EF4-FFF2-40B4-BE49-F238E27FC236}">
                <a16:creationId xmlns:a16="http://schemas.microsoft.com/office/drawing/2014/main" id="{271C13BE-CCC4-DDED-2F9E-1AAECB8B9EB0}"/>
              </a:ext>
            </a:extLst>
          </p:cNvPr>
          <p:cNvPicPr>
            <a:picLocks noChangeAspect="1"/>
          </p:cNvPicPr>
          <p:nvPr/>
        </p:nvPicPr>
        <p:blipFill>
          <a:blip r:embed="rId3"/>
          <a:stretch>
            <a:fillRect/>
          </a:stretch>
        </p:blipFill>
        <p:spPr>
          <a:xfrm>
            <a:off x="384048" y="609600"/>
            <a:ext cx="8458200" cy="5832888"/>
          </a:xfrm>
          <a:prstGeom prst="rect">
            <a:avLst/>
          </a:prstGeom>
        </p:spPr>
      </p:pic>
    </p:spTree>
    <p:extLst>
      <p:ext uri="{BB962C8B-B14F-4D97-AF65-F5344CB8AC3E}">
        <p14:creationId xmlns:p14="http://schemas.microsoft.com/office/powerpoint/2010/main" val="889229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130768E-2B64-8FBA-1DFD-3FC23B05B035}"/>
              </a:ext>
            </a:extLst>
          </p:cNvPr>
          <p:cNvPicPr>
            <a:picLocks noGrp="1" noChangeAspect="1"/>
          </p:cNvPicPr>
          <p:nvPr>
            <p:ph idx="1"/>
          </p:nvPr>
        </p:nvPicPr>
        <p:blipFill>
          <a:blip r:embed="rId2"/>
          <a:stretch>
            <a:fillRect/>
          </a:stretch>
        </p:blipFill>
        <p:spPr>
          <a:xfrm>
            <a:off x="422275" y="609600"/>
            <a:ext cx="8382000" cy="5486400"/>
          </a:xfrm>
          <a:prstGeom prst="rect">
            <a:avLst/>
          </a:prstGeom>
        </p:spPr>
      </p:pic>
      <p:sp>
        <p:nvSpPr>
          <p:cNvPr id="3" name="Title 2">
            <a:extLst>
              <a:ext uri="{FF2B5EF4-FFF2-40B4-BE49-F238E27FC236}">
                <a16:creationId xmlns:a16="http://schemas.microsoft.com/office/drawing/2014/main" id="{74D6525A-3F2A-4853-F42F-310B09144036}"/>
              </a:ext>
            </a:extLst>
          </p:cNvPr>
          <p:cNvSpPr>
            <a:spLocks noGrp="1"/>
          </p:cNvSpPr>
          <p:nvPr>
            <p:ph type="title"/>
          </p:nvPr>
        </p:nvSpPr>
        <p:spPr/>
        <p:txBody>
          <a:bodyPr/>
          <a:lstStyle/>
          <a:p>
            <a:r>
              <a:rPr lang="en-US" dirty="0"/>
              <a:t>Corporate Spreads: 2023-2026</a:t>
            </a:r>
          </a:p>
        </p:txBody>
      </p:sp>
      <p:sp>
        <p:nvSpPr>
          <p:cNvPr id="4" name="Slide Number Placeholder 3">
            <a:extLst>
              <a:ext uri="{FF2B5EF4-FFF2-40B4-BE49-F238E27FC236}">
                <a16:creationId xmlns:a16="http://schemas.microsoft.com/office/drawing/2014/main" id="{140A9449-5506-ADF3-1CA7-0C2811A9FB70}"/>
              </a:ext>
            </a:extLst>
          </p:cNvPr>
          <p:cNvSpPr>
            <a:spLocks noGrp="1"/>
          </p:cNvSpPr>
          <p:nvPr>
            <p:ph type="sldNum" sz="quarter" idx="10"/>
          </p:nvPr>
        </p:nvSpPr>
        <p:spPr/>
        <p:txBody>
          <a:bodyPr/>
          <a:lstStyle/>
          <a:p>
            <a:fld id="{7B3E355C-57B9-BC4B-95D8-406A1F834537}" type="slidenum">
              <a:rPr lang="en-US" altLang="en-US" smtClean="0"/>
              <a:pPr/>
              <a:t>32</a:t>
            </a:fld>
            <a:endParaRPr lang="en-US" altLang="en-US" dirty="0"/>
          </a:p>
        </p:txBody>
      </p:sp>
      <p:sp>
        <p:nvSpPr>
          <p:cNvPr id="5" name="Footer Placeholder 4">
            <a:extLst>
              <a:ext uri="{FF2B5EF4-FFF2-40B4-BE49-F238E27FC236}">
                <a16:creationId xmlns:a16="http://schemas.microsoft.com/office/drawing/2014/main" id="{9E3BF94F-EAFC-0E20-01AF-9F989BD41135}"/>
              </a:ext>
            </a:extLst>
          </p:cNvPr>
          <p:cNvSpPr>
            <a:spLocks noGrp="1"/>
          </p:cNvSpPr>
          <p:nvPr>
            <p:ph type="ftr" sz="quarter" idx="11"/>
          </p:nvPr>
        </p:nvSpPr>
        <p:spPr/>
        <p:txBody>
          <a:bodyPr/>
          <a:lstStyle/>
          <a:p>
            <a:pPr>
              <a:defRPr/>
            </a:pPr>
            <a:r>
              <a:rPr lang="en-US"/>
              <a:t>Interest Rate and Credit Risks</a:t>
            </a:r>
            <a:endParaRPr lang="en-US" dirty="0"/>
          </a:p>
        </p:txBody>
      </p:sp>
    </p:spTree>
    <p:extLst>
      <p:ext uri="{BB962C8B-B14F-4D97-AF65-F5344CB8AC3E}">
        <p14:creationId xmlns:p14="http://schemas.microsoft.com/office/powerpoint/2010/main" val="320401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Calibri" charset="0"/>
                <a:ea typeface="ＭＳ Ｐゴシック" charset="0"/>
                <a:cs typeface="ＭＳ Ｐゴシック" charset="0"/>
              </a:rPr>
              <a:t> Corporate Spreads (9/22/20): Brink’s 5 ½  maturing on 7/15/25</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33</a:t>
            </a:fld>
            <a:endParaRPr lang="en-US" altLang="en-US" dirty="0"/>
          </a:p>
        </p:txBody>
      </p:sp>
      <p:sp>
        <p:nvSpPr>
          <p:cNvPr id="5" name="Footer Placeholder 4"/>
          <p:cNvSpPr>
            <a:spLocks noGrp="1"/>
          </p:cNvSpPr>
          <p:nvPr>
            <p:ph type="ftr" sz="quarter" idx="11"/>
          </p:nvPr>
        </p:nvSpPr>
        <p:spPr/>
        <p:txBody>
          <a:bodyPr/>
          <a:lstStyle/>
          <a:p>
            <a:pPr>
              <a:defRPr/>
            </a:pPr>
            <a:r>
              <a:rPr lang="en-US"/>
              <a:t>Interest Rate and Credit Risks</a:t>
            </a:r>
            <a:endParaRPr lang="en-US" dirty="0"/>
          </a:p>
        </p:txBody>
      </p:sp>
      <p:pic>
        <p:nvPicPr>
          <p:cNvPr id="8" name="Content Placeholder 7">
            <a:extLst>
              <a:ext uri="{FF2B5EF4-FFF2-40B4-BE49-F238E27FC236}">
                <a16:creationId xmlns:a16="http://schemas.microsoft.com/office/drawing/2014/main" id="{267C3798-DC48-BB43-8582-634EE9146856}"/>
              </a:ext>
            </a:extLst>
          </p:cNvPr>
          <p:cNvPicPr>
            <a:picLocks noGrp="1" noChangeAspect="1"/>
          </p:cNvPicPr>
          <p:nvPr>
            <p:ph idx="1"/>
          </p:nvPr>
        </p:nvPicPr>
        <p:blipFill>
          <a:blip r:embed="rId2"/>
          <a:stretch>
            <a:fillRect/>
          </a:stretch>
        </p:blipFill>
        <p:spPr>
          <a:xfrm>
            <a:off x="384048" y="609600"/>
            <a:ext cx="8458200" cy="5715000"/>
          </a:xfrm>
        </p:spPr>
      </p:pic>
    </p:spTree>
    <p:extLst>
      <p:ext uri="{BB962C8B-B14F-4D97-AF65-F5344CB8AC3E}">
        <p14:creationId xmlns:p14="http://schemas.microsoft.com/office/powerpoint/2010/main" val="2486423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Calibri" charset="0"/>
                <a:ea typeface="ＭＳ Ｐゴシック" charset="0"/>
                <a:cs typeface="ＭＳ Ｐゴシック" charset="0"/>
              </a:rPr>
              <a:t> Corporate Spreads (9/22/20): Brink’s 5 ½  maturing on 7/15/25</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34</a:t>
            </a:fld>
            <a:endParaRPr lang="en-US" altLang="en-US" dirty="0"/>
          </a:p>
        </p:txBody>
      </p:sp>
      <p:sp>
        <p:nvSpPr>
          <p:cNvPr id="5" name="Footer Placeholder 4"/>
          <p:cNvSpPr>
            <a:spLocks noGrp="1"/>
          </p:cNvSpPr>
          <p:nvPr>
            <p:ph type="ftr" sz="quarter" idx="11"/>
          </p:nvPr>
        </p:nvSpPr>
        <p:spPr/>
        <p:txBody>
          <a:bodyPr/>
          <a:lstStyle/>
          <a:p>
            <a:pPr>
              <a:defRPr/>
            </a:pPr>
            <a:r>
              <a:rPr lang="en-US"/>
              <a:t>Interest Rate and Credit Risks</a:t>
            </a:r>
            <a:endParaRPr lang="en-US" dirty="0"/>
          </a:p>
        </p:txBody>
      </p:sp>
      <p:pic>
        <p:nvPicPr>
          <p:cNvPr id="6" name="Picture 5">
            <a:extLst>
              <a:ext uri="{FF2B5EF4-FFF2-40B4-BE49-F238E27FC236}">
                <a16:creationId xmlns:a16="http://schemas.microsoft.com/office/drawing/2014/main" id="{D4979465-952F-6040-B6B5-115453A0B67C}"/>
              </a:ext>
            </a:extLst>
          </p:cNvPr>
          <p:cNvPicPr>
            <a:picLocks noChangeAspect="1"/>
          </p:cNvPicPr>
          <p:nvPr/>
        </p:nvPicPr>
        <p:blipFill>
          <a:blip r:embed="rId3"/>
          <a:stretch>
            <a:fillRect/>
          </a:stretch>
        </p:blipFill>
        <p:spPr>
          <a:xfrm>
            <a:off x="384048" y="533400"/>
            <a:ext cx="8458200" cy="5791199"/>
          </a:xfrm>
          <a:prstGeom prst="rect">
            <a:avLst/>
          </a:prstGeom>
        </p:spPr>
      </p:pic>
    </p:spTree>
    <p:extLst>
      <p:ext uri="{BB962C8B-B14F-4D97-AF65-F5344CB8AC3E}">
        <p14:creationId xmlns:p14="http://schemas.microsoft.com/office/powerpoint/2010/main" val="25212384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noGrp="1" noChangeArrowheads="1"/>
          </p:cNvSpPr>
          <p:nvPr>
            <p:ph idx="1"/>
          </p:nvPr>
        </p:nvSpPr>
        <p:spPr/>
        <p:txBody>
          <a:bodyPr/>
          <a:lstStyle/>
          <a:p>
            <a:pPr eaLnBrk="1" hangingPunct="1">
              <a:lnSpc>
                <a:spcPct val="80000"/>
              </a:lnSpc>
              <a:buFontTx/>
              <a:buNone/>
            </a:pPr>
            <a:r>
              <a:rPr lang="en-US" sz="3600" dirty="0">
                <a:latin typeface="Calibri" charset="0"/>
                <a:ea typeface="ＭＳ Ｐゴシック" charset="0"/>
                <a:cs typeface="ＭＳ Ｐゴシック" charset="0"/>
              </a:rPr>
              <a:t> </a:t>
            </a:r>
          </a:p>
        </p:txBody>
      </p:sp>
      <p:sp>
        <p:nvSpPr>
          <p:cNvPr id="66563"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Debt Risk Premiums</a:t>
            </a:r>
            <a:endParaRPr lang="en-US" dirty="0">
              <a:latin typeface="Calibri" charset="0"/>
              <a:ea typeface="ＭＳ Ｐゴシック" charset="0"/>
              <a:cs typeface="ＭＳ Ｐゴシック" charset="0"/>
            </a:endParaRPr>
          </a:p>
        </p:txBody>
      </p:sp>
      <p:sp>
        <p:nvSpPr>
          <p:cNvPr id="66562"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9B95EAB-3568-A74E-98E4-8E6A0C3FEC5F}" type="slidenum">
              <a:rPr lang="en-US" sz="800">
                <a:latin typeface="Calibri" charset="0"/>
              </a:rPr>
              <a:pPr eaLnBrk="1" hangingPunct="1"/>
              <a:t>35</a:t>
            </a:fld>
            <a:endParaRPr lang="en-US" sz="800">
              <a:latin typeface="Calibri" charset="0"/>
            </a:endParaRPr>
          </a:p>
        </p:txBody>
      </p:sp>
      <p:sp>
        <p:nvSpPr>
          <p:cNvPr id="66565" name="Rectangle 7"/>
          <p:cNvSpPr>
            <a:spLocks noChangeArrowheads="1"/>
          </p:cNvSpPr>
          <p:nvPr/>
        </p:nvSpPr>
        <p:spPr bwMode="auto">
          <a:xfrm>
            <a:off x="3429000" y="1447800"/>
            <a:ext cx="1066800" cy="3962400"/>
          </a:xfrm>
          <a:prstGeom prst="rect">
            <a:avLst/>
          </a:prstGeom>
          <a:solidFill>
            <a:srgbClr val="FF0502"/>
          </a:solidFill>
          <a:ln w="28575">
            <a:solidFill>
              <a:schemeClr val="tx1"/>
            </a:solidFill>
            <a:miter lim="800000"/>
            <a:headEnd/>
            <a:tailEnd/>
          </a:ln>
        </p:spPr>
        <p:txBody>
          <a:bodyPr wrap="none" anchor="ctr"/>
          <a:lstStyle/>
          <a:p>
            <a:endParaRPr lang="en-US">
              <a:latin typeface="Calibri" charset="0"/>
            </a:endParaRPr>
          </a:p>
        </p:txBody>
      </p:sp>
      <p:sp>
        <p:nvSpPr>
          <p:cNvPr id="66566" name="AutoShape 8"/>
          <p:cNvSpPr>
            <a:spLocks/>
          </p:cNvSpPr>
          <p:nvPr/>
        </p:nvSpPr>
        <p:spPr bwMode="auto">
          <a:xfrm>
            <a:off x="4572000" y="3352800"/>
            <a:ext cx="838200" cy="1981200"/>
          </a:xfrm>
          <a:prstGeom prst="rightBrace">
            <a:avLst>
              <a:gd name="adj1" fmla="val 19697"/>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6567" name="AutoShape 9"/>
          <p:cNvSpPr>
            <a:spLocks/>
          </p:cNvSpPr>
          <p:nvPr/>
        </p:nvSpPr>
        <p:spPr bwMode="auto">
          <a:xfrm>
            <a:off x="4572000" y="1447800"/>
            <a:ext cx="457200" cy="609600"/>
          </a:xfrm>
          <a:prstGeom prst="rightBrace">
            <a:avLst>
              <a:gd name="adj1" fmla="val 11111"/>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6568" name="AutoShape 10"/>
          <p:cNvSpPr>
            <a:spLocks/>
          </p:cNvSpPr>
          <p:nvPr/>
        </p:nvSpPr>
        <p:spPr bwMode="auto">
          <a:xfrm>
            <a:off x="2286000" y="1524000"/>
            <a:ext cx="1066800" cy="3886200"/>
          </a:xfrm>
          <a:prstGeom prst="leftBrace">
            <a:avLst>
              <a:gd name="adj1" fmla="val 30357"/>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6569" name="AutoShape 11"/>
          <p:cNvSpPr>
            <a:spLocks/>
          </p:cNvSpPr>
          <p:nvPr/>
        </p:nvSpPr>
        <p:spPr bwMode="auto">
          <a:xfrm>
            <a:off x="4572000" y="2057400"/>
            <a:ext cx="381000" cy="1295400"/>
          </a:xfrm>
          <a:prstGeom prst="rightBrace">
            <a:avLst>
              <a:gd name="adj1" fmla="val 28333"/>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6570" name="Text Box 13"/>
          <p:cNvSpPr txBox="1">
            <a:spLocks noChangeArrowheads="1"/>
          </p:cNvSpPr>
          <p:nvPr/>
        </p:nvSpPr>
        <p:spPr bwMode="auto">
          <a:xfrm>
            <a:off x="228600" y="2895600"/>
            <a:ext cx="2260600"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dirty="0">
                <a:latin typeface="Calibri" charset="0"/>
              </a:rPr>
              <a:t>Promised/Quoted/</a:t>
            </a:r>
          </a:p>
          <a:p>
            <a:pPr eaLnBrk="1" hangingPunct="1"/>
            <a:r>
              <a:rPr lang="en-US" sz="1800" b="1" dirty="0">
                <a:latin typeface="Calibri" charset="0"/>
              </a:rPr>
              <a:t>Stated Interest</a:t>
            </a:r>
          </a:p>
        </p:txBody>
      </p:sp>
      <p:sp>
        <p:nvSpPr>
          <p:cNvPr id="66571" name="Text Box 14"/>
          <p:cNvSpPr txBox="1">
            <a:spLocks noChangeArrowheads="1"/>
          </p:cNvSpPr>
          <p:nvPr/>
        </p:nvSpPr>
        <p:spPr bwMode="auto">
          <a:xfrm>
            <a:off x="5410200" y="4205288"/>
            <a:ext cx="226060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Time Premium</a:t>
            </a:r>
          </a:p>
        </p:txBody>
      </p:sp>
      <p:sp>
        <p:nvSpPr>
          <p:cNvPr id="66572" name="Text Box 15"/>
          <p:cNvSpPr txBox="1">
            <a:spLocks noChangeArrowheads="1"/>
          </p:cNvSpPr>
          <p:nvPr/>
        </p:nvSpPr>
        <p:spPr bwMode="auto">
          <a:xfrm>
            <a:off x="5035296" y="1519104"/>
            <a:ext cx="39624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Contract/Risk/Liquidity Premiums</a:t>
            </a:r>
          </a:p>
        </p:txBody>
      </p:sp>
      <p:sp>
        <p:nvSpPr>
          <p:cNvPr id="66573" name="Text Box 16"/>
          <p:cNvSpPr txBox="1">
            <a:spLocks noChangeArrowheads="1"/>
          </p:cNvSpPr>
          <p:nvPr/>
        </p:nvSpPr>
        <p:spPr bwMode="auto">
          <a:xfrm>
            <a:off x="5105400" y="2514600"/>
            <a:ext cx="31242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Credit/Default Premium</a:t>
            </a:r>
          </a:p>
        </p:txBody>
      </p:sp>
      <p:sp>
        <p:nvSpPr>
          <p:cNvPr id="66574" name="Line 17"/>
          <p:cNvSpPr>
            <a:spLocks noChangeShapeType="1"/>
          </p:cNvSpPr>
          <p:nvPr/>
        </p:nvSpPr>
        <p:spPr bwMode="auto">
          <a:xfrm>
            <a:off x="3429000" y="3429000"/>
            <a:ext cx="1066800"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6575" name="Line 18"/>
          <p:cNvSpPr>
            <a:spLocks noChangeShapeType="1"/>
          </p:cNvSpPr>
          <p:nvPr/>
        </p:nvSpPr>
        <p:spPr bwMode="auto">
          <a:xfrm flipH="1">
            <a:off x="3429000" y="2057400"/>
            <a:ext cx="1066800" cy="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6576" name="Rectangle 20"/>
          <p:cNvSpPr>
            <a:spLocks noChangeArrowheads="1"/>
          </p:cNvSpPr>
          <p:nvPr/>
        </p:nvSpPr>
        <p:spPr bwMode="auto">
          <a:xfrm>
            <a:off x="3429000" y="2057400"/>
            <a:ext cx="1066800" cy="1371600"/>
          </a:xfrm>
          <a:prstGeom prst="rect">
            <a:avLst/>
          </a:prstGeom>
          <a:solidFill>
            <a:srgbClr val="FFEF06"/>
          </a:solidFill>
          <a:ln w="9525">
            <a:solidFill>
              <a:schemeClr val="tx1"/>
            </a:solidFill>
            <a:miter lim="800000"/>
            <a:headEnd/>
            <a:tailEnd/>
          </a:ln>
        </p:spPr>
        <p:txBody>
          <a:bodyPr wrap="none" anchor="ctr"/>
          <a:lstStyle/>
          <a:p>
            <a:endParaRPr lang="en-US">
              <a:latin typeface="Calibri" charset="0"/>
            </a:endParaRPr>
          </a:p>
        </p:txBody>
      </p:sp>
      <p:sp>
        <p:nvSpPr>
          <p:cNvPr id="66577" name="Rectangle 21"/>
          <p:cNvSpPr>
            <a:spLocks noChangeArrowheads="1"/>
          </p:cNvSpPr>
          <p:nvPr/>
        </p:nvSpPr>
        <p:spPr bwMode="auto">
          <a:xfrm>
            <a:off x="3429000" y="1447800"/>
            <a:ext cx="1066800" cy="609600"/>
          </a:xfrm>
          <a:prstGeom prst="rect">
            <a:avLst/>
          </a:prstGeom>
          <a:solidFill>
            <a:srgbClr val="A3FBF9"/>
          </a:solidFill>
          <a:ln w="9525">
            <a:solidFill>
              <a:schemeClr val="tx1"/>
            </a:solidFill>
            <a:miter lim="800000"/>
            <a:headEnd/>
            <a:tailEnd/>
          </a:ln>
        </p:spPr>
        <p:txBody>
          <a:bodyPr wrap="none" anchor="ctr"/>
          <a:lstStyle/>
          <a:p>
            <a:endParaRPr lang="en-US">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3"/>
          <p:cNvSpPr>
            <a:spLocks noGrp="1" noChangeArrowheads="1"/>
          </p:cNvSpPr>
          <p:nvPr>
            <p:ph idx="1"/>
          </p:nvPr>
        </p:nvSpPr>
        <p:spPr/>
        <p:txBody>
          <a:bodyPr/>
          <a:lstStyle/>
          <a:p>
            <a:pPr eaLnBrk="1" hangingPunct="1"/>
            <a:r>
              <a:rPr lang="en-US" sz="2400" dirty="0">
                <a:latin typeface="Calibri" charset="0"/>
                <a:ea typeface="ＭＳ Ｐゴシック" charset="0"/>
                <a:cs typeface="ＭＳ Ｐゴシック" charset="0"/>
              </a:rPr>
              <a:t>When future CFs are uncertain, the CFs in the NPV formula are the </a:t>
            </a:r>
            <a:r>
              <a:rPr lang="en-US" sz="2400" i="1" dirty="0">
                <a:latin typeface="Calibri" charset="0"/>
                <a:ea typeface="ＭＳ Ｐゴシック" charset="0"/>
                <a:cs typeface="ＭＳ Ｐゴシック" charset="0"/>
              </a:rPr>
              <a:t>expected values </a:t>
            </a:r>
            <a:r>
              <a:rPr lang="en-US" sz="2400" dirty="0">
                <a:latin typeface="Calibri" charset="0"/>
                <a:ea typeface="ＭＳ Ｐゴシック" charset="0"/>
                <a:cs typeface="ＭＳ Ｐゴシック" charset="0"/>
              </a:rPr>
              <a:t>of the future CFs, </a:t>
            </a:r>
            <a:r>
              <a:rPr lang="en-US" sz="2400" i="1" dirty="0">
                <a:latin typeface="Calibri" charset="0"/>
                <a:ea typeface="ＭＳ Ｐゴシック" charset="0"/>
                <a:cs typeface="ＭＳ Ｐゴシック" charset="0"/>
              </a:rPr>
              <a:t>E(CFs).</a:t>
            </a:r>
            <a:endParaRPr lang="en-US" sz="2400" dirty="0">
              <a:latin typeface="Calibri" charset="0"/>
              <a:ea typeface="ＭＳ Ｐゴシック" charset="0"/>
              <a:cs typeface="ＭＳ Ｐゴシック" charset="0"/>
            </a:endParaRPr>
          </a:p>
          <a:p>
            <a:pPr eaLnBrk="1" hangingPunct="1"/>
            <a:r>
              <a:rPr lang="en-US" sz="2400" dirty="0">
                <a:latin typeface="Calibri" charset="0"/>
                <a:ea typeface="ＭＳ Ｐゴシック" charset="0"/>
                <a:cs typeface="ＭＳ Ｐゴシック" charset="0"/>
              </a:rPr>
              <a:t>Once the </a:t>
            </a:r>
            <a:r>
              <a:rPr lang="en-US" sz="2400" i="1" dirty="0">
                <a:latin typeface="Calibri" charset="0"/>
                <a:ea typeface="ＭＳ Ｐゴシック" charset="0"/>
                <a:cs typeface="ＭＳ Ｐゴシック" charset="0"/>
              </a:rPr>
              <a:t>E(CFs) </a:t>
            </a:r>
            <a:r>
              <a:rPr lang="en-US" sz="2400" dirty="0">
                <a:latin typeface="Calibri" charset="0"/>
                <a:ea typeface="ＭＳ Ｐゴシック" charset="0"/>
                <a:cs typeface="ＭＳ Ｐゴシック" charset="0"/>
              </a:rPr>
              <a:t>are calculated, discount them at the appropriate, expected risk-adjusted rate of return, </a:t>
            </a:r>
            <a:r>
              <a:rPr lang="en-US" sz="2400" i="1" dirty="0">
                <a:latin typeface="Calibri" charset="0"/>
                <a:ea typeface="ＭＳ Ｐゴシック" charset="0"/>
                <a:cs typeface="ＭＳ Ｐゴシック" charset="0"/>
              </a:rPr>
              <a:t>E(r)</a:t>
            </a:r>
            <a:r>
              <a:rPr lang="en-US" sz="2400" dirty="0">
                <a:latin typeface="Calibri" charset="0"/>
                <a:ea typeface="ＭＳ Ｐゴシック" charset="0"/>
                <a:cs typeface="ＭＳ Ｐゴシック" charset="0"/>
              </a:rPr>
              <a:t> to get the NPV of the investment.</a:t>
            </a:r>
          </a:p>
          <a:p>
            <a:pPr algn="ctr" eaLnBrk="1" hangingPunct="1">
              <a:buFontTx/>
              <a:buNone/>
            </a:pPr>
            <a:r>
              <a:rPr lang="en-US" sz="2400" b="1" u="sng" dirty="0">
                <a:latin typeface="Calibri" charset="0"/>
                <a:ea typeface="ＭＳ Ｐゴシック" charset="0"/>
                <a:cs typeface="ＭＳ Ｐゴシック" charset="0"/>
              </a:rPr>
              <a:t>Example</a:t>
            </a:r>
            <a:r>
              <a:rPr lang="en-US" sz="2400" dirty="0">
                <a:latin typeface="Calibri" charset="0"/>
                <a:ea typeface="ＭＳ Ｐゴシック" charset="0"/>
                <a:cs typeface="ＭＳ Ｐゴシック" charset="0"/>
              </a:rPr>
              <a:t>  </a:t>
            </a:r>
          </a:p>
          <a:p>
            <a:pPr eaLnBrk="1" hangingPunct="1"/>
            <a:r>
              <a:rPr lang="en-US" sz="2400" dirty="0">
                <a:latin typeface="Calibri" charset="0"/>
                <a:ea typeface="ＭＳ Ｐゴシック" charset="0"/>
                <a:cs typeface="ＭＳ Ｐゴシック" charset="0"/>
              </a:rPr>
              <a:t>You are offered a 1-yr project that will pay off 100,000 (30% probability), 300,000 (60% probability), or 800,000 (10% probability).  </a:t>
            </a:r>
          </a:p>
          <a:p>
            <a:pPr eaLnBrk="1" hangingPunct="1"/>
            <a:r>
              <a:rPr lang="en-US" sz="2400" dirty="0">
                <a:latin typeface="Calibri" charset="0"/>
                <a:ea typeface="ＭＳ Ｐゴシック" charset="0"/>
                <a:cs typeface="ＭＳ Ｐゴシック" charset="0"/>
              </a:rPr>
              <a:t>If the appropriate </a:t>
            </a:r>
            <a:r>
              <a:rPr lang="en-US" sz="2400" i="1" dirty="0">
                <a:latin typeface="Calibri" charset="0"/>
                <a:ea typeface="ＭＳ Ｐゴシック" charset="0"/>
                <a:cs typeface="ＭＳ Ｐゴシック" charset="0"/>
              </a:rPr>
              <a:t>E</a:t>
            </a:r>
            <a:r>
              <a:rPr lang="en-US" sz="2400" dirty="0">
                <a:latin typeface="Calibri" charset="0"/>
                <a:ea typeface="ＭＳ Ｐゴシック" charset="0"/>
                <a:cs typeface="ＭＳ Ｐゴシック" charset="0"/>
              </a:rPr>
              <a:t>(r) is 5%, what’s a fair price for the project?  </a:t>
            </a:r>
          </a:p>
          <a:p>
            <a:pPr eaLnBrk="1" hangingPunct="1"/>
            <a:r>
              <a:rPr lang="en-US" sz="2400" dirty="0">
                <a:latin typeface="Calibri" charset="0"/>
                <a:ea typeface="ＭＳ Ｐゴシック" charset="0"/>
                <a:cs typeface="ＭＳ Ｐゴシック" charset="0"/>
              </a:rPr>
              <a:t>What’</a:t>
            </a:r>
            <a:r>
              <a:rPr lang="en-US" altLang="ja-JP" sz="2400" dirty="0">
                <a:latin typeface="Calibri" charset="0"/>
                <a:ea typeface="ＭＳ Ｐゴシック" charset="0"/>
                <a:cs typeface="ＭＳ Ｐゴシック" charset="0"/>
              </a:rPr>
              <a:t>s your ROR under each scenario if you pay a fair price?</a:t>
            </a:r>
            <a:endParaRPr lang="en-US" sz="2400" dirty="0">
              <a:latin typeface="Calibri" charset="0"/>
              <a:ea typeface="ＭＳ Ｐゴシック" charset="0"/>
              <a:cs typeface="ＭＳ Ｐゴシック" charset="0"/>
            </a:endParaRPr>
          </a:p>
        </p:txBody>
      </p:sp>
      <p:sp>
        <p:nvSpPr>
          <p:cNvPr id="6861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Risk and NPV Formula</a:t>
            </a:r>
          </a:p>
        </p:txBody>
      </p:sp>
      <p:sp>
        <p:nvSpPr>
          <p:cNvPr id="68610"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94D6755-3396-A649-923F-E336DCAB7546}" type="slidenum">
              <a:rPr lang="en-US" sz="800">
                <a:latin typeface="Calibri" charset="0"/>
              </a:rPr>
              <a:pPr eaLnBrk="1" hangingPunct="1"/>
              <a:t>36</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6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6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6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60" name="Object 2"/>
          <p:cNvGraphicFramePr>
            <a:graphicFrameLocks noGrp="1" noChangeAspect="1"/>
          </p:cNvGraphicFramePr>
          <p:nvPr>
            <p:ph idx="1"/>
            <p:extLst>
              <p:ext uri="{D42A27DB-BD31-4B8C-83A1-F6EECF244321}">
                <p14:modId xmlns:p14="http://schemas.microsoft.com/office/powerpoint/2010/main" val="375057605"/>
              </p:ext>
            </p:extLst>
          </p:nvPr>
        </p:nvGraphicFramePr>
        <p:xfrm>
          <a:off x="762000" y="1592262"/>
          <a:ext cx="7467600" cy="4503737"/>
        </p:xfrm>
        <a:graphic>
          <a:graphicData uri="http://schemas.openxmlformats.org/presentationml/2006/ole">
            <mc:AlternateContent xmlns:mc="http://schemas.openxmlformats.org/markup-compatibility/2006">
              <mc:Choice xmlns:v="urn:schemas-microsoft-com:vml" Requires="v">
                <p:oleObj name="Worksheet" r:id="rId2" imgW="4972196" imgH="3695684" progId="Excel.Sheet.8">
                  <p:embed/>
                </p:oleObj>
              </mc:Choice>
              <mc:Fallback>
                <p:oleObj name="Worksheet" r:id="rId2" imgW="4972196" imgH="3695684" progId="Excel.Sheet.8">
                  <p:embed/>
                  <p:pic>
                    <p:nvPicPr>
                      <p:cNvPr id="7066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592262"/>
                        <a:ext cx="7467600" cy="4503737"/>
                      </a:xfrm>
                      <a:prstGeom prst="rect">
                        <a:avLst/>
                      </a:prstGeom>
                      <a:noFill/>
                      <a:effectLst/>
                    </p:spPr>
                  </p:pic>
                </p:oleObj>
              </mc:Fallback>
            </mc:AlternateContent>
          </a:graphicData>
        </a:graphic>
      </p:graphicFrame>
      <p:sp>
        <p:nvSpPr>
          <p:cNvPr id="70659"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Risk and NPV Formula:  Example</a:t>
            </a:r>
          </a:p>
        </p:txBody>
      </p:sp>
      <p:sp>
        <p:nvSpPr>
          <p:cNvPr id="70658"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DC38963-9436-3B43-A04F-DA6C246E82B6}" type="slidenum">
              <a:rPr lang="en-US" sz="800">
                <a:latin typeface="Calibri" charset="0"/>
              </a:rPr>
              <a:pPr eaLnBrk="1" hangingPunct="1"/>
              <a:t>37</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The expected value analysis can be applied to value any portion or combination of the future outcomes [</a:t>
            </a:r>
            <a:r>
              <a:rPr lang="en-US" dirty="0">
                <a:ea typeface="ＭＳ Ｐゴシック" charset="0"/>
                <a:cs typeface="ＭＳ Ｐゴシック" charset="0"/>
              </a:rPr>
              <a:t>“</a:t>
            </a:r>
            <a:r>
              <a:rPr lang="en-US" altLang="ja-JP" dirty="0">
                <a:latin typeface="Calibri" charset="0"/>
                <a:ea typeface="ＭＳ Ｐゴシック" charset="0"/>
                <a:cs typeface="ＭＳ Ｐゴシック" charset="0"/>
              </a:rPr>
              <a:t>state-contingent claims</a:t>
            </a:r>
            <a:r>
              <a:rPr lang="en-US" altLang="ja-JP" dirty="0">
                <a:ea typeface="ＭＳ Ｐゴシック" charset="0"/>
                <a:cs typeface="ＭＳ Ｐゴシック" charset="0"/>
              </a:rPr>
              <a:t>”</a:t>
            </a:r>
            <a:r>
              <a:rPr lang="en-US" altLang="ja-JP" dirty="0">
                <a:latin typeface="Calibri" charset="0"/>
                <a:ea typeface="ＭＳ Ｐゴシック" charset="0"/>
                <a:cs typeface="ＭＳ Ｐゴシック" charset="0"/>
              </a:rPr>
              <a:t>] of an investment</a:t>
            </a:r>
          </a:p>
          <a:p>
            <a:pPr eaLnBrk="1" hangingPunct="1"/>
            <a:r>
              <a:rPr lang="en-US" dirty="0">
                <a:latin typeface="Calibri" charset="0"/>
                <a:ea typeface="ＭＳ Ｐゴシック" charset="0"/>
                <a:cs typeface="ＭＳ Ｐゴシック" charset="0"/>
              </a:rPr>
              <a:t> General description of Debt and Equity</a:t>
            </a:r>
          </a:p>
          <a:p>
            <a:pPr lvl="1" eaLnBrk="1" hangingPunct="1"/>
            <a:r>
              <a:rPr lang="en-US" dirty="0">
                <a:latin typeface="Calibri" charset="0"/>
                <a:ea typeface="ＭＳ Ｐゴシック" charset="0"/>
              </a:rPr>
              <a:t>DHs: paid off first</a:t>
            </a:r>
          </a:p>
          <a:p>
            <a:pPr lvl="1" eaLnBrk="1" hangingPunct="1"/>
            <a:r>
              <a:rPr lang="en-US" dirty="0" err="1">
                <a:latin typeface="Calibri" charset="0"/>
                <a:ea typeface="ＭＳ Ｐゴシック" charset="0"/>
              </a:rPr>
              <a:t>EHs</a:t>
            </a:r>
            <a:r>
              <a:rPr lang="en-US" dirty="0">
                <a:latin typeface="Calibri" charset="0"/>
                <a:ea typeface="ＭＳ Ｐゴシック" charset="0"/>
              </a:rPr>
              <a:t> (</a:t>
            </a:r>
            <a:r>
              <a:rPr lang="en-US" dirty="0" err="1">
                <a:latin typeface="Calibri" charset="0"/>
                <a:ea typeface="ＭＳ Ｐゴシック" charset="0"/>
              </a:rPr>
              <a:t>SHs</a:t>
            </a:r>
            <a:r>
              <a:rPr lang="en-US" dirty="0">
                <a:latin typeface="Calibri" charset="0"/>
                <a:ea typeface="ＭＳ Ｐゴシック" charset="0"/>
              </a:rPr>
              <a:t>):  residual claimants after debt paid off.  </a:t>
            </a:r>
          </a:p>
          <a:p>
            <a:pPr lvl="2" eaLnBrk="1" hangingPunct="1"/>
            <a:r>
              <a:rPr lang="en-US" dirty="0">
                <a:latin typeface="Calibri" charset="0"/>
                <a:ea typeface="ＭＳ Ｐゴシック" charset="0"/>
              </a:rPr>
              <a:t>If project payoffs are insufficient to pay off DHs, </a:t>
            </a:r>
            <a:r>
              <a:rPr lang="en-US" dirty="0" err="1">
                <a:latin typeface="Calibri" charset="0"/>
                <a:ea typeface="ＭＳ Ｐゴシック" charset="0"/>
              </a:rPr>
              <a:t>SHs</a:t>
            </a:r>
            <a:r>
              <a:rPr lang="en-US" dirty="0">
                <a:latin typeface="Calibri" charset="0"/>
                <a:ea typeface="ＭＳ Ｐゴシック" charset="0"/>
              </a:rPr>
              <a:t> generally don’t have to make up the difference (non-recourse). </a:t>
            </a:r>
          </a:p>
        </p:txBody>
      </p:sp>
      <p:sp>
        <p:nvSpPr>
          <p:cNvPr id="71683"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Debt and Equity</a:t>
            </a:r>
          </a:p>
        </p:txBody>
      </p:sp>
      <p:sp>
        <p:nvSpPr>
          <p:cNvPr id="71682"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A6C46E4-5675-AF42-8091-BD6A43CF0902}" type="slidenum">
              <a:rPr lang="en-US" sz="800">
                <a:latin typeface="Calibri" charset="0"/>
              </a:rPr>
              <a:pPr eaLnBrk="1" hangingPunct="1"/>
              <a:t>38</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You want to buy a building today that you believe will be worth $501,429 (70%) or $300,000 (30%) in one year.  The </a:t>
            </a:r>
            <a:r>
              <a:rPr lang="en-US" i="1" dirty="0">
                <a:latin typeface="Calibri" charset="0"/>
                <a:ea typeface="ＭＳ Ｐゴシック" charset="0"/>
                <a:cs typeface="ＭＳ Ｐゴシック" charset="0"/>
              </a:rPr>
              <a:t>E</a:t>
            </a:r>
            <a:r>
              <a:rPr lang="en-US" dirty="0">
                <a:latin typeface="Calibri" charset="0"/>
                <a:ea typeface="ＭＳ Ｐゴシック" charset="0"/>
                <a:cs typeface="ＭＳ Ｐゴシック" charset="0"/>
              </a:rPr>
              <a:t>(r) is 5%.  Unfortunately, you only have $100,000 and will have to borrow the difference from a bank.  Assume that any </a:t>
            </a:r>
            <a:r>
              <a:rPr lang="en-US">
                <a:latin typeface="Calibri" charset="0"/>
                <a:ea typeface="ＭＳ Ｐゴシック" charset="0"/>
                <a:cs typeface="ＭＳ Ｐゴシック" charset="0"/>
              </a:rPr>
              <a:t>borrowing is </a:t>
            </a:r>
            <a:r>
              <a:rPr lang="en-US" dirty="0">
                <a:latin typeface="Calibri" charset="0"/>
                <a:ea typeface="ＭＳ Ｐゴシック" charset="0"/>
                <a:cs typeface="ＭＳ Ｐゴシック" charset="0"/>
              </a:rPr>
              <a:t>non-recourse to the borrower.</a:t>
            </a:r>
          </a:p>
          <a:p>
            <a:pPr lvl="1" eaLnBrk="1" hangingPunct="1"/>
            <a:r>
              <a:rPr lang="en-US" dirty="0">
                <a:latin typeface="Calibri" charset="0"/>
                <a:ea typeface="ＭＳ Ｐゴシック" charset="0"/>
              </a:rPr>
              <a:t>What’s the PV of the building?</a:t>
            </a:r>
          </a:p>
          <a:p>
            <a:pPr lvl="1" eaLnBrk="1" hangingPunct="1"/>
            <a:r>
              <a:rPr lang="en-US" dirty="0">
                <a:latin typeface="Calibri" charset="0"/>
                <a:ea typeface="ＭＳ Ｐゴシック" charset="0"/>
              </a:rPr>
              <a:t>How much will you have to borrow to acquire it?</a:t>
            </a:r>
          </a:p>
          <a:p>
            <a:pPr lvl="1" eaLnBrk="1" hangingPunct="1"/>
            <a:r>
              <a:rPr lang="en-US" dirty="0">
                <a:latin typeface="Calibri" charset="0"/>
                <a:ea typeface="ＭＳ Ｐゴシック" charset="0"/>
              </a:rPr>
              <a:t>What rate will you have to offer the bank if it’s risk neutral?</a:t>
            </a:r>
          </a:p>
          <a:p>
            <a:pPr lvl="1" eaLnBrk="1" hangingPunct="1"/>
            <a:r>
              <a:rPr lang="en-US" dirty="0">
                <a:latin typeface="Calibri" charset="0"/>
                <a:ea typeface="ＭＳ Ｐゴシック" charset="0"/>
              </a:rPr>
              <a:t>What’</a:t>
            </a:r>
            <a:r>
              <a:rPr lang="en-US" altLang="ja-JP" dirty="0">
                <a:latin typeface="Calibri" charset="0"/>
                <a:ea typeface="ＭＳ Ｐゴシック" charset="0"/>
              </a:rPr>
              <a:t>s the ROR on your equity under each scenario?</a:t>
            </a:r>
          </a:p>
          <a:p>
            <a:pPr lvl="1" eaLnBrk="1" hangingPunct="1"/>
            <a:r>
              <a:rPr lang="en-US" dirty="0">
                <a:ea typeface="ＭＳ Ｐゴシック" charset="0"/>
              </a:rPr>
              <a:t>Create a payoff table like Table 6.7 in Welch.</a:t>
            </a:r>
            <a:endParaRPr lang="en-US" dirty="0">
              <a:latin typeface="Calibri" charset="0"/>
              <a:ea typeface="ＭＳ Ｐゴシック" charset="0"/>
            </a:endParaRPr>
          </a:p>
        </p:txBody>
      </p:sp>
      <p:sp>
        <p:nvSpPr>
          <p:cNvPr id="72707"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Valuing Debt and Equity: Sample Problem</a:t>
            </a:r>
          </a:p>
        </p:txBody>
      </p:sp>
      <p:sp>
        <p:nvSpPr>
          <p:cNvPr id="72706"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FBC63D7-A4F1-0741-8746-649C4A59192E}" type="slidenum">
              <a:rPr lang="en-US" sz="800">
                <a:latin typeface="Calibri" charset="0"/>
              </a:rPr>
              <a:pPr eaLnBrk="1" hangingPunct="1"/>
              <a:t>39</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2895600" y="2174243"/>
            <a:ext cx="3352800" cy="2529681"/>
          </a:xfrm>
          <a:noFill/>
        </p:spPr>
      </p:pic>
      <p:sp>
        <p:nvSpPr>
          <p:cNvPr id="77827"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Leverage</a:t>
            </a:r>
            <a:endParaRPr lang="en-US" dirty="0">
              <a:latin typeface="Calibri" charset="0"/>
              <a:ea typeface="ＭＳ Ｐゴシック" charset="0"/>
              <a:cs typeface="ＭＳ Ｐゴシック" charset="0"/>
            </a:endParaRPr>
          </a:p>
        </p:txBody>
      </p:sp>
      <p:sp>
        <p:nvSpPr>
          <p:cNvPr id="77826"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CBB0E4D-5645-B84C-805F-E3B0F760A193}" type="slidenum">
              <a:rPr lang="en-US" sz="800">
                <a:latin typeface="Calibri" charset="0"/>
              </a:rPr>
              <a:pPr eaLnBrk="1" hangingPunct="1"/>
              <a:t>40</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Leverage</a:t>
            </a:r>
            <a:endParaRPr lang="en-US" dirty="0">
              <a:latin typeface="Calibri" charset="0"/>
              <a:ea typeface="ＭＳ Ｐゴシック" charset="0"/>
              <a:cs typeface="ＭＳ Ｐゴシック" charset="0"/>
            </a:endParaRPr>
          </a:p>
        </p:txBody>
      </p:sp>
      <p:sp>
        <p:nvSpPr>
          <p:cNvPr id="78850"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2D190BE-7BEC-5945-A14D-20E18D4AD09F}" type="slidenum">
              <a:rPr lang="en-US" sz="800">
                <a:latin typeface="Calibri" charset="0"/>
              </a:rPr>
              <a:pPr eaLnBrk="1" hangingPunct="1"/>
              <a:t>41</a:t>
            </a:fld>
            <a:endParaRPr lang="en-US" sz="800">
              <a:latin typeface="Calibri" charset="0"/>
            </a:endParaRPr>
          </a:p>
        </p:txBody>
      </p:sp>
      <p:pic>
        <p:nvPicPr>
          <p:cNvPr id="2" name="Picture 1" descr="LevEquity.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780" y="838200"/>
            <a:ext cx="8305800" cy="5410200"/>
          </a:xfrm>
          <a:prstGeom prst="rect">
            <a:avLst/>
          </a:prstGeom>
        </p:spPr>
      </p:pic>
      <p:sp>
        <p:nvSpPr>
          <p:cNvPr id="4" name="Footer Placeholder 3"/>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debt.pdf"/>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4275" y="1273969"/>
            <a:ext cx="6858000" cy="4330700"/>
          </a:xfrm>
        </p:spPr>
      </p:pic>
      <p:sp>
        <p:nvSpPr>
          <p:cNvPr id="2" name="Title 1"/>
          <p:cNvSpPr>
            <a:spLocks noGrp="1"/>
          </p:cNvSpPr>
          <p:nvPr>
            <p:ph type="title"/>
          </p:nvPr>
        </p:nvSpPr>
        <p:spPr/>
        <p:txBody>
          <a:bodyPr/>
          <a:lstStyle/>
          <a:p>
            <a:r>
              <a:rPr lang="en-US" b="1">
                <a:latin typeface="Calibri" charset="0"/>
                <a:ea typeface="ＭＳ Ｐゴシック" charset="0"/>
                <a:cs typeface="ＭＳ Ｐゴシック" charset="0"/>
              </a:rPr>
              <a:t>Leverage</a:t>
            </a:r>
            <a:endParaRPr lang="en-US"/>
          </a:p>
        </p:txBody>
      </p:sp>
      <p:sp>
        <p:nvSpPr>
          <p:cNvPr id="5" name="Slide Number Placeholder 4"/>
          <p:cNvSpPr>
            <a:spLocks noGrp="1"/>
          </p:cNvSpPr>
          <p:nvPr>
            <p:ph type="sldNum" sz="quarter" idx="10"/>
          </p:nvPr>
        </p:nvSpPr>
        <p:spPr/>
        <p:txBody>
          <a:bodyPr/>
          <a:lstStyle/>
          <a:p>
            <a:pPr>
              <a:defRPr/>
            </a:pPr>
            <a:endParaRPr lang="en-US"/>
          </a:p>
          <a:p>
            <a:pPr>
              <a:defRPr/>
            </a:pPr>
            <a:fld id="{68CFBBF5-6C43-244B-B0D0-D3ED2D8F1B03}" type="slidenum">
              <a:rPr lang="en-US"/>
              <a:pPr>
                <a:defRPr/>
              </a:pPr>
              <a:t>42</a:t>
            </a:fld>
            <a:endParaRPr lang="en-US"/>
          </a:p>
        </p:txBody>
      </p:sp>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spTree>
    <p:extLst>
      <p:ext uri="{BB962C8B-B14F-4D97-AF65-F5344CB8AC3E}">
        <p14:creationId xmlns:p14="http://schemas.microsoft.com/office/powerpoint/2010/main" val="30678614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96" name="Rectangle 29"/>
          <p:cNvSpPr>
            <a:spLocks noGrp="1" noChangeArrowheads="1"/>
          </p:cNvSpPr>
          <p:nvPr>
            <p:ph type="title"/>
          </p:nvPr>
        </p:nvSpPr>
        <p:spPr>
          <a:prstGeom prst="rect">
            <a:avLst/>
          </a:prstGeom>
          <a:noFill/>
        </p:spPr>
        <p:txBody>
          <a:bodyPr lIns="92075" tIns="46038" rIns="92075" bIns="46038"/>
          <a:lstStyle/>
          <a:p>
            <a:pPr eaLnBrk="1" hangingPunct="1"/>
            <a:r>
              <a:rPr lang="en-US" sz="1600" b="1" dirty="0">
                <a:latin typeface="Calibri" charset="0"/>
                <a:ea typeface="ＭＳ Ｐゴシック" charset="0"/>
                <a:cs typeface="ＭＳ Ｐゴシック" charset="0"/>
              </a:rPr>
              <a:t>X% ASSET and </a:t>
            </a:r>
            <a:r>
              <a:rPr lang="en-US" sz="1600" b="1" dirty="0">
                <a:solidFill>
                  <a:srgbClr val="9900CC"/>
                </a:solidFill>
                <a:latin typeface="Calibri" charset="0"/>
                <a:ea typeface="ＭＳ Ｐゴシック" charset="0"/>
                <a:cs typeface="ＭＳ Ｐゴシック" charset="0"/>
              </a:rPr>
              <a:t>(100-X)% CASH</a:t>
            </a:r>
            <a:r>
              <a:rPr lang="en-US" sz="1600" b="1" dirty="0">
                <a:latin typeface="Calibri" charset="0"/>
                <a:ea typeface="ＭＳ Ｐゴシック" charset="0"/>
                <a:cs typeface="ＭＳ Ｐゴシック" charset="0"/>
              </a:rPr>
              <a:t>:  P/L Diagram</a:t>
            </a:r>
            <a:endParaRPr lang="en-US" sz="2000" b="1" dirty="0">
              <a:latin typeface="Calibri" charset="0"/>
              <a:ea typeface="ＭＳ Ｐゴシック" charset="0"/>
              <a:cs typeface="ＭＳ Ｐゴシック" charset="0"/>
            </a:endParaRPr>
          </a:p>
        </p:txBody>
      </p:sp>
      <p:sp>
        <p:nvSpPr>
          <p:cNvPr id="79874"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94196F7-9632-0B42-8107-24F0CF9800FE}" type="slidenum">
              <a:rPr lang="en-US" sz="1000">
                <a:latin typeface="Calibri" charset="0"/>
              </a:rPr>
              <a:pPr eaLnBrk="1" hangingPunct="1"/>
              <a:t>43</a:t>
            </a:fld>
            <a:endParaRPr lang="en-US" sz="1000">
              <a:latin typeface="Calibri" charset="0"/>
            </a:endParaRPr>
          </a:p>
        </p:txBody>
      </p:sp>
      <p:sp>
        <p:nvSpPr>
          <p:cNvPr id="79875" name="Rectangle 2"/>
          <p:cNvSpPr>
            <a:spLocks noChangeArrowheads="1"/>
          </p:cNvSpPr>
          <p:nvPr/>
        </p:nvSpPr>
        <p:spPr bwMode="auto">
          <a:xfrm>
            <a:off x="152400" y="1905000"/>
            <a:ext cx="1447800" cy="1436688"/>
          </a:xfrm>
          <a:prstGeom prst="rect">
            <a:avLst/>
          </a:prstGeom>
          <a:solidFill>
            <a:srgbClr val="99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600" b="1">
                <a:latin typeface="Calibri" charset="0"/>
              </a:rPr>
              <a:t>S = 100</a:t>
            </a:r>
          </a:p>
          <a:p>
            <a:pPr eaLnBrk="0" hangingPunct="0">
              <a:spcBef>
                <a:spcPct val="50000"/>
              </a:spcBef>
            </a:pPr>
            <a:r>
              <a:rPr lang="en-US" sz="1600" b="1">
                <a:latin typeface="Calibri" charset="0"/>
              </a:rPr>
              <a:t>t  = 1</a:t>
            </a:r>
            <a:r>
              <a:rPr lang="en-US" sz="1600" b="1">
                <a:latin typeface="Symbol" charset="0"/>
              </a:rPr>
              <a:t> </a:t>
            </a:r>
          </a:p>
          <a:p>
            <a:pPr eaLnBrk="0" hangingPunct="0">
              <a:spcBef>
                <a:spcPct val="50000"/>
              </a:spcBef>
            </a:pPr>
            <a:r>
              <a:rPr lang="en-US" sz="1600" b="1">
                <a:latin typeface="Calibri" charset="0"/>
              </a:rPr>
              <a:t>1+r  = 1.15</a:t>
            </a:r>
          </a:p>
          <a:p>
            <a:pPr eaLnBrk="0" hangingPunct="0">
              <a:spcBef>
                <a:spcPct val="50000"/>
              </a:spcBef>
            </a:pPr>
            <a:r>
              <a:rPr lang="en-US" sz="1600" b="1">
                <a:latin typeface="Calibri" charset="0"/>
              </a:rPr>
              <a:t>D = 0</a:t>
            </a:r>
          </a:p>
        </p:txBody>
      </p:sp>
      <p:sp>
        <p:nvSpPr>
          <p:cNvPr id="79876" name="Rectangle 3"/>
          <p:cNvSpPr>
            <a:spLocks noChangeArrowheads="1"/>
          </p:cNvSpPr>
          <p:nvPr/>
        </p:nvSpPr>
        <p:spPr bwMode="auto">
          <a:xfrm>
            <a:off x="6705600" y="4572000"/>
            <a:ext cx="23622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600" b="1">
                <a:latin typeface="Calibri" charset="0"/>
              </a:rPr>
              <a:t>Future  Asset  Price</a:t>
            </a:r>
          </a:p>
        </p:txBody>
      </p:sp>
      <p:sp>
        <p:nvSpPr>
          <p:cNvPr id="79877" name="Line 4"/>
          <p:cNvSpPr>
            <a:spLocks noChangeShapeType="1"/>
          </p:cNvSpPr>
          <p:nvPr/>
        </p:nvSpPr>
        <p:spPr bwMode="auto">
          <a:xfrm flipV="1">
            <a:off x="5791200" y="4419600"/>
            <a:ext cx="0" cy="76200"/>
          </a:xfrm>
          <a:prstGeom prst="line">
            <a:avLst/>
          </a:prstGeom>
          <a:noFill/>
          <a:ln w="12699">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9878" name="Line 5"/>
          <p:cNvSpPr>
            <a:spLocks noChangeShapeType="1"/>
          </p:cNvSpPr>
          <p:nvPr/>
        </p:nvSpPr>
        <p:spPr bwMode="auto">
          <a:xfrm flipV="1">
            <a:off x="7010400" y="4419600"/>
            <a:ext cx="0" cy="76200"/>
          </a:xfrm>
          <a:prstGeom prst="line">
            <a:avLst/>
          </a:prstGeom>
          <a:noFill/>
          <a:ln w="12699">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9879" name="Line 6"/>
          <p:cNvSpPr>
            <a:spLocks noChangeShapeType="1"/>
          </p:cNvSpPr>
          <p:nvPr/>
        </p:nvSpPr>
        <p:spPr bwMode="auto">
          <a:xfrm flipV="1">
            <a:off x="3352800" y="4419600"/>
            <a:ext cx="0" cy="76200"/>
          </a:xfrm>
          <a:prstGeom prst="line">
            <a:avLst/>
          </a:prstGeom>
          <a:noFill/>
          <a:ln w="12699">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9880" name="Line 7"/>
          <p:cNvSpPr>
            <a:spLocks noChangeShapeType="1"/>
          </p:cNvSpPr>
          <p:nvPr/>
        </p:nvSpPr>
        <p:spPr bwMode="auto">
          <a:xfrm flipV="1">
            <a:off x="2133600" y="4419600"/>
            <a:ext cx="0" cy="76200"/>
          </a:xfrm>
          <a:prstGeom prst="line">
            <a:avLst/>
          </a:prstGeom>
          <a:noFill/>
          <a:ln w="12699">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9881" name="Line 8"/>
          <p:cNvSpPr>
            <a:spLocks noChangeShapeType="1"/>
          </p:cNvSpPr>
          <p:nvPr/>
        </p:nvSpPr>
        <p:spPr bwMode="auto">
          <a:xfrm>
            <a:off x="4572000" y="3276600"/>
            <a:ext cx="76200" cy="0"/>
          </a:xfrm>
          <a:prstGeom prst="line">
            <a:avLst/>
          </a:prstGeom>
          <a:noFill/>
          <a:ln w="12699">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9882" name="Line 9"/>
          <p:cNvSpPr>
            <a:spLocks noChangeShapeType="1"/>
          </p:cNvSpPr>
          <p:nvPr/>
        </p:nvSpPr>
        <p:spPr bwMode="auto">
          <a:xfrm>
            <a:off x="4572000" y="5715000"/>
            <a:ext cx="76200" cy="0"/>
          </a:xfrm>
          <a:prstGeom prst="line">
            <a:avLst/>
          </a:prstGeom>
          <a:noFill/>
          <a:ln w="12699">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22218" name="Rectangle 10"/>
          <p:cNvSpPr>
            <a:spLocks noChangeArrowheads="1"/>
          </p:cNvSpPr>
          <p:nvPr/>
        </p:nvSpPr>
        <p:spPr bwMode="auto">
          <a:xfrm>
            <a:off x="1905000" y="4152900"/>
            <a:ext cx="914400" cy="307975"/>
          </a:xfrm>
          <a:prstGeom prst="rect">
            <a:avLst/>
          </a:prstGeom>
          <a:noFill/>
          <a:ln w="9525">
            <a:noFill/>
            <a:miter lim="800000"/>
            <a:headEnd/>
            <a:tailEnd/>
          </a:ln>
          <a:effectLst/>
        </p:spPr>
        <p:txBody>
          <a:bodyPr lIns="92075" tIns="46038" rIns="92075" bIns="46038">
            <a:spAutoFit/>
          </a:bodyPr>
          <a:lstStyle/>
          <a:p>
            <a:pPr eaLnBrk="0" hangingPunct="0">
              <a:spcBef>
                <a:spcPct val="50000"/>
              </a:spcBef>
              <a:defRPr/>
            </a:pPr>
            <a:r>
              <a:rPr lang="en-US" sz="1400">
                <a:effectLst>
                  <a:outerShdw blurRad="38100" dist="38100" dir="2700000" algn="tl">
                    <a:srgbClr val="DDDDDD"/>
                  </a:outerShdw>
                </a:effectLst>
                <a:latin typeface="Calibri"/>
                <a:ea typeface="+mn-ea"/>
                <a:cs typeface="+mn-cs"/>
              </a:rPr>
              <a:t> </a:t>
            </a:r>
            <a:r>
              <a:rPr lang="en-US" sz="1400">
                <a:latin typeface="Calibri"/>
                <a:ea typeface="+mn-ea"/>
                <a:cs typeface="+mn-cs"/>
              </a:rPr>
              <a:t>50</a:t>
            </a:r>
          </a:p>
        </p:txBody>
      </p:sp>
      <p:sp>
        <p:nvSpPr>
          <p:cNvPr id="222219" name="Rectangle 11"/>
          <p:cNvSpPr>
            <a:spLocks noChangeArrowheads="1"/>
          </p:cNvSpPr>
          <p:nvPr/>
        </p:nvSpPr>
        <p:spPr bwMode="auto">
          <a:xfrm>
            <a:off x="3124200" y="4152900"/>
            <a:ext cx="685800" cy="307975"/>
          </a:xfrm>
          <a:prstGeom prst="rect">
            <a:avLst/>
          </a:prstGeom>
          <a:noFill/>
          <a:ln w="9525">
            <a:noFill/>
            <a:miter lim="800000"/>
            <a:headEnd/>
            <a:tailEnd/>
          </a:ln>
          <a:effectLst/>
        </p:spPr>
        <p:txBody>
          <a:bodyPr lIns="92075" tIns="46038" rIns="92075" bIns="46038">
            <a:spAutoFit/>
          </a:bodyPr>
          <a:lstStyle/>
          <a:p>
            <a:pPr eaLnBrk="0" hangingPunct="0">
              <a:spcBef>
                <a:spcPct val="50000"/>
              </a:spcBef>
              <a:defRPr/>
            </a:pPr>
            <a:r>
              <a:rPr lang="en-US" sz="1400">
                <a:effectLst>
                  <a:outerShdw blurRad="38100" dist="38100" dir="2700000" algn="tl">
                    <a:srgbClr val="DDDDDD"/>
                  </a:outerShdw>
                </a:effectLst>
                <a:latin typeface="Calibri"/>
                <a:ea typeface="+mn-ea"/>
                <a:cs typeface="+mn-cs"/>
              </a:rPr>
              <a:t> </a:t>
            </a:r>
            <a:r>
              <a:rPr lang="en-US" sz="1400">
                <a:latin typeface="Calibri"/>
                <a:ea typeface="+mn-ea"/>
                <a:cs typeface="+mn-cs"/>
              </a:rPr>
              <a:t>75</a:t>
            </a:r>
          </a:p>
        </p:txBody>
      </p:sp>
      <p:sp>
        <p:nvSpPr>
          <p:cNvPr id="79885" name="Rectangle 12"/>
          <p:cNvSpPr>
            <a:spLocks noChangeArrowheads="1"/>
          </p:cNvSpPr>
          <p:nvPr/>
        </p:nvSpPr>
        <p:spPr bwMode="auto">
          <a:xfrm>
            <a:off x="4610100" y="3143250"/>
            <a:ext cx="533400"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400">
                <a:latin typeface="Calibri" charset="0"/>
              </a:rPr>
              <a:t>25</a:t>
            </a:r>
          </a:p>
        </p:txBody>
      </p:sp>
      <p:sp>
        <p:nvSpPr>
          <p:cNvPr id="79886" name="Rectangle 13"/>
          <p:cNvSpPr>
            <a:spLocks noChangeArrowheads="1"/>
          </p:cNvSpPr>
          <p:nvPr/>
        </p:nvSpPr>
        <p:spPr bwMode="auto">
          <a:xfrm>
            <a:off x="5562600" y="4152900"/>
            <a:ext cx="762000"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400">
                <a:latin typeface="Calibri" charset="0"/>
              </a:rPr>
              <a:t>125</a:t>
            </a:r>
          </a:p>
        </p:txBody>
      </p:sp>
      <p:sp>
        <p:nvSpPr>
          <p:cNvPr id="79887" name="Rectangle 14"/>
          <p:cNvSpPr>
            <a:spLocks noChangeArrowheads="1"/>
          </p:cNvSpPr>
          <p:nvPr/>
        </p:nvSpPr>
        <p:spPr bwMode="auto">
          <a:xfrm>
            <a:off x="6762750" y="4152900"/>
            <a:ext cx="685800"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400">
                <a:latin typeface="Calibri" charset="0"/>
              </a:rPr>
              <a:t>150</a:t>
            </a:r>
          </a:p>
        </p:txBody>
      </p:sp>
      <p:sp>
        <p:nvSpPr>
          <p:cNvPr id="79888" name="Rectangle 15"/>
          <p:cNvSpPr>
            <a:spLocks noChangeArrowheads="1"/>
          </p:cNvSpPr>
          <p:nvPr/>
        </p:nvSpPr>
        <p:spPr bwMode="auto">
          <a:xfrm>
            <a:off x="4610100" y="5562600"/>
            <a:ext cx="609600"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400">
                <a:latin typeface="Calibri" charset="0"/>
              </a:rPr>
              <a:t>-25</a:t>
            </a:r>
          </a:p>
        </p:txBody>
      </p:sp>
      <p:sp>
        <p:nvSpPr>
          <p:cNvPr id="79889" name="Line 16"/>
          <p:cNvSpPr>
            <a:spLocks noChangeShapeType="1"/>
          </p:cNvSpPr>
          <p:nvPr/>
        </p:nvSpPr>
        <p:spPr bwMode="auto">
          <a:xfrm>
            <a:off x="933450" y="4495800"/>
            <a:ext cx="7277100" cy="0"/>
          </a:xfrm>
          <a:prstGeom prst="line">
            <a:avLst/>
          </a:prstGeom>
          <a:noFill/>
          <a:ln w="12699">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9890" name="Line 17"/>
          <p:cNvSpPr>
            <a:spLocks noChangeShapeType="1"/>
          </p:cNvSpPr>
          <p:nvPr/>
        </p:nvSpPr>
        <p:spPr bwMode="auto">
          <a:xfrm flipV="1">
            <a:off x="4572000" y="2286000"/>
            <a:ext cx="0" cy="4038600"/>
          </a:xfrm>
          <a:prstGeom prst="line">
            <a:avLst/>
          </a:prstGeom>
          <a:noFill/>
          <a:ln w="12699">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grpSp>
        <p:nvGrpSpPr>
          <p:cNvPr id="2" name="Group 18"/>
          <p:cNvGrpSpPr>
            <a:grpSpLocks/>
          </p:cNvGrpSpPr>
          <p:nvPr/>
        </p:nvGrpSpPr>
        <p:grpSpPr bwMode="auto">
          <a:xfrm>
            <a:off x="609600" y="2438400"/>
            <a:ext cx="6746875" cy="3149600"/>
            <a:chOff x="398" y="1528"/>
            <a:chExt cx="4250" cy="1984"/>
          </a:xfrm>
        </p:grpSpPr>
        <p:sp>
          <p:nvSpPr>
            <p:cNvPr id="79901" name="Line 19"/>
            <p:cNvSpPr>
              <a:spLocks noChangeShapeType="1"/>
            </p:cNvSpPr>
            <p:nvPr/>
          </p:nvSpPr>
          <p:spPr bwMode="auto">
            <a:xfrm flipH="1">
              <a:off x="1548" y="1528"/>
              <a:ext cx="3100" cy="1984"/>
            </a:xfrm>
            <a:prstGeom prst="line">
              <a:avLst/>
            </a:prstGeom>
            <a:noFill/>
            <a:ln w="38100">
              <a:solidFill>
                <a:srgbClr val="714400"/>
              </a:solidFill>
              <a:prstDash val="dash"/>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9902" name="Rectangle 20"/>
            <p:cNvSpPr>
              <a:spLocks noChangeArrowheads="1"/>
            </p:cNvSpPr>
            <p:nvPr/>
          </p:nvSpPr>
          <p:spPr bwMode="auto">
            <a:xfrm>
              <a:off x="398" y="3083"/>
              <a:ext cx="1094" cy="330"/>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lIns="92075" tIns="46038" rIns="92075" bIns="46038">
              <a:spAutoFit/>
            </a:bodyPr>
            <a:lstStyle/>
            <a:p>
              <a:pPr eaLnBrk="0" hangingPunct="0"/>
              <a:r>
                <a:rPr lang="en-US" sz="1400" b="1">
                  <a:solidFill>
                    <a:srgbClr val="663300"/>
                  </a:solidFill>
                  <a:latin typeface="Calibri" charset="0"/>
                </a:rPr>
                <a:t>50% Asset, 50% Cash</a:t>
              </a:r>
            </a:p>
            <a:p>
              <a:pPr eaLnBrk="0" hangingPunct="0"/>
              <a:r>
                <a:rPr lang="en-US" sz="1400" b="1">
                  <a:solidFill>
                    <a:srgbClr val="663300"/>
                  </a:solidFill>
                  <a:latin typeface="Calibri" charset="0"/>
                </a:rPr>
                <a:t>          (Lending)</a:t>
              </a:r>
            </a:p>
          </p:txBody>
        </p:sp>
      </p:grpSp>
      <p:grpSp>
        <p:nvGrpSpPr>
          <p:cNvPr id="3" name="Group 21"/>
          <p:cNvGrpSpPr>
            <a:grpSpLocks/>
          </p:cNvGrpSpPr>
          <p:nvPr/>
        </p:nvGrpSpPr>
        <p:grpSpPr bwMode="auto">
          <a:xfrm>
            <a:off x="2971800" y="1676400"/>
            <a:ext cx="4922838" cy="4403725"/>
            <a:chOff x="1745" y="1187"/>
            <a:chExt cx="3101" cy="2774"/>
          </a:xfrm>
        </p:grpSpPr>
        <p:sp>
          <p:nvSpPr>
            <p:cNvPr id="79899" name="Rectangle 22"/>
            <p:cNvSpPr>
              <a:spLocks noChangeArrowheads="1"/>
            </p:cNvSpPr>
            <p:nvPr/>
          </p:nvSpPr>
          <p:spPr bwMode="auto">
            <a:xfrm>
              <a:off x="4118" y="1187"/>
              <a:ext cx="728" cy="214"/>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lIns="92075" tIns="46038" rIns="92075" bIns="46038">
              <a:spAutoFit/>
            </a:bodyPr>
            <a:lstStyle/>
            <a:p>
              <a:pPr eaLnBrk="0" hangingPunct="0"/>
              <a:r>
                <a:rPr lang="en-US" sz="1600" b="1">
                  <a:solidFill>
                    <a:srgbClr val="663300"/>
                  </a:solidFill>
                  <a:latin typeface="Calibri" charset="0"/>
                </a:rPr>
                <a:t>100% Asset</a:t>
              </a:r>
              <a:endParaRPr lang="en-US" sz="1600" b="1">
                <a:latin typeface="Calibri" charset="0"/>
              </a:endParaRPr>
            </a:p>
          </p:txBody>
        </p:sp>
        <p:sp>
          <p:nvSpPr>
            <p:cNvPr id="79900" name="Line 23"/>
            <p:cNvSpPr>
              <a:spLocks noChangeShapeType="1"/>
            </p:cNvSpPr>
            <p:nvPr/>
          </p:nvSpPr>
          <p:spPr bwMode="auto">
            <a:xfrm flipH="1">
              <a:off x="1745" y="1407"/>
              <a:ext cx="2554" cy="2554"/>
            </a:xfrm>
            <a:prstGeom prst="line">
              <a:avLst/>
            </a:prstGeom>
            <a:noFill/>
            <a:ln w="28575">
              <a:solidFill>
                <a:schemeClr val="hlink"/>
              </a:solidFill>
              <a:round/>
              <a:headEnd type="stealth" w="med" len="lg"/>
              <a:tailEnd type="stealth" w="med" len="lg"/>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4" name="Group 24"/>
          <p:cNvGrpSpPr>
            <a:grpSpLocks/>
          </p:cNvGrpSpPr>
          <p:nvPr/>
        </p:nvGrpSpPr>
        <p:grpSpPr bwMode="auto">
          <a:xfrm>
            <a:off x="3733800" y="2127250"/>
            <a:ext cx="2808288" cy="3956050"/>
            <a:chOff x="2371" y="1340"/>
            <a:chExt cx="1769" cy="2492"/>
          </a:xfrm>
        </p:grpSpPr>
        <p:sp>
          <p:nvSpPr>
            <p:cNvPr id="79897" name="Line 25"/>
            <p:cNvSpPr>
              <a:spLocks noChangeShapeType="1"/>
            </p:cNvSpPr>
            <p:nvPr/>
          </p:nvSpPr>
          <p:spPr bwMode="auto">
            <a:xfrm flipH="1">
              <a:off x="2371" y="1340"/>
              <a:ext cx="1644" cy="2492"/>
            </a:xfrm>
            <a:prstGeom prst="line">
              <a:avLst/>
            </a:prstGeom>
            <a:noFill/>
            <a:ln w="38100">
              <a:solidFill>
                <a:srgbClr val="714400"/>
              </a:solidFill>
              <a:prstDash val="sysDot"/>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9898" name="Rectangle 26"/>
            <p:cNvSpPr>
              <a:spLocks noChangeArrowheads="1"/>
            </p:cNvSpPr>
            <p:nvPr/>
          </p:nvSpPr>
          <p:spPr bwMode="auto">
            <a:xfrm>
              <a:off x="2954" y="3071"/>
              <a:ext cx="1186" cy="330"/>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lIns="92075" tIns="46038" rIns="92075" bIns="46038">
              <a:spAutoFit/>
            </a:bodyPr>
            <a:lstStyle/>
            <a:p>
              <a:pPr eaLnBrk="0" hangingPunct="0"/>
              <a:r>
                <a:rPr lang="en-US" sz="1400" b="1">
                  <a:solidFill>
                    <a:srgbClr val="663300"/>
                  </a:solidFill>
                  <a:latin typeface="Calibri" charset="0"/>
                </a:rPr>
                <a:t>150% Asset, -50% Cash</a:t>
              </a:r>
            </a:p>
            <a:p>
              <a:pPr eaLnBrk="0" hangingPunct="0"/>
              <a:r>
                <a:rPr lang="en-US" sz="1400" b="1">
                  <a:solidFill>
                    <a:srgbClr val="663300"/>
                  </a:solidFill>
                  <a:latin typeface="Calibri" charset="0"/>
                </a:rPr>
                <a:t>            (Borrowing)</a:t>
              </a:r>
            </a:p>
          </p:txBody>
        </p:sp>
      </p:grpSp>
      <p:sp>
        <p:nvSpPr>
          <p:cNvPr id="79894" name="Rectangle 27"/>
          <p:cNvSpPr>
            <a:spLocks noChangeArrowheads="1"/>
          </p:cNvSpPr>
          <p:nvPr/>
        </p:nvSpPr>
        <p:spPr bwMode="auto">
          <a:xfrm>
            <a:off x="4252913" y="6286500"/>
            <a:ext cx="665162"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600" b="1">
                <a:solidFill>
                  <a:schemeClr val="accent2"/>
                </a:solidFill>
                <a:latin typeface="Calibri" charset="0"/>
              </a:rPr>
              <a:t>Loss</a:t>
            </a:r>
          </a:p>
        </p:txBody>
      </p:sp>
      <p:sp>
        <p:nvSpPr>
          <p:cNvPr id="79895" name="Rectangle 28"/>
          <p:cNvSpPr>
            <a:spLocks noChangeArrowheads="1"/>
          </p:cNvSpPr>
          <p:nvPr/>
        </p:nvSpPr>
        <p:spPr bwMode="auto">
          <a:xfrm>
            <a:off x="4186238" y="1962150"/>
            <a:ext cx="7461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600" b="1">
                <a:latin typeface="Calibri" charset="0"/>
              </a:rPr>
              <a:t>Profit</a:t>
            </a:r>
          </a:p>
        </p:txBody>
      </p:sp>
      <p:sp>
        <p:nvSpPr>
          <p:cNvPr id="6" name="Footer Placeholder 5"/>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3"/>
          <p:cNvSpPr>
            <a:spLocks noGrp="1" noChangeArrowheads="1"/>
          </p:cNvSpPr>
          <p:nvPr>
            <p:ph idx="1"/>
          </p:nvPr>
        </p:nvSpPr>
        <p:spPr/>
        <p:txBody>
          <a:bodyPr/>
          <a:lstStyle/>
          <a:p>
            <a:pPr eaLnBrk="1" hangingPunct="1"/>
            <a:r>
              <a:rPr lang="en-US" sz="2400" dirty="0">
                <a:latin typeface="Calibri" charset="0"/>
                <a:ea typeface="ＭＳ Ｐゴシック" charset="0"/>
                <a:cs typeface="ＭＳ Ｐゴシック" charset="0"/>
              </a:rPr>
              <a:t>What is prejudgment interest?</a:t>
            </a:r>
          </a:p>
          <a:p>
            <a:pPr eaLnBrk="1" hangingPunct="1"/>
            <a:r>
              <a:rPr lang="en-US" sz="2400" dirty="0">
                <a:latin typeface="Calibri" charset="0"/>
                <a:ea typeface="ＭＳ Ｐゴシック" charset="0"/>
                <a:cs typeface="ＭＳ Ｐゴシック" charset="0"/>
              </a:rPr>
              <a:t>What is post-judgment interest? </a:t>
            </a:r>
          </a:p>
          <a:p>
            <a:pPr eaLnBrk="1" hangingPunct="1"/>
            <a:r>
              <a:rPr lang="en-US" sz="2400" dirty="0">
                <a:latin typeface="Calibri" charset="0"/>
                <a:ea typeface="ＭＳ Ｐゴシック" charset="0"/>
                <a:cs typeface="ＭＳ Ｐゴシック" charset="0"/>
              </a:rPr>
              <a:t>State rules on PJ Interest</a:t>
            </a:r>
          </a:p>
          <a:p>
            <a:pPr eaLnBrk="1" hangingPunct="1"/>
            <a:r>
              <a:rPr lang="en-US" sz="2400" dirty="0">
                <a:latin typeface="Calibri" charset="0"/>
                <a:ea typeface="ＭＳ Ｐゴシック" charset="0"/>
                <a:cs typeface="ＭＳ Ｐゴシック" charset="0"/>
              </a:rPr>
              <a:t>Federal Rules</a:t>
            </a:r>
          </a:p>
          <a:p>
            <a:pPr lvl="1" eaLnBrk="1" hangingPunct="1"/>
            <a:r>
              <a:rPr lang="ja-JP" altLang="en-US" sz="2000">
                <a:latin typeface="Calibri" charset="0"/>
                <a:ea typeface="ＭＳ Ｐゴシック" charset="0"/>
              </a:rPr>
              <a:t>“</a:t>
            </a:r>
            <a:r>
              <a:rPr lang="en-US" altLang="ja-JP" sz="2000" dirty="0">
                <a:latin typeface="Calibri" charset="0"/>
                <a:ea typeface="ＭＳ Ｐゴシック" charset="0"/>
              </a:rPr>
              <a:t>Prejudgment interest is an element of complete compensation.</a:t>
            </a:r>
            <a:r>
              <a:rPr lang="ja-JP" altLang="en-US" sz="2000">
                <a:latin typeface="Calibri" charset="0"/>
                <a:ea typeface="ＭＳ Ｐゴシック" charset="0"/>
              </a:rPr>
              <a:t>”</a:t>
            </a:r>
            <a:endParaRPr lang="en-US" altLang="ja-JP" sz="2000" dirty="0">
              <a:latin typeface="Calibri" charset="0"/>
              <a:ea typeface="ＭＳ Ｐゴシック" charset="0"/>
            </a:endParaRPr>
          </a:p>
          <a:p>
            <a:pPr eaLnBrk="1" hangingPunct="1"/>
            <a:r>
              <a:rPr lang="en-US" sz="2400" dirty="0">
                <a:latin typeface="Calibri" charset="0"/>
                <a:ea typeface="ＭＳ Ｐゴシック" charset="0"/>
                <a:cs typeface="ＭＳ Ｐゴシック" charset="0"/>
              </a:rPr>
              <a:t>How to view PJI</a:t>
            </a:r>
          </a:p>
          <a:p>
            <a:pPr lvl="1" eaLnBrk="1" hangingPunct="1"/>
            <a:r>
              <a:rPr lang="en-US" sz="2000" dirty="0">
                <a:latin typeface="Calibri" charset="0"/>
                <a:ea typeface="ＭＳ Ｐゴシック" charset="0"/>
              </a:rPr>
              <a:t>PV of judgment = PV of harm</a:t>
            </a:r>
          </a:p>
          <a:p>
            <a:pPr lvl="1" eaLnBrk="1" hangingPunct="1"/>
            <a:r>
              <a:rPr lang="en-US" sz="2000" dirty="0">
                <a:latin typeface="Calibri" charset="0"/>
                <a:ea typeface="ＭＳ Ｐゴシック" charset="0"/>
              </a:rPr>
              <a:t>Coerced Loan Theory</a:t>
            </a:r>
          </a:p>
          <a:p>
            <a:pPr lvl="2" eaLnBrk="1" hangingPunct="1"/>
            <a:r>
              <a:rPr lang="en-US" sz="1800" dirty="0">
                <a:latin typeface="Calibri" charset="0"/>
                <a:ea typeface="ＭＳ Ｐゴシック" charset="0"/>
              </a:rPr>
              <a:t>Risk:  risk of </a:t>
            </a:r>
            <a:r>
              <a:rPr lang="en-US" sz="1800" b="1" dirty="0">
                <a:latin typeface="Calibri" charset="0"/>
                <a:ea typeface="ＭＳ Ｐゴシック" charset="0"/>
              </a:rPr>
              <a:t>DEFENDANT’</a:t>
            </a:r>
            <a:r>
              <a:rPr lang="en-US" altLang="ja-JP" sz="1800" b="1" dirty="0">
                <a:latin typeface="Calibri" charset="0"/>
                <a:ea typeface="ＭＳ Ｐゴシック" charset="0"/>
              </a:rPr>
              <a:t>S </a:t>
            </a:r>
            <a:r>
              <a:rPr lang="en-US" altLang="ja-JP" sz="1800" dirty="0">
                <a:latin typeface="Calibri" charset="0"/>
                <a:ea typeface="ＭＳ Ｐゴシック" charset="0"/>
              </a:rPr>
              <a:t>default</a:t>
            </a:r>
          </a:p>
          <a:p>
            <a:pPr lvl="2" eaLnBrk="1" hangingPunct="1"/>
            <a:r>
              <a:rPr lang="en-US" sz="1800" dirty="0">
                <a:latin typeface="Calibri" charset="0"/>
                <a:ea typeface="ＭＳ Ｐゴシック" charset="0"/>
              </a:rPr>
              <a:t>ROR:  </a:t>
            </a:r>
            <a:r>
              <a:rPr lang="en-US" sz="1800" b="1" dirty="0">
                <a:latin typeface="Calibri" charset="0"/>
                <a:ea typeface="ＭＳ Ｐゴシック" charset="0"/>
              </a:rPr>
              <a:t>Defendant’</a:t>
            </a:r>
            <a:r>
              <a:rPr lang="en-US" altLang="ja-JP" sz="1800" b="1" dirty="0">
                <a:latin typeface="Calibri" charset="0"/>
                <a:ea typeface="ＭＳ Ｐゴシック" charset="0"/>
              </a:rPr>
              <a:t>s</a:t>
            </a:r>
            <a:r>
              <a:rPr lang="en-US" altLang="ja-JP" sz="1800" dirty="0">
                <a:latin typeface="Calibri" charset="0"/>
                <a:ea typeface="ＭＳ Ｐゴシック" charset="0"/>
              </a:rPr>
              <a:t> interest rate on similar loan</a:t>
            </a:r>
          </a:p>
          <a:p>
            <a:pPr lvl="2" eaLnBrk="1" hangingPunct="1"/>
            <a:r>
              <a:rPr lang="en-US" sz="1800" dirty="0">
                <a:latin typeface="Calibri" charset="0"/>
                <a:ea typeface="ＭＳ Ｐゴシック" charset="0"/>
              </a:rPr>
              <a:t>Floating, short-term rate</a:t>
            </a:r>
          </a:p>
        </p:txBody>
      </p:sp>
      <p:sp>
        <p:nvSpPr>
          <p:cNvPr id="81923"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Prejudgment Interest</a:t>
            </a:r>
          </a:p>
        </p:txBody>
      </p:sp>
      <p:sp>
        <p:nvSpPr>
          <p:cNvPr id="81922"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8E78F3D-9ECF-D04E-8D65-C725F0A06D98}" type="slidenum">
              <a:rPr lang="en-US" sz="800">
                <a:latin typeface="Calibri" charset="0"/>
              </a:rPr>
              <a:pPr eaLnBrk="1" hangingPunct="1"/>
              <a:t>44</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9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9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9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192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District court:  T-bill rate at time of judgment</a:t>
            </a:r>
          </a:p>
          <a:p>
            <a:pPr eaLnBrk="1" hangingPunct="1"/>
            <a:r>
              <a:rPr lang="en-US" dirty="0">
                <a:latin typeface="Calibri" charset="0"/>
                <a:ea typeface="ＭＳ Ｐゴシック" charset="0"/>
                <a:cs typeface="ＭＳ Ｐゴシック" charset="0"/>
              </a:rPr>
              <a:t>7th Cir.:</a:t>
            </a:r>
          </a:p>
          <a:p>
            <a:pPr lvl="1" eaLnBrk="1" hangingPunct="1"/>
            <a:r>
              <a:rPr lang="ja-JP" altLang="en-US" dirty="0">
                <a:latin typeface="Calibri" charset="0"/>
                <a:ea typeface="ＭＳ Ｐゴシック" charset="0"/>
              </a:rPr>
              <a:t>“</a:t>
            </a:r>
            <a:r>
              <a:rPr lang="en-US" altLang="ja-JP" dirty="0">
                <a:latin typeface="Calibri" charset="0"/>
                <a:ea typeface="ＭＳ Ｐゴシック" charset="0"/>
              </a:rPr>
              <a:t>complete compensation</a:t>
            </a:r>
            <a:r>
              <a:rPr lang="ja-JP" altLang="en-US" dirty="0">
                <a:latin typeface="Calibri" charset="0"/>
                <a:ea typeface="ＭＳ Ｐゴシック" charset="0"/>
              </a:rPr>
              <a:t>”</a:t>
            </a:r>
            <a:endParaRPr lang="en-US" altLang="ja-JP" dirty="0">
              <a:latin typeface="Calibri" charset="0"/>
              <a:ea typeface="ＭＳ Ｐゴシック" charset="0"/>
            </a:endParaRPr>
          </a:p>
          <a:p>
            <a:pPr lvl="1" eaLnBrk="1" hangingPunct="1"/>
            <a:r>
              <a:rPr lang="en-US" dirty="0">
                <a:latin typeface="Calibri" charset="0"/>
                <a:ea typeface="ＭＳ Ｐゴシック" charset="0"/>
              </a:rPr>
              <a:t>involuntary creditor</a:t>
            </a:r>
          </a:p>
          <a:p>
            <a:pPr lvl="1" eaLnBrk="1" hangingPunct="1"/>
            <a:r>
              <a:rPr lang="ja-JP" altLang="en-US" dirty="0">
                <a:latin typeface="Calibri" charset="0"/>
                <a:ea typeface="ＭＳ Ｐゴシック" charset="0"/>
              </a:rPr>
              <a:t>“</a:t>
            </a:r>
            <a:r>
              <a:rPr lang="en-US" altLang="ja-JP" dirty="0">
                <a:latin typeface="Calibri" charset="0"/>
                <a:ea typeface="ＭＳ Ｐゴシック" charset="0"/>
              </a:rPr>
              <a:t>market rate for money</a:t>
            </a:r>
            <a:r>
              <a:rPr lang="ja-JP" altLang="en-US" dirty="0">
                <a:latin typeface="Calibri" charset="0"/>
                <a:ea typeface="ＭＳ Ｐゴシック" charset="0"/>
              </a:rPr>
              <a:t>”</a:t>
            </a:r>
            <a:r>
              <a:rPr lang="en-US" altLang="ja-JP" dirty="0">
                <a:latin typeface="Calibri" charset="0"/>
                <a:ea typeface="ＭＳ Ｐゴシック" charset="0"/>
              </a:rPr>
              <a:t>—defendant’s borrowing rate</a:t>
            </a:r>
          </a:p>
          <a:p>
            <a:pPr lvl="2" algn="l" eaLnBrk="1" hangingPunct="1"/>
            <a:r>
              <a:rPr lang="en-US" dirty="0">
                <a:latin typeface="Calibri" charset="0"/>
                <a:ea typeface="ＭＳ Ｐゴシック" charset="0"/>
              </a:rPr>
              <a:t>Use Prime rate if court doesn’</a:t>
            </a:r>
            <a:r>
              <a:rPr lang="en-US" altLang="ja-JP" dirty="0">
                <a:latin typeface="Calibri" charset="0"/>
                <a:ea typeface="ＭＳ Ｐゴシック" charset="0"/>
              </a:rPr>
              <a:t>t want to engage in </a:t>
            </a:r>
            <a:r>
              <a:rPr lang="ja-JP" altLang="en-US" dirty="0">
                <a:latin typeface="Calibri" charset="0"/>
                <a:ea typeface="ＭＳ Ｐゴシック" charset="0"/>
              </a:rPr>
              <a:t>“</a:t>
            </a:r>
            <a:r>
              <a:rPr lang="en-US" altLang="ja-JP" dirty="0">
                <a:latin typeface="Calibri" charset="0"/>
                <a:ea typeface="ＭＳ Ｐゴシック" charset="0"/>
              </a:rPr>
              <a:t>refined rate setting</a:t>
            </a:r>
            <a:r>
              <a:rPr lang="ja-JP" altLang="en-US" dirty="0">
                <a:latin typeface="Calibri" charset="0"/>
                <a:ea typeface="ＭＳ Ｐゴシック" charset="0"/>
              </a:rPr>
              <a:t>”</a:t>
            </a:r>
            <a:endParaRPr lang="en-US" altLang="ja-JP" dirty="0">
              <a:latin typeface="Calibri" charset="0"/>
              <a:ea typeface="ＭＳ Ｐゴシック" charset="0"/>
            </a:endParaRPr>
          </a:p>
          <a:p>
            <a:pPr lvl="2" algn="l" eaLnBrk="1" hangingPunct="1"/>
            <a:r>
              <a:rPr lang="en-US" dirty="0">
                <a:latin typeface="Calibri" charset="0"/>
                <a:ea typeface="ＭＳ Ｐゴシック" charset="0"/>
              </a:rPr>
              <a:t>11.9%:  average prime rate</a:t>
            </a:r>
            <a:br>
              <a:rPr lang="en-US" dirty="0">
                <a:latin typeface="Calibri" charset="0"/>
                <a:ea typeface="ＭＳ Ｐゴシック" charset="0"/>
              </a:rPr>
            </a:br>
            <a:endParaRPr lang="en-US" dirty="0">
              <a:latin typeface="Calibri" charset="0"/>
              <a:ea typeface="ＭＳ Ｐゴシック" charset="0"/>
            </a:endParaRPr>
          </a:p>
          <a:p>
            <a:pPr eaLnBrk="1" hangingPunct="1"/>
            <a:r>
              <a:rPr lang="en-US" dirty="0">
                <a:latin typeface="Calibri" charset="0"/>
                <a:ea typeface="ＭＳ Ｐゴシック" charset="0"/>
                <a:cs typeface="ＭＳ Ｐゴシック" charset="0"/>
              </a:rPr>
              <a:t>Delaware rule for prejudgment interest:  </a:t>
            </a:r>
            <a:r>
              <a:rPr lang="en-US" i="1" dirty="0">
                <a:latin typeface="Calibri" charset="0"/>
                <a:ea typeface="ＭＳ Ｐゴシック" charset="0"/>
                <a:cs typeface="ＭＳ Ｐゴシック" charset="0"/>
              </a:rPr>
              <a:t>Merion Capital</a:t>
            </a:r>
            <a:endParaRPr lang="en-US" i="1" dirty="0">
              <a:ea typeface="ＭＳ Ｐゴシック" charset="0"/>
              <a:cs typeface="ＭＳ Ｐゴシック" charset="0"/>
            </a:endParaRPr>
          </a:p>
          <a:p>
            <a:pPr lvl="1"/>
            <a:r>
              <a:rPr lang="en-US" dirty="0">
                <a:ea typeface="ＭＳ Ｐゴシック" charset="0"/>
                <a:cs typeface="ＭＳ Ｐゴシック" charset="0"/>
              </a:rPr>
              <a:t>Simple or Compound?:  </a:t>
            </a:r>
            <a:r>
              <a:rPr lang="en-US" i="1" dirty="0">
                <a:ea typeface="ＭＳ Ｐゴシック" charset="0"/>
                <a:cs typeface="ＭＳ Ｐゴシック" charset="0"/>
              </a:rPr>
              <a:t>Brown v. Ct. Square </a:t>
            </a:r>
            <a:r>
              <a:rPr lang="en-US" dirty="0">
                <a:ea typeface="ＭＳ Ｐゴシック" charset="0"/>
                <a:cs typeface="ＭＳ Ｐゴシック" charset="0"/>
              </a:rPr>
              <a:t>(Del. Ch. Ct. 2024)</a:t>
            </a:r>
            <a:endParaRPr lang="en-US" dirty="0">
              <a:latin typeface="Calibri" charset="0"/>
              <a:ea typeface="ＭＳ Ｐゴシック" charset="0"/>
              <a:cs typeface="ＭＳ Ｐゴシック" charset="0"/>
            </a:endParaRPr>
          </a:p>
          <a:p>
            <a:pPr lvl="1"/>
            <a:endParaRPr lang="en-US" dirty="0">
              <a:latin typeface="Calibri" charset="0"/>
              <a:ea typeface="ＭＳ Ｐゴシック" charset="0"/>
              <a:cs typeface="ＭＳ Ｐゴシック" charset="0"/>
            </a:endParaRPr>
          </a:p>
        </p:txBody>
      </p:sp>
      <p:sp>
        <p:nvSpPr>
          <p:cNvPr id="8397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Amoco Cadiz</a:t>
            </a:r>
          </a:p>
        </p:txBody>
      </p:sp>
      <p:sp>
        <p:nvSpPr>
          <p:cNvPr id="83970" name="Slide Number Placeholder 4"/>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6E2AAD2-6068-6F49-97D6-14B523D7DBF3}" type="slidenum">
              <a:rPr lang="en-US" sz="800">
                <a:latin typeface="Calibri" charset="0"/>
              </a:rPr>
              <a:pPr eaLnBrk="1" hangingPunct="1"/>
              <a:t>45</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9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9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9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9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9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97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34321</TotalTime>
  <Words>2845</Words>
  <Application>Microsoft Macintosh PowerPoint</Application>
  <PresentationFormat>On-screen Show (4:3)</PresentationFormat>
  <Paragraphs>401</Paragraphs>
  <Slides>45</Slides>
  <Notes>25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45</vt:i4>
      </vt:variant>
    </vt:vector>
  </HeadingPairs>
  <TitlesOfParts>
    <vt:vector size="57" baseType="lpstr">
      <vt:lpstr>ＭＳ Ｐゴシック</vt:lpstr>
      <vt:lpstr>NSimSun</vt:lpstr>
      <vt:lpstr>Arial</vt:lpstr>
      <vt:lpstr>Calibri</vt:lpstr>
      <vt:lpstr>Courier New</vt:lpstr>
      <vt:lpstr>Symbol</vt:lpstr>
      <vt:lpstr>Times New Roman</vt:lpstr>
      <vt:lpstr>Wingdings</vt:lpstr>
      <vt:lpstr>Wingdings 2</vt:lpstr>
      <vt:lpstr>CG Body - Standard</vt:lpstr>
      <vt:lpstr>Equation</vt:lpstr>
      <vt:lpstr>Worksheet</vt:lpstr>
      <vt:lpstr>PowerPoint Presentation</vt:lpstr>
      <vt:lpstr>Uncertainty, Default, &amp; Risk</vt:lpstr>
      <vt:lpstr>Risk: Percentage Change in SP500 by Year</vt:lpstr>
      <vt:lpstr>Annual returns can obscure useful information </vt:lpstr>
      <vt:lpstr>Annual returns can obscure useful information </vt:lpstr>
      <vt:lpstr>Random Variables</vt:lpstr>
      <vt:lpstr>Expectation of a Random Variable</vt:lpstr>
      <vt:lpstr>Probability Distribution: Single Die </vt:lpstr>
      <vt:lpstr>Probability Distribution:  Sum of 2 Dice</vt:lpstr>
      <vt:lpstr>Risk</vt:lpstr>
      <vt:lpstr>Risk:  Example</vt:lpstr>
      <vt:lpstr>SDs and the Normal Distribution</vt:lpstr>
      <vt:lpstr>Risk Adverse, Risk Neutral, and Risk Lover</vt:lpstr>
      <vt:lpstr>Debt Risk Factors</vt:lpstr>
      <vt:lpstr>Credit Risk:  Example</vt:lpstr>
      <vt:lpstr>Credit Risk:  Example</vt:lpstr>
      <vt:lpstr>Default Premiums in a Risk Neutral World</vt:lpstr>
      <vt:lpstr>Corporate Bond Ratings</vt:lpstr>
      <vt:lpstr>Corporate Bond Ratings</vt:lpstr>
      <vt:lpstr>Outstanding Credit Ratings</vt:lpstr>
      <vt:lpstr>Breakdown of Ratings</vt:lpstr>
      <vt:lpstr>Bond Ratings:  Investment Grade</vt:lpstr>
      <vt:lpstr>Bond Ratings:  Non-Investment Grade (Junk)</vt:lpstr>
      <vt:lpstr>S&amp;P Ratings:  Investment</vt:lpstr>
      <vt:lpstr>S&amp;P Ratings:  Speculative</vt:lpstr>
      <vt:lpstr>Bond Ratings: Moody’s Financial Metrics Key Ratios (Median 2016)</vt:lpstr>
      <vt:lpstr>Global Average Cumulative Default Rates by Rating:  1981-2025</vt:lpstr>
      <vt:lpstr>Default rates of corporate bonds 1981-2025 by S&amp;P rating at time of issue</vt:lpstr>
      <vt:lpstr>Moody’s Assigns A2 to Fordham Revenue Bonds (Oct., 2021)</vt:lpstr>
      <vt:lpstr>Credit Ratings Requirements Example</vt:lpstr>
      <vt:lpstr>Corporate Spreads: 1996-2025</vt:lpstr>
      <vt:lpstr>Corporate Spreads: 2023-2026</vt:lpstr>
      <vt:lpstr> Corporate Spreads (9/22/20): Brink’s 5 ½  maturing on 7/15/25</vt:lpstr>
      <vt:lpstr> Corporate Spreads (9/22/20): Brink’s 5 ½  maturing on 7/15/25</vt:lpstr>
      <vt:lpstr>Debt Risk Premiums</vt:lpstr>
      <vt:lpstr>Risk and NPV Formula</vt:lpstr>
      <vt:lpstr>Risk and NPV Formula:  Example</vt:lpstr>
      <vt:lpstr>Debt and Equity</vt:lpstr>
      <vt:lpstr>Valuing Debt and Equity: Sample Problem</vt:lpstr>
      <vt:lpstr>Leverage</vt:lpstr>
      <vt:lpstr>Leverage</vt:lpstr>
      <vt:lpstr>Leverage</vt:lpstr>
      <vt:lpstr>X% ASSET and (100-X)% CASH:  P/L Diagram</vt:lpstr>
      <vt:lpstr>Prejudgment Interest</vt:lpstr>
      <vt:lpstr>Amoco Cadiz</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Colon, Jeffrey M.</cp:lastModifiedBy>
  <cp:revision>329</cp:revision>
  <cp:lastPrinted>2021-09-21T17:21:29Z</cp:lastPrinted>
  <dcterms:created xsi:type="dcterms:W3CDTF">2011-02-13T12:40:17Z</dcterms:created>
  <dcterms:modified xsi:type="dcterms:W3CDTF">2026-09-21T12:48:55Z</dcterms:modified>
</cp:coreProperties>
</file>