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notesMasterIdLst>
    <p:notesMasterId r:id="rId40"/>
  </p:notesMasterIdLst>
  <p:handoutMasterIdLst>
    <p:handoutMasterId r:id="rId41"/>
  </p:handoutMasterIdLst>
  <p:sldIdLst>
    <p:sldId id="306" r:id="rId2"/>
    <p:sldId id="427" r:id="rId3"/>
    <p:sldId id="296" r:id="rId4"/>
    <p:sldId id="414" r:id="rId5"/>
    <p:sldId id="443" r:id="rId6"/>
    <p:sldId id="393" r:id="rId7"/>
    <p:sldId id="415" r:id="rId8"/>
    <p:sldId id="416" r:id="rId9"/>
    <p:sldId id="418" r:id="rId10"/>
    <p:sldId id="425" r:id="rId11"/>
    <p:sldId id="445" r:id="rId12"/>
    <p:sldId id="446" r:id="rId13"/>
    <p:sldId id="432" r:id="rId14"/>
    <p:sldId id="447" r:id="rId15"/>
    <p:sldId id="420" r:id="rId16"/>
    <p:sldId id="381" r:id="rId17"/>
    <p:sldId id="379" r:id="rId18"/>
    <p:sldId id="466" r:id="rId19"/>
    <p:sldId id="444" r:id="rId20"/>
    <p:sldId id="423" r:id="rId21"/>
    <p:sldId id="442" r:id="rId22"/>
    <p:sldId id="424" r:id="rId23"/>
    <p:sldId id="385" r:id="rId24"/>
    <p:sldId id="300" r:id="rId25"/>
    <p:sldId id="408" r:id="rId26"/>
    <p:sldId id="317" r:id="rId27"/>
    <p:sldId id="457" r:id="rId28"/>
    <p:sldId id="460" r:id="rId29"/>
    <p:sldId id="467" r:id="rId30"/>
    <p:sldId id="458" r:id="rId31"/>
    <p:sldId id="388" r:id="rId32"/>
    <p:sldId id="459" r:id="rId33"/>
    <p:sldId id="449" r:id="rId34"/>
    <p:sldId id="468" r:id="rId35"/>
    <p:sldId id="454" r:id="rId36"/>
    <p:sldId id="464" r:id="rId37"/>
    <p:sldId id="465" r:id="rId38"/>
    <p:sldId id="433" r:id="rId39"/>
  </p:sldIdLst>
  <p:sldSz cx="9144000" cy="6858000" type="screen4x3"/>
  <p:notesSz cx="9236075" cy="7010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21"/>
    <a:srgbClr val="B233A0"/>
    <a:srgbClr val="146BEC"/>
    <a:srgbClr val="2EE4F7"/>
    <a:srgbClr val="F7F7F7"/>
    <a:srgbClr val="F4F4F4"/>
    <a:srgbClr val="1985C1"/>
    <a:srgbClr val="25FF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480" autoAdjust="0"/>
    <p:restoredTop sz="94688"/>
  </p:normalViewPr>
  <p:slideViewPr>
    <p:cSldViewPr>
      <p:cViewPr>
        <p:scale>
          <a:sx n="100" d="100"/>
          <a:sy n="100" d="100"/>
        </p:scale>
        <p:origin x="168" y="22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>
      <p:cViewPr varScale="1">
        <p:scale>
          <a:sx n="126" d="100"/>
          <a:sy n="126" d="100"/>
        </p:scale>
        <p:origin x="276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on, Jeffrey M." userId="615143b1-cdee-493d-9a9d-1565ce8666d9" providerId="ADAL" clId="{DC1DB158-BAB1-5930-B714-AEF472873853}"/>
    <pc:docChg chg="undo custSel addSld delSld modSld sldOrd">
      <pc:chgData name="Colon, Jeffrey M." userId="615143b1-cdee-493d-9a9d-1565ce8666d9" providerId="ADAL" clId="{DC1DB158-BAB1-5930-B714-AEF472873853}" dt="2026-10-05T02:40:24.769" v="380" actId="1076"/>
      <pc:docMkLst>
        <pc:docMk/>
      </pc:docMkLst>
      <pc:sldChg chg="modSp del mod">
        <pc:chgData name="Colon, Jeffrey M." userId="615143b1-cdee-493d-9a9d-1565ce8666d9" providerId="ADAL" clId="{DC1DB158-BAB1-5930-B714-AEF472873853}" dt="2026-10-05T02:35:07.199" v="271" actId="2696"/>
        <pc:sldMkLst>
          <pc:docMk/>
          <pc:sldMk cId="3249535876" sldId="453"/>
        </pc:sldMkLst>
        <pc:spChg chg="mod">
          <ac:chgData name="Colon, Jeffrey M." userId="615143b1-cdee-493d-9a9d-1565ce8666d9" providerId="ADAL" clId="{DC1DB158-BAB1-5930-B714-AEF472873853}" dt="2026-10-05T01:59:26.900" v="76" actId="1076"/>
          <ac:spMkLst>
            <pc:docMk/>
            <pc:sldMk cId="3249535876" sldId="453"/>
            <ac:spMk id="6" creationId="{FD36D913-0FFE-FE4E-A5FC-0785B215213C}"/>
          </ac:spMkLst>
        </pc:spChg>
      </pc:sldChg>
      <pc:sldChg chg="addSp delSp modSp mod">
        <pc:chgData name="Colon, Jeffrey M." userId="615143b1-cdee-493d-9a9d-1565ce8666d9" providerId="ADAL" clId="{DC1DB158-BAB1-5930-B714-AEF472873853}" dt="2026-10-05T02:37:27.313" v="285"/>
        <pc:sldMkLst>
          <pc:docMk/>
          <pc:sldMk cId="1875549604" sldId="454"/>
        </pc:sldMkLst>
        <pc:spChg chg="add del mod">
          <ac:chgData name="Colon, Jeffrey M." userId="615143b1-cdee-493d-9a9d-1565ce8666d9" providerId="ADAL" clId="{DC1DB158-BAB1-5930-B714-AEF472873853}" dt="2026-10-05T02:36:49.350" v="279"/>
          <ac:spMkLst>
            <pc:docMk/>
            <pc:sldMk cId="1875549604" sldId="454"/>
            <ac:spMk id="6" creationId="{64D1929C-0E6A-87CE-DF1A-0BFDDAB6A0E6}"/>
          </ac:spMkLst>
        </pc:spChg>
        <pc:spChg chg="mod">
          <ac:chgData name="Colon, Jeffrey M." userId="615143b1-cdee-493d-9a9d-1565ce8666d9" providerId="ADAL" clId="{DC1DB158-BAB1-5930-B714-AEF472873853}" dt="2026-10-05T02:37:04.758" v="281" actId="20577"/>
          <ac:spMkLst>
            <pc:docMk/>
            <pc:sldMk cId="1875549604" sldId="454"/>
            <ac:spMk id="8" creationId="{26AA9CF1-B1F4-6845-9BD3-C3C11595EED2}"/>
          </ac:spMkLst>
        </pc:spChg>
        <pc:spChg chg="mod">
          <ac:chgData name="Colon, Jeffrey M." userId="615143b1-cdee-493d-9a9d-1565ce8666d9" providerId="ADAL" clId="{DC1DB158-BAB1-5930-B714-AEF472873853}" dt="2026-10-05T02:37:27.313" v="285"/>
          <ac:spMkLst>
            <pc:docMk/>
            <pc:sldMk cId="1875549604" sldId="454"/>
            <ac:spMk id="10" creationId="{B302F421-E116-0A44-BA62-C3E273D229D7}"/>
          </ac:spMkLst>
        </pc:spChg>
        <pc:picChg chg="del">
          <ac:chgData name="Colon, Jeffrey M." userId="615143b1-cdee-493d-9a9d-1565ce8666d9" providerId="ADAL" clId="{DC1DB158-BAB1-5930-B714-AEF472873853}" dt="2026-10-05T02:36:40.894" v="277" actId="478"/>
          <ac:picMkLst>
            <pc:docMk/>
            <pc:sldMk cId="1875549604" sldId="454"/>
            <ac:picMk id="7" creationId="{7BA837B6-9A1A-3B44-8173-1FFE3C41683C}"/>
          </ac:picMkLst>
        </pc:picChg>
        <pc:picChg chg="add mod ord">
          <ac:chgData name="Colon, Jeffrey M." userId="615143b1-cdee-493d-9a9d-1565ce8666d9" providerId="ADAL" clId="{DC1DB158-BAB1-5930-B714-AEF472873853}" dt="2026-10-05T02:37:13.111" v="284" actId="14100"/>
          <ac:picMkLst>
            <pc:docMk/>
            <pc:sldMk cId="1875549604" sldId="454"/>
            <ac:picMk id="12" creationId="{44A3A143-830F-A492-0513-70F3906668FB}"/>
          </ac:picMkLst>
        </pc:picChg>
      </pc:sldChg>
      <pc:sldChg chg="addSp delSp modSp mod">
        <pc:chgData name="Colon, Jeffrey M." userId="615143b1-cdee-493d-9a9d-1565ce8666d9" providerId="ADAL" clId="{DC1DB158-BAB1-5930-B714-AEF472873853}" dt="2026-10-05T02:37:48.464" v="290" actId="14100"/>
        <pc:sldMkLst>
          <pc:docMk/>
          <pc:sldMk cId="4252467489" sldId="464"/>
        </pc:sldMkLst>
        <pc:spChg chg="mod">
          <ac:chgData name="Colon, Jeffrey M." userId="615143b1-cdee-493d-9a9d-1565ce8666d9" providerId="ADAL" clId="{DC1DB158-BAB1-5930-B714-AEF472873853}" dt="2026-10-05T02:37:43.892" v="288" actId="1076"/>
          <ac:spMkLst>
            <pc:docMk/>
            <pc:sldMk cId="4252467489" sldId="464"/>
            <ac:spMk id="7" creationId="{59FE565D-A0B5-EFCC-CF89-172C7817B30D}"/>
          </ac:spMkLst>
        </pc:spChg>
        <pc:spChg chg="add del mod">
          <ac:chgData name="Colon, Jeffrey M." userId="615143b1-cdee-493d-9a9d-1565ce8666d9" providerId="ADAL" clId="{DC1DB158-BAB1-5930-B714-AEF472873853}" dt="2026-10-05T02:36:05.900" v="274"/>
          <ac:spMkLst>
            <pc:docMk/>
            <pc:sldMk cId="4252467489" sldId="464"/>
            <ac:spMk id="8" creationId="{15370D47-D9BC-EC2A-9EF2-D34E829C6516}"/>
          </ac:spMkLst>
        </pc:spChg>
        <pc:picChg chg="del">
          <ac:chgData name="Colon, Jeffrey M." userId="615143b1-cdee-493d-9a9d-1565ce8666d9" providerId="ADAL" clId="{DC1DB158-BAB1-5930-B714-AEF472873853}" dt="2026-10-05T02:35:52.052" v="272" actId="478"/>
          <ac:picMkLst>
            <pc:docMk/>
            <pc:sldMk cId="4252467489" sldId="464"/>
            <ac:picMk id="6" creationId="{7572BC1D-DBE5-2A2B-6FD7-5E2D55908E53}"/>
          </ac:picMkLst>
        </pc:picChg>
        <pc:picChg chg="add mod ord">
          <ac:chgData name="Colon, Jeffrey M." userId="615143b1-cdee-493d-9a9d-1565ce8666d9" providerId="ADAL" clId="{DC1DB158-BAB1-5930-B714-AEF472873853}" dt="2026-10-05T02:37:48.464" v="290" actId="14100"/>
          <ac:picMkLst>
            <pc:docMk/>
            <pc:sldMk cId="4252467489" sldId="464"/>
            <ac:picMk id="10" creationId="{AAD87C48-F1D0-052A-D3EB-0E49C8A75671}"/>
          </ac:picMkLst>
        </pc:picChg>
      </pc:sldChg>
      <pc:sldChg chg="addSp delSp modSp mod">
        <pc:chgData name="Colon, Jeffrey M." userId="615143b1-cdee-493d-9a9d-1565ce8666d9" providerId="ADAL" clId="{DC1DB158-BAB1-5930-B714-AEF472873853}" dt="2026-10-05T02:40:24.769" v="380" actId="1076"/>
        <pc:sldMkLst>
          <pc:docMk/>
          <pc:sldMk cId="1827193531" sldId="465"/>
        </pc:sldMkLst>
        <pc:spChg chg="mod">
          <ac:chgData name="Colon, Jeffrey M." userId="615143b1-cdee-493d-9a9d-1565ce8666d9" providerId="ADAL" clId="{DC1DB158-BAB1-5930-B714-AEF472873853}" dt="2026-10-05T02:39:50.166" v="373" actId="20577"/>
          <ac:spMkLst>
            <pc:docMk/>
            <pc:sldMk cId="1827193531" sldId="465"/>
            <ac:spMk id="3" creationId="{AAE8AC46-0EC7-5AAB-550B-95352F721F6C}"/>
          </ac:spMkLst>
        </pc:spChg>
        <pc:spChg chg="del">
          <ac:chgData name="Colon, Jeffrey M." userId="615143b1-cdee-493d-9a9d-1565ce8666d9" providerId="ADAL" clId="{DC1DB158-BAB1-5930-B714-AEF472873853}" dt="2026-10-05T02:40:20.124" v="378" actId="478"/>
          <ac:spMkLst>
            <pc:docMk/>
            <pc:sldMk cId="1827193531" sldId="465"/>
            <ac:spMk id="7" creationId="{6C2A8CE7-AF7F-73D6-E0F4-108B2534120E}"/>
          </ac:spMkLst>
        </pc:spChg>
        <pc:spChg chg="add del mod">
          <ac:chgData name="Colon, Jeffrey M." userId="615143b1-cdee-493d-9a9d-1565ce8666d9" providerId="ADAL" clId="{DC1DB158-BAB1-5930-B714-AEF472873853}" dt="2026-10-05T02:40:01.871" v="375"/>
          <ac:spMkLst>
            <pc:docMk/>
            <pc:sldMk cId="1827193531" sldId="465"/>
            <ac:spMk id="8" creationId="{C46DEC91-034B-C9C7-2E47-A75C7ECFAEC5}"/>
          </ac:spMkLst>
        </pc:spChg>
        <pc:spChg chg="add mod">
          <ac:chgData name="Colon, Jeffrey M." userId="615143b1-cdee-493d-9a9d-1565ce8666d9" providerId="ADAL" clId="{DC1DB158-BAB1-5930-B714-AEF472873853}" dt="2026-10-05T02:40:24.769" v="380" actId="1076"/>
          <ac:spMkLst>
            <pc:docMk/>
            <pc:sldMk cId="1827193531" sldId="465"/>
            <ac:spMk id="11" creationId="{3C6A8F7C-B468-9957-7A26-C42C5A89DB41}"/>
          </ac:spMkLst>
        </pc:spChg>
        <pc:picChg chg="del">
          <ac:chgData name="Colon, Jeffrey M." userId="615143b1-cdee-493d-9a9d-1565ce8666d9" providerId="ADAL" clId="{DC1DB158-BAB1-5930-B714-AEF472873853}" dt="2026-10-05T02:39:24.439" v="291" actId="478"/>
          <ac:picMkLst>
            <pc:docMk/>
            <pc:sldMk cId="1827193531" sldId="465"/>
            <ac:picMk id="6" creationId="{98C6A2A1-1B4F-E236-6D26-D7770C7CF853}"/>
          </ac:picMkLst>
        </pc:picChg>
        <pc:picChg chg="add mod ord">
          <ac:chgData name="Colon, Jeffrey M." userId="615143b1-cdee-493d-9a9d-1565ce8666d9" providerId="ADAL" clId="{DC1DB158-BAB1-5930-B714-AEF472873853}" dt="2026-10-05T02:40:08.479" v="377" actId="14100"/>
          <ac:picMkLst>
            <pc:docMk/>
            <pc:sldMk cId="1827193531" sldId="465"/>
            <ac:picMk id="10" creationId="{1B43418E-5BEE-F013-DA65-EC514620B884}"/>
          </ac:picMkLst>
        </pc:picChg>
      </pc:sldChg>
      <pc:sldChg chg="addSp modSp mod">
        <pc:chgData name="Colon, Jeffrey M." userId="615143b1-cdee-493d-9a9d-1565ce8666d9" providerId="ADAL" clId="{DC1DB158-BAB1-5930-B714-AEF472873853}" dt="2026-10-05T01:57:28.596" v="74" actId="1076"/>
        <pc:sldMkLst>
          <pc:docMk/>
          <pc:sldMk cId="2021530671" sldId="466"/>
        </pc:sldMkLst>
        <pc:graphicFrameChg chg="mod">
          <ac:chgData name="Colon, Jeffrey M." userId="615143b1-cdee-493d-9a9d-1565ce8666d9" providerId="ADAL" clId="{DC1DB158-BAB1-5930-B714-AEF472873853}" dt="2026-10-05T01:57:16.177" v="71" actId="1076"/>
          <ac:graphicFrameMkLst>
            <pc:docMk/>
            <pc:sldMk cId="2021530671" sldId="466"/>
            <ac:graphicFrameMk id="8" creationId="{25CCEBFF-04D6-37D0-8A0E-3CBCA675BADE}"/>
          </ac:graphicFrameMkLst>
        </pc:graphicFrameChg>
        <pc:picChg chg="add mod">
          <ac:chgData name="Colon, Jeffrey M." userId="615143b1-cdee-493d-9a9d-1565ce8666d9" providerId="ADAL" clId="{DC1DB158-BAB1-5930-B714-AEF472873853}" dt="2026-10-05T01:57:28.596" v="74" actId="1076"/>
          <ac:picMkLst>
            <pc:docMk/>
            <pc:sldMk cId="2021530671" sldId="466"/>
            <ac:picMk id="6" creationId="{75F32B81-6B87-4359-AF2A-BDFF492A2179}"/>
          </ac:picMkLst>
        </pc:picChg>
      </pc:sldChg>
      <pc:sldChg chg="ord">
        <pc:chgData name="Colon, Jeffrey M." userId="615143b1-cdee-493d-9a9d-1565ce8666d9" providerId="ADAL" clId="{DC1DB158-BAB1-5930-B714-AEF472873853}" dt="2026-10-05T01:53:17.373" v="51" actId="20578"/>
        <pc:sldMkLst>
          <pc:docMk/>
          <pc:sldMk cId="1042765488" sldId="467"/>
        </pc:sldMkLst>
      </pc:sldChg>
      <pc:sldChg chg="addSp delSp modSp new del mod">
        <pc:chgData name="Colon, Jeffrey M." userId="615143b1-cdee-493d-9a9d-1565ce8666d9" providerId="ADAL" clId="{DC1DB158-BAB1-5930-B714-AEF472873853}" dt="2026-10-05T01:57:34.827" v="75" actId="2696"/>
        <pc:sldMkLst>
          <pc:docMk/>
          <pc:sldMk cId="1390572374" sldId="468"/>
        </pc:sldMkLst>
        <pc:spChg chg="del">
          <ac:chgData name="Colon, Jeffrey M." userId="615143b1-cdee-493d-9a9d-1565ce8666d9" providerId="ADAL" clId="{DC1DB158-BAB1-5930-B714-AEF472873853}" dt="2026-10-05T01:54:12.024" v="53"/>
          <ac:spMkLst>
            <pc:docMk/>
            <pc:sldMk cId="1390572374" sldId="468"/>
            <ac:spMk id="2" creationId="{6119106A-8A89-8CF0-2887-B1B797E8A59C}"/>
          </ac:spMkLst>
        </pc:spChg>
        <pc:spChg chg="add mod">
          <ac:chgData name="Colon, Jeffrey M." userId="615143b1-cdee-493d-9a9d-1565ce8666d9" providerId="ADAL" clId="{DC1DB158-BAB1-5930-B714-AEF472873853}" dt="2026-10-05T01:56:38.909" v="62"/>
          <ac:spMkLst>
            <pc:docMk/>
            <pc:sldMk cId="1390572374" sldId="468"/>
            <ac:spMk id="8" creationId="{AEE7D9C8-7425-CAD4-6466-5C944E7B02E6}"/>
          </ac:spMkLst>
        </pc:spChg>
        <pc:graphicFrameChg chg="add del mod">
          <ac:chgData name="Colon, Jeffrey M." userId="615143b1-cdee-493d-9a9d-1565ce8666d9" providerId="ADAL" clId="{DC1DB158-BAB1-5930-B714-AEF472873853}" dt="2026-10-05T01:56:05.126" v="61" actId="478"/>
          <ac:graphicFrameMkLst>
            <pc:docMk/>
            <pc:sldMk cId="1390572374" sldId="468"/>
            <ac:graphicFrameMk id="6" creationId="{8584C3E6-9D36-5859-4F3B-A6185DF81F47}"/>
          </ac:graphicFrameMkLst>
        </pc:graphicFrameChg>
      </pc:sldChg>
      <pc:sldChg chg="addSp delSp modSp del mod">
        <pc:chgData name="Colon, Jeffrey M." userId="615143b1-cdee-493d-9a9d-1565ce8666d9" providerId="ADAL" clId="{DC1DB158-BAB1-5930-B714-AEF472873853}" dt="2026-10-05T01:50:29.840" v="31" actId="2696"/>
        <pc:sldMkLst>
          <pc:docMk/>
          <pc:sldMk cId="2667581147" sldId="468"/>
        </pc:sldMkLst>
        <pc:spChg chg="del">
          <ac:chgData name="Colon, Jeffrey M." userId="615143b1-cdee-493d-9a9d-1565ce8666d9" providerId="ADAL" clId="{DC1DB158-BAB1-5930-B714-AEF472873853}" dt="2026-10-05T01:48:16.739" v="16"/>
          <ac:spMkLst>
            <pc:docMk/>
            <pc:sldMk cId="2667581147" sldId="468"/>
            <ac:spMk id="2" creationId="{F73FD612-65E6-7847-BAA9-597F511B281B}"/>
          </ac:spMkLst>
        </pc:spChg>
        <pc:spChg chg="add del mod">
          <ac:chgData name="Colon, Jeffrey M." userId="615143b1-cdee-493d-9a9d-1565ce8666d9" providerId="ADAL" clId="{DC1DB158-BAB1-5930-B714-AEF472873853}" dt="2026-10-05T01:50:15.045" v="28" actId="478"/>
          <ac:spMkLst>
            <pc:docMk/>
            <pc:sldMk cId="2667581147" sldId="468"/>
            <ac:spMk id="9" creationId="{6F58599A-5EB6-ADCE-E2DA-8F76EE2BF16C}"/>
          </ac:spMkLst>
        </pc:spChg>
        <pc:graphicFrameChg chg="add del mod modGraphic">
          <ac:chgData name="Colon, Jeffrey M." userId="615143b1-cdee-493d-9a9d-1565ce8666d9" providerId="ADAL" clId="{DC1DB158-BAB1-5930-B714-AEF472873853}" dt="2026-10-05T01:50:12.200" v="27" actId="478"/>
          <ac:graphicFrameMkLst>
            <pc:docMk/>
            <pc:sldMk cId="2667581147" sldId="468"/>
            <ac:graphicFrameMk id="6" creationId="{76742020-30F3-E8B8-9A2E-90E47FA1562A}"/>
          </ac:graphicFrameMkLst>
        </pc:graphicFrameChg>
        <pc:graphicFrameChg chg="add mod">
          <ac:chgData name="Colon, Jeffrey M." userId="615143b1-cdee-493d-9a9d-1565ce8666d9" providerId="ADAL" clId="{DC1DB158-BAB1-5930-B714-AEF472873853}" dt="2026-10-05T01:50:24.805" v="30" actId="14100"/>
          <ac:graphicFrameMkLst>
            <pc:docMk/>
            <pc:sldMk cId="2667581147" sldId="468"/>
            <ac:graphicFrameMk id="7" creationId="{BD02EAEA-A608-AFC6-56A6-7423402EF0DB}"/>
          </ac:graphicFrameMkLst>
        </pc:graphicFrameChg>
      </pc:sldChg>
      <pc:sldChg chg="addSp modSp new mod">
        <pc:chgData name="Colon, Jeffrey M." userId="615143b1-cdee-493d-9a9d-1565ce8666d9" providerId="ADAL" clId="{DC1DB158-BAB1-5930-B714-AEF472873853}" dt="2026-10-05T02:34:44.843" v="270" actId="1076"/>
        <pc:sldMkLst>
          <pc:docMk/>
          <pc:sldMk cId="3578316727" sldId="468"/>
        </pc:sldMkLst>
        <pc:spChg chg="mod">
          <ac:chgData name="Colon, Jeffrey M." userId="615143b1-cdee-493d-9a9d-1565ce8666d9" providerId="ADAL" clId="{DC1DB158-BAB1-5930-B714-AEF472873853}" dt="2026-10-05T02:33:46.264" v="159" actId="403"/>
          <ac:spMkLst>
            <pc:docMk/>
            <pc:sldMk cId="3578316727" sldId="468"/>
            <ac:spMk id="2" creationId="{46D99085-B9A5-9F86-07EF-6FE83F3D5A13}"/>
          </ac:spMkLst>
        </pc:spChg>
        <pc:spChg chg="mod">
          <ac:chgData name="Colon, Jeffrey M." userId="615143b1-cdee-493d-9a9d-1565ce8666d9" providerId="ADAL" clId="{DC1DB158-BAB1-5930-B714-AEF472873853}" dt="2026-10-05T02:26:37.405" v="78"/>
          <ac:spMkLst>
            <pc:docMk/>
            <pc:sldMk cId="3578316727" sldId="468"/>
            <ac:spMk id="3" creationId="{75007796-16DA-24FD-CF23-43B2AB211F5E}"/>
          </ac:spMkLst>
        </pc:spChg>
        <pc:spChg chg="add mod">
          <ac:chgData name="Colon, Jeffrey M." userId="615143b1-cdee-493d-9a9d-1565ce8666d9" providerId="ADAL" clId="{DC1DB158-BAB1-5930-B714-AEF472873853}" dt="2026-10-05T02:34:44.843" v="270" actId="1076"/>
          <ac:spMkLst>
            <pc:docMk/>
            <pc:sldMk cId="3578316727" sldId="468"/>
            <ac:spMk id="6" creationId="{F40E3BA7-1C30-504F-8545-B20974B0034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1"/>
            <a:ext cx="4002299" cy="35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t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>
              <a:latin typeface="Calibri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31642" y="1"/>
            <a:ext cx="4002299" cy="35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t" anchorCtr="0" compatLnSpc="1">
            <a:prstTxWarp prst="textNoShape">
              <a:avLst/>
            </a:prstTxWarp>
          </a:bodyPr>
          <a:lstStyle>
            <a:lvl1pPr algn="r" defTabSz="915988"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>
              <a:latin typeface="Calibri"/>
            </a:endParaRPr>
          </a:p>
        </p:txBody>
      </p:sp>
      <p:sp>
        <p:nvSpPr>
          <p:cNvPr id="993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" y="6658850"/>
            <a:ext cx="4002299" cy="35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b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>
              <a:latin typeface="Calibri"/>
            </a:endParaRPr>
          </a:p>
        </p:txBody>
      </p:sp>
      <p:sp>
        <p:nvSpPr>
          <p:cNvPr id="993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31642" y="6658850"/>
            <a:ext cx="4002299" cy="35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b" anchorCtr="0" compatLnSpc="1">
            <a:prstTxWarp prst="textNoShape">
              <a:avLst/>
            </a:prstTxWarp>
          </a:bodyPr>
          <a:lstStyle>
            <a:lvl1pPr algn="r" defTabSz="915988">
              <a:defRPr sz="1200">
                <a:latin typeface="Arial" charset="0"/>
              </a:defRPr>
            </a:lvl1pPr>
          </a:lstStyle>
          <a:p>
            <a:fld id="{77D1264C-9D5D-7140-9910-CB249C3803C6}" type="slidenum">
              <a:rPr lang="en-US">
                <a:latin typeface="Calibri"/>
              </a:rPr>
              <a:pPr/>
              <a:t>‹#›</a:t>
            </a:fld>
            <a:endParaRPr lang="en-US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234138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1"/>
            <a:ext cx="4002299" cy="35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t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Calibri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31642" y="1"/>
            <a:ext cx="4002299" cy="35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t" anchorCtr="0" compatLnSpc="1">
            <a:prstTxWarp prst="textNoShape">
              <a:avLst/>
            </a:prstTxWarp>
          </a:bodyPr>
          <a:lstStyle>
            <a:lvl1pPr algn="r" defTabSz="915988">
              <a:defRPr sz="1200">
                <a:latin typeface="Calibri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63850" y="525463"/>
            <a:ext cx="3508375" cy="2630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3608" y="3330032"/>
            <a:ext cx="7388860" cy="315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6658850"/>
            <a:ext cx="4002299" cy="35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b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Calibri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31642" y="6658850"/>
            <a:ext cx="4002299" cy="35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b" anchorCtr="0" compatLnSpc="1">
            <a:prstTxWarp prst="textNoShape">
              <a:avLst/>
            </a:prstTxWarp>
          </a:bodyPr>
          <a:lstStyle>
            <a:lvl1pPr algn="r" defTabSz="915988">
              <a:defRPr sz="1200">
                <a:latin typeface="Calibri"/>
              </a:defRPr>
            </a:lvl1pPr>
          </a:lstStyle>
          <a:p>
            <a:fld id="{C54DEF93-04A4-824D-9205-E47AF10447E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5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B7B0922A-775F-7A49-A66B-FB59C2E74CE4}" type="slidenum">
              <a:rPr lang="en-US" sz="1200">
                <a:latin typeface="Calibri"/>
              </a:rPr>
              <a:pPr eaLnBrk="1" hangingPunct="1"/>
              <a:t>2</a:t>
            </a:fld>
            <a:endParaRPr lang="en-US" sz="1200">
              <a:latin typeface="Calibri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67025" y="525463"/>
            <a:ext cx="3506788" cy="2628900"/>
          </a:xfrm>
          <a:solidFill>
            <a:srgbClr val="FFFFFF"/>
          </a:solidFill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1477" y="3330032"/>
            <a:ext cx="6773122" cy="3154256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91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0574A747-BF3A-9448-895C-1CA49FB409F3}" type="slidenum">
              <a:rPr lang="en-US" sz="1200">
                <a:latin typeface="Calibri"/>
              </a:rPr>
              <a:pPr eaLnBrk="1" hangingPunct="1"/>
              <a:t>3</a:t>
            </a:fld>
            <a:endParaRPr lang="en-US" sz="1200">
              <a:latin typeface="Calibri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170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D8F99B7D-DD84-A240-8980-957E9D3794B4}" type="slidenum">
              <a:rPr lang="en-US" sz="1200">
                <a:latin typeface="Calibri"/>
              </a:rPr>
              <a:pPr eaLnBrk="1" hangingPunct="1"/>
              <a:t>6</a:t>
            </a:fld>
            <a:endParaRPr lang="en-US" sz="1200">
              <a:latin typeface="Calibri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213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DEF93-04A4-824D-9205-E47AF10447E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65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48F31A1A-3FB1-BD4E-8431-263881E13CA4}" type="slidenum">
              <a:rPr lang="en-US" sz="1200">
                <a:latin typeface="Calibri"/>
              </a:rPr>
              <a:pPr eaLnBrk="1" hangingPunct="1"/>
              <a:t>16</a:t>
            </a:fld>
            <a:endParaRPr lang="en-US" sz="1200">
              <a:latin typeface="Calibri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153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6783639B-914D-E947-8E8A-3E1EADA15E2B}" type="slidenum">
              <a:rPr lang="en-US" sz="1200">
                <a:latin typeface="Calibri"/>
              </a:rPr>
              <a:pPr eaLnBrk="1" hangingPunct="1"/>
              <a:t>17</a:t>
            </a:fld>
            <a:endParaRPr lang="en-US" sz="1200">
              <a:latin typeface="Calibri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67025" y="525463"/>
            <a:ext cx="3506788" cy="2628900"/>
          </a:xfrm>
          <a:solidFill>
            <a:srgbClr val="FFFFFF"/>
          </a:solidFill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1477" y="3330032"/>
            <a:ext cx="6773122" cy="3154256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267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609F7623-82C3-5A47-A196-7B0D971531D2}" type="slidenum">
              <a:rPr lang="en-US" sz="1200">
                <a:latin typeface="Calibri"/>
              </a:rPr>
              <a:pPr eaLnBrk="1" hangingPunct="1"/>
              <a:t>23</a:t>
            </a:fld>
            <a:endParaRPr lang="en-US" sz="1200">
              <a:latin typeface="Calibri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603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F32B7A37-FAAB-A54A-B911-8DB63A3F09C9}" type="slidenum">
              <a:rPr lang="en-US" sz="1200">
                <a:latin typeface="Calibri"/>
              </a:rPr>
              <a:pPr eaLnBrk="1" hangingPunct="1"/>
              <a:t>24</a:t>
            </a:fld>
            <a:endParaRPr lang="en-US" sz="1200">
              <a:latin typeface="Calibri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874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6388550C-89B8-F34F-B7FF-0F641A78007A}" type="slidenum">
              <a:rPr lang="en-US" sz="1200">
                <a:latin typeface="Calibri"/>
              </a:rPr>
              <a:pPr eaLnBrk="1" hangingPunct="1"/>
              <a:t>25</a:t>
            </a:fld>
            <a:endParaRPr lang="en-US" sz="1200">
              <a:latin typeface="Calibri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2973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64C6D8E0-EE27-DF4E-87BE-775A06305BF2}" type="slidenum">
              <a:rPr lang="en-US" sz="1200">
                <a:latin typeface="Calibri"/>
              </a:rPr>
              <a:pPr eaLnBrk="1" hangingPunct="1"/>
              <a:t>26</a:t>
            </a:fld>
            <a:endParaRPr lang="en-US" sz="1200">
              <a:latin typeface="Calibri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1477" y="3330032"/>
            <a:ext cx="6773122" cy="3154256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7745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F5FCACD3-5B8C-7349-B75B-619B8213426B}" type="slidenum">
              <a:rPr lang="en-US" sz="1200">
                <a:latin typeface="Calibri"/>
              </a:rPr>
              <a:pPr eaLnBrk="1" hangingPunct="1"/>
              <a:t>31</a:t>
            </a:fld>
            <a:endParaRPr lang="en-US" sz="1200">
              <a:latin typeface="Calibri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5856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DEF93-04A4-824D-9205-E47AF10447E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29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0" y="914400"/>
            <a:ext cx="9144000" cy="30008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22D706CB-156B-8643-9A07-D8448DABBCB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74734"/>
            <a:ext cx="2895600" cy="288925"/>
          </a:xfrm>
        </p:spPr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US" dirty="0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31708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4048" y="533400"/>
            <a:ext cx="8458200" cy="5812064"/>
          </a:xfrm>
          <a:prstGeom prst="rect">
            <a:avLst/>
          </a:prstGeom>
        </p:spPr>
        <p:txBody>
          <a:bodyPr/>
          <a:lstStyle>
            <a:lvl1pPr marL="171450" indent="-171450" algn="just" defTabSz="6858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18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42900" indent="-17145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165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165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5800" indent="-171450" algn="just">
              <a:buClr>
                <a:srgbClr val="B01C2E"/>
              </a:buClr>
              <a:buSzPct val="60000"/>
              <a:buFont typeface="Arial" charset="0"/>
              <a:buChar char="•"/>
              <a:defRPr lang="en-US" sz="15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5725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15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384048" y="41934"/>
            <a:ext cx="84582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296466" algn="l"/>
              </a:tabLst>
              <a:defRPr sz="165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8385048" y="6471106"/>
            <a:ext cx="457200" cy="365125"/>
          </a:xfrm>
        </p:spPr>
        <p:txBody>
          <a:bodyPr/>
          <a:lstStyle>
            <a:lvl1pPr algn="r">
              <a:defRPr/>
            </a:lvl1pPr>
          </a:lstStyle>
          <a:p>
            <a:fld id="{7B3E355C-57B9-BC4B-95D8-406A1F83453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384048" y="407061"/>
            <a:ext cx="84582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1631014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381000" y="1417320"/>
            <a:ext cx="4114800" cy="4572000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200">
                <a:latin typeface="Calibri" charset="0"/>
                <a:ea typeface="Calibri" charset="0"/>
                <a:cs typeface="Calibri" charset="0"/>
              </a:defRPr>
            </a:lvl1pPr>
            <a:lvl2pPr marL="342900" indent="-171450">
              <a:buClr>
                <a:schemeClr val="accent1"/>
              </a:buClr>
              <a:buSzPct val="60000"/>
              <a:buFont typeface="Wingdings" charset="2"/>
              <a:buChar char="Ø"/>
              <a:defRPr lang="en-US" sz="1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>
              <a:buClr>
                <a:schemeClr val="accent1"/>
              </a:buClr>
              <a:buSzPct val="60000"/>
              <a:buFont typeface="Courier New" charset="0"/>
              <a:buChar char="o"/>
              <a:defRPr sz="1200">
                <a:latin typeface="Calibri" charset="0"/>
                <a:ea typeface="Calibri" charset="0"/>
                <a:cs typeface="Calibri" charset="0"/>
              </a:defRPr>
            </a:lvl3pPr>
            <a:lvl4pPr marL="685800" indent="-171450">
              <a:buClr>
                <a:schemeClr val="accent1"/>
              </a:buClr>
              <a:buSzPct val="60000"/>
              <a:buFont typeface="Arial" charset="0"/>
              <a:buChar char="•"/>
              <a:defRPr sz="1200">
                <a:latin typeface="Calibri" charset="0"/>
                <a:ea typeface="Calibri" charset="0"/>
                <a:cs typeface="Calibri" charset="0"/>
              </a:defRPr>
            </a:lvl4pPr>
            <a:lvl5pPr marL="857250">
              <a:buClr>
                <a:schemeClr val="accent1"/>
              </a:buClr>
              <a:buSzPct val="60000"/>
              <a:buFont typeface="Arial" pitchFamily="34" charset="0"/>
              <a:buChar char="–"/>
              <a:defRPr sz="12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4648200" y="1417320"/>
            <a:ext cx="4114800" cy="4572000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200">
                <a:latin typeface="Calibri" charset="0"/>
                <a:ea typeface="Calibri" charset="0"/>
                <a:cs typeface="Calibri" charset="0"/>
              </a:defRPr>
            </a:lvl1pPr>
            <a:lvl2pPr marL="342900" indent="-171450">
              <a:buClr>
                <a:schemeClr val="accent1"/>
              </a:buClr>
              <a:buSzPct val="60000"/>
              <a:buFont typeface="Wingdings" charset="2"/>
              <a:buChar char="Ø"/>
              <a:defRPr lang="en-US" sz="1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>
              <a:buClr>
                <a:schemeClr val="accent1"/>
              </a:buClr>
              <a:buSzPct val="60000"/>
              <a:buFont typeface="Courier New" charset="0"/>
              <a:buChar char="o"/>
              <a:defRPr sz="1200">
                <a:latin typeface="Calibri" charset="0"/>
                <a:ea typeface="Calibri" charset="0"/>
                <a:cs typeface="Calibri" charset="0"/>
              </a:defRPr>
            </a:lvl3pPr>
            <a:lvl4pPr marL="685800" indent="-171450">
              <a:buClr>
                <a:schemeClr val="accent1"/>
              </a:buClr>
              <a:buSzPct val="60000"/>
              <a:buFont typeface="Arial" charset="0"/>
              <a:buChar char="•"/>
              <a:defRPr sz="1200">
                <a:latin typeface="Calibri" charset="0"/>
                <a:ea typeface="Calibri" charset="0"/>
                <a:cs typeface="Calibri" charset="0"/>
              </a:defRPr>
            </a:lvl4pPr>
            <a:lvl5pPr marL="857250">
              <a:buClr>
                <a:schemeClr val="accent1"/>
              </a:buClr>
              <a:buSzPct val="60000"/>
              <a:buFont typeface="Arial" pitchFamily="34" charset="0"/>
              <a:buChar char="–"/>
              <a:defRPr sz="12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463EAD6B-1B79-144E-A805-1CA6FF1F03F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061030" y="537029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46826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381000" y="14173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4648200" y="14173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381000" y="3886200"/>
            <a:ext cx="83820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DBDD9035-58B9-F243-8D2E-5AB7C416733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826671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4648200" y="1417320"/>
            <a:ext cx="4114800" cy="48006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381000" y="14173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381000" y="39319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6C93E8D5-2692-0D44-9EA4-C6015F0C54D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79241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527EB-3756-C241-BFD3-DBB1E111190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677754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84048" y="805002"/>
            <a:ext cx="4040188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724400" y="814835"/>
            <a:ext cx="4040188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195227"/>
            <a:ext cx="4041648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4724400" y="1195227"/>
            <a:ext cx="4041648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384048" y="407061"/>
            <a:ext cx="84582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384048" y="3"/>
            <a:ext cx="84582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0391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79413" y="1371600"/>
            <a:ext cx="4040188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724400" y="1371600"/>
            <a:ext cx="4040188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807534"/>
            <a:ext cx="4041648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4724400" y="1807534"/>
            <a:ext cx="4041648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316030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>
            <a:off x="4038600" y="3046413"/>
            <a:ext cx="9906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79412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5029200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807534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5029200" y="1828800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652385A1-7A9F-1D44-AA51-16856D64E5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630788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 userDrawn="1"/>
        </p:nvSpPr>
        <p:spPr bwMode="auto">
          <a:xfrm>
            <a:off x="4019344" y="2692959"/>
            <a:ext cx="994787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 rot="10800000">
            <a:off x="4070503" y="3778177"/>
            <a:ext cx="1014887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79412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5029200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807534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5029200" y="1807534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0A6B8188-A85F-5349-B14D-08361E6A724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218050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4244941" y="3276599"/>
            <a:ext cx="654118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57200" y="4479952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4800600" y="4479952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457200" y="1807534"/>
            <a:ext cx="82296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457200" y="1417320"/>
            <a:ext cx="8229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57200" y="4114800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4800600" y="4114800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7C6F7C23-5FF9-2A4B-BF08-C1294322DB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408964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4244941" y="3276599"/>
            <a:ext cx="654118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57200" y="1783080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4800600" y="1783080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457200" y="4505014"/>
            <a:ext cx="82296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457200" y="4114800"/>
            <a:ext cx="8229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57200" y="1417928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4800600" y="1417928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06494A95-A7E5-E34F-8DB1-F10A4839B0B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653565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4643438" y="4627745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376238" y="4627745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376238" y="3015622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4643438" y="3015622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4643438" y="1403499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376238" y="1403499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6238" y="167640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6238" y="3302419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6238" y="491499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4643438" y="167640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4643438" y="3302418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4643438" y="491499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/>
            </a:lvl1pPr>
          </a:lstStyle>
          <a:p>
            <a:fld id="{A23329EE-AB34-E748-89A3-8E74FFF398F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6149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451174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133600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3847770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5556729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7310438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451174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133600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3847770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5556729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7310438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1EB3DA79-8920-3645-A529-9AD16B41E65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7532699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457200" y="1417320"/>
            <a:ext cx="1682496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457200" y="3065544"/>
            <a:ext cx="1682496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457200" y="4713767"/>
            <a:ext cx="1682496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133600" y="1417320"/>
            <a:ext cx="655624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133600" y="3065543"/>
            <a:ext cx="655624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133600" y="4713767"/>
            <a:ext cx="655624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055F7767-1EA1-1B4C-AF44-6A3FCE36527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39681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22276" y="1397000"/>
            <a:ext cx="1738313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060576" y="1397000"/>
            <a:ext cx="173672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5335590" y="1397000"/>
            <a:ext cx="1738312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3698876" y="1397000"/>
            <a:ext cx="1736725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6973891" y="1397000"/>
            <a:ext cx="173672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422275" y="2954338"/>
            <a:ext cx="2147888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2468564" y="2954338"/>
            <a:ext cx="214947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6561140" y="2954338"/>
            <a:ext cx="214947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4514852" y="2954338"/>
            <a:ext cx="214947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431801" y="4497388"/>
            <a:ext cx="2816225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3170239" y="4497388"/>
            <a:ext cx="2816225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5908676" y="4497388"/>
            <a:ext cx="2816225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48E524AC-D0C7-2340-84EA-A4DF70E8214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3264625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133600" y="1344304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133600" y="2360778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133600" y="3377252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133600" y="4393726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133600" y="5410200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457200" y="1344304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457200" y="2357366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457200" y="3370428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457200" y="4383490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457200" y="5396552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19846C2F-D19C-FA45-A159-B087F18BCD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8685590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/>
          <p:cNvSpPr>
            <a:spLocks noChangeShapeType="1"/>
          </p:cNvSpPr>
          <p:nvPr/>
        </p:nvSpPr>
        <p:spPr bwMode="gray">
          <a:xfrm>
            <a:off x="4419600" y="3632202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16" name="Line 115"/>
          <p:cNvSpPr>
            <a:spLocks noChangeShapeType="1"/>
          </p:cNvSpPr>
          <p:nvPr userDrawn="1"/>
        </p:nvSpPr>
        <p:spPr bwMode="gray">
          <a:xfrm>
            <a:off x="2286000" y="3632202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17" name="Line 118"/>
          <p:cNvSpPr>
            <a:spLocks noChangeShapeType="1"/>
          </p:cNvSpPr>
          <p:nvPr/>
        </p:nvSpPr>
        <p:spPr bwMode="gray">
          <a:xfrm>
            <a:off x="6753225" y="3632202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grpSp>
        <p:nvGrpSpPr>
          <p:cNvPr id="18" name="Group 123"/>
          <p:cNvGrpSpPr>
            <a:grpSpLocks/>
          </p:cNvGrpSpPr>
          <p:nvPr userDrawn="1"/>
        </p:nvGrpSpPr>
        <p:grpSpPr bwMode="auto">
          <a:xfrm>
            <a:off x="458789" y="3478213"/>
            <a:ext cx="7769225" cy="182562"/>
            <a:chOff x="289" y="2191"/>
            <a:chExt cx="4894" cy="115"/>
          </a:xfrm>
        </p:grpSpPr>
        <p:grpSp>
          <p:nvGrpSpPr>
            <p:cNvPr id="19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4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5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6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7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0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3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4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5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2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21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1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sp>
          <p:nvSpPr>
            <p:cNvPr id="22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3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4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5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66" name="Line 125"/>
          <p:cNvSpPr>
            <a:spLocks noChangeShapeType="1"/>
          </p:cNvSpPr>
          <p:nvPr userDrawn="1"/>
        </p:nvSpPr>
        <p:spPr bwMode="gray">
          <a:xfrm>
            <a:off x="3429000" y="3651252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67" name="Line 4"/>
          <p:cNvSpPr>
            <a:spLocks noChangeShapeType="1"/>
          </p:cNvSpPr>
          <p:nvPr userDrawn="1"/>
        </p:nvSpPr>
        <p:spPr bwMode="gray">
          <a:xfrm>
            <a:off x="16764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68" name="Line 108"/>
          <p:cNvSpPr>
            <a:spLocks noChangeShapeType="1"/>
          </p:cNvSpPr>
          <p:nvPr userDrawn="1"/>
        </p:nvSpPr>
        <p:spPr bwMode="gray">
          <a:xfrm>
            <a:off x="5562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69" name="Line 111"/>
          <p:cNvSpPr>
            <a:spLocks noChangeShapeType="1"/>
          </p:cNvSpPr>
          <p:nvPr userDrawn="1"/>
        </p:nvSpPr>
        <p:spPr bwMode="gray">
          <a:xfrm>
            <a:off x="7696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70" name="Line 139"/>
          <p:cNvSpPr>
            <a:spLocks noChangeShapeType="1"/>
          </p:cNvSpPr>
          <p:nvPr userDrawn="1"/>
        </p:nvSpPr>
        <p:spPr bwMode="gray">
          <a:xfrm>
            <a:off x="3281363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71" name="AutoShape 3"/>
          <p:cNvSpPr>
            <a:spLocks noChangeArrowheads="1"/>
          </p:cNvSpPr>
          <p:nvPr userDrawn="1"/>
        </p:nvSpPr>
        <p:spPr bwMode="gray">
          <a:xfrm>
            <a:off x="452438" y="3413125"/>
            <a:ext cx="8239125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68580" bIns="6858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nl-NL" altLang="en-US" sz="750" b="1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/>
          <p:cNvGrpSpPr>
            <a:grpSpLocks/>
          </p:cNvGrpSpPr>
          <p:nvPr userDrawn="1"/>
        </p:nvGrpSpPr>
        <p:grpSpPr bwMode="auto">
          <a:xfrm>
            <a:off x="611189" y="3460752"/>
            <a:ext cx="7769225" cy="182563"/>
            <a:chOff x="289" y="2191"/>
            <a:chExt cx="4894" cy="115"/>
          </a:xfrm>
        </p:grpSpPr>
        <p:grpSp>
          <p:nvGrpSpPr>
            <p:cNvPr id="73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4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5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6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7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8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9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5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6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7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8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9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0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1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2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3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4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5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6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75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2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3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4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5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6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7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8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9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0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2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3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sp>
          <p:nvSpPr>
            <p:cNvPr id="76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8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0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2535866" y="12954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06680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358140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530352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722376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914400" y="2133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6934200" y="2133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1524000" y="41148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4800600" y="2133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2667000" y="5181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5991225" y="41148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3657600" y="41148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132B4441-E44F-854A-A9C3-46F08E0FCF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1" name="Footer Placeholder 13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808520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914401" y="1295400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914401" y="1800013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914401" y="2304626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914401" y="2809239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914401" y="3313852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914401" y="3818465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914401" y="4323078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914401" y="4827691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457200" y="1295400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457200" y="1800013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457200" y="2304626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457200" y="2809239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457200" y="3313852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457200" y="3818465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457200" y="4323078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457200" y="4827691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8229600" y="1295400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8229600" y="1800013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8229600" y="2304626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8229600" y="2809239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8229600" y="3313852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8229600" y="3818465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8229600" y="4323078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8229600" y="4827691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911777" y="5332304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454575" y="5332304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8226975" y="5332304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911777" y="5836920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454575" y="5836920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8226975" y="5836920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/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>
              <a:defRPr/>
            </a:lvl1pPr>
          </a:lstStyle>
          <a:p>
            <a:fld id="{4A9EBD57-3091-C548-9F5E-83F63CC3338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3" name="Footer Placeholder 12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1457956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457200" y="1335024"/>
            <a:ext cx="13716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457200" y="3744363"/>
            <a:ext cx="13716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1905000" y="1348565"/>
            <a:ext cx="9144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1905000" y="3763963"/>
            <a:ext cx="9144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1905000" y="2199167"/>
            <a:ext cx="9144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1905000" y="4619625"/>
            <a:ext cx="9144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19400" y="1348565"/>
            <a:ext cx="5870448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19400" y="3763963"/>
            <a:ext cx="5870448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19400" y="2199167"/>
            <a:ext cx="5870448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19400" y="4619625"/>
            <a:ext cx="5870448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1622A13A-1CFD-CA4E-A8DD-C641C07281E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3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542720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>
            <a:spLocks/>
          </p:cNvSpPr>
          <p:nvPr userDrawn="1"/>
        </p:nvSpPr>
        <p:spPr bwMode="auto">
          <a:xfrm>
            <a:off x="4646613" y="1914525"/>
            <a:ext cx="36576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274320" rIns="137160" bIns="137160"/>
          <a:lstStyle/>
          <a:p>
            <a:endParaRPr lang="en-US" sz="1350"/>
          </a:p>
        </p:txBody>
      </p:sp>
      <p:sp>
        <p:nvSpPr>
          <p:cNvPr id="8" name="Freeform 4"/>
          <p:cNvSpPr>
            <a:spLocks/>
          </p:cNvSpPr>
          <p:nvPr userDrawn="1"/>
        </p:nvSpPr>
        <p:spPr bwMode="auto">
          <a:xfrm>
            <a:off x="752475" y="1914525"/>
            <a:ext cx="36576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274320" rIns="137160" bIns="137160"/>
          <a:lstStyle/>
          <a:p>
            <a:endParaRPr lang="en-US" sz="135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2262459" y="-89846"/>
            <a:ext cx="636898" cy="36576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6157271" y="-89846"/>
            <a:ext cx="636898" cy="36576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752108" y="2282953"/>
            <a:ext cx="36576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4646920" y="2282953"/>
            <a:ext cx="36576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9B3A2EF8-18A0-3548-8284-3CDE95E84B9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0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4518737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/>
          <p:cNvSpPr>
            <a:spLocks/>
          </p:cNvSpPr>
          <p:nvPr userDrawn="1"/>
        </p:nvSpPr>
        <p:spPr bwMode="auto">
          <a:xfrm>
            <a:off x="441326" y="1911352"/>
            <a:ext cx="1920875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2" name="Freeform 4"/>
          <p:cNvSpPr>
            <a:spLocks/>
          </p:cNvSpPr>
          <p:nvPr userDrawn="1"/>
        </p:nvSpPr>
        <p:spPr bwMode="auto">
          <a:xfrm>
            <a:off x="2552701" y="1911352"/>
            <a:ext cx="1919288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3" name="Freeform 4"/>
          <p:cNvSpPr>
            <a:spLocks/>
          </p:cNvSpPr>
          <p:nvPr userDrawn="1"/>
        </p:nvSpPr>
        <p:spPr bwMode="auto">
          <a:xfrm>
            <a:off x="4648201" y="1911352"/>
            <a:ext cx="1920875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4" name="Freeform 4"/>
          <p:cNvSpPr>
            <a:spLocks/>
          </p:cNvSpPr>
          <p:nvPr userDrawn="1"/>
        </p:nvSpPr>
        <p:spPr bwMode="auto">
          <a:xfrm>
            <a:off x="6770689" y="1911352"/>
            <a:ext cx="1920875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095755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3206179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5301996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7425119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41959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552383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648200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771323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6D75ED15-758A-614E-A17B-56CD5E692F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8392544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338328" y="1450181"/>
            <a:ext cx="259689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3273554" y="1447806"/>
            <a:ext cx="2651125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6208779" y="1447806"/>
            <a:ext cx="2651125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273552" y="2057400"/>
            <a:ext cx="2523744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208776" y="2057400"/>
            <a:ext cx="2523744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38328" y="2057403"/>
            <a:ext cx="2523744" cy="230832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8A4AF9FF-8501-8442-BA34-6C86C862CF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8509382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7129272" y="1493520"/>
            <a:ext cx="1481328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23444" indent="-123444" algn="l">
              <a:lnSpc>
                <a:spcPts val="105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900" b="0">
                <a:solidFill>
                  <a:srgbClr val="000000"/>
                </a:solidFill>
              </a:defRPr>
            </a:lvl1pPr>
            <a:lvl2pPr marL="123444" indent="0" algn="l">
              <a:spcBef>
                <a:spcPts val="525"/>
              </a:spcBef>
              <a:buNone/>
              <a:defRPr sz="900" b="0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457200" y="1600200"/>
            <a:ext cx="16002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900" b="1" baseline="0">
                <a:solidFill>
                  <a:srgbClr val="FFFFFF"/>
                </a:solidFill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457200" y="4876800"/>
            <a:ext cx="16002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9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457200" y="3238500"/>
            <a:ext cx="16002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9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191512" y="1600200"/>
            <a:ext cx="4864608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191512" y="3238500"/>
            <a:ext cx="4864608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191512" y="4876800"/>
            <a:ext cx="4864608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00398512-78EB-D84B-88E3-8EFD360D49E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8190295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684213" y="2635250"/>
            <a:ext cx="7777162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68580" bIns="6858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350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051560" y="1417320"/>
            <a:ext cx="329184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4572000" y="1417320"/>
            <a:ext cx="329184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051560" y="1874520"/>
            <a:ext cx="329184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4572000" y="1874520"/>
            <a:ext cx="329184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B47071-B393-DC4F-9921-408D035EE57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0921333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>
            <a:spLocks/>
          </p:cNvSpPr>
          <p:nvPr userDrawn="1"/>
        </p:nvSpPr>
        <p:spPr bwMode="auto">
          <a:xfrm>
            <a:off x="4384675" y="3341688"/>
            <a:ext cx="376238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54000" tIns="54000" rIns="54000" bIns="54000" anchor="ctr"/>
          <a:lstStyle/>
          <a:p>
            <a:endParaRPr lang="en-US" sz="135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835152" y="1417320"/>
            <a:ext cx="303580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266627" y="1417320"/>
            <a:ext cx="3054096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835152" y="1874520"/>
            <a:ext cx="329184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5028883" y="1874520"/>
            <a:ext cx="329184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637242-61C1-4C47-AFEF-079B86936FE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8050001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6181725" y="1577977"/>
            <a:ext cx="2487168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484632" y="1577977"/>
            <a:ext cx="2487168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2667000" y="182880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2667000" y="242316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2667000" y="301752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2667000" y="361188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2667000" y="420624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2667000" y="480060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2514600" y="1981200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2514600" y="2570074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2514600" y="3158948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2514600" y="3747822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2514600" y="4336696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2514600" y="4925568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6F716D94-026E-1240-A247-91A0127FD88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3623566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396240" y="160020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621280" y="160020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96240" y="274828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2621280" y="274828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96240" y="389636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2621280" y="389636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2266" y="504444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2627306" y="504444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DDD5FA0E-3EAB-CB47-B428-C2E5915BFD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3149963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731520" y="1097281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362200" y="1371600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2362200" y="2474977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2362200" y="3578353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2362200" y="4681728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731520" y="2200657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731520" y="3304033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731520" y="4407408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4835DA82-056E-9542-8819-BE1B86DFF07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9887688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>
            <a:spLocks noChangeArrowheads="1"/>
          </p:cNvSpPr>
          <p:nvPr userDrawn="1"/>
        </p:nvSpPr>
        <p:spPr bwMode="auto">
          <a:xfrm rot="5400000">
            <a:off x="5297488" y="3346450"/>
            <a:ext cx="4406900" cy="13716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2" name="AutoShape 4"/>
          <p:cNvSpPr>
            <a:spLocks noChangeArrowheads="1"/>
          </p:cNvSpPr>
          <p:nvPr userDrawn="1"/>
        </p:nvSpPr>
        <p:spPr bwMode="auto">
          <a:xfrm rot="5400000">
            <a:off x="-760413" y="3351213"/>
            <a:ext cx="4416425" cy="13716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3" name="AutoShape 5"/>
          <p:cNvSpPr>
            <a:spLocks noChangeArrowheads="1"/>
          </p:cNvSpPr>
          <p:nvPr userDrawn="1"/>
        </p:nvSpPr>
        <p:spPr bwMode="auto">
          <a:xfrm rot="5400000">
            <a:off x="754063" y="3351213"/>
            <a:ext cx="4416425" cy="13716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4" name="AutoShape 6"/>
          <p:cNvSpPr>
            <a:spLocks noChangeArrowheads="1"/>
          </p:cNvSpPr>
          <p:nvPr userDrawn="1"/>
        </p:nvSpPr>
        <p:spPr bwMode="auto">
          <a:xfrm rot="5400000">
            <a:off x="2266951" y="3351213"/>
            <a:ext cx="4416425" cy="13716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5" name="AutoShape 7"/>
          <p:cNvSpPr>
            <a:spLocks noChangeArrowheads="1"/>
          </p:cNvSpPr>
          <p:nvPr userDrawn="1"/>
        </p:nvSpPr>
        <p:spPr bwMode="auto">
          <a:xfrm rot="5400000">
            <a:off x="3781426" y="3351213"/>
            <a:ext cx="4416425" cy="13716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762000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2276475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3789363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5303838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6815138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09600" y="2133601"/>
            <a:ext cx="7891272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09600" y="3390901"/>
            <a:ext cx="7891272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>
              <a:def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4648200"/>
            <a:ext cx="7891272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>
              <a:def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4755A724-3117-D848-90FF-6F79FEC2065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2441595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3273552" y="1444752"/>
            <a:ext cx="2596896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5370576" y="152400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609600" y="152400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370576" y="255016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609600" y="255016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70576" y="357632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609600" y="357632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5370576" y="460248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609600" y="460248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fld id="{BA6B416F-5AE6-D74C-AE38-5D34E63DFA9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4286214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6248400" y="1420504"/>
            <a:ext cx="2587752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836676">
              <a:buClr>
                <a:srgbClr val="B01C1A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502920" y="15544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502920" y="27482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502920" y="39420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502920" y="51358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12EFD6B5-614C-464C-AC16-8E45A0815B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8652580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304800" y="2362200"/>
            <a:ext cx="6117336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04800" y="3491484"/>
            <a:ext cx="6096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304800" y="4620768"/>
            <a:ext cx="6096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6411433" y="1417320"/>
            <a:ext cx="210312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4391025" y="2136788"/>
            <a:ext cx="1481328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774061" y="2136788"/>
            <a:ext cx="1481328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157097" y="2136788"/>
            <a:ext cx="1481328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157097" y="1738919"/>
            <a:ext cx="1481328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2774061" y="1738919"/>
            <a:ext cx="1481328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4391025" y="1738919"/>
            <a:ext cx="1481328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6411433" y="1861185"/>
            <a:ext cx="210312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08AE5534-AA48-F74E-87DE-645A72BA9DD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4874273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/>
          <p:cNvSpPr>
            <a:spLocks/>
          </p:cNvSpPr>
          <p:nvPr userDrawn="1"/>
        </p:nvSpPr>
        <p:spPr bwMode="auto">
          <a:xfrm>
            <a:off x="3068639" y="1981202"/>
            <a:ext cx="2536825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7" name="Freeform 13"/>
          <p:cNvSpPr>
            <a:spLocks/>
          </p:cNvSpPr>
          <p:nvPr userDrawn="1"/>
        </p:nvSpPr>
        <p:spPr bwMode="auto">
          <a:xfrm>
            <a:off x="457201" y="1982790"/>
            <a:ext cx="2530475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1" name="Freeform 14"/>
          <p:cNvSpPr>
            <a:spLocks/>
          </p:cNvSpPr>
          <p:nvPr userDrawn="1"/>
        </p:nvSpPr>
        <p:spPr bwMode="auto">
          <a:xfrm>
            <a:off x="5684839" y="1981202"/>
            <a:ext cx="2871787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5680886" y="1983087"/>
            <a:ext cx="287574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3068559" y="1983087"/>
            <a:ext cx="2674468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457200" y="4038600"/>
            <a:ext cx="80772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457200" y="5937504"/>
            <a:ext cx="3950208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30302" algn="l">
              <a:buClr>
                <a:schemeClr val="accent1"/>
              </a:buClr>
              <a:buFont typeface="Wingdings" pitchFamily="2" charset="2"/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4585778" y="5937504"/>
            <a:ext cx="3950208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30302" algn="l">
              <a:buClr>
                <a:schemeClr val="accent1"/>
              </a:buClr>
              <a:buFont typeface="Wingdings" pitchFamily="2" charset="2"/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7200" y="1417320"/>
            <a:ext cx="5193792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5656263" y="1417326"/>
            <a:ext cx="3035808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257175" marR="0" indent="-257175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457200" y="1983087"/>
            <a:ext cx="2674468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457200" y="1981200"/>
            <a:ext cx="2473180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3144323" y="1988239"/>
            <a:ext cx="238753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457200" y="4343400"/>
            <a:ext cx="80772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30302" indent="-130302">
              <a:lnSpc>
                <a:spcPct val="95000"/>
              </a:lnSpc>
              <a:spcBef>
                <a:spcPts val="540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260604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390906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514350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685800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5762431" y="1987175"/>
            <a:ext cx="2794197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E70D8206-912D-3041-8A60-C5747B4B98E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6920660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/>
          <p:cNvSpPr/>
          <p:nvPr userDrawn="1"/>
        </p:nvSpPr>
        <p:spPr bwMode="auto">
          <a:xfrm>
            <a:off x="5507039" y="1755775"/>
            <a:ext cx="679450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88106" eaLnBrk="0" hangingPunct="0">
              <a:lnSpc>
                <a:spcPct val="95000"/>
              </a:lnSpc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2993735" y="1290639"/>
            <a:ext cx="237744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477838" y="1290639"/>
            <a:ext cx="237744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2993735" y="1290638"/>
            <a:ext cx="237744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6300383" y="1290638"/>
            <a:ext cx="237744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477838" y="1290638"/>
            <a:ext cx="237744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569278" y="1731264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89154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569278" y="2357120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569278" y="2982976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569278" y="3608832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569278" y="4234688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569278" y="5486400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569278" y="4860544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3085175" y="1743456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3085175" y="2369312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3085175" y="2995168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3085175" y="3621024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3085175" y="4246880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3085175" y="5498592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3085175" y="4872736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6300383" y="1743456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6300383" y="2369312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6300383" y="2995168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6300383" y="3621024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6300383" y="4246880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6300383" y="5498592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6300383" y="4872736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/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>
              <a:defRPr/>
            </a:lvl1pPr>
          </a:lstStyle>
          <a:p>
            <a:fld id="{250D9D91-D592-1043-AF8D-0FC015913F1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" name="Footer Placeholder 33"/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8185977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/>
          <p:cNvSpPr/>
          <p:nvPr userDrawn="1"/>
        </p:nvSpPr>
        <p:spPr bwMode="auto">
          <a:xfrm>
            <a:off x="5349876" y="1497015"/>
            <a:ext cx="679450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7082028" y="330708"/>
            <a:ext cx="640080" cy="2569464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6117336" y="1981200"/>
            <a:ext cx="2569464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" pitchFamily="2" charset="2"/>
              <a:buChar char="§"/>
              <a:defRPr sz="900" b="1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="1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="1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 b="1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381003" y="149701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381003" y="298543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381003" y="447385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057403" y="149701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057403" y="298543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057403" y="447385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3733803" y="149701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3733803" y="298543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3733803" y="447385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09CF501B-85A3-0748-9525-578425C4928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9106124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/>
          <p:cNvCxnSpPr>
            <a:cxnSpLocks noChangeShapeType="1"/>
          </p:cNvCxnSpPr>
          <p:nvPr userDrawn="1"/>
        </p:nvCxnSpPr>
        <p:spPr bwMode="auto">
          <a:xfrm rot="16200000" flipH="1">
            <a:off x="909638" y="2395538"/>
            <a:ext cx="768350" cy="638175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/>
          <p:cNvCxnSpPr>
            <a:cxnSpLocks noChangeShapeType="1"/>
          </p:cNvCxnSpPr>
          <p:nvPr userDrawn="1"/>
        </p:nvCxnSpPr>
        <p:spPr bwMode="auto">
          <a:xfrm rot="16200000" flipH="1">
            <a:off x="2066926" y="3590927"/>
            <a:ext cx="752475" cy="625475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/>
          <p:cNvCxnSpPr>
            <a:cxnSpLocks noChangeShapeType="1"/>
          </p:cNvCxnSpPr>
          <p:nvPr userDrawn="1"/>
        </p:nvCxnSpPr>
        <p:spPr bwMode="auto">
          <a:xfrm rot="16200000" flipH="1">
            <a:off x="3234532" y="4814095"/>
            <a:ext cx="698500" cy="595313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3881706" y="4986243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479117" y="1441358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1612733" y="2622986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2755736" y="3804614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0C10D6D8-3B97-854D-B9A2-DD1E2B17F6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98264908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712789" y="1782765"/>
            <a:ext cx="7969250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8" name="Parallelogram 7"/>
          <p:cNvSpPr/>
          <p:nvPr userDrawn="1"/>
        </p:nvSpPr>
        <p:spPr bwMode="auto">
          <a:xfrm>
            <a:off x="712789" y="5300665"/>
            <a:ext cx="7969250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4" name="Parallelogram 13"/>
          <p:cNvSpPr/>
          <p:nvPr userDrawn="1"/>
        </p:nvSpPr>
        <p:spPr bwMode="auto">
          <a:xfrm>
            <a:off x="712789" y="4129090"/>
            <a:ext cx="7969250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5" name="Parallelogram 14"/>
          <p:cNvSpPr/>
          <p:nvPr userDrawn="1"/>
        </p:nvSpPr>
        <p:spPr bwMode="auto">
          <a:xfrm>
            <a:off x="712789" y="2955925"/>
            <a:ext cx="7969250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708691" y="1501649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708691" y="5019704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marR="0" indent="-132160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708691" y="3847017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708691" y="2674336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7E92AD8-7AD1-8240-8596-9839AB315E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5023489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/>
          <p:cNvCxnSpPr>
            <a:cxnSpLocks noChangeShapeType="1"/>
          </p:cNvCxnSpPr>
          <p:nvPr userDrawn="1"/>
        </p:nvCxnSpPr>
        <p:spPr bwMode="auto">
          <a:xfrm>
            <a:off x="477838" y="3294065"/>
            <a:ext cx="7988300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477838" y="4670425"/>
            <a:ext cx="7988300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>
            <a:off x="477838" y="6046790"/>
            <a:ext cx="7988300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582996" y="1290644"/>
            <a:ext cx="1870718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6896505" y="1290644"/>
            <a:ext cx="1903870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5114285" y="1290644"/>
            <a:ext cx="1903870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3332064" y="1290644"/>
            <a:ext cx="1903870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457200" y="2068960"/>
            <a:ext cx="100584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7200" y="3436667"/>
            <a:ext cx="100584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57200" y="4802487"/>
            <a:ext cx="100584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1582996" y="2068960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1582996" y="3441508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1582996" y="4807328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3332064" y="2066925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3332064" y="343947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3332064" y="480529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5114284" y="2066925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5114284" y="343947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5114284" y="480529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6896505" y="2066925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6896505" y="343947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896505" y="480529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/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/>
            </a:lvl1pPr>
          </a:lstStyle>
          <a:p>
            <a:fld id="{BC9105C1-E9DE-DA45-BFF7-4F496C07EB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6" name="Footer Placeholder 37"/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6516434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/>
          <p:cNvSpPr>
            <a:spLocks noChangeArrowheads="1"/>
          </p:cNvSpPr>
          <p:nvPr userDrawn="1"/>
        </p:nvSpPr>
        <p:spPr bwMode="auto">
          <a:xfrm>
            <a:off x="2151064" y="1277938"/>
            <a:ext cx="6618287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2160589" y="1568450"/>
            <a:ext cx="6608762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 rot="16200000" flipH="1">
            <a:off x="-167481" y="3604420"/>
            <a:ext cx="4665662" cy="1270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/>
          <p:cNvGrpSpPr>
            <a:grpSpLocks/>
          </p:cNvGrpSpPr>
          <p:nvPr userDrawn="1"/>
        </p:nvGrpSpPr>
        <p:grpSpPr bwMode="auto">
          <a:xfrm>
            <a:off x="2584450" y="1576388"/>
            <a:ext cx="5530850" cy="4367212"/>
            <a:chOff x="2585007" y="1576462"/>
            <a:chExt cx="5530617" cy="4041195"/>
          </a:xfrm>
        </p:grpSpPr>
        <p:cxnSp>
          <p:nvCxnSpPr>
            <p:cNvPr id="42" name="Straight Connector 12"/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/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/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/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/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/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/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/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/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/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/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/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/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/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/>
          <p:cNvSpPr>
            <a:spLocks noChangeArrowheads="1"/>
          </p:cNvSpPr>
          <p:nvPr userDrawn="1"/>
        </p:nvSpPr>
        <p:spPr bwMode="auto">
          <a:xfrm>
            <a:off x="468313" y="1860550"/>
            <a:ext cx="8069262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 userDrawn="1"/>
        </p:nvSpPr>
        <p:spPr bwMode="auto">
          <a:xfrm>
            <a:off x="468314" y="1277938"/>
            <a:ext cx="1692275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/>
          <p:cNvCxnSpPr>
            <a:cxnSpLocks noChangeShapeType="1"/>
          </p:cNvCxnSpPr>
          <p:nvPr userDrawn="1"/>
        </p:nvCxnSpPr>
        <p:spPr bwMode="auto">
          <a:xfrm>
            <a:off x="473075" y="1277938"/>
            <a:ext cx="16764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159965" y="1282931"/>
            <a:ext cx="6372290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3016122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3441598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165170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590645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4718026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5143501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3867073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292550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6419929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45406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5568978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5994454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7270882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7696357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8121834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548056" y="1548247"/>
            <a:ext cx="645582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401427" y="1278089"/>
            <a:ext cx="645582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6858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533400" y="1905000"/>
            <a:ext cx="155448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30302" indent="-130302" algn="l">
              <a:spcBef>
                <a:spcPts val="150"/>
              </a:spcBef>
              <a:buClr>
                <a:srgbClr val="B01C2E"/>
              </a:buClr>
              <a:buFont typeface="Wingdings" pitchFamily="2" charset="2"/>
              <a:buChar char="§"/>
              <a:defRPr sz="90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>
              <a:defRPr/>
            </a:lvl1pPr>
          </a:lstStyle>
          <a:p>
            <a:fld id="{A2AEA599-6C77-BA4A-9F89-7B2425581C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4" name="Footer Placeholder 47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7740447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/>
          <p:cNvSpPr>
            <a:spLocks noChangeArrowheads="1"/>
          </p:cNvSpPr>
          <p:nvPr userDrawn="1"/>
        </p:nvSpPr>
        <p:spPr bwMode="auto">
          <a:xfrm>
            <a:off x="1555750" y="1828802"/>
            <a:ext cx="7131050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350">
              <a:latin typeface="Arial" charset="0"/>
            </a:endParaRPr>
          </a:p>
        </p:txBody>
      </p:sp>
      <p:sp>
        <p:nvSpPr>
          <p:cNvPr id="71" name="Rectangle 13"/>
          <p:cNvSpPr>
            <a:spLocks noChangeArrowheads="1"/>
          </p:cNvSpPr>
          <p:nvPr userDrawn="1"/>
        </p:nvSpPr>
        <p:spPr bwMode="auto">
          <a:xfrm>
            <a:off x="447675" y="2189163"/>
            <a:ext cx="1098550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350">
              <a:latin typeface="Arial" charset="0"/>
            </a:endParaRPr>
          </a:p>
        </p:txBody>
      </p:sp>
      <p:grpSp>
        <p:nvGrpSpPr>
          <p:cNvPr id="72" name="Group 84"/>
          <p:cNvGrpSpPr>
            <a:grpSpLocks/>
          </p:cNvGrpSpPr>
          <p:nvPr userDrawn="1"/>
        </p:nvGrpSpPr>
        <p:grpSpPr bwMode="auto">
          <a:xfrm>
            <a:off x="442914" y="1819275"/>
            <a:ext cx="8234362" cy="3657600"/>
            <a:chOff x="443344" y="1819866"/>
            <a:chExt cx="8234523" cy="3657600"/>
          </a:xfrm>
        </p:grpSpPr>
        <p:grpSp>
          <p:nvGrpSpPr>
            <p:cNvPr id="73" name="Group 83"/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/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/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/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/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/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/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/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/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/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/>
          <p:cNvSpPr txBox="1">
            <a:spLocks noChangeArrowheads="1"/>
          </p:cNvSpPr>
          <p:nvPr userDrawn="1"/>
        </p:nvSpPr>
        <p:spPr bwMode="auto">
          <a:xfrm>
            <a:off x="512764" y="1566865"/>
            <a:ext cx="884237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050"/>
              </a:lnSpc>
              <a:spcBef>
                <a:spcPts val="1125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600" b="1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/>
          <p:cNvSpPr txBox="1">
            <a:spLocks noChangeArrowheads="1"/>
          </p:cNvSpPr>
          <p:nvPr userDrawn="1"/>
        </p:nvSpPr>
        <p:spPr bwMode="auto">
          <a:xfrm>
            <a:off x="512764" y="1939925"/>
            <a:ext cx="884237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050"/>
              </a:lnSpc>
              <a:spcBef>
                <a:spcPts val="1125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600" b="1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/>
          <p:cNvCxnSpPr>
            <a:cxnSpLocks noChangeShapeType="1"/>
          </p:cNvCxnSpPr>
          <p:nvPr userDrawn="1"/>
        </p:nvCxnSpPr>
        <p:spPr bwMode="auto">
          <a:xfrm>
            <a:off x="442913" y="2200275"/>
            <a:ext cx="82296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/>
          <p:cNvCxnSpPr>
            <a:cxnSpLocks noChangeShapeType="1"/>
          </p:cNvCxnSpPr>
          <p:nvPr userDrawn="1"/>
        </p:nvCxnSpPr>
        <p:spPr bwMode="auto">
          <a:xfrm>
            <a:off x="442913" y="5486400"/>
            <a:ext cx="82296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/>
          <p:cNvSpPr>
            <a:spLocks/>
          </p:cNvSpPr>
          <p:nvPr userDrawn="1"/>
        </p:nvSpPr>
        <p:spPr bwMode="auto">
          <a:xfrm>
            <a:off x="1555751" y="1468440"/>
            <a:ext cx="7102475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cxnSp>
        <p:nvCxnSpPr>
          <p:cNvPr id="100" name="Straight Connector 42"/>
          <p:cNvCxnSpPr>
            <a:cxnSpLocks noChangeShapeType="1"/>
          </p:cNvCxnSpPr>
          <p:nvPr userDrawn="1"/>
        </p:nvCxnSpPr>
        <p:spPr bwMode="auto">
          <a:xfrm>
            <a:off x="1546226" y="1828800"/>
            <a:ext cx="649288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1546225" y="1835813"/>
            <a:ext cx="64591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203314" y="1835813"/>
            <a:ext cx="64688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850206" y="1835813"/>
            <a:ext cx="65175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3497094" y="1835813"/>
            <a:ext cx="64202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139118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795736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5437760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084651" y="1835813"/>
            <a:ext cx="65175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731540" y="1835813"/>
            <a:ext cx="64689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383292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8025320" y="1835813"/>
            <a:ext cx="65316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469240" y="223026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469240" y="259557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469240" y="296088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469240" y="332619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469240" y="369150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469240" y="405681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469240" y="5152742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469240" y="442212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469240" y="478743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1562267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94301C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203313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2850203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3497093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4139118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4795736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5437760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6084650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6731540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7383292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8025318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1546225" y="2321700"/>
            <a:ext cx="914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1546225" y="2687010"/>
            <a:ext cx="1828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1546225" y="3052320"/>
            <a:ext cx="2743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1546225" y="341763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1546225" y="3782940"/>
            <a:ext cx="4572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1546225" y="4148250"/>
            <a:ext cx="914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1546225" y="4513560"/>
            <a:ext cx="1828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1546225" y="4878870"/>
            <a:ext cx="2743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1546225" y="5244182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3436620" y="5562600"/>
            <a:ext cx="13716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3048000" y="5817472"/>
            <a:ext cx="9144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5355067" y="5562600"/>
            <a:ext cx="13716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4966447" y="5817472"/>
            <a:ext cx="9144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/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>
              <a:defRPr/>
            </a:lvl1pPr>
          </a:lstStyle>
          <a:p>
            <a:fld id="{D003C6ED-C4A5-154D-A951-DFA096D6467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" name="Footer Placeholder 79"/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6629056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/>
          <p:cNvCxnSpPr>
            <a:cxnSpLocks noChangeShapeType="1"/>
          </p:cNvCxnSpPr>
          <p:nvPr userDrawn="1"/>
        </p:nvCxnSpPr>
        <p:spPr bwMode="auto">
          <a:xfrm>
            <a:off x="1779589" y="5981700"/>
            <a:ext cx="5495925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792288" y="5453937"/>
            <a:ext cx="5486400" cy="474325"/>
          </a:xfrm>
          <a:prstGeom prst="rect">
            <a:avLst/>
          </a:prstGeom>
        </p:spPr>
        <p:txBody>
          <a:bodyPr/>
          <a:lstStyle>
            <a:lvl1pPr algn="l">
              <a:defRPr sz="9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66756"/>
            <a:ext cx="54864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6042020"/>
            <a:ext cx="54864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5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769503" y="0"/>
            <a:ext cx="7604994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165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4CE4E3-D3DE-AB41-A281-30813EB547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49714139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452441" y="14478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452441" y="26670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52441" y="51054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7003443" y="14478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7003443" y="26670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7003443" y="38862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7003443" y="51054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452441" y="38862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28FF10-2575-714D-9D0B-AB6D45C94E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8005793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159380" y="1419225"/>
            <a:ext cx="2532185" cy="48006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825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825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825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825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825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598768-D1F4-594C-B51E-99B1ED0603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87511383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75052" y="1419225"/>
            <a:ext cx="5111750" cy="4706938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900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19226"/>
            <a:ext cx="2918298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9B113F-1BA8-CA4E-A6B3-92D1D8C0C88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4925978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1" y="1419225"/>
            <a:ext cx="5111750" cy="4706938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900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5773265" y="1419226"/>
            <a:ext cx="2918298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4011BE-5C53-0E48-93A9-5E9857491FB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86999790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2076450" y="2667000"/>
            <a:ext cx="6629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3" name="TextBox 13"/>
          <p:cNvSpPr txBox="1">
            <a:spLocks noChangeArrowheads="1"/>
          </p:cNvSpPr>
          <p:nvPr userDrawn="1"/>
        </p:nvSpPr>
        <p:spPr bwMode="auto">
          <a:xfrm>
            <a:off x="2066925" y="1108077"/>
            <a:ext cx="32004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750" b="1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5505450" y="1108077"/>
            <a:ext cx="32004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750" b="1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067306" y="2743200"/>
            <a:ext cx="6638544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 "/>
              <a:defRPr sz="750" b="0" baseline="0">
                <a:latin typeface="+mn-lt"/>
              </a:defRPr>
            </a:lvl1pPr>
            <a:lvl2pPr marL="0" indent="0">
              <a:lnSpc>
                <a:spcPts val="9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Char char=" "/>
              <a:defRPr sz="75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171450" indent="-171450">
              <a:buClr>
                <a:srgbClr val="B01C2E"/>
              </a:buClr>
              <a:buFont typeface="Wingdings 2" pitchFamily="18" charset="2"/>
              <a:buChar char="¡"/>
              <a:defRPr sz="750" baseline="0">
                <a:latin typeface="Arial" pitchFamily="34" charset="0"/>
              </a:defRPr>
            </a:lvl3pPr>
            <a:lvl4pPr marL="342900" indent="-171450">
              <a:buClr>
                <a:srgbClr val="B01C2E"/>
              </a:buClr>
              <a:buFont typeface="Arial" pitchFamily="34" charset="0"/>
              <a:buChar char="–"/>
              <a:defRPr sz="750" baseline="0">
                <a:latin typeface="Arial" pitchFamily="34" charset="0"/>
              </a:defRPr>
            </a:lvl4pPr>
            <a:lvl5pPr marL="514350" indent="-171450">
              <a:buClr>
                <a:srgbClr val="B01C2E"/>
              </a:buClr>
              <a:buFont typeface="Arial" pitchFamily="34" charset="0"/>
              <a:buChar char="–"/>
              <a:defRPr sz="75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55612" y="1108074"/>
            <a:ext cx="1170432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55615" y="2722996"/>
            <a:ext cx="1525587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750"/>
              </a:lnSpc>
              <a:buNone/>
              <a:defRPr sz="750" b="0" baseline="0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05450" y="2144554"/>
            <a:ext cx="32004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1pPr>
            <a:lvl2pPr marL="89154" indent="-89154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2pPr>
            <a:lvl3pPr marL="0" indent="-89154" algn="l" defTabSz="6858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Clr>
                <a:srgbClr val="B01C2E"/>
              </a:buClr>
              <a:buFont typeface="Wingdings 2" pitchFamily="18" charset="2"/>
              <a:buNone/>
              <a:defRPr lang="en-US" sz="75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067306" y="2144554"/>
            <a:ext cx="32004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1pPr>
            <a:lvl2pPr marL="89154" indent="-89154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2pPr>
            <a:lvl3pPr marL="0" indent="-89154" algn="l" defTabSz="6858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Clr>
                <a:srgbClr val="B01C2E"/>
              </a:buClr>
              <a:buFont typeface="Wingdings 2" pitchFamily="18" charset="2"/>
              <a:buNone/>
              <a:defRPr lang="en-US" sz="75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067306" y="2308860"/>
            <a:ext cx="32004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None/>
              <a:defRPr sz="750" b="0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5505450" y="2308860"/>
            <a:ext cx="32004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None/>
              <a:defRPr sz="750" b="0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067306" y="1295400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 2" pitchFamily="18" charset="2"/>
              <a:buChar char=""/>
              <a:defRPr sz="750" baseline="0">
                <a:solidFill>
                  <a:schemeClr val="tx1"/>
                </a:solidFill>
              </a:defRPr>
            </a:lvl1pPr>
            <a:lvl2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NSimSun" pitchFamily="49" charset="-122"/>
              <a:buChar char=" "/>
              <a:defRPr sz="750" baseline="0"/>
            </a:lvl2pPr>
            <a:lvl3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Wingdings 2" pitchFamily="18" charset="2"/>
              <a:buChar char="¡"/>
              <a:defRPr sz="75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5505450" y="1295400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 2" pitchFamily="18" charset="2"/>
              <a:buChar char=""/>
              <a:defRPr sz="750" baseline="0">
                <a:solidFill>
                  <a:schemeClr val="tx1"/>
                </a:solidFill>
              </a:defRPr>
            </a:lvl1pPr>
            <a:lvl2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Arial" pitchFamily="34" charset="0"/>
              <a:buChar char=" "/>
              <a:defRPr sz="750" baseline="0"/>
            </a:lvl2pPr>
            <a:lvl3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Wingdings 2" pitchFamily="18" charset="2"/>
              <a:buChar char="¡"/>
              <a:defRPr sz="75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3D17329F-BDC0-3444-A6CB-5CFB4AFF00F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5498733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576987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 baseline="0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576985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67882" y="1246188"/>
            <a:ext cx="8188325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9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197969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spcBef>
                <a:spcPts val="0"/>
              </a:spcBef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197967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3850124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3850124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5491888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5491886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7144042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7144042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576987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576985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197969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spcBef>
                <a:spcPts val="0"/>
              </a:spcBef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197967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3850124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3850124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5491888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5491886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7144042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7144042" y="3962402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516D5A61-1BB2-3C40-A809-0A00CE29D5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8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77129559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441325" y="1439863"/>
            <a:ext cx="83502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88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PARTNERS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438151" y="1897063"/>
            <a:ext cx="83534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441325" y="3268663"/>
            <a:ext cx="83502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88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ASSOCIATES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438151" y="3725863"/>
            <a:ext cx="83534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2608581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4779011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6949440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481328" y="3886200"/>
            <a:ext cx="2971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4724400" y="3886200"/>
            <a:ext cx="2971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481328" y="4800600"/>
            <a:ext cx="621792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438151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B0AC1651-679E-F444-9932-326657929C5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53337546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4508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4508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111456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111456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3772062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3772062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5432668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5432668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71056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71056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4508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4508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111456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111456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3772062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3772062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5432668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5432668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71056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71056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4508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4508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111456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111456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3772062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3772062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5432668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5432668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71056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71056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77461BCF-BBA5-5E4A-ABD5-3E5D9382F9D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69186468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4508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4508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111456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111456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3772062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3772062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5432668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5432668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71056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71056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4508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4508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4508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4508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111456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111456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111456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111456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3772062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3772062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3772062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3772062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5432668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5432668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432668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432668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1056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1056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71056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71056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31BEBA66-216E-7243-B012-B44CAA5F986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48904786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450850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450850" y="46228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450850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113838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3776826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5439814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7102800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113838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113838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3776826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3776826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5439814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5439814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7102800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7102800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450850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450850" y="6020181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450850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113838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3776826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5439814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7102800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113838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113838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3776826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3776826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5439814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439814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102800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710280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4A3DAED-98CA-ED44-BD8D-010557C4E8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2665333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450850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450850" y="462280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450850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113838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3776826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5439814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7102800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113838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113838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3776826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3776826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5439814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5439814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7102800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7102800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450850" y="25123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113837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3776824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5439811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7102800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450850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113837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3776824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5439811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7102800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450850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113837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3776824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5439811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7102800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65CD288-24B3-4B48-8EA0-67784588A8A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55358123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450850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450850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450850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113838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3776826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5439814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7102800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113838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113838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3776826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3776826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5439814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5439814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7102800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7102800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450850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113837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3776824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5439811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7102800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450850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113837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3776824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5439811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7102800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450850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113837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3776824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5439811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7102800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90FE7E78-F63E-6945-90BC-87516667A72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74987481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14400"/>
            <a:ext cx="77724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Risk and Reward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latin typeface="Calibri"/>
            </a:endParaRPr>
          </a:p>
          <a:p>
            <a:fld id="{32A47CA8-1D40-3C49-82CF-CF2201A41E4F}" type="slidenum">
              <a:rPr lang="en-US" smtClean="0">
                <a:latin typeface="Calibri"/>
              </a:rPr>
              <a:pPr/>
              <a:t>‹#›</a:t>
            </a:fld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14372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371601"/>
            <a:ext cx="40386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1"/>
            <a:ext cx="40386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Risk and Reward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BEE2D7-1F05-0540-AD0D-C8F6AEBAE5C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1179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371600"/>
            <a:ext cx="40386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371600"/>
            <a:ext cx="4038600" cy="23002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824288"/>
            <a:ext cx="4038600" cy="23018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000"/>
            </a:lvl1pPr>
          </a:lstStyle>
          <a:p>
            <a:endParaRPr lang="en-US"/>
          </a:p>
          <a:p>
            <a:fld id="{0F9AF5D3-6473-AE4B-AC89-F87D9DBEAD5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56609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371600"/>
            <a:ext cx="82296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AE1D07-B4D0-C84D-BB47-A1C58155EC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24370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371600"/>
            <a:ext cx="82296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02FA3A-2FCD-F541-9E65-7990F013F77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422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/>
          <p:cNvSpPr>
            <a:spLocks noChangeShapeType="1"/>
          </p:cNvSpPr>
          <p:nvPr/>
        </p:nvSpPr>
        <p:spPr bwMode="gray">
          <a:xfrm>
            <a:off x="0" y="6423027"/>
            <a:ext cx="9144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8610600" y="6436635"/>
            <a:ext cx="457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7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3124200" y="6442488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 b="1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b="1" dirty="0"/>
              <a:t>Risk and Reward</a:t>
            </a:r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72409" y="6423029"/>
            <a:ext cx="2362200" cy="365125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800" dirty="0">
                <a:latin typeface="+mn-lt"/>
              </a:rPr>
              <a:t>CF_Ch8_PortDivBeta_26</a:t>
            </a:r>
          </a:p>
        </p:txBody>
      </p:sp>
    </p:spTree>
    <p:extLst>
      <p:ext uri="{BB962C8B-B14F-4D97-AF65-F5344CB8AC3E}">
        <p14:creationId xmlns:p14="http://schemas.microsoft.com/office/powerpoint/2010/main" val="1060231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  <p:sldLayoutId id="2147483793" r:id="rId16"/>
    <p:sldLayoutId id="2147483794" r:id="rId17"/>
    <p:sldLayoutId id="2147483795" r:id="rId18"/>
    <p:sldLayoutId id="2147483796" r:id="rId19"/>
    <p:sldLayoutId id="2147483797" r:id="rId20"/>
    <p:sldLayoutId id="2147483798" r:id="rId21"/>
    <p:sldLayoutId id="2147483799" r:id="rId22"/>
    <p:sldLayoutId id="2147483800" r:id="rId23"/>
    <p:sldLayoutId id="2147483801" r:id="rId24"/>
    <p:sldLayoutId id="2147483802" r:id="rId25"/>
    <p:sldLayoutId id="2147483803" r:id="rId26"/>
    <p:sldLayoutId id="2147483804" r:id="rId27"/>
    <p:sldLayoutId id="2147483805" r:id="rId28"/>
    <p:sldLayoutId id="2147483806" r:id="rId29"/>
    <p:sldLayoutId id="2147483807" r:id="rId30"/>
    <p:sldLayoutId id="2147483808" r:id="rId31"/>
    <p:sldLayoutId id="2147483809" r:id="rId32"/>
    <p:sldLayoutId id="2147483810" r:id="rId33"/>
    <p:sldLayoutId id="2147483811" r:id="rId34"/>
    <p:sldLayoutId id="2147483812" r:id="rId35"/>
    <p:sldLayoutId id="2147483813" r:id="rId36"/>
    <p:sldLayoutId id="2147483814" r:id="rId37"/>
    <p:sldLayoutId id="2147483815" r:id="rId38"/>
    <p:sldLayoutId id="2147483816" r:id="rId39"/>
    <p:sldLayoutId id="2147483817" r:id="rId40"/>
    <p:sldLayoutId id="2147483818" r:id="rId41"/>
    <p:sldLayoutId id="2147483819" r:id="rId42"/>
    <p:sldLayoutId id="2147483820" r:id="rId43"/>
    <p:sldLayoutId id="2147483821" r:id="rId44"/>
    <p:sldLayoutId id="2147483822" r:id="rId45"/>
    <p:sldLayoutId id="2147483823" r:id="rId46"/>
    <p:sldLayoutId id="2147483824" r:id="rId47"/>
    <p:sldLayoutId id="2147483825" r:id="rId48"/>
    <p:sldLayoutId id="2147483826" r:id="rId49"/>
    <p:sldLayoutId id="2147483827" r:id="rId50"/>
    <p:sldLayoutId id="2147483828" r:id="rId51"/>
    <p:sldLayoutId id="2147483829" r:id="rId52"/>
    <p:sldLayoutId id="2147483830" r:id="rId53"/>
    <p:sldLayoutId id="2147483831" r:id="rId54"/>
    <p:sldLayoutId id="2147483832" r:id="rId55"/>
    <p:sldLayoutId id="2147483833" r:id="rId56"/>
    <p:sldLayoutId id="2147483834" r:id="rId57"/>
    <p:sldLayoutId id="2147483835" r:id="rId58"/>
    <p:sldLayoutId id="2147483836" r:id="rId59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5.e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package" Target="../embeddings/Microsoft_Excel_Worksheet3.xlsx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package" Target="../embeddings/Microsoft_Excel_Worksheet4.xlsx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package" Target="../embeddings/Microsoft_Excel_Worksheet5.xlsx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9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package" Target="../embeddings/Microsoft_Excel_Worksheet6.xlsx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package" Target="../embeddings/Microsoft_Excel_Worksheet7.xlsx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6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6B908C-B5CB-4D61-9AAA-0E6FA8ADAB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527EB-3756-C241-BFD3-DBB1E111190F}" type="slidenum">
              <a:rPr lang="en-US" altLang="en-US" smtClean="0"/>
              <a:pPr/>
              <a:t>1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26835F-3425-4D22-A3BF-7A8DB7F9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ED9786-58D6-4467-A340-9C08B3251F1F}"/>
              </a:ext>
            </a:extLst>
          </p:cNvPr>
          <p:cNvSpPr/>
          <p:nvPr/>
        </p:nvSpPr>
        <p:spPr>
          <a:xfrm>
            <a:off x="641839" y="2111043"/>
            <a:ext cx="808892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Corporate Finance</a:t>
            </a:r>
          </a:p>
          <a:p>
            <a:pPr algn="ctr"/>
            <a:r>
              <a:rPr lang="en-US" sz="2700" b="1" dirty="0"/>
              <a:t>Investor Choice: Risk and Reward</a:t>
            </a:r>
          </a:p>
          <a:p>
            <a:pPr algn="ctr"/>
            <a:endParaRPr lang="en-US" sz="2700" b="1" dirty="0"/>
          </a:p>
          <a:p>
            <a:pPr algn="ctr"/>
            <a:endParaRPr lang="en-US" b="1" dirty="0">
              <a:ea typeface="ＭＳ Ｐゴシック" charset="0"/>
              <a:cs typeface="ＭＳ Ｐゴシック" charset="0"/>
            </a:endParaRPr>
          </a:p>
          <a:p>
            <a:pPr algn="ctr"/>
            <a:endParaRPr lang="en-US" b="1" dirty="0"/>
          </a:p>
          <a:p>
            <a:pPr algn="ctr">
              <a:buNone/>
            </a:pPr>
            <a:r>
              <a:rPr lang="en-US" b="1" dirty="0"/>
              <a:t>Fall 2026</a:t>
            </a:r>
          </a:p>
          <a:p>
            <a:pPr algn="ctr"/>
            <a:r>
              <a:rPr lang="en-US" b="1" dirty="0"/>
              <a:t>Prof. Jeffrey Colón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871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3192" name="Rectangle 4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 eaLnBrk="1" hangingPunct="1">
                  <a:lnSpc>
                    <a:spcPct val="90000"/>
                  </a:lnSpc>
                </a:pPr>
                <a:r>
                  <a:rPr lang="en-US" sz="2400" dirty="0">
                    <a:solidFill>
                      <a:srgbClr val="010004"/>
                    </a:solidFill>
                    <a:ea typeface="ＭＳ Ｐゴシック" charset="0"/>
                    <a:cs typeface="ＭＳ Ｐゴシック" charset="0"/>
                  </a:rPr>
                  <a:t>Expected Return on the Market:</a:t>
                </a:r>
              </a:p>
              <a:p>
                <a:pPr marL="342900" indent="-342900" eaLnBrk="1" hangingPunct="1">
                  <a:lnSpc>
                    <a:spcPct val="90000"/>
                  </a:lnSpc>
                </a:pPr>
                <a:endParaRPr lang="en-US" sz="2400" dirty="0">
                  <a:solidFill>
                    <a:srgbClr val="010004"/>
                  </a:solidFill>
                  <a:ea typeface="ＭＳ Ｐゴシック" charset="0"/>
                  <a:cs typeface="ＭＳ Ｐゴシック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sz="2400" dirty="0">
                    <a:solidFill>
                      <a:srgbClr val="010004"/>
                    </a:solidFill>
                    <a:ea typeface="ＭＳ Ｐゴシック" charset="0"/>
                    <a:cs typeface="ＭＳ Ｐゴシック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10004"/>
                        </a:solidFill>
                        <a:latin typeface="Cambria Math" charset="0"/>
                        <a:ea typeface="ＭＳ Ｐゴシック" charset="0"/>
                        <a:cs typeface="ＭＳ Ｐゴシック" charset="0"/>
                      </a:rPr>
                      <m:t>𝑬</m:t>
                    </m:r>
                    <m:r>
                      <a:rPr lang="en-US" sz="2400" b="1" i="1" smtClean="0">
                        <a:solidFill>
                          <a:srgbClr val="010004"/>
                        </a:solidFill>
                        <a:latin typeface="Cambria Math" charset="0"/>
                        <a:ea typeface="ＭＳ Ｐゴシック" charset="0"/>
                        <a:cs typeface="ＭＳ Ｐゴシック" charset="0"/>
                      </a:rPr>
                      <m:t>(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  <m:t>𝑴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010004"/>
                    </a:solidFill>
                    <a:ea typeface="ＭＳ Ｐゴシック" charset="0"/>
                    <a:cs typeface="ＭＳ Ｐゴシック" charset="0"/>
                  </a:rPr>
                  <a:t>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  <m:t>𝑭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010004"/>
                    </a:solidFill>
                    <a:ea typeface="ＭＳ Ｐゴシック" charset="0"/>
                    <a:cs typeface="ＭＳ Ｐゴシック" charset="0"/>
                  </a:rPr>
                  <a:t> + Market Risk Premium</a:t>
                </a:r>
              </a:p>
              <a:p>
                <a:pPr marL="342900" indent="-342900" eaLnBrk="1" hangingPunct="1">
                  <a:lnSpc>
                    <a:spcPct val="90000"/>
                  </a:lnSpc>
                </a:pPr>
                <a:endParaRPr lang="en-US" sz="2400" b="1" dirty="0">
                  <a:solidFill>
                    <a:srgbClr val="010004"/>
                  </a:solidFill>
                  <a:ea typeface="ＭＳ Ｐゴシック" charset="0"/>
                  <a:cs typeface="ＭＳ Ｐゴシック" charset="0"/>
                </a:endParaRPr>
              </a:p>
              <a:p>
                <a:pPr marL="342900" indent="-342900" eaLnBrk="1" hangingPunct="1">
                  <a:lnSpc>
                    <a:spcPct val="90000"/>
                  </a:lnSpc>
                </a:pPr>
                <a:endParaRPr lang="en-US" sz="2400" dirty="0">
                  <a:solidFill>
                    <a:srgbClr val="010004"/>
                  </a:solidFill>
                  <a:ea typeface="ＭＳ Ｐゴシック" charset="0"/>
                  <a:cs typeface="ＭＳ Ｐゴシック" charset="0"/>
                </a:endParaRPr>
              </a:p>
              <a:p>
                <a:pPr marL="342900" indent="-342900" eaLnBrk="1" hangingPunct="1">
                  <a:lnSpc>
                    <a:spcPct val="90000"/>
                  </a:lnSpc>
                </a:pPr>
                <a:endParaRPr lang="en-US" sz="2400" dirty="0">
                  <a:solidFill>
                    <a:srgbClr val="010004"/>
                  </a:solidFill>
                  <a:ea typeface="ＭＳ Ｐゴシック" charset="0"/>
                  <a:cs typeface="ＭＳ Ｐゴシック" charset="0"/>
                </a:endParaRPr>
              </a:p>
              <a:p>
                <a:pPr marL="342900" indent="-342900">
                  <a:lnSpc>
                    <a:spcPct val="90000"/>
                  </a:lnSpc>
                </a:pPr>
                <a:r>
                  <a:rPr lang="en-US" sz="2400" dirty="0">
                    <a:latin typeface="Calibri" pitchFamily="34" charset="0"/>
                  </a:rPr>
                  <a:t>Expected return on an individual security:</a:t>
                </a:r>
              </a:p>
              <a:p>
                <a:pPr marL="342900" indent="-342900" eaLnBrk="1" hangingPunct="1">
                  <a:lnSpc>
                    <a:spcPct val="90000"/>
                  </a:lnSpc>
                </a:pPr>
                <a:endParaRPr lang="en-US" sz="2400" dirty="0">
                  <a:solidFill>
                    <a:srgbClr val="010004"/>
                  </a:solidFill>
                  <a:ea typeface="ＭＳ Ｐゴシック" charset="0"/>
                  <a:cs typeface="ＭＳ Ｐゴシック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sz="2400" dirty="0">
                    <a:solidFill>
                      <a:srgbClr val="010004"/>
                    </a:solidFill>
                    <a:ea typeface="ＭＳ Ｐゴシック" charset="0"/>
                    <a:cs typeface="ＭＳ Ｐゴシック" charset="0"/>
                  </a:rPr>
                  <a:t>			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sz="2400" dirty="0">
                    <a:solidFill>
                      <a:srgbClr val="010004"/>
                    </a:solidFill>
                    <a:ea typeface="ＭＳ Ｐゴシック" charset="0"/>
                    <a:cs typeface="ＭＳ Ｐゴシック" charset="0"/>
                  </a:rPr>
                  <a:t>				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10004"/>
                        </a:solidFill>
                        <a:latin typeface="Cambria Math" charset="0"/>
                        <a:ea typeface="ＭＳ Ｐゴシック" charset="0"/>
                        <a:cs typeface="ＭＳ Ｐゴシック" charset="0"/>
                      </a:rPr>
                      <m:t>𝑬</m:t>
                    </m:r>
                    <m:r>
                      <a:rPr lang="en-US" sz="2400" b="1" i="1">
                        <a:solidFill>
                          <a:srgbClr val="010004"/>
                        </a:solidFill>
                        <a:latin typeface="Cambria Math" charset="0"/>
                        <a:ea typeface="ＭＳ Ｐゴシック" charset="0"/>
                        <a:cs typeface="ＭＳ Ｐゴシック" charset="0"/>
                      </a:rPr>
                      <m:t>(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010004"/>
                    </a:solidFill>
                    <a:ea typeface="ＭＳ Ｐゴシック" charset="0"/>
                    <a:cs typeface="ＭＳ Ｐゴシック" charset="0"/>
                  </a:rPr>
                  <a:t>) 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  <m:t>𝑭</m:t>
                        </m:r>
                      </m:sub>
                    </m:sSub>
                    <m:r>
                      <a:rPr lang="en-US" sz="2400" b="1" i="1">
                        <a:solidFill>
                          <a:srgbClr val="010004"/>
                        </a:solidFill>
                        <a:latin typeface="Cambria Math" charset="0"/>
                        <a:ea typeface="ＭＳ Ｐゴシック" charset="0"/>
                        <a:cs typeface="ＭＳ Ｐゴシック" charset="0"/>
                      </a:rPr>
                      <m:t>+ </m:t>
                    </m:r>
                    <m:r>
                      <a:rPr lang="el-GR" sz="2400" b="1" i="1">
                        <a:solidFill>
                          <a:srgbClr val="010004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𝜷</m:t>
                    </m:r>
                    <m:r>
                      <a:rPr lang="en-US" sz="2400" b="1" i="1" smtClean="0">
                        <a:solidFill>
                          <a:srgbClr val="010004"/>
                        </a:solidFill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𝒆𝒕𝒂</m:t>
                    </m:r>
                    <m:r>
                      <a:rPr lang="en-US" sz="2400" b="1">
                        <a:solidFill>
                          <a:srgbClr val="010004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2400" b="1" i="1">
                        <a:solidFill>
                          <a:srgbClr val="010004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  <m:r>
                      <a:rPr lang="en-US" sz="2400" b="1" i="1" smtClean="0">
                        <a:solidFill>
                          <a:srgbClr val="010004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[</m:t>
                    </m:r>
                    <m:r>
                      <a:rPr lang="en-US" sz="2400" b="1" i="1">
                        <a:solidFill>
                          <a:srgbClr val="010004"/>
                        </a:solidFill>
                        <a:latin typeface="Cambria Math" charset="0"/>
                        <a:ea typeface="ＭＳ Ｐゴシック" charset="0"/>
                        <a:cs typeface="ＭＳ Ｐゴシック" charset="0"/>
                      </a:rPr>
                      <m:t>𝑬</m:t>
                    </m:r>
                    <m:r>
                      <a:rPr lang="en-US" sz="2400" b="1" i="1">
                        <a:solidFill>
                          <a:srgbClr val="010004"/>
                        </a:solidFill>
                        <a:latin typeface="Cambria Math" charset="0"/>
                        <a:ea typeface="ＭＳ Ｐゴシック" charset="0"/>
                        <a:cs typeface="ＭＳ Ｐゴシック" charset="0"/>
                      </a:rPr>
                      <m:t>(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  <m:t>𝑴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010004"/>
                    </a:solidFill>
                    <a:ea typeface="ＭＳ Ｐゴシック" charset="0"/>
                    <a:cs typeface="ＭＳ Ｐゴシック" charset="0"/>
                  </a:rPr>
                  <a:t>)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  <m:t>𝑭</m:t>
                        </m:r>
                      </m:sub>
                    </m:sSub>
                    <m:r>
                      <a:rPr lang="en-US" sz="2400" b="1" i="0" smtClean="0">
                        <a:solidFill>
                          <a:srgbClr val="010004"/>
                        </a:solidFill>
                        <a:latin typeface="Cambria Math" charset="0"/>
                        <a:ea typeface="ＭＳ Ｐゴシック" charset="0"/>
                        <a:cs typeface="ＭＳ Ｐゴシック" charset="0"/>
                      </a:rPr>
                      <m:t>]</m:t>
                    </m:r>
                  </m:oMath>
                </a14:m>
                <a:endParaRPr lang="en-US" sz="2400" b="1" dirty="0">
                  <a:solidFill>
                    <a:srgbClr val="010004"/>
                  </a:solidFill>
                  <a:ea typeface="ＭＳ Ｐゴシック" charset="0"/>
                  <a:cs typeface="ＭＳ Ｐゴシック" charset="0"/>
                </a:endParaRPr>
              </a:p>
              <a:p>
                <a:pPr marL="342900" indent="-342900" eaLnBrk="1" hangingPunct="1">
                  <a:lnSpc>
                    <a:spcPct val="90000"/>
                  </a:lnSpc>
                </a:pPr>
                <a:endParaRPr lang="en-US" sz="2400" dirty="0">
                  <a:solidFill>
                    <a:srgbClr val="010004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</mc:Choice>
        <mc:Fallback xmlns="">
          <p:sp>
            <p:nvSpPr>
              <p:cNvPr id="93192" name="Rectang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0" t="-1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321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Relationship between Risk and Expected Return (CAPM)</a:t>
            </a:r>
          </a:p>
        </p:txBody>
      </p:sp>
      <p:sp>
        <p:nvSpPr>
          <p:cNvPr id="393224" name="AutoShape 8"/>
          <p:cNvSpPr>
            <a:spLocks/>
          </p:cNvSpPr>
          <p:nvPr/>
        </p:nvSpPr>
        <p:spPr bwMode="auto">
          <a:xfrm rot="16200000">
            <a:off x="6705600" y="3950906"/>
            <a:ext cx="304800" cy="1524000"/>
          </a:xfrm>
          <a:prstGeom prst="leftBrace">
            <a:avLst>
              <a:gd name="adj1" fmla="val 60833"/>
              <a:gd name="adj2" fmla="val 47255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3225" name="Text Box 9"/>
          <p:cNvSpPr txBox="1">
            <a:spLocks noChangeArrowheads="1"/>
          </p:cNvSpPr>
          <p:nvPr/>
        </p:nvSpPr>
        <p:spPr bwMode="auto">
          <a:xfrm>
            <a:off x="5219284" y="4923127"/>
            <a:ext cx="320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b="1" dirty="0">
                <a:latin typeface="Calibri" pitchFamily="34" charset="0"/>
              </a:rPr>
              <a:t>Market Risk Premium</a:t>
            </a:r>
          </a:p>
        </p:txBody>
      </p:sp>
      <p:sp>
        <p:nvSpPr>
          <p:cNvPr id="393226" name="Rectangle 10"/>
          <p:cNvSpPr>
            <a:spLocks noChangeArrowheads="1"/>
          </p:cNvSpPr>
          <p:nvPr/>
        </p:nvSpPr>
        <p:spPr bwMode="auto">
          <a:xfrm>
            <a:off x="228600" y="5943600"/>
            <a:ext cx="8839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SzPct val="90000"/>
              <a:buFont typeface="Symbol" charset="0"/>
              <a:buNone/>
            </a:pPr>
            <a:r>
              <a:rPr lang="en-US" sz="2200" b="1" i="1" dirty="0">
                <a:latin typeface="Calibri" pitchFamily="34" charset="0"/>
              </a:rPr>
              <a:t>This applies to individual securities held within well-diversified portfolios.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</a:t>
            </a:fld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3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3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3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3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24" grpId="0" animBg="1"/>
      <p:bldP spid="393225" grpId="0" autoUpdateAnimBg="0"/>
      <p:bldP spid="39322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87338" indent="-287338" eaLnBrk="1" hangingPunct="1"/>
            <a:r>
              <a:rPr lang="en-US" sz="2000" dirty="0">
                <a:ea typeface="ＭＳ Ｐゴシック" charset="0"/>
                <a:cs typeface="ＭＳ Ｐゴシック" charset="0"/>
              </a:rPr>
              <a:t>What happens to expected returns (</a:t>
            </a:r>
            <a:r>
              <a:rPr lang="en-US" sz="2000" b="1" dirty="0">
                <a:solidFill>
                  <a:schemeClr val="accent1"/>
                </a:solidFill>
                <a:ea typeface="ＭＳ Ｐゴシック" charset="0"/>
                <a:cs typeface="ＭＳ Ｐゴシック" charset="0"/>
              </a:rPr>
              <a:t>reward</a:t>
            </a:r>
            <a:r>
              <a:rPr lang="en-US" sz="2000" dirty="0">
                <a:ea typeface="ＭＳ Ｐゴシック" charset="0"/>
                <a:cs typeface="ＭＳ Ｐゴシック" charset="0"/>
              </a:rPr>
              <a:t>) when assets are combined to form portfolios?</a:t>
            </a:r>
          </a:p>
          <a:p>
            <a:pPr marL="688975" lvl="1" indent="-180975" eaLnBrk="1" hangingPunct="1"/>
            <a:r>
              <a:rPr lang="en-US" sz="2400" b="1" dirty="0">
                <a:ea typeface="ＭＳ Ｐゴシック" charset="0"/>
              </a:rPr>
              <a:t>Is the expected return of a portfolio of stocks equal to the weighted average of the expected returns of individual stocks?</a:t>
            </a:r>
          </a:p>
          <a:p>
            <a:pPr marL="287338" indent="-287338" eaLnBrk="1" hangingPunct="1"/>
            <a:endParaRPr lang="en-US" sz="2000" dirty="0">
              <a:ea typeface="ＭＳ Ｐゴシック" charset="0"/>
              <a:cs typeface="ＭＳ Ｐゴシック" charset="0"/>
            </a:endParaRPr>
          </a:p>
          <a:p>
            <a:pPr marL="287338" indent="-287338" eaLnBrk="1" hangingPunct="1"/>
            <a:r>
              <a:rPr lang="en-US" sz="2000" dirty="0">
                <a:ea typeface="ＭＳ Ｐゴシック" charset="0"/>
                <a:cs typeface="ＭＳ Ｐゴシック" charset="0"/>
              </a:rPr>
              <a:t>What happens to standard deviation (</a:t>
            </a:r>
            <a:r>
              <a:rPr lang="en-US" sz="2000" b="1" dirty="0">
                <a:solidFill>
                  <a:schemeClr val="accent1"/>
                </a:solidFill>
                <a:ea typeface="ＭＳ Ｐゴシック" charset="0"/>
                <a:cs typeface="ＭＳ Ｐゴシック" charset="0"/>
              </a:rPr>
              <a:t>risk</a:t>
            </a:r>
            <a:r>
              <a:rPr lang="en-US" sz="2000" dirty="0">
                <a:ea typeface="ＭＳ Ｐゴシック" charset="0"/>
                <a:cs typeface="ＭＳ Ｐゴシック" charset="0"/>
              </a:rPr>
              <a:t>) when assets are combined to form portfolios?</a:t>
            </a:r>
          </a:p>
          <a:p>
            <a:pPr marL="688975" lvl="1" indent="-180975"/>
            <a:r>
              <a:rPr lang="en-US" sz="2400" b="1" dirty="0">
                <a:ea typeface="ＭＳ Ｐゴシック" charset="0"/>
              </a:rPr>
              <a:t>Is the SD of a portfolio of stocks equal to the weighted average of the SDs of the individual stocks?</a:t>
            </a:r>
          </a:p>
          <a:p>
            <a:pPr marL="508000" lvl="1" indent="0" eaLnBrk="1" hangingPunct="1">
              <a:buNone/>
            </a:pPr>
            <a:endParaRPr lang="en-US" sz="1800" dirty="0">
              <a:ea typeface="ＭＳ Ｐゴシック" charset="0"/>
            </a:endParaRPr>
          </a:p>
          <a:p>
            <a:pPr marL="287338" indent="-287338" eaLnBrk="1" hangingPunct="1"/>
            <a:r>
              <a:rPr lang="en-US" sz="2000" dirty="0">
                <a:ea typeface="ＭＳ Ｐゴシック" charset="0"/>
                <a:cs typeface="ＭＳ Ｐゴシック" charset="0"/>
              </a:rPr>
              <a:t>If a firm’s shareholders are well diversified, what kinds of projects should managers choose? </a:t>
            </a:r>
            <a:endParaRPr lang="en-US" sz="2000" b="1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Diversification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ea typeface="ＭＳ Ｐゴシック" charset="0"/>
                <a:cs typeface="ＭＳ Ｐゴシック" charset="0"/>
              </a:rPr>
              <a:t>To the extent that assets don’t move together (nonsynchronous), </a:t>
            </a:r>
            <a:r>
              <a:rPr lang="en-US" sz="2800" i="1" dirty="0">
                <a:ea typeface="ＭＳ Ｐゴシック" charset="0"/>
                <a:cs typeface="ＭＳ Ｐゴシック" charset="0"/>
              </a:rPr>
              <a:t>diversification reduces risk </a:t>
            </a:r>
          </a:p>
          <a:p>
            <a:r>
              <a:rPr lang="en-US" sz="2800" dirty="0">
                <a:ea typeface="ＭＳ Ｐゴシック" charset="0"/>
                <a:cs typeface="ＭＳ Ｐゴシック" charset="0"/>
              </a:rPr>
              <a:t>Since most investors probably hold very diversified portfolios, corporate managers should pursue projects that offer high returns and lower risk</a:t>
            </a:r>
          </a:p>
          <a:p>
            <a:r>
              <a:rPr lang="en-US" sz="2800" dirty="0">
                <a:ea typeface="ＭＳ Ｐゴシック" charset="0"/>
                <a:cs typeface="ＭＳ Ｐゴシック" charset="0"/>
              </a:rPr>
              <a:t>A project’s </a:t>
            </a:r>
            <a:r>
              <a:rPr lang="en-US" sz="2800" b="1" i="1" dirty="0">
                <a:ea typeface="ＭＳ Ｐゴシック" charset="0"/>
                <a:cs typeface="ＭＳ Ｐゴシック" charset="0"/>
              </a:rPr>
              <a:t>idiosyncratic risk 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is </a:t>
            </a:r>
            <a:r>
              <a:rPr lang="en-US" sz="2800" b="1" i="1" dirty="0">
                <a:ea typeface="ＭＳ Ｐゴシック" charset="0"/>
                <a:cs typeface="ＭＳ Ｐゴシック" charset="0"/>
              </a:rPr>
              <a:t>not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 important</a:t>
            </a:r>
          </a:p>
          <a:p>
            <a:r>
              <a:rPr lang="en-US" sz="2800" dirty="0">
                <a:ea typeface="ＭＳ Ｐゴシック" charset="0"/>
                <a:cs typeface="ＭＳ Ｐゴシック" charset="0"/>
              </a:rPr>
              <a:t>A project with a </a:t>
            </a:r>
            <a:r>
              <a:rPr lang="en-US" sz="2800" i="1" dirty="0">
                <a:ea typeface="ＭＳ Ｐゴシック" charset="0"/>
                <a:cs typeface="ＭＳ Ｐゴシック" charset="0"/>
              </a:rPr>
              <a:t>high SD 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may </a:t>
            </a:r>
            <a:r>
              <a:rPr lang="en-US" sz="2800" i="1" dirty="0">
                <a:ea typeface="ＭＳ Ｐゴシック" charset="0"/>
                <a:cs typeface="ＭＳ Ｐゴシック" charset="0"/>
              </a:rPr>
              <a:t>lower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 an investor’s portfolio risk</a:t>
            </a:r>
          </a:p>
          <a:p>
            <a:r>
              <a:rPr lang="en-US" sz="2800" dirty="0">
                <a:ea typeface="ＭＳ Ｐゴシック" charset="0"/>
                <a:cs typeface="ＭＳ Ｐゴシック" charset="0"/>
              </a:rPr>
              <a:t>Market risk is measured using </a:t>
            </a:r>
            <a:r>
              <a:rPr lang="en-US" sz="2800" i="1" dirty="0">
                <a:ea typeface="ＭＳ Ｐゴシック" charset="0"/>
                <a:cs typeface="ＭＳ Ｐゴシック" charset="0"/>
              </a:rPr>
              <a:t>beta</a:t>
            </a:r>
          </a:p>
        </p:txBody>
      </p:sp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Diversification:  Results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4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2100" indent="-292100">
              <a:lnSpc>
                <a:spcPct val="90000"/>
              </a:lnSpc>
            </a:pPr>
            <a:r>
              <a:rPr lang="en-US" sz="2800" dirty="0">
                <a:ea typeface="ＭＳ Ｐゴシック" charset="0"/>
                <a:cs typeface="ＭＳ Ｐゴシック" charset="0"/>
              </a:rPr>
              <a:t>Expected rate of return (</a:t>
            </a:r>
            <a:r>
              <a:rPr lang="en-US" sz="2800" b="1" dirty="0">
                <a:solidFill>
                  <a:schemeClr val="accent1"/>
                </a:solidFill>
                <a:ea typeface="ＭＳ Ｐゴシック" charset="0"/>
                <a:cs typeface="ＭＳ Ｐゴシック" charset="0"/>
              </a:rPr>
              <a:t>reward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) on a </a:t>
            </a:r>
            <a:r>
              <a:rPr lang="en-US" sz="2800" b="1" u="sng" dirty="0">
                <a:ea typeface="ＭＳ Ｐゴシック" charset="0"/>
                <a:cs typeface="ＭＳ Ｐゴシック" charset="0"/>
              </a:rPr>
              <a:t>portfolio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 of assets depends on:</a:t>
            </a:r>
          </a:p>
          <a:p>
            <a:pPr marL="635000" lvl="1" indent="-228600">
              <a:lnSpc>
                <a:spcPct val="90000"/>
              </a:lnSpc>
            </a:pPr>
            <a:r>
              <a:rPr lang="en-US" sz="2400" dirty="0">
                <a:ea typeface="ＭＳ Ｐゴシック" charset="0"/>
              </a:rPr>
              <a:t>Portfolio weights, and </a:t>
            </a:r>
          </a:p>
          <a:p>
            <a:pPr marL="635000" lvl="1" indent="-228600">
              <a:lnSpc>
                <a:spcPct val="90000"/>
              </a:lnSpc>
            </a:pPr>
            <a:r>
              <a:rPr lang="en-US" sz="2400" dirty="0">
                <a:ea typeface="ＭＳ Ｐゴシック" charset="0"/>
              </a:rPr>
              <a:t>Individual asset returns</a:t>
            </a:r>
            <a:endParaRPr lang="en-US" sz="2800" dirty="0">
              <a:ea typeface="ＭＳ Ｐゴシック" charset="0"/>
            </a:endParaRPr>
          </a:p>
          <a:p>
            <a:pPr marL="292100" indent="-292100">
              <a:lnSpc>
                <a:spcPct val="90000"/>
              </a:lnSpc>
              <a:buNone/>
            </a:pPr>
            <a:endParaRPr lang="en-US" sz="3200" dirty="0">
              <a:ea typeface="ＭＳ Ｐゴシック" charset="0"/>
              <a:cs typeface="ＭＳ Ｐゴシック" charset="0"/>
            </a:endParaRPr>
          </a:p>
          <a:p>
            <a:pPr marL="292100" indent="-292100">
              <a:lnSpc>
                <a:spcPct val="90000"/>
              </a:lnSpc>
            </a:pPr>
            <a:r>
              <a:rPr lang="en-US" sz="2800" dirty="0">
                <a:ea typeface="ＭＳ Ｐゴシック" charset="0"/>
                <a:cs typeface="ＭＳ Ｐゴシック" charset="0"/>
              </a:rPr>
              <a:t>Expected Return on a portfolio of assets is the weighted average of expected returns of assets:</a:t>
            </a: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ea typeface="ＭＳ Ｐゴシック" charset="0"/>
              <a:cs typeface="ＭＳ Ｐゴシック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ea typeface="ＭＳ Ｐゴシック" charset="0"/>
              <a:cs typeface="ＭＳ Ｐゴシック" charset="0"/>
            </a:endParaRPr>
          </a:p>
          <a:p>
            <a:pPr marL="635000" lvl="1" indent="-228600">
              <a:lnSpc>
                <a:spcPct val="90000"/>
              </a:lnSpc>
            </a:pPr>
            <a:r>
              <a:rPr lang="en-US" sz="2400" dirty="0">
                <a:ea typeface="ＭＳ Ｐゴシック" charset="0"/>
              </a:rPr>
              <a:t>The sum of all the weights</a:t>
            </a:r>
            <a:r>
              <a:rPr lang="en-US" sz="2400" i="1" dirty="0">
                <a:ea typeface="ＭＳ Ｐゴシック" charset="0"/>
              </a:rPr>
              <a:t> </a:t>
            </a:r>
            <a:r>
              <a:rPr lang="en-US" sz="2400" dirty="0">
                <a:ea typeface="ＭＳ Ｐゴシック" charset="0"/>
              </a:rPr>
              <a:t>must equal 1</a:t>
            </a:r>
          </a:p>
          <a:p>
            <a:pPr marL="635000" lvl="1" indent="-228600">
              <a:lnSpc>
                <a:spcPct val="90000"/>
              </a:lnSpc>
            </a:pPr>
            <a:r>
              <a:rPr lang="en-US" sz="2400" i="1" dirty="0">
                <a:ea typeface="ＭＳ Ｐゴシック" charset="0"/>
              </a:rPr>
              <a:t>W</a:t>
            </a:r>
            <a:r>
              <a:rPr lang="en-US" sz="2400" dirty="0">
                <a:ea typeface="ＭＳ Ｐゴシック" charset="0"/>
              </a:rPr>
              <a:t> can be negative in the case of short sales</a:t>
            </a:r>
          </a:p>
          <a:p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Portfolio Expected Returns</a:t>
            </a:r>
            <a:endParaRPr lang="en-US" dirty="0"/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8645052"/>
              </p:ext>
            </p:extLst>
          </p:nvPr>
        </p:nvGraphicFramePr>
        <p:xfrm>
          <a:off x="2209800" y="3439432"/>
          <a:ext cx="4408360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58120" imgH="447840" progId="Equation.3">
                  <p:embed/>
                </p:oleObj>
              </mc:Choice>
              <mc:Fallback>
                <p:oleObj name="Equation" r:id="rId2" imgW="3858120" imgH="447840" progId="Equation.3">
                  <p:embed/>
                  <p:pic>
                    <p:nvPicPr>
                      <p:cNvPr id="6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439432"/>
                        <a:ext cx="4408360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1679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Variance (</a:t>
            </a:r>
            <a:r>
              <a:rPr lang="en-US" sz="2400" b="1" dirty="0">
                <a:ea typeface="ＭＳ Ｐゴシック" charset="0"/>
                <a:cs typeface="ＭＳ Ｐゴシック" charset="0"/>
              </a:rPr>
              <a:t>Single asset 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j):</a:t>
            </a:r>
          </a:p>
          <a:p>
            <a:pPr marL="228600" indent="-228600" eaLnBrk="1" hangingPunct="1"/>
            <a:endParaRPr lang="en-US" sz="2400" dirty="0">
              <a:ea typeface="ＭＳ Ｐゴシック" charset="0"/>
              <a:cs typeface="ＭＳ Ｐゴシック" charset="0"/>
            </a:endParaRPr>
          </a:p>
          <a:p>
            <a:pPr marL="228600" indent="-228600"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Variance (</a:t>
            </a:r>
            <a:r>
              <a:rPr lang="en-US" sz="2400" b="1" dirty="0">
                <a:ea typeface="ＭＳ Ｐゴシック" charset="0"/>
                <a:cs typeface="ＭＳ Ｐゴシック" charset="0"/>
              </a:rPr>
              <a:t>Two assets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, x and y):</a:t>
            </a:r>
          </a:p>
          <a:p>
            <a:pPr marL="520700" lvl="1" indent="-177800" eaLnBrk="1" hangingPunct="1"/>
            <a:endParaRPr lang="en-US" sz="2000" dirty="0">
              <a:ea typeface="ＭＳ Ｐゴシック" charset="0"/>
            </a:endParaRPr>
          </a:p>
          <a:p>
            <a:pPr marL="520700" lvl="1" indent="-177800" eaLnBrk="1" hangingPunct="1"/>
            <a:r>
              <a:rPr lang="en-US" sz="2000" dirty="0">
                <a:ea typeface="ＭＳ Ｐゴシック" charset="0"/>
              </a:rPr>
              <a:t> </a:t>
            </a:r>
          </a:p>
          <a:p>
            <a:pPr marL="520700" lvl="1" indent="-177800" eaLnBrk="1" hangingPunct="1"/>
            <a:endParaRPr lang="en-US" sz="2000" dirty="0">
              <a:ea typeface="ＭＳ Ｐゴシック" charset="0"/>
            </a:endParaRPr>
          </a:p>
          <a:p>
            <a:pPr marL="520700" lvl="1" indent="-177800" eaLnBrk="1" hangingPunct="1"/>
            <a:r>
              <a:rPr lang="en-US" sz="2000" dirty="0">
                <a:ea typeface="ＭＳ Ｐゴシック" charset="0"/>
              </a:rPr>
              <a:t> </a:t>
            </a:r>
          </a:p>
          <a:p>
            <a:pPr marL="520700" lvl="1" indent="-177800" eaLnBrk="1" hangingPunct="1"/>
            <a:endParaRPr lang="en-US" sz="2000" dirty="0">
              <a:ea typeface="ＭＳ Ｐゴシック" charset="0"/>
            </a:endParaRPr>
          </a:p>
          <a:p>
            <a:pPr marL="520700" lvl="1" indent="-177800" eaLnBrk="1" hangingPunct="1"/>
            <a:r>
              <a:rPr lang="en-US" sz="2000" dirty="0">
                <a:ea typeface="ＭＳ Ｐゴシック" charset="0"/>
              </a:rPr>
              <a:t>   </a:t>
            </a:r>
          </a:p>
          <a:p>
            <a:pPr marL="139700" indent="-177800"/>
            <a:endParaRPr lang="en-US" sz="2400" dirty="0">
              <a:ea typeface="ＭＳ Ｐゴシック" charset="0"/>
            </a:endParaRPr>
          </a:p>
          <a:p>
            <a:pPr marL="139700" indent="-177800"/>
            <a:endParaRPr lang="en-US" sz="2400" dirty="0">
              <a:ea typeface="ＭＳ Ｐゴシック" charset="0"/>
              <a:cs typeface="ＭＳ Ｐゴシック" charset="0"/>
            </a:endParaRPr>
          </a:p>
          <a:p>
            <a:pPr marL="139700" indent="-177800"/>
            <a:r>
              <a:rPr lang="en-US" sz="2400" dirty="0">
                <a:ea typeface="ＭＳ Ｐゴシック" charset="0"/>
                <a:cs typeface="ＭＳ Ｐゴシック" charset="0"/>
              </a:rPr>
              <a:t>Variance or standard deviation (</a:t>
            </a:r>
            <a:r>
              <a:rPr lang="en-US" sz="2400" b="1" dirty="0">
                <a:solidFill>
                  <a:schemeClr val="accent1"/>
                </a:solidFill>
                <a:ea typeface="ＭＳ Ｐゴシック" charset="0"/>
                <a:cs typeface="ＭＳ Ｐゴシック" charset="0"/>
              </a:rPr>
              <a:t>risk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) of a portfolio of assets is generally</a:t>
            </a:r>
            <a:r>
              <a:rPr lang="en-US" sz="2400" b="1" dirty="0">
                <a:ea typeface="ＭＳ Ｐゴシック" charset="0"/>
                <a:cs typeface="ＭＳ Ｐゴシック" charset="0"/>
              </a:rPr>
              <a:t> </a:t>
            </a:r>
            <a:r>
              <a:rPr lang="en-US" sz="2400" b="1" i="1" dirty="0">
                <a:ea typeface="ＭＳ Ｐゴシック" charset="0"/>
                <a:cs typeface="ＭＳ Ｐゴシック" charset="0"/>
              </a:rPr>
              <a:t>not 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the weighted average of VAR or SD (</a:t>
            </a:r>
            <a:r>
              <a:rPr lang="en-US" sz="2400" b="1" dirty="0">
                <a:solidFill>
                  <a:schemeClr val="accent1"/>
                </a:solidFill>
                <a:ea typeface="ＭＳ Ｐゴシック" charset="0"/>
                <a:cs typeface="ＭＳ Ｐゴシック" charset="0"/>
              </a:rPr>
              <a:t>risk) 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of the portfolio’s assets</a:t>
            </a:r>
          </a:p>
          <a:p>
            <a:pPr marL="139700" indent="-177800"/>
            <a:endParaRPr lang="en-US" sz="2000" dirty="0">
              <a:ea typeface="ＭＳ Ｐゴシック" charset="0"/>
            </a:endParaRPr>
          </a:p>
        </p:txBody>
      </p:sp>
      <p:sp>
        <p:nvSpPr>
          <p:cNvPr id="245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Portfolio Variance:  2 Assets</a:t>
            </a:r>
          </a:p>
        </p:txBody>
      </p:sp>
      <p:graphicFrame>
        <p:nvGraphicFramePr>
          <p:cNvPr id="2457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4451971"/>
              </p:ext>
            </p:extLst>
          </p:nvPr>
        </p:nvGraphicFramePr>
        <p:xfrm>
          <a:off x="3969327" y="617360"/>
          <a:ext cx="3048000" cy="354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54560" imgH="219240" progId="Equation.3">
                  <p:embed/>
                </p:oleObj>
              </mc:Choice>
              <mc:Fallback>
                <p:oleObj name="Equation" r:id="rId3" imgW="1654560" imgH="219240" progId="Equation.3">
                  <p:embed/>
                  <p:pic>
                    <p:nvPicPr>
                      <p:cNvPr id="2457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9327" y="617360"/>
                        <a:ext cx="3048000" cy="3549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7444714"/>
              </p:ext>
            </p:extLst>
          </p:nvPr>
        </p:nvGraphicFramePr>
        <p:xfrm>
          <a:off x="1131887" y="2018002"/>
          <a:ext cx="5199063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75840" imgH="228240" progId="Equation.3">
                  <p:embed/>
                </p:oleObj>
              </mc:Choice>
              <mc:Fallback>
                <p:oleObj name="Equation" r:id="rId5" imgW="2175840" imgH="228240" progId="Equation.3">
                  <p:embed/>
                  <p:pic>
                    <p:nvPicPr>
                      <p:cNvPr id="2457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1887" y="2018002"/>
                        <a:ext cx="5199063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dash"/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143950"/>
              </p:ext>
            </p:extLst>
          </p:nvPr>
        </p:nvGraphicFramePr>
        <p:xfrm>
          <a:off x="1131887" y="2778125"/>
          <a:ext cx="6921501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504373" imgH="292123" progId="Equation.3">
                  <p:embed/>
                </p:oleObj>
              </mc:Choice>
              <mc:Fallback>
                <p:oleObj name="Equation" r:id="rId7" imgW="3504373" imgH="292123" progId="Equation.3">
                  <p:embed/>
                  <p:pic>
                    <p:nvPicPr>
                      <p:cNvPr id="2458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1887" y="2778125"/>
                        <a:ext cx="6921501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3403135"/>
              </p:ext>
            </p:extLst>
          </p:nvPr>
        </p:nvGraphicFramePr>
        <p:xfrm>
          <a:off x="1132504" y="3625046"/>
          <a:ext cx="7137400" cy="476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89440" imgH="237600" progId="Equation.3">
                  <p:embed/>
                </p:oleObj>
              </mc:Choice>
              <mc:Fallback>
                <p:oleObj name="Equation" r:id="rId9" imgW="2989440" imgH="237600" progId="Equation.3">
                  <p:embed/>
                  <p:pic>
                    <p:nvPicPr>
                      <p:cNvPr id="2458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2504" y="3625046"/>
                        <a:ext cx="7137400" cy="4761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6" name="Oval 8"/>
          <p:cNvSpPr>
            <a:spLocks noChangeArrowheads="1"/>
          </p:cNvSpPr>
          <p:nvPr/>
        </p:nvSpPr>
        <p:spPr bwMode="auto">
          <a:xfrm>
            <a:off x="7185320" y="3558758"/>
            <a:ext cx="1295400" cy="609600"/>
          </a:xfrm>
          <a:prstGeom prst="ellipse">
            <a:avLst/>
          </a:prstGeom>
          <a:solidFill>
            <a:schemeClr val="hlink">
              <a:alpha val="23921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7" name="Oval 9"/>
          <p:cNvSpPr>
            <a:spLocks noChangeArrowheads="1"/>
          </p:cNvSpPr>
          <p:nvPr/>
        </p:nvSpPr>
        <p:spPr bwMode="auto">
          <a:xfrm>
            <a:off x="6019800" y="2820602"/>
            <a:ext cx="2286000" cy="574676"/>
          </a:xfrm>
          <a:prstGeom prst="ellipse">
            <a:avLst/>
          </a:prstGeom>
          <a:solidFill>
            <a:schemeClr val="hlink">
              <a:alpha val="23921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8" name="Freeform 10"/>
          <p:cNvSpPr>
            <a:spLocks/>
          </p:cNvSpPr>
          <p:nvPr/>
        </p:nvSpPr>
        <p:spPr bwMode="auto">
          <a:xfrm>
            <a:off x="8343220" y="2958690"/>
            <a:ext cx="159878" cy="684598"/>
          </a:xfrm>
          <a:custGeom>
            <a:avLst/>
            <a:gdLst>
              <a:gd name="T0" fmla="*/ 2147483647 w 440"/>
              <a:gd name="T1" fmla="*/ 0 h 480"/>
              <a:gd name="T2" fmla="*/ 2147483647 w 440"/>
              <a:gd name="T3" fmla="*/ 2147483647 h 480"/>
              <a:gd name="T4" fmla="*/ 0 w 440"/>
              <a:gd name="T5" fmla="*/ 2147483647 h 480"/>
              <a:gd name="T6" fmla="*/ 0 60000 65536"/>
              <a:gd name="T7" fmla="*/ 0 60000 65536"/>
              <a:gd name="T8" fmla="*/ 0 60000 65536"/>
              <a:gd name="T9" fmla="*/ 0 w 440"/>
              <a:gd name="T10" fmla="*/ 0 h 480"/>
              <a:gd name="T11" fmla="*/ 440 w 440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0" h="480">
                <a:moveTo>
                  <a:pt x="336" y="0"/>
                </a:moveTo>
                <a:cubicBezTo>
                  <a:pt x="388" y="128"/>
                  <a:pt x="440" y="256"/>
                  <a:pt x="384" y="336"/>
                </a:cubicBezTo>
                <a:cubicBezTo>
                  <a:pt x="328" y="416"/>
                  <a:pt x="164" y="448"/>
                  <a:pt x="0" y="48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6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6" grpId="0" animBg="1"/>
      <p:bldP spid="24587" grpId="0" animBg="1"/>
      <p:bldP spid="2458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ＭＳ Ｐゴシック" charset="0"/>
                <a:cs typeface="ＭＳ Ｐゴシック" charset="0"/>
              </a:rPr>
              <a:t>Sample Investment Opportunities</a:t>
            </a:r>
          </a:p>
        </p:txBody>
      </p:sp>
      <p:sp>
        <p:nvSpPr>
          <p:cNvPr id="26630" name="TextBox 10"/>
          <p:cNvSpPr txBox="1">
            <a:spLocks noChangeArrowheads="1"/>
          </p:cNvSpPr>
          <p:nvPr/>
        </p:nvSpPr>
        <p:spPr bwMode="auto">
          <a:xfrm>
            <a:off x="685800" y="5019675"/>
            <a:ext cx="7848600" cy="646113"/>
          </a:xfrm>
          <a:prstGeom prst="rect">
            <a:avLst/>
          </a:prstGeom>
          <a:noFill/>
          <a:ln w="2540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/>
              <a:t>Now, for each of the investment opportunities, M, A, B, C, and F, calculate the E(r), VAR, and SD.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7</a:t>
            </a:fld>
            <a:endParaRPr lang="en-US" alt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104299"/>
              </p:ext>
            </p:extLst>
          </p:nvPr>
        </p:nvGraphicFramePr>
        <p:xfrm>
          <a:off x="838200" y="838200"/>
          <a:ext cx="73914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791200" imgH="1549400" progId="Excel.Sheet.12">
                  <p:embed/>
                </p:oleObj>
              </mc:Choice>
              <mc:Fallback>
                <p:oleObj name="Worksheet" r:id="rId3" imgW="5791200" imgH="1549400" progId="Excel.Sheet.12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00" y="838200"/>
                        <a:ext cx="7391400" cy="365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ＭＳ Ｐゴシック" charset="0"/>
                <a:cs typeface="ＭＳ Ｐゴシック" charset="0"/>
              </a:rPr>
              <a:t>Sample Investment Opportunities</a:t>
            </a: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27654" name="TextBox 10"/>
          <p:cNvSpPr txBox="1">
            <a:spLocks noChangeArrowheads="1"/>
          </p:cNvSpPr>
          <p:nvPr/>
        </p:nvSpPr>
        <p:spPr bwMode="auto">
          <a:xfrm>
            <a:off x="457200" y="5269468"/>
            <a:ext cx="8382000" cy="369332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/>
              <a:t>Now, calculate the E(r) and SD of a Portfolio of </a:t>
            </a:r>
            <a:r>
              <a:rPr lang="en-US" sz="1800" b="1" dirty="0"/>
              <a:t>50% M </a:t>
            </a:r>
            <a:r>
              <a:rPr lang="en-US" sz="1800" dirty="0"/>
              <a:t>and </a:t>
            </a:r>
            <a:r>
              <a:rPr lang="en-US" sz="1800" b="1" dirty="0"/>
              <a:t>50% A</a:t>
            </a:r>
            <a:r>
              <a:rPr lang="en-US" sz="1800" dirty="0"/>
              <a:t>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8</a:t>
            </a:fld>
            <a:endParaRPr lang="en-US" alt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02028"/>
              </p:ext>
            </p:extLst>
          </p:nvPr>
        </p:nvGraphicFramePr>
        <p:xfrm>
          <a:off x="762000" y="914400"/>
          <a:ext cx="7467600" cy="373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816600" imgH="2413000" progId="Excel.Sheet.12">
                  <p:embed/>
                </p:oleObj>
              </mc:Choice>
              <mc:Fallback>
                <p:oleObj name="Worksheet" r:id="rId2" imgW="5816600" imgH="2413000" progId="Excel.Sheet.12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2000" y="914400"/>
                        <a:ext cx="7467600" cy="3733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Investment Opportunities and Diversification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graphicFrame>
        <p:nvGraphicFramePr>
          <p:cNvPr id="286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7388189"/>
              </p:ext>
            </p:extLst>
          </p:nvPr>
        </p:nvGraphicFramePr>
        <p:xfrm>
          <a:off x="776288" y="894443"/>
          <a:ext cx="7235825" cy="424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124200" imgH="2540000" progId="Excel.Sheet.12">
                  <p:embed/>
                </p:oleObj>
              </mc:Choice>
              <mc:Fallback>
                <p:oleObj name="Worksheet" r:id="rId2" imgW="3124200" imgH="2540000" progId="Excel.Sheet.12">
                  <p:embed/>
                  <p:pic>
                    <p:nvPicPr>
                      <p:cNvPr id="286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288" y="894443"/>
                        <a:ext cx="7235825" cy="4241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9</a:t>
            </a:fld>
            <a:endParaRPr lang="en-US" altLang="en-US" dirty="0"/>
          </a:p>
        </p:txBody>
      </p:sp>
      <p:sp>
        <p:nvSpPr>
          <p:cNvPr id="7" name="TextBox 10"/>
          <p:cNvSpPr txBox="1">
            <a:spLocks noChangeArrowheads="1"/>
          </p:cNvSpPr>
          <p:nvPr/>
        </p:nvSpPr>
        <p:spPr bwMode="auto">
          <a:xfrm>
            <a:off x="1010444" y="5466309"/>
            <a:ext cx="6767512" cy="646113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/>
              <a:t>Now, calculate the E(r) and SD of a Portfolio of </a:t>
            </a:r>
            <a:r>
              <a:rPr lang="en-US" sz="1800" b="1" dirty="0"/>
              <a:t>90% M and 10% A</a:t>
            </a:r>
            <a:r>
              <a:rPr lang="en-US" sz="1800" dirty="0"/>
              <a:t>, and </a:t>
            </a:r>
            <a:r>
              <a:rPr lang="en-US" sz="1800" b="1" dirty="0"/>
              <a:t>90% M and 10% C</a:t>
            </a:r>
            <a:r>
              <a:rPr lang="en-US" sz="1800" dirty="0"/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6324600" y="4679043"/>
            <a:ext cx="11430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572000" y="4679043"/>
            <a:ext cx="11430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Investment Opportunities and Diversification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10</a:t>
            </a:fld>
            <a:endParaRPr lang="en-US" alt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2991009"/>
              </p:ext>
            </p:extLst>
          </p:nvPr>
        </p:nvGraphicFramePr>
        <p:xfrm>
          <a:off x="384048" y="1037174"/>
          <a:ext cx="8226552" cy="3839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226300" imgH="2387600" progId="Excel.Sheet.12">
                  <p:embed/>
                </p:oleObj>
              </mc:Choice>
              <mc:Fallback>
                <p:oleObj name="Worksheet" r:id="rId2" imgW="7226300" imgH="2387600" progId="Excel.Sheet.12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4048" y="1037174"/>
                        <a:ext cx="8226552" cy="38396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Oval 8"/>
          <p:cNvSpPr/>
          <p:nvPr/>
        </p:nvSpPr>
        <p:spPr>
          <a:xfrm>
            <a:off x="5334000" y="4419600"/>
            <a:ext cx="838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477000" y="4495800"/>
            <a:ext cx="838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583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37" y="444007"/>
            <a:ext cx="3311525" cy="2980767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Frontier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11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8641" y="615781"/>
            <a:ext cx="3962400" cy="271047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31" y="3371084"/>
            <a:ext cx="3581400" cy="29040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8641" y="3536216"/>
            <a:ext cx="4194048" cy="29684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09800" y="838200"/>
            <a:ext cx="6479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u="sng" dirty="0"/>
              <a:t>M&amp;A</a:t>
            </a:r>
            <a:endParaRPr lang="en-US" u="sng" dirty="0"/>
          </a:p>
        </p:txBody>
      </p:sp>
      <p:sp>
        <p:nvSpPr>
          <p:cNvPr id="11" name="TextBox 10"/>
          <p:cNvSpPr txBox="1"/>
          <p:nvPr/>
        </p:nvSpPr>
        <p:spPr>
          <a:xfrm>
            <a:off x="5715000" y="699700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/>
              <a:t>M, A, &amp;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479137"/>
            <a:ext cx="1295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/>
              <a:t>M, A, B, </a:t>
            </a:r>
            <a:r>
              <a:rPr lang="en-US" sz="1400" u="sng"/>
              <a:t>&amp; C</a:t>
            </a:r>
            <a:endParaRPr lang="en-US" sz="1400" u="sng" dirty="0"/>
          </a:p>
        </p:txBody>
      </p:sp>
      <p:sp>
        <p:nvSpPr>
          <p:cNvPr id="13" name="TextBox 12"/>
          <p:cNvSpPr txBox="1"/>
          <p:nvPr/>
        </p:nvSpPr>
        <p:spPr>
          <a:xfrm>
            <a:off x="6934200" y="3381090"/>
            <a:ext cx="1295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/>
              <a:t>M, A, B, &amp; F</a:t>
            </a:r>
          </a:p>
        </p:txBody>
      </p:sp>
    </p:spTree>
    <p:extLst>
      <p:ext uri="{BB962C8B-B14F-4D97-AF65-F5344CB8AC3E}">
        <p14:creationId xmlns:p14="http://schemas.microsoft.com/office/powerpoint/2010/main" val="1088580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Investment Opportunities and Diversification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4032492"/>
              </p:ext>
            </p:extLst>
          </p:nvPr>
        </p:nvGraphicFramePr>
        <p:xfrm>
          <a:off x="387350" y="914400"/>
          <a:ext cx="8197850" cy="472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200934" imgH="2257470" progId="Excel.Sheet.12">
                  <p:embed/>
                </p:oleObj>
              </mc:Choice>
              <mc:Fallback>
                <p:oleObj name="Worksheet" r:id="rId2" imgW="7200934" imgH="2257470" progId="Excel.Sheet.12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7350" y="914400"/>
                        <a:ext cx="8197850" cy="472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val 6"/>
          <p:cNvSpPr/>
          <p:nvPr/>
        </p:nvSpPr>
        <p:spPr>
          <a:xfrm>
            <a:off x="5448625" y="5181600"/>
            <a:ext cx="838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477000" y="5181600"/>
            <a:ext cx="838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07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Individuals should focus on the risk of their </a:t>
            </a:r>
            <a:r>
              <a:rPr lang="en-US" sz="2400" b="1" dirty="0"/>
              <a:t>overall portfolio </a:t>
            </a:r>
            <a:r>
              <a:rPr lang="en-US" sz="2400" dirty="0"/>
              <a:t>and </a:t>
            </a:r>
            <a:r>
              <a:rPr lang="en-US" sz="2400" b="1" dirty="0"/>
              <a:t>not</a:t>
            </a:r>
            <a:r>
              <a:rPr lang="en-US" sz="2400" dirty="0"/>
              <a:t> the risk of the </a:t>
            </a:r>
            <a:r>
              <a:rPr lang="en-US" sz="2400" b="1" dirty="0"/>
              <a:t>individual investments</a:t>
            </a:r>
            <a:r>
              <a:rPr lang="en-US" sz="2400" dirty="0"/>
              <a:t>.</a:t>
            </a:r>
          </a:p>
          <a:p>
            <a:r>
              <a:rPr lang="en-US" sz="2400" dirty="0"/>
              <a:t>Diversification generally lowers overall portfolio risk.</a:t>
            </a:r>
          </a:p>
          <a:p>
            <a:r>
              <a:rPr lang="en-US" sz="2400" dirty="0"/>
              <a:t>Because investors are risk-adverse they will hold diversified portfolios.  </a:t>
            </a:r>
          </a:p>
          <a:p>
            <a:r>
              <a:rPr lang="en-US" sz="2400" dirty="0"/>
              <a:t>A manager should evaluate a project based on its risk/reward contribution for investors holding diversified portfolios.</a:t>
            </a:r>
          </a:p>
          <a:p>
            <a:r>
              <a:rPr lang="en-US" sz="2400" dirty="0"/>
              <a:t>Investors like projects whose returns are non-synchronous with their portfolio returns.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Investing Insights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3791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762001"/>
            <a:ext cx="4343400" cy="49530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Asset Beta &amp; Portfolio Risk Contribution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48" y="762001"/>
            <a:ext cx="4378452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68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ea typeface="ＭＳ Ｐゴシック" charset="0"/>
                <a:cs typeface="ＭＳ Ｐゴシック" charset="0"/>
              </a:rPr>
              <a:t>There are 3 choices for measuring an asset’s risk contribution to a portfolio:</a:t>
            </a:r>
          </a:p>
          <a:p>
            <a:pPr marL="517525" lvl="1" indent="-346075"/>
            <a:r>
              <a:rPr lang="en-US" sz="2400" dirty="0">
                <a:ea typeface="ＭＳ Ｐゴシック" charset="0"/>
              </a:rPr>
              <a:t>Covariance</a:t>
            </a:r>
          </a:p>
          <a:p>
            <a:pPr marL="517525" lvl="1" indent="-346075"/>
            <a:r>
              <a:rPr lang="en-US" sz="2400" dirty="0">
                <a:ea typeface="ＭＳ Ｐゴシック" charset="0"/>
              </a:rPr>
              <a:t>Correlation</a:t>
            </a:r>
          </a:p>
          <a:p>
            <a:pPr marL="517525" lvl="1" indent="-346075"/>
            <a:r>
              <a:rPr lang="en-US" sz="2400" b="1" dirty="0">
                <a:solidFill>
                  <a:srgbClr val="FF0021"/>
                </a:solidFill>
                <a:ea typeface="ＭＳ Ｐゴシック" charset="0"/>
              </a:rPr>
              <a:t>Beta</a:t>
            </a:r>
          </a:p>
        </p:txBody>
      </p:sp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Measuring Risk Contribution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15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z="2600" dirty="0" err="1">
                <a:ea typeface="ＭＳ Ｐゴシック" charset="0"/>
                <a:cs typeface="ＭＳ Ｐゴシック" charset="0"/>
              </a:rPr>
              <a:t>Unitless</a:t>
            </a:r>
            <a:endParaRPr lang="en-US" sz="2600" dirty="0"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sz="2600" dirty="0">
                <a:ea typeface="ＭＳ Ｐゴシック" charset="0"/>
                <a:cs typeface="ＭＳ Ｐゴシック" charset="0"/>
              </a:rPr>
              <a:t>Slope of best fitting line through (</a:t>
            </a:r>
            <a:r>
              <a:rPr lang="en-US" sz="2600" dirty="0" err="1">
                <a:ea typeface="ＭＳ Ｐゴシック" charset="0"/>
                <a:cs typeface="ＭＳ Ｐゴシック" charset="0"/>
              </a:rPr>
              <a:t>Y,X</a:t>
            </a:r>
            <a:r>
              <a:rPr lang="en-US" sz="2600" dirty="0">
                <a:ea typeface="ＭＳ Ｐゴシック" charset="0"/>
                <a:cs typeface="ＭＳ Ｐゴシック" charset="0"/>
              </a:rPr>
              <a:t>): (y = </a:t>
            </a:r>
            <a:r>
              <a:rPr lang="en-US" sz="2600" dirty="0">
                <a:ea typeface="ＭＳ Ｐゴシック" charset="0"/>
                <a:cs typeface="ＭＳ Ｐゴシック" charset="0"/>
                <a:sym typeface="Symbol" charset="0"/>
              </a:rPr>
              <a:t> + x</a:t>
            </a:r>
            <a:r>
              <a:rPr lang="en-US" sz="2600" dirty="0">
                <a:ea typeface="ＭＳ Ｐゴシック" charset="0"/>
                <a:cs typeface="ＭＳ Ｐゴシック" charset="0"/>
              </a:rPr>
              <a:t>)</a:t>
            </a:r>
          </a:p>
          <a:p>
            <a:pPr eaLnBrk="1" hangingPunct="1">
              <a:spcBef>
                <a:spcPct val="0"/>
              </a:spcBef>
            </a:pPr>
            <a:r>
              <a:rPr lang="en-US" sz="2600" dirty="0">
                <a:ea typeface="ＭＳ Ｐゴシック" charset="0"/>
                <a:cs typeface="ＭＳ Ｐゴシック" charset="0"/>
              </a:rPr>
              <a:t>Order of variables matters: </a:t>
            </a:r>
            <a:r>
              <a:rPr lang="en-US" sz="2600" b="1" dirty="0">
                <a:ea typeface="ＭＳ Ｐゴシック" charset="0"/>
                <a:cs typeface="ＭＳ Ｐゴシック" charset="0"/>
                <a:sym typeface="Symbol" charset="0"/>
              </a:rPr>
              <a:t></a:t>
            </a:r>
            <a:r>
              <a:rPr lang="en-US" sz="2600" b="1" baseline="-25000" dirty="0" err="1">
                <a:ea typeface="ＭＳ Ｐゴシック" charset="0"/>
                <a:cs typeface="ＭＳ Ｐゴシック" charset="0"/>
                <a:sym typeface="Symbol" charset="0"/>
              </a:rPr>
              <a:t>y,x</a:t>
            </a:r>
            <a:r>
              <a:rPr lang="en-US" sz="2600" b="1" dirty="0">
                <a:ea typeface="ＭＳ Ｐゴシック" charset="0"/>
                <a:cs typeface="ＭＳ Ｐゴシック" charset="0"/>
                <a:sym typeface="Symbol" charset="0"/>
              </a:rPr>
              <a:t> </a:t>
            </a:r>
            <a:r>
              <a:rPr lang="en-US" sz="2600" dirty="0">
                <a:ea typeface="ＭＳ Ｐゴシック" charset="0"/>
                <a:cs typeface="ＭＳ Ｐゴシック" charset="0"/>
                <a:sym typeface="Symbol" charset="0"/>
              </a:rPr>
              <a:t>= </a:t>
            </a:r>
            <a:r>
              <a:rPr lang="en-US" sz="2600" b="1" dirty="0">
                <a:ea typeface="ＭＳ Ｐゴシック" charset="0"/>
                <a:cs typeface="ＭＳ Ｐゴシック" charset="0"/>
                <a:sym typeface="Symbol" charset="0"/>
              </a:rPr>
              <a:t></a:t>
            </a:r>
            <a:r>
              <a:rPr lang="en-US" sz="2600" b="1" baseline="-25000" dirty="0" err="1">
                <a:ea typeface="ＭＳ Ｐゴシック" charset="0"/>
                <a:cs typeface="ＭＳ Ｐゴシック" charset="0"/>
                <a:sym typeface="Symbol" charset="0"/>
              </a:rPr>
              <a:t>x,y</a:t>
            </a:r>
            <a:r>
              <a:rPr lang="en-US" sz="2600" b="1" dirty="0">
                <a:ea typeface="ＭＳ Ｐゴシック" charset="0"/>
                <a:cs typeface="ＭＳ Ｐゴシック" charset="0"/>
                <a:sym typeface="Symbol" charset="0"/>
              </a:rPr>
              <a:t> </a:t>
            </a:r>
            <a:endParaRPr lang="en-US" sz="2600" dirty="0"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sz="2600" dirty="0">
                <a:ea typeface="ＭＳ Ｐゴシック" charset="0"/>
                <a:cs typeface="ＭＳ Ｐゴシック" charset="0"/>
              </a:rPr>
              <a:t>Tells how much Y will change for given change in X</a:t>
            </a:r>
          </a:p>
          <a:p>
            <a:pPr eaLnBrk="1" hangingPunct="1">
              <a:spcBef>
                <a:spcPct val="0"/>
              </a:spcBef>
            </a:pPr>
            <a:r>
              <a:rPr lang="en-US" sz="2600" dirty="0">
                <a:ea typeface="ＭＳ Ｐゴシック" charset="0"/>
                <a:cs typeface="ＭＳ Ｐゴシック" charset="0"/>
              </a:rPr>
              <a:t>Time period and frequency matter</a:t>
            </a:r>
          </a:p>
          <a:p>
            <a:pPr eaLnBrk="1" hangingPunct="1">
              <a:spcBef>
                <a:spcPct val="0"/>
              </a:spcBef>
            </a:pPr>
            <a:r>
              <a:rPr lang="en-US" sz="2600" dirty="0">
                <a:ea typeface="ＭＳ Ｐゴシック" charset="0"/>
                <a:cs typeface="ＭＳ Ｐゴシック" charset="0"/>
              </a:rPr>
              <a:t>In </a:t>
            </a:r>
            <a:r>
              <a:rPr lang="en-US" sz="2600" b="1" dirty="0">
                <a:ea typeface="ＭＳ Ｐゴシック" charset="0"/>
                <a:cs typeface="ＭＳ Ｐゴシック" charset="0"/>
              </a:rPr>
              <a:t>CAPM</a:t>
            </a:r>
            <a:r>
              <a:rPr lang="en-US" sz="2600" dirty="0">
                <a:ea typeface="ＭＳ Ｐゴシック" charset="0"/>
                <a:cs typeface="ＭＳ Ｐゴシック" charset="0"/>
              </a:rPr>
              <a:t>, beta refers to the beta of stock Y (asset, project) generally with the market return, M</a:t>
            </a:r>
          </a:p>
          <a:p>
            <a:pPr eaLnBrk="1" hangingPunct="1">
              <a:spcBef>
                <a:spcPct val="0"/>
              </a:spcBef>
            </a:pPr>
            <a:r>
              <a:rPr lang="en-US" sz="2600" dirty="0">
                <a:ea typeface="ＭＳ Ｐゴシック" charset="0"/>
                <a:cs typeface="ＭＳ Ｐゴシック" charset="0"/>
              </a:rPr>
              <a:t>Higher beta means more </a:t>
            </a:r>
            <a:r>
              <a:rPr lang="en-US" sz="2600" dirty="0" err="1">
                <a:ea typeface="ＭＳ Ｐゴシック" charset="0"/>
                <a:cs typeface="ＭＳ Ｐゴシック" charset="0"/>
              </a:rPr>
              <a:t>comovement</a:t>
            </a:r>
            <a:r>
              <a:rPr lang="en-US" sz="2600" dirty="0">
                <a:ea typeface="ＭＳ Ｐゴシック" charset="0"/>
                <a:cs typeface="ＭＳ Ｐゴシック" charset="0"/>
              </a:rPr>
              <a:t> and less diversification </a:t>
            </a:r>
          </a:p>
        </p:txBody>
      </p:sp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b="1" dirty="0">
                <a:ea typeface="ＭＳ Ｐゴシック" charset="0"/>
                <a:cs typeface="ＭＳ Ｐゴシック" charset="0"/>
              </a:rPr>
              <a:t>BETA </a:t>
            </a:r>
            <a:r>
              <a:rPr lang="en-US" sz="1800" b="1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(</a:t>
            </a:r>
            <a:r>
              <a:rPr lang="en-US" sz="1800" b="1" dirty="0">
                <a:solidFill>
                  <a:schemeClr val="tx1"/>
                </a:solidFill>
                <a:ea typeface="ＭＳ Ｐゴシック" charset="0"/>
                <a:cs typeface="ＭＳ Ｐゴシック" charset="0"/>
                <a:sym typeface="Symbol" charset="0"/>
              </a:rPr>
              <a:t>)</a:t>
            </a:r>
            <a:r>
              <a:rPr lang="en-US" sz="1800" dirty="0">
                <a:ea typeface="ＭＳ Ｐゴシック" charset="0"/>
                <a:cs typeface="ＭＳ Ｐゴシック" charset="0"/>
              </a:rPr>
              <a:t> </a:t>
            </a:r>
          </a:p>
        </p:txBody>
      </p:sp>
      <p:graphicFrame>
        <p:nvGraphicFramePr>
          <p:cNvPr id="4403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1149016"/>
              </p:ext>
            </p:extLst>
          </p:nvPr>
        </p:nvGraphicFramePr>
        <p:xfrm>
          <a:off x="993775" y="4648200"/>
          <a:ext cx="715645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61787" imgH="444247" progId="Equation.3">
                  <p:embed/>
                </p:oleObj>
              </mc:Choice>
              <mc:Fallback>
                <p:oleObj name="Equation" r:id="rId3" imgW="2361787" imgH="444247" progId="Equation.3">
                  <p:embed/>
                  <p:pic>
                    <p:nvPicPr>
                      <p:cNvPr id="4403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4648200"/>
                        <a:ext cx="7156450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1" name="Line 5"/>
          <p:cNvSpPr>
            <a:spLocks noChangeShapeType="1"/>
          </p:cNvSpPr>
          <p:nvPr/>
        </p:nvSpPr>
        <p:spPr bwMode="auto">
          <a:xfrm flipH="1">
            <a:off x="4800600" y="144780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16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The Formula for Beta of Stock i with the Market Portfolio</a:t>
            </a: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51206" name="Text Box 3"/>
          <p:cNvSpPr txBox="1">
            <a:spLocks noChangeArrowheads="1"/>
          </p:cNvSpPr>
          <p:nvPr/>
        </p:nvSpPr>
        <p:spPr bwMode="auto">
          <a:xfrm>
            <a:off x="1524000" y="3962400"/>
            <a:ext cx="6324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latin typeface="Calibri" pitchFamily="34" charset="0"/>
              </a:rPr>
              <a:t>Your estimate of beta will depend upon your choice of a proxy for the market portfolio.</a:t>
            </a:r>
          </a:p>
        </p:txBody>
      </p:sp>
      <p:graphicFrame>
        <p:nvGraphicFramePr>
          <p:cNvPr id="5120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0451669"/>
              </p:ext>
            </p:extLst>
          </p:nvPr>
        </p:nvGraphicFramePr>
        <p:xfrm>
          <a:off x="2514600" y="2133600"/>
          <a:ext cx="28956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42200" imgH="411120" progId="Equation.3">
                  <p:embed/>
                </p:oleObj>
              </mc:Choice>
              <mc:Fallback>
                <p:oleObj name="Equation" r:id="rId3" imgW="1042200" imgH="411120" progId="Equation.3">
                  <p:embed/>
                  <p:pic>
                    <p:nvPicPr>
                      <p:cNvPr id="5120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133600"/>
                        <a:ext cx="2895600" cy="11049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7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17</a:t>
            </a:fld>
            <a:endParaRPr lang="en-US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2F5953-2BD8-2245-9537-CDB5CFB8E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Estimates of </a:t>
            </a:r>
            <a:r>
              <a:rPr lang="en-US" dirty="0">
                <a:latin typeface="Symbol" charset="0"/>
                <a:ea typeface="ＭＳ Ｐゴシック" charset="0"/>
                <a:cs typeface="ＭＳ Ｐゴシック" charset="0"/>
              </a:rPr>
              <a:t>b</a:t>
            </a:r>
            <a:r>
              <a:rPr lang="en-US" dirty="0">
                <a:ea typeface="ＭＳ Ｐゴシック" charset="0"/>
                <a:cs typeface="ＭＳ Ｐゴシック" charset="0"/>
              </a:rPr>
              <a:t> for Selected Stocks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7D8A5-A871-988F-7F18-5C29AD20E6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18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4C342-419C-CA52-4981-F87850265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5CCEBFF-04D6-37D0-8A0E-3CBCA675BA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8292710"/>
              </p:ext>
            </p:extLst>
          </p:nvPr>
        </p:nvGraphicFramePr>
        <p:xfrm>
          <a:off x="2743200" y="2504702"/>
          <a:ext cx="4137025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8597900" imgH="1968500" progId="Excel.Sheet.12">
                  <p:embed/>
                </p:oleObj>
              </mc:Choice>
              <mc:Fallback>
                <p:oleObj name="Worksheet" r:id="rId2" imgW="8597900" imgH="1968500" progId="Excel.Sheet.12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25CCEBFF-04D6-37D0-8A0E-3CBCA675BA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43200" y="2504702"/>
                        <a:ext cx="4137025" cy="274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5F32B81-6B87-4359-AF2A-BDFF492A21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" y="1447800"/>
            <a:ext cx="8553577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30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The formula for covariance is</a:t>
            </a:r>
            <a:r>
              <a:rPr lang="en-US" sz="2400" b="1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:</a:t>
            </a:r>
          </a:p>
          <a:p>
            <a:endParaRPr lang="en-US" sz="2400" b="1" dirty="0">
              <a:solidFill>
                <a:srgbClr val="010004"/>
              </a:solidFill>
              <a:ea typeface="ＭＳ Ｐゴシック" charset="0"/>
              <a:cs typeface="ＭＳ Ｐゴシック" charset="0"/>
            </a:endParaRPr>
          </a:p>
          <a:p>
            <a:endParaRPr lang="en-US" sz="2400" b="1" dirty="0">
              <a:solidFill>
                <a:srgbClr val="010004"/>
              </a:solidFill>
              <a:ea typeface="ＭＳ Ｐゴシック" charset="0"/>
              <a:cs typeface="ＭＳ Ｐゴシック" charset="0"/>
            </a:endParaRPr>
          </a:p>
          <a:p>
            <a:endParaRPr lang="en-US" sz="2400" b="1" dirty="0">
              <a:solidFill>
                <a:srgbClr val="010004"/>
              </a:solidFill>
              <a:ea typeface="ＭＳ Ｐゴシック" charset="0"/>
              <a:cs typeface="ＭＳ Ｐゴシック" charset="0"/>
            </a:endParaRPr>
          </a:p>
          <a:p>
            <a:endParaRPr lang="en-US" sz="2400" b="1" dirty="0">
              <a:solidFill>
                <a:srgbClr val="010004"/>
              </a:solidFill>
              <a:ea typeface="ＭＳ Ｐゴシック" charset="0"/>
              <a:cs typeface="ＭＳ Ｐゴシック" charset="0"/>
            </a:endParaRPr>
          </a:p>
          <a:p>
            <a:r>
              <a:rPr lang="en-US" sz="2400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A major drawback to covariance is its units, %</a:t>
            </a:r>
            <a:r>
              <a:rPr lang="en-US" sz="2400" baseline="30000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2</a:t>
            </a:r>
            <a:r>
              <a:rPr lang="en-US" sz="2400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. </a:t>
            </a:r>
            <a:r>
              <a:rPr lang="en-US" sz="2400" baseline="30000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If the covariance is divided by the product of the standard deviation of the assets, the units cancel out.  The result is </a:t>
            </a:r>
            <a:r>
              <a:rPr lang="en-US" sz="2400" i="1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correlation.</a:t>
            </a:r>
            <a:r>
              <a:rPr lang="en-US" sz="2400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 </a:t>
            </a:r>
          </a:p>
          <a:p>
            <a:endParaRPr lang="en-US" sz="2400" b="1" dirty="0">
              <a:solidFill>
                <a:srgbClr val="010004"/>
              </a:solidFill>
              <a:ea typeface="ＭＳ Ｐゴシック" charset="0"/>
              <a:cs typeface="ＭＳ Ｐゴシック" charset="0"/>
            </a:endParaRPr>
          </a:p>
          <a:p>
            <a:pPr>
              <a:buNone/>
            </a:pPr>
            <a:r>
              <a:rPr lang="en-US" b="1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 </a:t>
            </a:r>
            <a:endParaRPr lang="en-US" sz="1600" b="1" dirty="0">
              <a:solidFill>
                <a:srgbClr val="010004"/>
              </a:solidFill>
              <a:ea typeface="ＭＳ Ｐゴシック" charset="0"/>
              <a:cs typeface="ＭＳ Ｐゴシック" charset="0"/>
            </a:endParaRP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Measuring Risk Contribution</a:t>
            </a:r>
            <a:endParaRPr lang="en-US" dirty="0"/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5134345"/>
              </p:ext>
            </p:extLst>
          </p:nvPr>
        </p:nvGraphicFramePr>
        <p:xfrm>
          <a:off x="1371600" y="1143000"/>
          <a:ext cx="54864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61787" imgH="482278" progId="Equation.3">
                  <p:embed/>
                </p:oleObj>
              </mc:Choice>
              <mc:Fallback>
                <p:oleObj name="Equation" r:id="rId2" imgW="2361787" imgH="482278" progId="Equation.3">
                  <p:embed/>
                  <p:pic>
                    <p:nvPicPr>
                      <p:cNvPr id="6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143000"/>
                        <a:ext cx="5486400" cy="1143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428663"/>
              </p:ext>
            </p:extLst>
          </p:nvPr>
        </p:nvGraphicFramePr>
        <p:xfrm>
          <a:off x="2133600" y="4267200"/>
          <a:ext cx="3509963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6760" imgH="447840" progId="Equation.3">
                  <p:embed/>
                </p:oleObj>
              </mc:Choice>
              <mc:Fallback>
                <p:oleObj name="Equation" r:id="rId4" imgW="1526760" imgH="447840" progId="Equation.3">
                  <p:embed/>
                  <p:pic>
                    <p:nvPicPr>
                      <p:cNvPr id="7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267200"/>
                        <a:ext cx="3509963" cy="1028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47685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3200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Correlation</a:t>
            </a:r>
          </a:p>
          <a:p>
            <a:pPr marL="517525" lvl="1" indent="-346075" eaLnBrk="1" hangingPunct="1"/>
            <a:r>
              <a:rPr lang="en-US" sz="2800" dirty="0" err="1">
                <a:solidFill>
                  <a:srgbClr val="010004"/>
                </a:solidFill>
                <a:ea typeface="ＭＳ Ｐゴシック" charset="0"/>
              </a:rPr>
              <a:t>Unitless</a:t>
            </a:r>
            <a:endParaRPr lang="en-US" sz="2800" dirty="0">
              <a:solidFill>
                <a:srgbClr val="010004"/>
              </a:solidFill>
              <a:ea typeface="ＭＳ Ｐゴシック" charset="0"/>
            </a:endParaRPr>
          </a:p>
          <a:p>
            <a:pPr marL="517525" lvl="1" indent="-346075" eaLnBrk="1" hangingPunct="1"/>
            <a:r>
              <a:rPr lang="en-US" sz="2800" dirty="0">
                <a:solidFill>
                  <a:srgbClr val="010004"/>
                </a:solidFill>
                <a:ea typeface="ＭＳ Ｐゴシック" charset="0"/>
              </a:rPr>
              <a:t>Always between +1 and -1</a:t>
            </a:r>
          </a:p>
          <a:p>
            <a:pPr marL="517525" lvl="1" indent="-346075" eaLnBrk="1" hangingPunct="1"/>
            <a:r>
              <a:rPr lang="en-US" sz="2800" dirty="0">
                <a:solidFill>
                  <a:srgbClr val="010004"/>
                </a:solidFill>
                <a:ea typeface="ＭＳ Ｐゴシック" charset="0"/>
              </a:rPr>
              <a:t>Same sign (+ or - ) as Covariance</a:t>
            </a:r>
          </a:p>
          <a:p>
            <a:pPr marL="517525" lvl="1" indent="-346075" eaLnBrk="1" hangingPunct="1"/>
            <a:r>
              <a:rPr lang="en-US" sz="2800" b="1" dirty="0">
                <a:solidFill>
                  <a:srgbClr val="010004"/>
                </a:solidFill>
                <a:ea typeface="ＭＳ Ｐゴシック" charset="0"/>
              </a:rPr>
              <a:t>Drawback</a:t>
            </a:r>
            <a:r>
              <a:rPr lang="en-US" sz="2800" dirty="0">
                <a:solidFill>
                  <a:srgbClr val="010004"/>
                </a:solidFill>
                <a:ea typeface="ＭＳ Ｐゴシック" charset="0"/>
              </a:rPr>
              <a:t>: correlation measures </a:t>
            </a:r>
            <a:r>
              <a:rPr lang="en-US" sz="2800" i="1" dirty="0">
                <a:solidFill>
                  <a:srgbClr val="010004"/>
                </a:solidFill>
                <a:ea typeface="ＭＳ Ｐゴシック" charset="0"/>
              </a:rPr>
              <a:t>reliability</a:t>
            </a:r>
            <a:r>
              <a:rPr lang="en-US" sz="2800" dirty="0">
                <a:solidFill>
                  <a:srgbClr val="010004"/>
                </a:solidFill>
                <a:ea typeface="ＭＳ Ｐゴシック" charset="0"/>
              </a:rPr>
              <a:t>, not slope</a:t>
            </a:r>
          </a:p>
          <a:p>
            <a:pPr eaLnBrk="1" hangingPunct="1"/>
            <a:r>
              <a:rPr lang="en-US" sz="3200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The formula for correlation is:</a:t>
            </a:r>
          </a:p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3481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Correlation and Covariance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graphicFrame>
        <p:nvGraphicFramePr>
          <p:cNvPr id="348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3423324"/>
              </p:ext>
            </p:extLst>
          </p:nvPr>
        </p:nvGraphicFramePr>
        <p:xfrm>
          <a:off x="2438400" y="3962400"/>
          <a:ext cx="35163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6760" imgH="447840" progId="Equation.3">
                  <p:embed/>
                </p:oleObj>
              </mc:Choice>
              <mc:Fallback>
                <p:oleObj name="Equation" r:id="rId2" imgW="1526760" imgH="447840" progId="Equation.3">
                  <p:embed/>
                  <p:pic>
                    <p:nvPicPr>
                      <p:cNvPr id="348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962400"/>
                        <a:ext cx="3516313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20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Scaling Problem with Correlation</a:t>
            </a:r>
          </a:p>
        </p:txBody>
      </p:sp>
      <p:graphicFrame>
        <p:nvGraphicFramePr>
          <p:cNvPr id="2457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47307"/>
              </p:ext>
            </p:extLst>
          </p:nvPr>
        </p:nvGraphicFramePr>
        <p:xfrm>
          <a:off x="612648" y="806748"/>
          <a:ext cx="7772400" cy="5060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571666" imgH="2514510" progId="Excel.Sheet.12">
                  <p:embed/>
                </p:oleObj>
              </mc:Choice>
              <mc:Fallback>
                <p:oleObj name="Worksheet" r:id="rId2" imgW="2571666" imgH="2514510" progId="Excel.Sheet.12">
                  <p:embed/>
                  <p:pic>
                    <p:nvPicPr>
                      <p:cNvPr id="2457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648" y="806748"/>
                        <a:ext cx="7772400" cy="50606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21</a:t>
            </a:fld>
            <a:endParaRPr lang="en-US" altLang="en-US" dirty="0"/>
          </a:p>
        </p:txBody>
      </p:sp>
      <p:sp>
        <p:nvSpPr>
          <p:cNvPr id="5" name="Oval 4"/>
          <p:cNvSpPr/>
          <p:nvPr/>
        </p:nvSpPr>
        <p:spPr>
          <a:xfrm>
            <a:off x="2209800" y="4876800"/>
            <a:ext cx="6632448" cy="1219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Correlation, Covariance, and Beta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22</a:t>
            </a:fld>
            <a:endParaRPr lang="en-US" alt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3122992"/>
              </p:ext>
            </p:extLst>
          </p:nvPr>
        </p:nvGraphicFramePr>
        <p:xfrm>
          <a:off x="685800" y="914400"/>
          <a:ext cx="7758113" cy="474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896224" imgH="3124170" progId="Excel.Sheet.12">
                  <p:embed/>
                </p:oleObj>
              </mc:Choice>
              <mc:Fallback>
                <p:oleObj name="Worksheet" r:id="rId2" imgW="6896224" imgH="3124170" progId="Excel.Sheet.12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5800" y="914400"/>
                        <a:ext cx="7758113" cy="474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4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548551"/>
              </p:ext>
            </p:extLst>
          </p:nvPr>
        </p:nvGraphicFramePr>
        <p:xfrm>
          <a:off x="1274135" y="1033477"/>
          <a:ext cx="4437063" cy="81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39920" imgH="191880" progId="Equation.3">
                  <p:embed/>
                </p:oleObj>
              </mc:Choice>
              <mc:Fallback>
                <p:oleObj name="Equation" r:id="rId3" imgW="2239920" imgH="191880" progId="Equation.3">
                  <p:embed/>
                  <p:pic>
                    <p:nvPicPr>
                      <p:cNvPr id="49154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4135" y="1033477"/>
                        <a:ext cx="4437063" cy="810287"/>
                      </a:xfrm>
                      <a:prstGeom prst="rect">
                        <a:avLst/>
                      </a:prstGeom>
                      <a:noFill/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000" b="1" dirty="0">
                <a:ea typeface="ＭＳ Ｐゴシック" charset="0"/>
                <a:cs typeface="ＭＳ Ｐゴシック" charset="0"/>
              </a:rPr>
              <a:t>Covariance, Correlation, and Beta</a:t>
            </a:r>
          </a:p>
        </p:txBody>
      </p:sp>
      <p:sp>
        <p:nvSpPr>
          <p:cNvPr id="49160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143000"/>
            <a:ext cx="8382000" cy="5486400"/>
          </a:xfrm>
          <a:prstGeom prst="rect">
            <a:avLst/>
          </a:prstGeom>
        </p:spPr>
        <p:txBody>
          <a:bodyPr anchor="ctr"/>
          <a:lstStyle/>
          <a:p>
            <a:pPr lvl="1" eaLnBrk="1" hangingPunct="1"/>
            <a:endParaRPr lang="en-US" sz="2000" b="1">
              <a:solidFill>
                <a:srgbClr val="010004"/>
              </a:solidFill>
              <a:ea typeface="ＭＳ Ｐゴシック" charset="0"/>
            </a:endParaRPr>
          </a:p>
          <a:p>
            <a:pPr lvl="1" eaLnBrk="1" hangingPunct="1"/>
            <a:endParaRPr lang="en-US" sz="2000" b="1">
              <a:solidFill>
                <a:srgbClr val="010004"/>
              </a:solidFill>
              <a:ea typeface="ＭＳ Ｐゴシック" charset="0"/>
            </a:endParaRPr>
          </a:p>
          <a:p>
            <a:pPr lvl="1" eaLnBrk="1" hangingPunct="1"/>
            <a:endParaRPr lang="en-US" sz="2000" b="1">
              <a:solidFill>
                <a:srgbClr val="010004"/>
              </a:solidFill>
              <a:ea typeface="ＭＳ Ｐゴシック" charset="0"/>
            </a:endParaRPr>
          </a:p>
          <a:p>
            <a:pPr eaLnBrk="1" hangingPunct="1"/>
            <a:endParaRPr lang="en-US" sz="3200" b="1">
              <a:solidFill>
                <a:srgbClr val="010004"/>
              </a:solidFill>
              <a:ea typeface="ＭＳ Ｐゴシック" charset="0"/>
              <a:cs typeface="ＭＳ Ｐゴシック" charset="0"/>
            </a:endParaRPr>
          </a:p>
        </p:txBody>
      </p:sp>
      <p:graphicFrame>
        <p:nvGraphicFramePr>
          <p:cNvPr id="49155" name="Object 5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121185314"/>
              </p:ext>
            </p:extLst>
          </p:nvPr>
        </p:nvGraphicFramePr>
        <p:xfrm>
          <a:off x="1274135" y="2353232"/>
          <a:ext cx="4437063" cy="1183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63120" imgH="420480" progId="Equation.3">
                  <p:embed/>
                </p:oleObj>
              </mc:Choice>
              <mc:Fallback>
                <p:oleObj name="Equation" r:id="rId5" imgW="1563120" imgH="420480" progId="Equation.3">
                  <p:embed/>
                  <p:pic>
                    <p:nvPicPr>
                      <p:cNvPr id="49155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4135" y="2353232"/>
                        <a:ext cx="4437063" cy="1183717"/>
                      </a:xfrm>
                      <a:prstGeom prst="rect">
                        <a:avLst/>
                      </a:prstGeom>
                      <a:noFill/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746883"/>
              </p:ext>
            </p:extLst>
          </p:nvPr>
        </p:nvGraphicFramePr>
        <p:xfrm>
          <a:off x="1274135" y="4124324"/>
          <a:ext cx="443706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97360" imgH="365400" progId="Equation.3">
                  <p:embed/>
                </p:oleObj>
              </mc:Choice>
              <mc:Fallback>
                <p:oleObj name="Equation" r:id="rId7" imgW="1197360" imgH="365400" progId="Equation.3">
                  <p:embed/>
                  <p:pic>
                    <p:nvPicPr>
                      <p:cNvPr id="4915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4135" y="4124324"/>
                        <a:ext cx="4437063" cy="95885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7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23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3246" name="Group 14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0199581"/>
              </p:ext>
            </p:extLst>
          </p:nvPr>
        </p:nvGraphicFramePr>
        <p:xfrm>
          <a:off x="384048" y="533400"/>
          <a:ext cx="8458201" cy="5029199"/>
        </p:xfrm>
        <a:graphic>
          <a:graphicData uri="http://schemas.openxmlformats.org/drawingml/2006/table">
            <a:tbl>
              <a:tblPr/>
              <a:tblGrid>
                <a:gridCol w="948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9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3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0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2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30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1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Assets</a:t>
                      </a:r>
                    </a:p>
                  </a:txBody>
                  <a:tcPr marL="84582" marR="84582" anchor="ctr" horzOverflow="overflow">
                    <a:lnL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----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N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6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marL="84582" marR="84582" anchor="ctr" horzOverflow="overflow">
                    <a:lnL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US" sz="2000" b="1" i="0" u="none" strike="noStrike" cap="none" normalizeH="0" baseline="30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Var(1)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Cov(1,2)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Cov(1,3)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--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N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Cov(1,N)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marL="84582" marR="84582" anchor="ctr" horzOverflow="overflow">
                    <a:lnL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Cov(2,1)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*Var(2)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Cov(2,3)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--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N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Cov(2,N)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0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</a:p>
                  </a:txBody>
                  <a:tcPr marL="84582" marR="84582" anchor="ctr" horzOverflow="overflow">
                    <a:lnL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Cov(3,1)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Cov(3,2)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  <a:r>
                        <a:rPr kumimoji="0" lang="en-US" sz="2000" b="1" i="0" u="none" strike="noStrike" cap="none" normalizeH="0" baseline="30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*Var(3)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--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N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Cov(3,N)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1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-----</a:t>
                      </a:r>
                    </a:p>
                  </a:txBody>
                  <a:tcPr marL="84582" marR="84582" anchor="ctr" horzOverflow="overflow">
                    <a:lnL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-----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-----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-----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--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------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43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N</a:t>
                      </a:r>
                    </a:p>
                  </a:txBody>
                  <a:tcPr marL="84582" marR="84582" anchor="ctr" horzOverflow="overflow">
                    <a:lnL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N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Cov(N,1)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N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Cov(N,2)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N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Cov(N,3)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--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N</a:t>
                      </a:r>
                      <a:r>
                        <a:rPr kumimoji="0" lang="en-US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*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Var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(N)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73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Portfolio Variance:  N Assets</a:t>
            </a:r>
          </a:p>
        </p:txBody>
      </p:sp>
      <p:sp>
        <p:nvSpPr>
          <p:cNvPr id="57400" name="Oval 138"/>
          <p:cNvSpPr>
            <a:spLocks noChangeArrowheads="1"/>
          </p:cNvSpPr>
          <p:nvPr/>
        </p:nvSpPr>
        <p:spPr bwMode="auto">
          <a:xfrm>
            <a:off x="1066800" y="914400"/>
            <a:ext cx="4343400" cy="2514600"/>
          </a:xfrm>
          <a:prstGeom prst="ellipse">
            <a:avLst/>
          </a:prstGeom>
          <a:noFill/>
          <a:ln w="28575">
            <a:solidFill>
              <a:srgbClr val="146BE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chemeClr val="hlink"/>
              </a:solidFill>
              <a:latin typeface="Calibri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24</a:t>
            </a:fld>
            <a:endParaRPr lang="en-US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06400" indent="-406400"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Assume a portfolio:  </a:t>
            </a:r>
            <a:r>
              <a:rPr lang="en-US" sz="2400" b="1" dirty="0">
                <a:ea typeface="ＭＳ Ｐゴシック" charset="0"/>
                <a:cs typeface="ＭＳ Ｐゴシック" charset="0"/>
              </a:rPr>
              <a:t>n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assets, each with a variance of </a:t>
            </a:r>
            <a:r>
              <a:rPr lang="en-US" sz="2400" b="1" dirty="0" err="1">
                <a:ea typeface="ＭＳ Ｐゴシック" charset="0"/>
                <a:cs typeface="ＭＳ Ｐゴシック" charset="0"/>
              </a:rPr>
              <a:t>AveVar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, investment of </a:t>
            </a:r>
            <a:r>
              <a:rPr lang="en-US" sz="2400" b="1" dirty="0">
                <a:ea typeface="ＭＳ Ｐゴシック" charset="0"/>
                <a:cs typeface="ＭＳ Ｐゴシック" charset="0"/>
              </a:rPr>
              <a:t>1/n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in each asset, and each asset has a covariance with every other asset of </a:t>
            </a:r>
            <a:r>
              <a:rPr lang="en-US" sz="2400" b="1" dirty="0" err="1">
                <a:ea typeface="ＭＳ Ｐゴシック" charset="0"/>
                <a:cs typeface="ＭＳ Ｐゴシック" charset="0"/>
              </a:rPr>
              <a:t>AveCov</a:t>
            </a:r>
            <a:endParaRPr lang="en-US" sz="2400" b="1" dirty="0">
              <a:ea typeface="ＭＳ Ｐゴシック" charset="0"/>
              <a:cs typeface="ＭＳ Ｐゴシック" charset="0"/>
            </a:endParaRPr>
          </a:p>
          <a:p>
            <a:pPr marL="406400" indent="-406400"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What’s the portfolio’s variance?</a:t>
            </a:r>
          </a:p>
          <a:p>
            <a:pPr marL="406400" indent="-406400"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Using the box, add all of the variances (+weights)</a:t>
            </a:r>
          </a:p>
          <a:p>
            <a:pPr marL="757238" lvl="1" indent="-236538" eaLnBrk="1" hangingPunct="1"/>
            <a:r>
              <a:rPr lang="en-US" sz="2000" b="1" dirty="0">
                <a:ea typeface="ＭＳ Ｐゴシック" charset="0"/>
              </a:rPr>
              <a:t>(1/n)</a:t>
            </a:r>
            <a:r>
              <a:rPr lang="en-US" sz="2000" b="1" baseline="30000" dirty="0">
                <a:ea typeface="ＭＳ Ｐゴシック" charset="0"/>
              </a:rPr>
              <a:t>2 * </a:t>
            </a:r>
            <a:r>
              <a:rPr lang="en-US" sz="2000" b="1" dirty="0">
                <a:ea typeface="ＭＳ Ｐゴシック" charset="0"/>
              </a:rPr>
              <a:t>(n) * </a:t>
            </a:r>
            <a:r>
              <a:rPr lang="en-US" sz="2000" b="1" dirty="0" err="1">
                <a:ea typeface="ＭＳ Ｐゴシック" charset="0"/>
              </a:rPr>
              <a:t>AveVar</a:t>
            </a:r>
            <a:r>
              <a:rPr lang="en-US" sz="2000" b="1" dirty="0">
                <a:ea typeface="ＭＳ Ｐゴシック" charset="0"/>
              </a:rPr>
              <a:t>, or ----&gt; (1/n) * </a:t>
            </a:r>
            <a:r>
              <a:rPr lang="en-US" sz="2000" b="1" dirty="0" err="1">
                <a:ea typeface="ＭＳ Ｐゴシック" charset="0"/>
              </a:rPr>
              <a:t>AveVar</a:t>
            </a:r>
            <a:endParaRPr lang="en-US" sz="2000" b="1" dirty="0">
              <a:ea typeface="ＭＳ Ｐゴシック" charset="0"/>
            </a:endParaRPr>
          </a:p>
          <a:p>
            <a:pPr marL="406400" indent="-406400"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Now, add all of the </a:t>
            </a:r>
            <a:r>
              <a:rPr lang="en-US" sz="2400" dirty="0" err="1">
                <a:ea typeface="ＭＳ Ｐゴシック" charset="0"/>
                <a:cs typeface="ＭＳ Ｐゴシック" charset="0"/>
              </a:rPr>
              <a:t>covariances</a:t>
            </a:r>
            <a:endParaRPr lang="en-US" sz="2400" dirty="0">
              <a:ea typeface="ＭＳ Ｐゴシック" charset="0"/>
              <a:cs typeface="ＭＳ Ｐゴシック" charset="0"/>
            </a:endParaRPr>
          </a:p>
          <a:p>
            <a:pPr marL="757238" lvl="1" indent="-236538" eaLnBrk="1" hangingPunct="1"/>
            <a:r>
              <a:rPr lang="en-US" sz="2000" b="1" dirty="0">
                <a:ea typeface="ＭＳ Ｐゴシック" charset="0"/>
              </a:rPr>
              <a:t>(1/n)</a:t>
            </a:r>
            <a:r>
              <a:rPr lang="en-US" sz="2000" b="1" baseline="30000" dirty="0">
                <a:ea typeface="ＭＳ Ｐゴシック" charset="0"/>
              </a:rPr>
              <a:t>2</a:t>
            </a:r>
            <a:r>
              <a:rPr lang="en-US" sz="2000" b="1" dirty="0">
                <a:ea typeface="ＭＳ Ｐゴシック" charset="0"/>
              </a:rPr>
              <a:t> * (n</a:t>
            </a:r>
            <a:r>
              <a:rPr lang="en-US" sz="2000" b="1" baseline="30000" dirty="0">
                <a:ea typeface="ＭＳ Ｐゴシック" charset="0"/>
              </a:rPr>
              <a:t>2</a:t>
            </a:r>
            <a:r>
              <a:rPr lang="en-US" sz="2000" b="1" dirty="0">
                <a:ea typeface="ＭＳ Ｐゴシック" charset="0"/>
              </a:rPr>
              <a:t>-n) * </a:t>
            </a:r>
            <a:r>
              <a:rPr lang="en-US" sz="2000" b="1" dirty="0" err="1">
                <a:ea typeface="ＭＳ Ｐゴシック" charset="0"/>
              </a:rPr>
              <a:t>AveCov</a:t>
            </a:r>
            <a:r>
              <a:rPr lang="en-US" sz="2000" b="1" dirty="0">
                <a:ea typeface="ＭＳ Ｐゴシック" charset="0"/>
              </a:rPr>
              <a:t>, or ------&gt; (n-1)/n * </a:t>
            </a:r>
            <a:r>
              <a:rPr lang="en-US" sz="2000" b="1" dirty="0" err="1">
                <a:ea typeface="ＭＳ Ｐゴシック" charset="0"/>
              </a:rPr>
              <a:t>AveCov</a:t>
            </a:r>
            <a:endParaRPr lang="en-US" sz="2000" b="1" dirty="0">
              <a:ea typeface="ＭＳ Ｐゴシック" charset="0"/>
            </a:endParaRPr>
          </a:p>
          <a:p>
            <a:pPr marL="406400" indent="-406400" algn="ctr" eaLnBrk="1" hangingPunct="1">
              <a:buFontTx/>
              <a:buNone/>
            </a:pPr>
            <a:endParaRPr lang="en-US" sz="2000" b="1" dirty="0">
              <a:ea typeface="ＭＳ Ｐゴシック" charset="0"/>
              <a:cs typeface="ＭＳ Ｐゴシック" charset="0"/>
            </a:endParaRPr>
          </a:p>
          <a:p>
            <a:pPr marL="406400" indent="-406400" algn="ctr" eaLnBrk="1" hangingPunct="1">
              <a:buFontTx/>
              <a:buNone/>
            </a:pPr>
            <a:r>
              <a:rPr lang="en-US" sz="2000" b="1" dirty="0" err="1">
                <a:ea typeface="ＭＳ Ｐゴシック" charset="0"/>
                <a:cs typeface="ＭＳ Ｐゴシック" charset="0"/>
              </a:rPr>
              <a:t>Var</a:t>
            </a:r>
            <a:r>
              <a:rPr lang="en-US" sz="2000" b="1" dirty="0">
                <a:ea typeface="ＭＳ Ｐゴシック" charset="0"/>
                <a:cs typeface="ＭＳ Ｐゴシック" charset="0"/>
              </a:rPr>
              <a:t> Port = (1/n) * </a:t>
            </a:r>
            <a:r>
              <a:rPr lang="en-US" sz="2000" b="1" dirty="0" err="1">
                <a:ea typeface="ＭＳ Ｐゴシック" charset="0"/>
                <a:cs typeface="ＭＳ Ｐゴシック" charset="0"/>
              </a:rPr>
              <a:t>AveVar</a:t>
            </a:r>
            <a:r>
              <a:rPr lang="en-US" sz="2000" b="1" dirty="0">
                <a:ea typeface="ＭＳ Ｐゴシック" charset="0"/>
                <a:cs typeface="ＭＳ Ｐゴシック" charset="0"/>
              </a:rPr>
              <a:t> + (n-1)/n * </a:t>
            </a:r>
            <a:r>
              <a:rPr lang="en-US" sz="2000" b="1" dirty="0" err="1">
                <a:ea typeface="ＭＳ Ｐゴシック" charset="0"/>
                <a:cs typeface="ＭＳ Ｐゴシック" charset="0"/>
              </a:rPr>
              <a:t>AveCov</a:t>
            </a:r>
            <a:endParaRPr lang="en-US" sz="2000" dirty="0">
              <a:ea typeface="ＭＳ Ｐゴシック" charset="0"/>
              <a:cs typeface="ＭＳ Ｐゴシック" charset="0"/>
            </a:endParaRPr>
          </a:p>
          <a:p>
            <a:pPr marL="757238" lvl="1" indent="-236538" eaLnBrk="1" hangingPunct="1"/>
            <a:endParaRPr lang="en-US" sz="2400" dirty="0">
              <a:ea typeface="ＭＳ Ｐゴシック" charset="0"/>
            </a:endParaRPr>
          </a:p>
        </p:txBody>
      </p:sp>
      <p:sp>
        <p:nvSpPr>
          <p:cNvPr id="634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Diversification:  The Role of Covariance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539653" name="Rectangle 5"/>
          <p:cNvSpPr>
            <a:spLocks noChangeArrowheads="1"/>
          </p:cNvSpPr>
          <p:nvPr/>
        </p:nvSpPr>
        <p:spPr bwMode="auto">
          <a:xfrm>
            <a:off x="914400" y="4038600"/>
            <a:ext cx="7543800" cy="533400"/>
          </a:xfrm>
          <a:prstGeom prst="rect">
            <a:avLst/>
          </a:prstGeom>
          <a:noFill/>
          <a:ln w="28575">
            <a:solidFill>
              <a:srgbClr val="FF002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Tx/>
              <a:buChar char="•"/>
            </a:pPr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25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651" grpId="0" build="p"/>
      <p:bldP spid="53965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Portfolio Risk as a Function of the Number of Stocks in the Portfolio</a:t>
            </a:r>
          </a:p>
        </p:txBody>
      </p:sp>
      <p:sp>
        <p:nvSpPr>
          <p:cNvPr id="67588" name="Rectangle 2"/>
          <p:cNvSpPr>
            <a:spLocks noChangeArrowheads="1"/>
          </p:cNvSpPr>
          <p:nvPr/>
        </p:nvSpPr>
        <p:spPr bwMode="auto">
          <a:xfrm>
            <a:off x="838200" y="914400"/>
            <a:ext cx="81534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1" name="Line 5"/>
          <p:cNvSpPr>
            <a:spLocks noChangeShapeType="1"/>
          </p:cNvSpPr>
          <p:nvPr/>
        </p:nvSpPr>
        <p:spPr bwMode="auto">
          <a:xfrm flipV="1">
            <a:off x="1600200" y="1143000"/>
            <a:ext cx="0" cy="396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592" name="Line 6"/>
          <p:cNvSpPr>
            <a:spLocks noChangeShapeType="1"/>
          </p:cNvSpPr>
          <p:nvPr/>
        </p:nvSpPr>
        <p:spPr bwMode="auto">
          <a:xfrm>
            <a:off x="1600200" y="5105400"/>
            <a:ext cx="5410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999" name="Line 7"/>
          <p:cNvSpPr>
            <a:spLocks noChangeShapeType="1"/>
          </p:cNvSpPr>
          <p:nvPr/>
        </p:nvSpPr>
        <p:spPr bwMode="auto">
          <a:xfrm>
            <a:off x="1600200" y="3886200"/>
            <a:ext cx="51816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000" name="Arc 8"/>
          <p:cNvSpPr>
            <a:spLocks/>
          </p:cNvSpPr>
          <p:nvPr/>
        </p:nvSpPr>
        <p:spPr bwMode="auto">
          <a:xfrm rot="10797192">
            <a:off x="1600200" y="1600200"/>
            <a:ext cx="5254625" cy="2209800"/>
          </a:xfrm>
          <a:custGeom>
            <a:avLst/>
            <a:gdLst>
              <a:gd name="T0" fmla="*/ 0 w 23275"/>
              <a:gd name="T1" fmla="*/ 2147483647 h 21600"/>
              <a:gd name="T2" fmla="*/ 2147483647 w 23275"/>
              <a:gd name="T3" fmla="*/ 2147483647 h 21600"/>
              <a:gd name="T4" fmla="*/ 2147483647 w 23275"/>
              <a:gd name="T5" fmla="*/ 2147483647 h 21600"/>
              <a:gd name="T6" fmla="*/ 0 60000 65536"/>
              <a:gd name="T7" fmla="*/ 0 60000 65536"/>
              <a:gd name="T8" fmla="*/ 0 60000 65536"/>
              <a:gd name="T9" fmla="*/ 0 w 23275"/>
              <a:gd name="T10" fmla="*/ 0 h 21600"/>
              <a:gd name="T11" fmla="*/ 23275 w 23275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275" h="21600" fill="none" extrusionOk="0">
                <a:moveTo>
                  <a:pt x="0" y="65"/>
                </a:moveTo>
                <a:cubicBezTo>
                  <a:pt x="557" y="21"/>
                  <a:pt x="1116" y="-1"/>
                  <a:pt x="1675" y="0"/>
                </a:cubicBezTo>
                <a:cubicBezTo>
                  <a:pt x="13604" y="0"/>
                  <a:pt x="23275" y="9670"/>
                  <a:pt x="23275" y="21600"/>
                </a:cubicBezTo>
              </a:path>
              <a:path w="23275" h="21600" stroke="0" extrusionOk="0">
                <a:moveTo>
                  <a:pt x="0" y="65"/>
                </a:moveTo>
                <a:cubicBezTo>
                  <a:pt x="557" y="21"/>
                  <a:pt x="1116" y="-1"/>
                  <a:pt x="1675" y="0"/>
                </a:cubicBezTo>
                <a:cubicBezTo>
                  <a:pt x="13604" y="0"/>
                  <a:pt x="23275" y="9670"/>
                  <a:pt x="23275" y="21600"/>
                </a:cubicBezTo>
                <a:lnTo>
                  <a:pt x="1675" y="21600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1001" name="Line 9"/>
          <p:cNvSpPr>
            <a:spLocks noChangeShapeType="1"/>
          </p:cNvSpPr>
          <p:nvPr/>
        </p:nvSpPr>
        <p:spPr bwMode="auto">
          <a:xfrm>
            <a:off x="4114800" y="3886200"/>
            <a:ext cx="0" cy="1219200"/>
          </a:xfrm>
          <a:prstGeom prst="line">
            <a:avLst/>
          </a:prstGeom>
          <a:noFill/>
          <a:ln w="38100">
            <a:solidFill>
              <a:srgbClr val="006699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002" name="Text Box 10"/>
          <p:cNvSpPr txBox="1">
            <a:spLocks noChangeArrowheads="1"/>
          </p:cNvSpPr>
          <p:nvPr/>
        </p:nvSpPr>
        <p:spPr bwMode="auto">
          <a:xfrm>
            <a:off x="4343400" y="3886200"/>
            <a:ext cx="32004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1" dirty="0" err="1">
                <a:solidFill>
                  <a:srgbClr val="006699"/>
                </a:solidFill>
                <a:latin typeface="Calibri" pitchFamily="34" charset="0"/>
              </a:rPr>
              <a:t>Nondiversifiable</a:t>
            </a:r>
            <a:r>
              <a:rPr lang="en-US" b="1" dirty="0">
                <a:solidFill>
                  <a:srgbClr val="006699"/>
                </a:solidFill>
                <a:latin typeface="Calibri" pitchFamily="34" charset="0"/>
              </a:rPr>
              <a:t> risk; Systematic Risk; Market Risk</a:t>
            </a:r>
          </a:p>
        </p:txBody>
      </p:sp>
      <p:sp>
        <p:nvSpPr>
          <p:cNvPr id="341003" name="Line 11"/>
          <p:cNvSpPr>
            <a:spLocks noChangeShapeType="1"/>
          </p:cNvSpPr>
          <p:nvPr/>
        </p:nvSpPr>
        <p:spPr bwMode="auto">
          <a:xfrm>
            <a:off x="2057400" y="2590800"/>
            <a:ext cx="0" cy="1295400"/>
          </a:xfrm>
          <a:prstGeom prst="line">
            <a:avLst/>
          </a:prstGeom>
          <a:noFill/>
          <a:ln w="38100">
            <a:solidFill>
              <a:srgbClr val="006699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004" name="Text Box 12"/>
          <p:cNvSpPr txBox="1">
            <a:spLocks noChangeArrowheads="1"/>
          </p:cNvSpPr>
          <p:nvPr/>
        </p:nvSpPr>
        <p:spPr bwMode="auto">
          <a:xfrm>
            <a:off x="4343400" y="2057400"/>
            <a:ext cx="33528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6699"/>
                </a:solidFill>
                <a:latin typeface="Calibri" pitchFamily="34" charset="0"/>
              </a:rPr>
              <a:t>Diversifiable Risk; Nonsystematic Risk; Firm Specific Risk; Unique Risk</a:t>
            </a:r>
          </a:p>
        </p:txBody>
      </p:sp>
      <p:sp>
        <p:nvSpPr>
          <p:cNvPr id="341005" name="AutoShape 13"/>
          <p:cNvSpPr>
            <a:spLocks/>
          </p:cNvSpPr>
          <p:nvPr/>
        </p:nvSpPr>
        <p:spPr bwMode="auto">
          <a:xfrm>
            <a:off x="3733800" y="2209800"/>
            <a:ext cx="571500" cy="1371600"/>
          </a:xfrm>
          <a:prstGeom prst="leftBrace">
            <a:avLst>
              <a:gd name="adj1" fmla="val 20000"/>
              <a:gd name="adj2" fmla="val 50000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1006" name="Line 14"/>
          <p:cNvSpPr>
            <a:spLocks noChangeShapeType="1"/>
          </p:cNvSpPr>
          <p:nvPr/>
        </p:nvSpPr>
        <p:spPr bwMode="auto">
          <a:xfrm flipH="1">
            <a:off x="2133600" y="2895600"/>
            <a:ext cx="1524000" cy="457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601" name="Text Box 15"/>
          <p:cNvSpPr txBox="1">
            <a:spLocks noChangeArrowheads="1"/>
          </p:cNvSpPr>
          <p:nvPr/>
        </p:nvSpPr>
        <p:spPr bwMode="auto">
          <a:xfrm>
            <a:off x="6248400" y="50292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b="1" i="1" dirty="0">
                <a:latin typeface="Calibri" pitchFamily="34" charset="0"/>
              </a:rPr>
              <a:t>n</a:t>
            </a:r>
          </a:p>
        </p:txBody>
      </p:sp>
      <p:sp>
        <p:nvSpPr>
          <p:cNvPr id="67602" name="Text Box 16"/>
          <p:cNvSpPr txBox="1">
            <a:spLocks noChangeArrowheads="1"/>
          </p:cNvSpPr>
          <p:nvPr/>
        </p:nvSpPr>
        <p:spPr bwMode="auto">
          <a:xfrm>
            <a:off x="990600" y="11430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b="1" dirty="0">
                <a:latin typeface="Calibri" pitchFamily="34" charset="0"/>
                <a:sym typeface="Symbol" charset="0"/>
              </a:rPr>
              <a:t></a:t>
            </a:r>
            <a:endParaRPr lang="en-US" b="1" dirty="0">
              <a:latin typeface="Calibri" pitchFamily="34" charset="0"/>
            </a:endParaRPr>
          </a:p>
        </p:txBody>
      </p:sp>
      <p:sp>
        <p:nvSpPr>
          <p:cNvPr id="67603" name="Text Box 18"/>
          <p:cNvSpPr txBox="1">
            <a:spLocks noChangeArrowheads="1"/>
          </p:cNvSpPr>
          <p:nvPr/>
        </p:nvSpPr>
        <p:spPr bwMode="auto">
          <a:xfrm>
            <a:off x="1905000" y="1295400"/>
            <a:ext cx="7391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010004"/>
                </a:solidFill>
                <a:latin typeface="Calibri" pitchFamily="34" charset="0"/>
              </a:rPr>
              <a:t>In a large portfolio the variance terms are effectively diversified away, but the covariance terms are not. </a:t>
            </a:r>
          </a:p>
        </p:txBody>
      </p:sp>
      <p:sp>
        <p:nvSpPr>
          <p:cNvPr id="67604" name="Rectangle 19"/>
          <p:cNvSpPr>
            <a:spLocks noChangeArrowheads="1"/>
          </p:cNvSpPr>
          <p:nvPr/>
        </p:nvSpPr>
        <p:spPr bwMode="auto">
          <a:xfrm>
            <a:off x="914400" y="5334000"/>
            <a:ext cx="7848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latin typeface="Calibri" pitchFamily="34" charset="0"/>
              </a:rPr>
              <a:t>Thus, diversification can eliminate some, but not all of the risk of individual securities.</a:t>
            </a:r>
          </a:p>
        </p:txBody>
      </p:sp>
      <p:sp>
        <p:nvSpPr>
          <p:cNvPr id="341012" name="Text Box 20"/>
          <p:cNvSpPr txBox="1">
            <a:spLocks noChangeArrowheads="1"/>
          </p:cNvSpPr>
          <p:nvPr/>
        </p:nvSpPr>
        <p:spPr bwMode="auto">
          <a:xfrm>
            <a:off x="6931926" y="3501598"/>
            <a:ext cx="220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</a:rPr>
              <a:t>Portfolio risk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26</a:t>
            </a:fld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4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4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40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41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41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41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41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410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10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41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41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41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41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410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410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34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999" grpId="0" animBg="1"/>
      <p:bldP spid="341000" grpId="0" animBg="1"/>
      <p:bldP spid="341001" grpId="0" animBg="1"/>
      <p:bldP spid="341002" grpId="0" autoUpdateAnimBg="0"/>
      <p:bldP spid="341004" grpId="0" autoUpdateAnimBg="0"/>
      <p:bldP spid="341005" grpId="0" animBg="1"/>
      <p:bldP spid="341006" grpId="0" animBg="1"/>
      <p:bldP spid="341012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Graphical user interface&#10;&#10;Description automatically generated">
            <a:extLst>
              <a:ext uri="{FF2B5EF4-FFF2-40B4-BE49-F238E27FC236}">
                <a16:creationId xmlns:a16="http://schemas.microsoft.com/office/drawing/2014/main" id="{90DB0A0F-263E-7B0B-9292-69A6B4724E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" y="3510314"/>
            <a:ext cx="8458200" cy="1290286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DD8A9C9-96CF-3513-2843-6055B3E5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Diversification (Million Samples drawn from 2020 Returns, Eq. Weighted)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605C3-3D65-4B6A-301F-965D601878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27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62913-9B56-4C03-4ABB-8AB65E891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pic>
        <p:nvPicPr>
          <p:cNvPr id="9" name="Picture 8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2287EC8A-307C-E03A-806C-95C5C28982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29205"/>
            <a:ext cx="8305800" cy="1218795"/>
          </a:xfrm>
          <a:prstGeom prst="rect">
            <a:avLst/>
          </a:prstGeom>
        </p:spPr>
      </p:pic>
      <p:pic>
        <p:nvPicPr>
          <p:cNvPr id="11" name="Picture 10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52C6204A-8BB0-3E5E-AF3D-935B2B2C13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10932"/>
            <a:ext cx="8610600" cy="97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538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E0568D5F-C4B4-C880-1099-DA455D7D5E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" y="609600"/>
            <a:ext cx="8457368" cy="5714999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9FB4768-5782-5F13-6549-0DD640406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any given day, there is a range of return outcomes:  Returns SP500 (Sept 20, 2024)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0DB12-DA72-1A4D-67FC-4293E0C878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28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AF43A-79D2-E9F5-DD64-BD87D8F18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4348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3F50D-BE40-89DA-2FF4-89EB5D1B9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C945CA-5874-1A46-6B06-E7B219F03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in times of stress, all correlations go to 1 (Oct 10, 2025, Returns SP500)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C21ED-AA28-48D6-43BD-7CBBBAB43D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29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53390-8D31-002D-C5A8-651ABD87D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4B197E8-B347-1248-C89E-EDE567EB3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588" y="609600"/>
            <a:ext cx="843765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7654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4BAF0C-9661-D171-4CD9-9EA336C9C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in times of stress, all correlations go to 1 (Sept. 2022, Returns SP500)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CDF69-2585-6D08-827C-2605BF52D8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30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1C715-29D4-5197-9851-DC35E430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pic>
        <p:nvPicPr>
          <p:cNvPr id="11" name="Content Placeholder 10" descr="Chart, treemap chart&#10;&#10;Description automatically generated">
            <a:extLst>
              <a:ext uri="{FF2B5EF4-FFF2-40B4-BE49-F238E27FC236}">
                <a16:creationId xmlns:a16="http://schemas.microsoft.com/office/drawing/2014/main" id="{B91F00D5-3696-CF40-6BB3-E9B8C7F810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75" y="533400"/>
            <a:ext cx="8458200" cy="5791199"/>
          </a:xfrm>
        </p:spPr>
      </p:pic>
    </p:spTree>
    <p:extLst>
      <p:ext uri="{BB962C8B-B14F-4D97-AF65-F5344CB8AC3E}">
        <p14:creationId xmlns:p14="http://schemas.microsoft.com/office/powerpoint/2010/main" val="26229407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ea typeface="ＭＳ Ｐゴシック" charset="0"/>
                <a:cs typeface="ＭＳ Ｐゴシック" charset="0"/>
              </a:rPr>
              <a:t>Diversification is a free lunch, up to a point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ea typeface="ＭＳ Ｐゴシック" charset="0"/>
                <a:cs typeface="ＭＳ Ｐゴシック" charset="0"/>
              </a:rPr>
              <a:t>For a well-diversified investor, an investment’s variance (SD) </a:t>
            </a:r>
            <a:r>
              <a:rPr lang="en-US" sz="2400" b="1" dirty="0">
                <a:ea typeface="ＭＳ Ｐゴシック" charset="0"/>
                <a:cs typeface="ＭＳ Ｐゴシック" charset="0"/>
              </a:rPr>
              <a:t>doesn’t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generally give us information about the effect that adding the investment has on the investor’s overall portfolio </a:t>
            </a:r>
            <a:r>
              <a:rPr lang="en-US" sz="2400" u="sng" dirty="0">
                <a:ea typeface="ＭＳ Ｐゴシック" charset="0"/>
                <a:cs typeface="ＭＳ Ｐゴシック" charset="0"/>
              </a:rPr>
              <a:t>risk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--what matters is its covariance (or beta).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ea typeface="ＭＳ Ｐゴシック" charset="0"/>
                <a:cs typeface="ＭＳ Ｐゴシック" charset="0"/>
              </a:rPr>
              <a:t>Lower betas help reduce portfolio risk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ea typeface="ＭＳ Ｐゴシック" charset="0"/>
                <a:cs typeface="ＭＳ Ｐゴシック" charset="0"/>
              </a:rPr>
              <a:t>Investments with lower betas have higher prices (and lower expected returns)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ea typeface="ＭＳ Ｐゴシック" charset="0"/>
                <a:cs typeface="ＭＳ Ｐゴシック" charset="0"/>
              </a:rPr>
              <a:t>In moments of stress, however, correlations can go to 1</a:t>
            </a:r>
          </a:p>
        </p:txBody>
      </p:sp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Diversification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31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B6274A-6172-92F7-212C-5312B2E57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2800" b="0" i="0" dirty="0">
                <a:solidFill>
                  <a:srgbClr val="000000"/>
                </a:solidFill>
                <a:effectLst/>
                <a:latin typeface="system-ui"/>
              </a:rPr>
              <a:t>Cast thy bread upon the waters, for thou shalt find it after many days.  Give a portion to seven and also to eight, for thou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ystem-ui"/>
              </a:rPr>
              <a:t>knowest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ystem-ui"/>
              </a:rPr>
              <a:t> not what evil shall be upon the earth.  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system-ui"/>
              </a:rPr>
              <a:t>Ecclesiastes 11:1-2</a:t>
            </a:r>
          </a:p>
          <a:p>
            <a:pPr marL="0" indent="0" algn="l">
              <a:buNone/>
            </a:pPr>
            <a:br>
              <a:rPr lang="en-US" sz="2400" dirty="0"/>
            </a:br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C625DE-70BF-BF8A-DF80-1C46F582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OG on Diversification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FCEC7-5E71-8534-0F2E-1F3EF40838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32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801D7-5139-56BB-BE82-CE77E4AE4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829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" y="609600"/>
            <a:ext cx="8458200" cy="4483807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21"/>
                </a:solidFill>
              </a:rPr>
              <a:t>Diversification: IMPORTANT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03148" y="5183172"/>
            <a:ext cx="7696200" cy="116955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latin typeface="+mj-lt"/>
              </a:rPr>
              <a:t>Fifty eight percent of CRSP common stocks have lifetime holding period returns less than those on one-month Treasuries. The modal lifetime return is -100%. When stated in terms of lifetime dollar wealth creation</a:t>
            </a:r>
            <a:r>
              <a:rPr lang="en-US" sz="1400" b="1" i="1" dirty="0">
                <a:latin typeface="+mj-lt"/>
              </a:rPr>
              <a:t>, the </a:t>
            </a:r>
            <a:r>
              <a:rPr lang="en-US" sz="1400" b="1" i="1" dirty="0">
                <a:highlight>
                  <a:srgbClr val="FF0000"/>
                </a:highlight>
                <a:latin typeface="+mj-lt"/>
              </a:rPr>
              <a:t>entire net gain </a:t>
            </a:r>
            <a:r>
              <a:rPr lang="en-US" sz="1400" b="1" i="1" dirty="0">
                <a:latin typeface="+mj-lt"/>
              </a:rPr>
              <a:t>in the U.S. stock market since 1926 is attributable to the best-performing </a:t>
            </a:r>
            <a:r>
              <a:rPr lang="en-US" sz="1400" b="1" i="1" dirty="0">
                <a:highlight>
                  <a:srgbClr val="FF0000"/>
                </a:highlight>
                <a:latin typeface="+mj-lt"/>
              </a:rPr>
              <a:t>four percent of listed stocks</a:t>
            </a:r>
            <a:r>
              <a:rPr lang="en-US" sz="1400" b="1" i="1" dirty="0">
                <a:latin typeface="+mj-lt"/>
              </a:rPr>
              <a:t>, as the other ninety six percent collectively matched one-month Treasury bills.  </a:t>
            </a:r>
            <a:r>
              <a:rPr lang="en-US" sz="1400" i="1" dirty="0" err="1">
                <a:latin typeface="+mj-lt"/>
              </a:rPr>
              <a:t>Bessembinder</a:t>
            </a:r>
            <a:r>
              <a:rPr lang="en-US" sz="1400" i="1" dirty="0">
                <a:latin typeface="+mj-lt"/>
              </a:rPr>
              <a:t>, Do Stocks Outperform Treasury Bills (</a:t>
            </a:r>
            <a:r>
              <a:rPr lang="en-US" sz="1400" dirty="0">
                <a:latin typeface="+mj-lt"/>
              </a:rPr>
              <a:t>2017)</a:t>
            </a:r>
            <a:endParaRPr lang="en-US" sz="1400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022007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D99085-B9A5-9F86-07EF-6FE83F3D5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Of the 29,081 firms, a total of 11,884 (40.87%) improved shareholder wealth, </a:t>
            </a:r>
            <a:r>
              <a:rPr lang="en-US" sz="2400" dirty="0">
                <a:solidFill>
                  <a:srgbClr val="FF0000"/>
                </a:solidFill>
              </a:rPr>
              <a:t>while 17,197 (59.13%) reduced shareholder wealth</a:t>
            </a:r>
            <a:r>
              <a:rPr lang="en-US" sz="2400" dirty="0"/>
              <a:t>, as compared to the Treasury-bill benchmark. For comparison, I also assess the proportion of firms for which buy-and-hold returns are greater or less than buy-and-hold returns to Treasury bills during the same months that the firm was included in the sample. The outcome is that a total of 11,924 firms (41%) provided returns that exceed Treasury bills, while 17,157 (590%) fell short of Treasury bills…the CRSP data contains returns for a total of 29,081 firms. Among these, </a:t>
            </a:r>
            <a:r>
              <a:rPr lang="en-US" sz="2400" b="1" dirty="0">
                <a:solidFill>
                  <a:srgbClr val="FF0000"/>
                </a:solidFill>
              </a:rPr>
              <a:t>2 firms accounted for 10% of net wealth creation, 8 firms accounted for 25% of net wealth creation, 46 firms accounted for 50% of net wealth creation, 208 firms accounted for 75% of wealth creation, and 1,082 (3.7%) firms accounted for 100% of net wealth creation [of $91 Trillion].</a:t>
            </a:r>
          </a:p>
          <a:p>
            <a:endParaRPr lang="en-US" sz="2400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007796-16DA-24FD-CF23-43B2AB211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21"/>
                </a:solidFill>
              </a:rPr>
              <a:t>Diversification: IMPORTANT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3B732-DD94-8E85-19B4-279A8E0647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34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3A71B-334B-DE63-FE90-1DCA09ED5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0E3BA7-1C30-504F-8545-B20974B0034D}"/>
              </a:ext>
            </a:extLst>
          </p:cNvPr>
          <p:cNvSpPr txBox="1"/>
          <p:nvPr/>
        </p:nvSpPr>
        <p:spPr>
          <a:xfrm>
            <a:off x="1524000" y="6068465"/>
            <a:ext cx="63921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Bessembinder</a:t>
            </a:r>
            <a:r>
              <a:rPr lang="en-US" sz="1200" dirty="0"/>
              <a:t>, </a:t>
            </a:r>
            <a:r>
              <a:rPr lang="en-US" sz="1200" i="1" dirty="0"/>
              <a:t>One Hundred Years in the U.S. Stock Markets 1926-2025 (2026)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783167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B2D38B-78EA-194C-AEF9-4A5C113DB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21"/>
                </a:solidFill>
              </a:rPr>
              <a:t>Diversification: IMPORTANT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3C515-1F01-D342-A3F7-A0D064E990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35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AACA2-87DA-914F-B6AB-939029FDF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AA9CF1-B1F4-6845-9BD3-C3C11595EED2}"/>
              </a:ext>
            </a:extLst>
          </p:cNvPr>
          <p:cNvSpPr txBox="1"/>
          <p:nvPr/>
        </p:nvSpPr>
        <p:spPr>
          <a:xfrm>
            <a:off x="2209800" y="576023"/>
            <a:ext cx="184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100" b="1" dirty="0">
              <a:effectLst/>
              <a:latin typeface="Calibri" panose="020F0502020204030204" pitchFamily="34" charset="0"/>
            </a:endParaRPr>
          </a:p>
          <a:p>
            <a:endParaRPr 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3C5A5C-F4D8-7840-B2C5-AC2D2204953D}"/>
              </a:ext>
            </a:extLst>
          </p:cNvPr>
          <p:cNvSpPr txBox="1"/>
          <p:nvPr/>
        </p:nvSpPr>
        <p:spPr>
          <a:xfrm>
            <a:off x="4354286" y="62266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02F421-E116-0A44-BA62-C3E273D229D7}"/>
              </a:ext>
            </a:extLst>
          </p:cNvPr>
          <p:cNvSpPr txBox="1"/>
          <p:nvPr/>
        </p:nvSpPr>
        <p:spPr>
          <a:xfrm>
            <a:off x="2140688" y="6169216"/>
            <a:ext cx="42402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 err="1"/>
              <a:t>Bessembinder</a:t>
            </a:r>
            <a:r>
              <a:rPr lang="en-US" sz="700" dirty="0"/>
              <a:t>, </a:t>
            </a:r>
            <a:r>
              <a:rPr lang="en-US" sz="800" i="1" dirty="0"/>
              <a:t>One Hundred Years in the U.S. Stock Markets 1926-2025 (2026)</a:t>
            </a:r>
            <a:endParaRPr lang="en-US" sz="700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4A3A143-830F-A492-0513-70F3906668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22" y="599457"/>
            <a:ext cx="8408626" cy="541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5496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33379E-E472-1674-23A8-F5971BBBE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Stocks with Highest Cumulative Returns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AF820-E73C-DFB4-D384-1E43BB50A1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36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B1A0F-03ED-FAE2-E1F1-D23AB8919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FE565D-A0B5-EFCC-CF89-172C7817B30D}"/>
              </a:ext>
            </a:extLst>
          </p:cNvPr>
          <p:cNvSpPr txBox="1"/>
          <p:nvPr/>
        </p:nvSpPr>
        <p:spPr>
          <a:xfrm>
            <a:off x="3733800" y="6201644"/>
            <a:ext cx="41889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>
                <a:latin typeface="+mn-lt"/>
              </a:rPr>
              <a:t>Bessembinder</a:t>
            </a:r>
            <a:r>
              <a:rPr lang="en-US" sz="800" dirty="0">
                <a:latin typeface="+mn-lt"/>
              </a:rPr>
              <a:t>, </a:t>
            </a:r>
            <a:r>
              <a:rPr lang="en-US" sz="800" i="1" dirty="0"/>
              <a:t>One Hundred Years in the U.S. Stock Markets 1926-2025 (2026)</a:t>
            </a:r>
            <a:endParaRPr lang="en-US" sz="800" dirty="0">
              <a:latin typeface="+mn-lt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AD87C48-F1D0-052A-D3EB-0E49C8A756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24" y="518855"/>
            <a:ext cx="8378952" cy="568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674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E8AC46-0EC7-5AAB-550B-95352F721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Concentration of Net Wealth Creation, Overall and Relative to 2016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D348F-FD52-8087-8E8F-B232EACB9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37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1F605-2220-F754-06F4-191957983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B43418E-5BEE-F013-DA65-EC514620B8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" y="504827"/>
            <a:ext cx="8458200" cy="54387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6A8F7C-B468-9957-7A26-C42C5A89DB41}"/>
              </a:ext>
            </a:extLst>
          </p:cNvPr>
          <p:cNvSpPr txBox="1"/>
          <p:nvPr/>
        </p:nvSpPr>
        <p:spPr>
          <a:xfrm>
            <a:off x="2286000" y="6137729"/>
            <a:ext cx="42402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 err="1"/>
              <a:t>Bessembinder</a:t>
            </a:r>
            <a:r>
              <a:rPr lang="en-US" sz="700" dirty="0"/>
              <a:t>, </a:t>
            </a:r>
            <a:r>
              <a:rPr lang="en-US" sz="800" i="1" dirty="0"/>
              <a:t>One Hundred Years in the U.S. Stock Markets 1926-2025 (2026)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8271935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Expected return of a portfolio (firm) is weighted average of expected returns of the portfolio’s assets (firm’s divisions).</a:t>
            </a:r>
          </a:p>
          <a:p>
            <a:r>
              <a:rPr lang="en-US" sz="2400" dirty="0"/>
              <a:t>The beta of a portfolio (firm) is the weighted average of the betas of the portfolio’s assets (firm’s divisions).</a:t>
            </a:r>
          </a:p>
          <a:p>
            <a:pPr lvl="1"/>
            <a:r>
              <a:rPr lang="en-US" sz="2000" dirty="0"/>
              <a:t>Weighted averaging </a:t>
            </a:r>
            <a:r>
              <a:rPr lang="en-US" sz="2000" i="1" dirty="0"/>
              <a:t>doesn’t</a:t>
            </a:r>
            <a:r>
              <a:rPr lang="en-US" sz="2000" dirty="0"/>
              <a:t> work with </a:t>
            </a:r>
            <a:r>
              <a:rPr lang="en-US" sz="2000" dirty="0" err="1"/>
              <a:t>Sdev</a:t>
            </a:r>
            <a:r>
              <a:rPr lang="en-US" sz="2000" dirty="0"/>
              <a:t> and Var.</a:t>
            </a:r>
          </a:p>
          <a:p>
            <a:r>
              <a:rPr lang="en-US" sz="2400" dirty="0"/>
              <a:t>Firm can be viewed not only as consisting of different projects/divisions but also as debt and equity.</a:t>
            </a:r>
          </a:p>
          <a:p>
            <a:pPr lvl="1"/>
            <a:r>
              <a:rPr lang="en-US" sz="2000" dirty="0"/>
              <a:t>Beta of a firm’s </a:t>
            </a:r>
            <a:r>
              <a:rPr lang="en-US" sz="2000" i="1" dirty="0"/>
              <a:t>assets </a:t>
            </a:r>
            <a:r>
              <a:rPr lang="en-US" sz="2000" dirty="0"/>
              <a:t> is weighted average of its debt and equity:  </a:t>
            </a:r>
            <a:endParaRPr lang="en-US" sz="2000" i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Market Betas </a:t>
            </a:r>
            <a:r>
              <a:rPr lang="en-US" b="1"/>
              <a:t>for Portfolios </a:t>
            </a:r>
            <a:r>
              <a:rPr lang="en-US" b="1" dirty="0"/>
              <a:t>(Firms)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17151"/>
              </p:ext>
            </p:extLst>
          </p:nvPr>
        </p:nvGraphicFramePr>
        <p:xfrm>
          <a:off x="1600200" y="4191000"/>
          <a:ext cx="52578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99680" imgH="576000" progId="Equation.3">
                  <p:embed/>
                </p:oleObj>
              </mc:Choice>
              <mc:Fallback>
                <p:oleObj name="Equation" r:id="rId2" imgW="3199680" imgH="5760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191000"/>
                        <a:ext cx="52578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60869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11514</TotalTime>
  <Words>1912</Words>
  <Application>Microsoft Macintosh PowerPoint</Application>
  <PresentationFormat>On-screen Show (4:3)</PresentationFormat>
  <Paragraphs>286</Paragraphs>
  <Slides>38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38</vt:i4>
      </vt:variant>
    </vt:vector>
  </HeadingPairs>
  <TitlesOfParts>
    <vt:vector size="54" baseType="lpstr">
      <vt:lpstr>ＭＳ Ｐゴシック</vt:lpstr>
      <vt:lpstr>NSimSun</vt:lpstr>
      <vt:lpstr>Arial</vt:lpstr>
      <vt:lpstr>Calibri</vt:lpstr>
      <vt:lpstr>Cambria Math</vt:lpstr>
      <vt:lpstr>Courier New</vt:lpstr>
      <vt:lpstr>Symbol</vt:lpstr>
      <vt:lpstr>system-ui</vt:lpstr>
      <vt:lpstr>Times New Roman</vt:lpstr>
      <vt:lpstr>Verdana</vt:lpstr>
      <vt:lpstr>Wingdings</vt:lpstr>
      <vt:lpstr>Wingdings 2</vt:lpstr>
      <vt:lpstr>CG Body - Standard</vt:lpstr>
      <vt:lpstr>Equation</vt:lpstr>
      <vt:lpstr>Worksheet</vt:lpstr>
      <vt:lpstr>Microsoft Excel Worksheet</vt:lpstr>
      <vt:lpstr>PowerPoint Presentation</vt:lpstr>
      <vt:lpstr>Relationship between Risk and Expected Return (CAPM)</vt:lpstr>
      <vt:lpstr>Diversification</vt:lpstr>
      <vt:lpstr>Diversification:  Results</vt:lpstr>
      <vt:lpstr>Portfolio Expected Returns</vt:lpstr>
      <vt:lpstr>Portfolio Variance:  2 Assets</vt:lpstr>
      <vt:lpstr>Sample Investment Opportunities</vt:lpstr>
      <vt:lpstr>Sample Investment Opportunities</vt:lpstr>
      <vt:lpstr>Investment Opportunities and Diversification</vt:lpstr>
      <vt:lpstr>Investment Opportunities and Diversification</vt:lpstr>
      <vt:lpstr>Efficient Frontier</vt:lpstr>
      <vt:lpstr>Investment Opportunities and Diversification</vt:lpstr>
      <vt:lpstr>Investing Insights </vt:lpstr>
      <vt:lpstr>Asset Beta &amp; Portfolio Risk Contribution</vt:lpstr>
      <vt:lpstr>Measuring Risk Contribution</vt:lpstr>
      <vt:lpstr>BETA () </vt:lpstr>
      <vt:lpstr>The Formula for Beta of Stock i with the Market Portfolio</vt:lpstr>
      <vt:lpstr>Estimates of b for Selected Stocks</vt:lpstr>
      <vt:lpstr>Measuring Risk Contribution</vt:lpstr>
      <vt:lpstr>Correlation and Covariance</vt:lpstr>
      <vt:lpstr>Scaling Problem with Correlation</vt:lpstr>
      <vt:lpstr>Correlation, Covariance, and Beta</vt:lpstr>
      <vt:lpstr>Covariance, Correlation, and Beta</vt:lpstr>
      <vt:lpstr>Portfolio Variance:  N Assets</vt:lpstr>
      <vt:lpstr>Diversification:  The Role of Covariance</vt:lpstr>
      <vt:lpstr>Portfolio Risk as a Function of the Number of Stocks in the Portfolio</vt:lpstr>
      <vt:lpstr>Random Diversification (Million Samples drawn from 2020 Returns, Eq. Weighted)</vt:lpstr>
      <vt:lpstr>On any given day, there is a range of return outcomes:  Returns SP500 (Sept 20, 2024)</vt:lpstr>
      <vt:lpstr>But in times of stress, all correlations go to 1 (Oct 10, 2025, Returns SP500)</vt:lpstr>
      <vt:lpstr>But in times of stress, all correlations go to 1 (Sept. 2022, Returns SP500)</vt:lpstr>
      <vt:lpstr>Diversification</vt:lpstr>
      <vt:lpstr>The OG on Diversification</vt:lpstr>
      <vt:lpstr>Diversification: IMPORTANT</vt:lpstr>
      <vt:lpstr>Diversification: IMPORTANT</vt:lpstr>
      <vt:lpstr>Diversification: IMPORTANT</vt:lpstr>
      <vt:lpstr>Stocks with Highest Cumulative Returns</vt:lpstr>
      <vt:lpstr>Concentration of Net Wealth Creation, Overall and Relative to 2016</vt:lpstr>
      <vt:lpstr>Market Betas for Portfolios (Firms)</vt:lpstr>
    </vt:vector>
  </TitlesOfParts>
  <Company>Fordham University School of 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Diversification</dc:title>
  <dc:creator>jcolon</dc:creator>
  <cp:lastModifiedBy>Colon, Jeffrey M.</cp:lastModifiedBy>
  <cp:revision>149</cp:revision>
  <cp:lastPrinted>2020-09-30T12:12:12Z</cp:lastPrinted>
  <dcterms:created xsi:type="dcterms:W3CDTF">2013-10-01T13:51:29Z</dcterms:created>
  <dcterms:modified xsi:type="dcterms:W3CDTF">2026-10-05T02:40:26Z</dcterms:modified>
</cp:coreProperties>
</file>