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38"/>
  </p:notesMasterIdLst>
  <p:handoutMasterIdLst>
    <p:handoutMasterId r:id="rId39"/>
  </p:handoutMasterIdLst>
  <p:sldIdLst>
    <p:sldId id="306" r:id="rId2"/>
    <p:sldId id="259" r:id="rId3"/>
    <p:sldId id="419" r:id="rId4"/>
    <p:sldId id="444" r:id="rId5"/>
    <p:sldId id="423" r:id="rId6"/>
    <p:sldId id="424" r:id="rId7"/>
    <p:sldId id="433" r:id="rId8"/>
    <p:sldId id="434" r:id="rId9"/>
    <p:sldId id="435" r:id="rId10"/>
    <p:sldId id="440" r:id="rId11"/>
    <p:sldId id="396" r:id="rId12"/>
    <p:sldId id="441" r:id="rId13"/>
    <p:sldId id="393" r:id="rId14"/>
    <p:sldId id="402" r:id="rId15"/>
    <p:sldId id="431" r:id="rId16"/>
    <p:sldId id="417" r:id="rId17"/>
    <p:sldId id="438" r:id="rId18"/>
    <p:sldId id="425" r:id="rId19"/>
    <p:sldId id="442" r:id="rId20"/>
    <p:sldId id="439" r:id="rId21"/>
    <p:sldId id="430" r:id="rId22"/>
    <p:sldId id="411" r:id="rId23"/>
    <p:sldId id="270" r:id="rId24"/>
    <p:sldId id="274" r:id="rId25"/>
    <p:sldId id="280" r:id="rId26"/>
    <p:sldId id="289" r:id="rId27"/>
    <p:sldId id="296" r:id="rId28"/>
    <p:sldId id="404" r:id="rId29"/>
    <p:sldId id="432" r:id="rId30"/>
    <p:sldId id="412" r:id="rId31"/>
    <p:sldId id="427" r:id="rId32"/>
    <p:sldId id="428" r:id="rId33"/>
    <p:sldId id="437" r:id="rId34"/>
    <p:sldId id="429" r:id="rId35"/>
    <p:sldId id="413" r:id="rId36"/>
    <p:sldId id="443" r:id="rId37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FFDF"/>
    <a:srgbClr val="2EE4F7"/>
    <a:srgbClr val="E6E8FF"/>
    <a:srgbClr val="DAEFC1"/>
    <a:srgbClr val="FFEDDD"/>
    <a:srgbClr val="B233A0"/>
    <a:srgbClr val="146BEC"/>
    <a:srgbClr val="F7F7F7"/>
    <a:srgbClr val="F4F4F4"/>
    <a:srgbClr val="93D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935"/>
    <p:restoredTop sz="94413"/>
  </p:normalViewPr>
  <p:slideViewPr>
    <p:cSldViewPr>
      <p:cViewPr varScale="1">
        <p:scale>
          <a:sx n="184" d="100"/>
          <a:sy n="184" d="100"/>
        </p:scale>
        <p:origin x="15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33" d="100"/>
        <a:sy n="133" d="100"/>
      </p:scale>
      <p:origin x="0" y="0"/>
    </p:cViewPr>
  </p:sorterViewPr>
  <p:notesViewPr>
    <p:cSldViewPr>
      <p:cViewPr varScale="1">
        <p:scale>
          <a:sx n="165" d="100"/>
          <a:sy n="165" d="100"/>
        </p:scale>
        <p:origin x="207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 modMainMaster">
      <pc:chgData name="Colon, Jeffrey M." userId="615143b1-cdee-493d-9a9d-1565ce8666d9" providerId="ADAL" clId="{DC1DB158-BAB1-5930-B714-AEF472873853}" dt="2026-09-21T16:38:17.780" v="7" actId="113"/>
      <pc:docMkLst>
        <pc:docMk/>
      </pc:docMkLst>
      <pc:sldChg chg="modSp mod">
        <pc:chgData name="Colon, Jeffrey M." userId="615143b1-cdee-493d-9a9d-1565ce8666d9" providerId="ADAL" clId="{DC1DB158-BAB1-5930-B714-AEF472873853}" dt="2026-09-21T16:37:50.524" v="3" actId="20577"/>
        <pc:sldMkLst>
          <pc:docMk/>
          <pc:sldMk cId="3622871933" sldId="306"/>
        </pc:sldMkLst>
        <pc:spChg chg="mod">
          <ac:chgData name="Colon, Jeffrey M." userId="615143b1-cdee-493d-9a9d-1565ce8666d9" providerId="ADAL" clId="{DC1DB158-BAB1-5930-B714-AEF472873853}" dt="2026-09-21T16:37:50.524" v="3" actId="20577"/>
          <ac:spMkLst>
            <pc:docMk/>
            <pc:sldMk cId="3622871933" sldId="306"/>
            <ac:spMk id="6" creationId="{E9ED9786-58D6-4467-A340-9C08B3251F1F}"/>
          </ac:spMkLst>
        </pc:spChg>
      </pc:sldChg>
      <pc:sldMasterChg chg="modSp mod">
        <pc:chgData name="Colon, Jeffrey M." userId="615143b1-cdee-493d-9a9d-1565ce8666d9" providerId="ADAL" clId="{DC1DB158-BAB1-5930-B714-AEF472873853}" dt="2026-09-21T16:38:17.780" v="7" actId="113"/>
        <pc:sldMasterMkLst>
          <pc:docMk/>
          <pc:sldMasterMk cId="1036346032" sldId="2147483674"/>
        </pc:sldMasterMkLst>
        <pc:spChg chg="mod">
          <ac:chgData name="Colon, Jeffrey M." userId="615143b1-cdee-493d-9a9d-1565ce8666d9" providerId="ADAL" clId="{DC1DB158-BAB1-5930-B714-AEF472873853}" dt="2026-09-21T16:38:06.769" v="6" actId="113"/>
          <ac:spMkLst>
            <pc:docMk/>
            <pc:sldMasterMk cId="1036346032" sldId="2147483674"/>
            <ac:spMk id="9" creationId="{00000000-0000-0000-0000-000000000000}"/>
          </ac:spMkLst>
        </pc:spChg>
        <pc:spChg chg="mod">
          <ac:chgData name="Colon, Jeffrey M." userId="615143b1-cdee-493d-9a9d-1565ce8666d9" providerId="ADAL" clId="{DC1DB158-BAB1-5930-B714-AEF472873853}" dt="2026-09-21T16:38:17.780" v="7" actId="113"/>
          <ac:spMkLst>
            <pc:docMk/>
            <pc:sldMasterMk cId="1036346032" sldId="2147483674"/>
            <ac:spMk id="10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1"/>
            <a:ext cx="3037840" cy="46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914"/>
            <a:ext cx="3037840" cy="46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914"/>
            <a:ext cx="3037840" cy="46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</a:defRPr>
            </a:lvl1pPr>
          </a:lstStyle>
          <a:p>
            <a:fld id="{A14A863D-17FF-5C45-9D24-F6481EBEC0A3}" type="slidenum">
              <a:rPr lang="en-US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48056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1"/>
            <a:ext cx="3037840" cy="46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5388" y="692150"/>
            <a:ext cx="4619625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387257"/>
            <a:ext cx="5608320" cy="4155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914"/>
            <a:ext cx="3037840" cy="46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772914"/>
            <a:ext cx="3037840" cy="46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Calibri"/>
              </a:defRPr>
            </a:lvl1pPr>
          </a:lstStyle>
          <a:p>
            <a:fld id="{26036768-068B-B648-B92E-0F7D13C6EC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237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117AFE81-FFA0-AB49-9BC2-D912D87BDD75}" type="slidenum">
              <a:rPr lang="en-US" sz="1200">
                <a:latin typeface="Calibri"/>
              </a:rPr>
              <a:pPr eaLnBrk="1" hangingPunct="1"/>
              <a:t>2</a:t>
            </a:fld>
            <a:endParaRPr lang="en-US" sz="1200">
              <a:latin typeface="Calibri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720" y="4387257"/>
            <a:ext cx="5140960" cy="4155674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26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09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7063-3D7B-3E88-039C-04822701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1EC8C-A3AF-0A6F-EB2E-F5A830FE4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DFBE7-0122-D54C-5E35-B6AA941D5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38F41-48DE-4F02-436A-ABF027A77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87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71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9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06A3A6D-F52E-1943-9DCC-7DE7CCC49168}" type="slidenum">
              <a:rPr lang="en-US" sz="1200">
                <a:latin typeface="Calibri"/>
              </a:rPr>
              <a:pPr eaLnBrk="1" hangingPunct="1"/>
              <a:t>11</a:t>
            </a:fld>
            <a:endParaRPr lang="en-US" sz="1200">
              <a:latin typeface="Calibri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320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37FE6A4D-290A-FC47-87FD-DB55D6C82FA6}" type="slidenum">
              <a:rPr lang="en-US" sz="1200">
                <a:latin typeface="Calibri"/>
              </a:rPr>
              <a:pPr eaLnBrk="1" hangingPunct="1"/>
              <a:t>13</a:t>
            </a:fld>
            <a:endParaRPr lang="en-US" sz="1200">
              <a:latin typeface="Calibri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903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449B0853-4026-C94A-AE6E-6B4039E5D16A}" type="slidenum">
              <a:rPr lang="en-US" sz="1200">
                <a:latin typeface="Calibri"/>
              </a:rPr>
              <a:pPr eaLnBrk="1" hangingPunct="1"/>
              <a:t>23</a:t>
            </a:fld>
            <a:endParaRPr lang="en-US" sz="1200">
              <a:latin typeface="Calibri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047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A105EB59-4342-A44B-8263-674DC8B5FBB4}" type="slidenum">
              <a:rPr lang="en-US" sz="1200">
                <a:latin typeface="Calibri"/>
              </a:rPr>
              <a:pPr eaLnBrk="1" hangingPunct="1"/>
              <a:t>24</a:t>
            </a:fld>
            <a:endParaRPr lang="en-US" sz="1200">
              <a:latin typeface="Calibri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189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BD82349-D371-F949-9323-4A9DE524DB07}" type="slidenum">
              <a:rPr lang="en-US" sz="1200">
                <a:latin typeface="Calibri"/>
              </a:rPr>
              <a:pPr eaLnBrk="1" hangingPunct="1"/>
              <a:t>25</a:t>
            </a:fld>
            <a:endParaRPr lang="en-US" sz="1200">
              <a:latin typeface="Calibri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571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696499A-79E0-C946-AB6D-E6F349D72B02}" type="slidenum">
              <a:rPr lang="en-US" sz="1200">
                <a:latin typeface="Calibri"/>
              </a:rPr>
              <a:pPr eaLnBrk="1" hangingPunct="1"/>
              <a:t>26</a:t>
            </a:fld>
            <a:endParaRPr lang="en-US" sz="1200">
              <a:latin typeface="Calibri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567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E61BCC4E-2686-8B46-AA7E-D768599E367E}" type="slidenum">
              <a:rPr lang="en-US" sz="1200">
                <a:latin typeface="Calibri"/>
              </a:rPr>
              <a:pPr eaLnBrk="1" hangingPunct="1"/>
              <a:t>27</a:t>
            </a:fld>
            <a:endParaRPr lang="en-US" sz="1200">
              <a:latin typeface="Calibri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351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36768-068B-B648-B92E-0F7D13C6EC3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2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9144000" cy="3000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4734"/>
            <a:ext cx="28956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5289E-B571-E875-0679-62DFD90D2BD0}"/>
              </a:ext>
            </a:extLst>
          </p:cNvPr>
          <p:cNvSpPr txBox="1"/>
          <p:nvPr userDrawn="1"/>
        </p:nvSpPr>
        <p:spPr>
          <a:xfrm>
            <a:off x="279699" y="6658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474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48" y="533400"/>
            <a:ext cx="84582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1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165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165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5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41934"/>
            <a:ext cx="84582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385048" y="6471106"/>
            <a:ext cx="4572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F2807-28A9-7C41-DB1C-75E1324CE0FB}"/>
              </a:ext>
            </a:extLst>
          </p:cNvPr>
          <p:cNvSpPr txBox="1"/>
          <p:nvPr userDrawn="1"/>
        </p:nvSpPr>
        <p:spPr>
          <a:xfrm>
            <a:off x="580913" y="65944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3439A-EE24-4C33-040B-E6254956D834}"/>
              </a:ext>
            </a:extLst>
          </p:cNvPr>
          <p:cNvSpPr txBox="1"/>
          <p:nvPr userDrawn="1"/>
        </p:nvSpPr>
        <p:spPr>
          <a:xfrm>
            <a:off x="268941" y="65621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815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061030" y="537029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D05D2-C2EB-8624-5781-A9F52351E9B8}"/>
              </a:ext>
            </a:extLst>
          </p:cNvPr>
          <p:cNvSpPr txBox="1"/>
          <p:nvPr userDrawn="1"/>
        </p:nvSpPr>
        <p:spPr>
          <a:xfrm>
            <a:off x="559398" y="65729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97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381000" y="3886200"/>
            <a:ext cx="8382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6977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381000" y="39319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81863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1881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4048" y="805002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814835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SzPct val="75000"/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SzPct val="75000"/>
              <a:buFont typeface="Wingdings" panose="05000000000000000000" pitchFamily="2" charset="2"/>
              <a:buChar char="Ø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 indent="-171450">
              <a:buClr>
                <a:schemeClr val="accent1"/>
              </a:buClr>
              <a:buSzPct val="75000"/>
              <a:buFont typeface="Arial" pitchFamily="34" charset="0"/>
              <a:buChar char="•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3"/>
            <a:ext cx="84582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903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3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10064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4038600" y="3046413"/>
            <a:ext cx="9906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28800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b="0" i="0" kern="1200" dirty="0" smtClean="0">
                <a:solidFill>
                  <a:schemeClr val="tx1"/>
                </a:solidFill>
                <a:latin typeface="+mn-lt"/>
                <a:ea typeface="+mn-ea"/>
                <a:cs typeface="Calibri Regular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57522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4019344" y="2692959"/>
            <a:ext cx="994787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4070503" y="3778177"/>
            <a:ext cx="1014887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336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180753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141732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731599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 b="0" i="0" dirty="0">
              <a:latin typeface="Calibri Regular" charset="0"/>
              <a:ea typeface="+mn-ea"/>
              <a:cs typeface="Calibri Regular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50501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411480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728356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6434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762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62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46434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6434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62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6238" y="3302419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62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46434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4643438" y="3302418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6434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772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51174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384777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5556729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7310438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451174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13360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384777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5556729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7310438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778064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457200" y="1417320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57200" y="3065544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57200" y="4713767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417320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3065543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4713767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49046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22276" y="1397000"/>
            <a:ext cx="1738313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60576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335590" y="1397000"/>
            <a:ext cx="1738312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3698876" y="1397000"/>
            <a:ext cx="1736725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73891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422275" y="2954338"/>
            <a:ext cx="2147888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68564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561140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14852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431801" y="4497388"/>
            <a:ext cx="2816225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3170239" y="4497388"/>
            <a:ext cx="2816225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5908676" y="4497388"/>
            <a:ext cx="2816225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56293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344304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2360778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3377252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133600" y="4393726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5410200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457200" y="1344304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57200" y="2357366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457200" y="3370428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457200" y="4383490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457200" y="5396552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9486285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44196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22860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6753225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458789" y="3478213"/>
            <a:ext cx="7769225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3429000" y="3651252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16764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5562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7696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3281363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452438" y="3413125"/>
            <a:ext cx="8239125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750" b="0" i="0" dirty="0">
              <a:solidFill>
                <a:srgbClr val="4D4D4D"/>
              </a:solidFill>
              <a:latin typeface="Calibri Regular" charset="0"/>
              <a:ea typeface="Calibri Regular" charset="0"/>
              <a:cs typeface="Calibri Regular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611189" y="3460752"/>
            <a:ext cx="7769225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2535866" y="12954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0668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35814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530352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722376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9144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69342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15240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48006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2667000" y="5181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5991225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36576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753369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14401" y="129540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14401" y="1800013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14401" y="2304626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914401" y="2809239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914401" y="3313852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914401" y="3818465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914401" y="4323078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914401" y="4827691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457200" y="129540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57200" y="1800013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457200" y="2304626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457200" y="2809239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457200" y="3313852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457200" y="3818465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457200" y="4323078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457200" y="4827691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8229600" y="129540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8229600" y="1800013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8229600" y="2304626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8229600" y="2809239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8229600" y="3313852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8229600" y="3818465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8229600" y="4323078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8229600" y="4827691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911777" y="5332304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454575" y="5332304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8226975" y="5332304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911777" y="583692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454575" y="583692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8226975" y="583692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4580275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1335024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457200" y="3744363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1905000" y="1348565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1905000" y="3763963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905000" y="2199167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1905000" y="4619625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19400" y="1348565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19400" y="3763963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19400" y="2199167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19400" y="4619625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594844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4646613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752475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2262459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6157271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752108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4646920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769811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441326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2552701" y="1911352"/>
            <a:ext cx="1919288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4648201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6770689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095755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320617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5301996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742511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41959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55238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648200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77132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579032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338328" y="1450181"/>
            <a:ext cx="259689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3273554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6208779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273552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08776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38328" y="2057403"/>
            <a:ext cx="2523744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808009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7129272" y="1493520"/>
            <a:ext cx="1481328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7200" y="16002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57200" y="48768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57200" y="32385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191512" y="16002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91512" y="32385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91512" y="48768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89189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684213" y="2635250"/>
            <a:ext cx="7777162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350" b="0" i="0" dirty="0">
              <a:latin typeface="Calibri Regular" charset="0"/>
              <a:ea typeface="Calibri Regular" charset="0"/>
              <a:cs typeface="Calibri Regular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05156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457200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05156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457200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15582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4384675" y="3341688"/>
            <a:ext cx="376238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5152" y="1417320"/>
            <a:ext cx="303580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266627" y="1417320"/>
            <a:ext cx="3054096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835152" y="1874520"/>
            <a:ext cx="329184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5028883" y="1874520"/>
            <a:ext cx="329184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493018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6181725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484632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2667000" y="18288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2667000" y="242316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2667000" y="301752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2667000" y="361188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2667000" y="420624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2667000" y="48006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2514600" y="1981200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2514600" y="2570074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2514600" y="315894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2514600" y="3747822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2514600" y="4336696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2514600" y="492556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253596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396240" y="160020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621280" y="160020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6240" y="274828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621280" y="274828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96240" y="389636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2621280" y="389636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2266" y="504444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2627306" y="504444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9663975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731520" y="1097281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362200" y="1371600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2362200" y="2474977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362200" y="3578353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2362200" y="4681728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731520" y="2200657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731520" y="3304033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731520" y="4407408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4374993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5297488" y="3346450"/>
            <a:ext cx="4406900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76041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75406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2266951" y="3351213"/>
            <a:ext cx="4416425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3781426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62000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2276475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789363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53038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8151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21336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09600" y="33909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4648200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148243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273552" y="1444752"/>
            <a:ext cx="2596896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370576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609600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370576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609600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70576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609600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5370576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609600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454712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48400" y="1420504"/>
            <a:ext cx="2587752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02920" y="15544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502920" y="27482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502920" y="39420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502920" y="51358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3973010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304800" y="2362200"/>
            <a:ext cx="6117336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04800" y="3491484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304800" y="4620768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6411433" y="1417320"/>
            <a:ext cx="210312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4391025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774061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157097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157097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2774061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4391025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6411433" y="1861185"/>
            <a:ext cx="2103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8214535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3068639" y="1981202"/>
            <a:ext cx="2536825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457201" y="1982790"/>
            <a:ext cx="2530475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5684839" y="1981202"/>
            <a:ext cx="2871787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5680886" y="1983087"/>
            <a:ext cx="287574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3068559" y="1983087"/>
            <a:ext cx="2674468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4038600"/>
            <a:ext cx="80772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457200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4585778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1417320"/>
            <a:ext cx="5193792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656263" y="1417326"/>
            <a:ext cx="3035808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1983087"/>
            <a:ext cx="2674468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457200" y="1981200"/>
            <a:ext cx="2473180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144323" y="1988239"/>
            <a:ext cx="238753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343400"/>
            <a:ext cx="80772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5762431" y="1987175"/>
            <a:ext cx="2794197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474133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5507039" y="1755775"/>
            <a:ext cx="679450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 eaLnBrk="0" hangingPunct="0">
              <a:lnSpc>
                <a:spcPct val="95000"/>
              </a:lnSpc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2993735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477838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2993735" y="1290638"/>
            <a:ext cx="237744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6300383" y="1290638"/>
            <a:ext cx="237744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477838" y="1290638"/>
            <a:ext cx="237744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569278" y="173126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569278" y="235712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569278" y="2982976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69278" y="3608832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569278" y="4234688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569278" y="548640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569278" y="486054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3085175" y="174345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3085175" y="236931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3085175" y="2995168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3085175" y="3621024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3085175" y="4246880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3085175" y="549859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3085175" y="487273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00383" y="174345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6300383" y="236931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6300383" y="2995168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6300383" y="3621024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6300383" y="4246880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6300383" y="549859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6300383" y="487273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9879268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5349876" y="1497015"/>
            <a:ext cx="679450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7082028" y="330708"/>
            <a:ext cx="640080" cy="2569464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17336" y="1981200"/>
            <a:ext cx="2569464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3810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3810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3810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0574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0574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0574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37338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37338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37338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7742924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909638" y="2395538"/>
            <a:ext cx="768350" cy="6381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066926" y="3590927"/>
            <a:ext cx="752475" cy="6254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3234532" y="4814095"/>
            <a:ext cx="698500" cy="595313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3881706" y="4986243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79117" y="1441358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1612733" y="2622986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2755736" y="3804614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20842893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712789" y="1782765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712789" y="5300665"/>
            <a:ext cx="7969250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712789" y="4129090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712789" y="2955925"/>
            <a:ext cx="7969250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 b="0" i="0" dirty="0">
              <a:latin typeface="Calibri Regular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708691" y="1501649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708691" y="5019704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708691" y="3847017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708691" y="2674336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6472952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477838" y="3294065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477838" y="4670425"/>
            <a:ext cx="7988300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477838" y="6046790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582996" y="1290644"/>
            <a:ext cx="1870718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89650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511428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332064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2068960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7200" y="343666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57200" y="480248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1582996" y="2068960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582996" y="344150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1582996" y="480732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33206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333206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333206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511428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11428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11428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6896505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6896505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896505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6913241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151064" y="1277938"/>
            <a:ext cx="6618287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0" i="0" dirty="0">
              <a:solidFill>
                <a:schemeClr val="bg1"/>
              </a:solidFill>
              <a:latin typeface="Calibri Regular" charset="0"/>
              <a:ea typeface="Calibri Regular" charset="0"/>
              <a:cs typeface="Calibri Regular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160589" y="1568450"/>
            <a:ext cx="6608762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-167481" y="3604420"/>
            <a:ext cx="4665662" cy="1270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2584450" y="1576388"/>
            <a:ext cx="5530850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468313" y="1860550"/>
            <a:ext cx="8069262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0" i="0" dirty="0">
              <a:solidFill>
                <a:schemeClr val="bg1"/>
              </a:solidFill>
              <a:latin typeface="Calibri Regular" charset="0"/>
              <a:ea typeface="Calibri Regular" charset="0"/>
              <a:cs typeface="Calibri Regular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468314" y="1277938"/>
            <a:ext cx="1692275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0" i="0" dirty="0">
              <a:solidFill>
                <a:schemeClr val="bg1"/>
              </a:solidFill>
              <a:latin typeface="Calibri Regular" charset="0"/>
              <a:ea typeface="Calibri Regular" charset="0"/>
              <a:cs typeface="Calibri Regular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473075" y="1277938"/>
            <a:ext cx="16764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159965" y="1282931"/>
            <a:ext cx="6372290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01612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344159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16517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59064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471802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514350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86707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29255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641992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4540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56897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99445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727088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769635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812183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548056" y="1548247"/>
            <a:ext cx="645582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401427" y="1278089"/>
            <a:ext cx="645582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33400" y="1905000"/>
            <a:ext cx="155448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8408714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1555750" y="1828802"/>
            <a:ext cx="7131050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 b="0" i="0" dirty="0">
              <a:latin typeface="Calibri Regular" charset="0"/>
              <a:ea typeface="Calibri Regular" charset="0"/>
              <a:cs typeface="Calibri Regular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447675" y="2189163"/>
            <a:ext cx="1098550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 b="0" i="0" dirty="0">
              <a:latin typeface="Calibri Regular" charset="0"/>
              <a:ea typeface="Calibri Regular" charset="0"/>
              <a:cs typeface="Calibri Regular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442914" y="1819275"/>
            <a:ext cx="8234362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512764" y="1566865"/>
            <a:ext cx="884237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0" i="0" dirty="0">
                <a:solidFill>
                  <a:srgbClr val="000000"/>
                </a:solidFill>
                <a:latin typeface="Calibri Regular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512764" y="1939925"/>
            <a:ext cx="88423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0" i="0" dirty="0">
                <a:solidFill>
                  <a:srgbClr val="000000"/>
                </a:solidFill>
                <a:latin typeface="Calibri Regular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442913" y="2200275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442913" y="5486400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1555751" y="1468440"/>
            <a:ext cx="7102475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1546226" y="1828800"/>
            <a:ext cx="649288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546225" y="1835813"/>
            <a:ext cx="64591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203314" y="1835813"/>
            <a:ext cx="64688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850206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3497094" y="1835813"/>
            <a:ext cx="64202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139118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795736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5437760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084651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731540" y="1835813"/>
            <a:ext cx="64689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383292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8025320" y="1835813"/>
            <a:ext cx="65316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469240" y="223026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469240" y="259557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469240" y="296088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469240" y="332619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469240" y="369150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469240" y="405681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469240" y="5152742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469240" y="442212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469240" y="478743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1562267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20331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285020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349709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41391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4795736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543776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608465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673154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7383292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80253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1546225" y="232170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1546225" y="268701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1546225" y="305232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1546225" y="341763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1546225" y="3782940"/>
            <a:ext cx="4572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1546225" y="414825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1546225" y="451356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1546225" y="487887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1546225" y="5244182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3436620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3048000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5355067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4966447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1870448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1779589" y="5981700"/>
            <a:ext cx="5495925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2288" y="5453937"/>
            <a:ext cx="54864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66756"/>
            <a:ext cx="54864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42020"/>
            <a:ext cx="54864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769503" y="0"/>
            <a:ext cx="7604994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875434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2441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52441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2441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003443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7003443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003443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003443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52441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2239947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59380" y="1419225"/>
            <a:ext cx="2532185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318325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75052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6439228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1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265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702190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076450" y="2667000"/>
            <a:ext cx="6629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066925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0" i="0" dirty="0">
                <a:solidFill>
                  <a:srgbClr val="B01C2E"/>
                </a:solidFill>
                <a:latin typeface="Calibri Regular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505450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0" i="0" dirty="0">
                <a:solidFill>
                  <a:srgbClr val="B01C2E"/>
                </a:solidFill>
                <a:latin typeface="Calibri Regular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067306" y="2743200"/>
            <a:ext cx="6638544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0" i="0" baseline="0">
                <a:solidFill>
                  <a:srgbClr val="666666"/>
                </a:solidFill>
                <a:latin typeface="Calibri Regular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="0" i="0" baseline="0">
                <a:latin typeface="Calibri Regular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="0" i="0" baseline="0">
                <a:latin typeface="Calibri Regular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="0" i="0" baseline="0">
                <a:latin typeface="Calibri Regular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5612" y="1108074"/>
            <a:ext cx="1170432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5615" y="2722996"/>
            <a:ext cx="1525587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05450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067306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067306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5505450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067306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505450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3926911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76987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76985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67882" y="1246188"/>
            <a:ext cx="8188325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97969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197967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850124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850124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5491888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5491886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144042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7144042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576987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576985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197969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197967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3850124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3850124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5491888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5491886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7144042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7144042" y="3962402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20729182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4398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0" i="0" dirty="0">
                <a:solidFill>
                  <a:srgbClr val="C00000"/>
                </a:solidFill>
                <a:latin typeface="Calibri Regular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38151" y="18970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41325" y="32686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0" i="0" dirty="0">
                <a:solidFill>
                  <a:srgbClr val="C00000"/>
                </a:solidFill>
                <a:latin typeface="Calibri Regular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8151" y="37258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260858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477901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6949440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481328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724400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481328" y="4800600"/>
            <a:ext cx="621792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43815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761276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2148746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3186074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450850" y="6020181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45085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113838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3776826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5439814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710280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113838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11383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3776826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377682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5439814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439814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10280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7840529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5123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18983559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Historical Returns</a:t>
            </a:r>
          </a:p>
        </p:txBody>
      </p:sp>
    </p:spTree>
    <p:extLst>
      <p:ext uri="{BB962C8B-B14F-4D97-AF65-F5344CB8AC3E}">
        <p14:creationId xmlns:p14="http://schemas.microsoft.com/office/powerpoint/2010/main" val="4143905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Historical Returns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19211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Historical Returns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2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9144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0600" y="643663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6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b="1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3124200" y="64424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Historical Returns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72409" y="6423029"/>
            <a:ext cx="23622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600" b="1" i="0" dirty="0">
                <a:latin typeface="+mn-lt"/>
                <a:cs typeface="Calibri Regular" charset="0"/>
              </a:rPr>
              <a:t>CF_Ch7_HistRet_26</a:t>
            </a:r>
          </a:p>
        </p:txBody>
      </p:sp>
    </p:spTree>
    <p:extLst>
      <p:ext uri="{BB962C8B-B14F-4D97-AF65-F5344CB8AC3E}">
        <p14:creationId xmlns:p14="http://schemas.microsoft.com/office/powerpoint/2010/main" val="103634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sv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B908C-B5CB-4D61-9AAA-0E6FA8AD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527EB-3756-C241-BFD3-DBB1E111190F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835F-3425-4D22-A3BF-7A8DB7F9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Historical Returns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D9786-58D6-4467-A340-9C08B3251F1F}"/>
              </a:ext>
            </a:extLst>
          </p:cNvPr>
          <p:cNvSpPr/>
          <p:nvPr/>
        </p:nvSpPr>
        <p:spPr>
          <a:xfrm>
            <a:off x="641839" y="2111043"/>
            <a:ext cx="808892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Corporate Finance</a:t>
            </a:r>
          </a:p>
          <a:p>
            <a:pPr algn="ctr"/>
            <a:r>
              <a:rPr lang="en-US" sz="2700" b="1" dirty="0"/>
              <a:t>First Look at Investments: Historical Returns</a:t>
            </a:r>
          </a:p>
          <a:p>
            <a:pPr algn="ctr"/>
            <a:endParaRPr lang="en-US" sz="2700" b="1" dirty="0"/>
          </a:p>
          <a:p>
            <a:pPr algn="ctr"/>
            <a:endParaRPr lang="en-US" sz="2700" b="1" dirty="0"/>
          </a:p>
          <a:p>
            <a:pPr algn="ctr"/>
            <a:endParaRPr lang="en-US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b="1" dirty="0"/>
          </a:p>
          <a:p>
            <a:pPr algn="ctr">
              <a:buNone/>
            </a:pPr>
            <a:r>
              <a:rPr lang="en-US" b="1" dirty="0"/>
              <a:t>Fall 2026</a:t>
            </a:r>
          </a:p>
          <a:p>
            <a:pPr algn="ctr"/>
            <a:r>
              <a:rPr lang="en-US" b="1" dirty="0"/>
              <a:t>Prof. Jeffrey Colón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7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/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Historical US and global returns and volatility</a:t>
            </a:r>
          </a:p>
          <a:p>
            <a:pPr marL="342900" indent="-342900" eaLnBrk="1" hangingPunct="1"/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How to estimate and measure risk and return</a:t>
            </a:r>
          </a:p>
          <a:p>
            <a:pPr marL="742950" lvl="1" indent="-285750" eaLnBrk="1" hangingPunct="1"/>
            <a:r>
              <a:rPr lang="en-US" sz="2000" dirty="0">
                <a:solidFill>
                  <a:srgbClr val="010004"/>
                </a:solidFill>
                <a:ea typeface="ＭＳ Ｐゴシック" charset="0"/>
              </a:rPr>
              <a:t>Single assets</a:t>
            </a:r>
          </a:p>
          <a:p>
            <a:pPr marL="742950" lvl="1" indent="-285750" eaLnBrk="1" hangingPunct="1"/>
            <a:r>
              <a:rPr lang="en-US" sz="2000" dirty="0">
                <a:solidFill>
                  <a:srgbClr val="010004"/>
                </a:solidFill>
                <a:ea typeface="ＭＳ Ｐゴシック" charset="0"/>
              </a:rPr>
              <a:t>Portfolio of assets</a:t>
            </a:r>
          </a:p>
          <a:p>
            <a:pPr marL="742950" lvl="1" indent="-285750" eaLnBrk="1" hangingPunct="1"/>
            <a:r>
              <a:rPr lang="en-US" sz="2000" dirty="0">
                <a:solidFill>
                  <a:srgbClr val="010004"/>
                </a:solidFill>
                <a:ea typeface="ＭＳ Ｐゴシック" charset="0"/>
              </a:rPr>
              <a:t>Role of </a:t>
            </a:r>
            <a:r>
              <a:rPr lang="en-US" sz="2000" i="1" dirty="0">
                <a:solidFill>
                  <a:srgbClr val="010004"/>
                </a:solidFill>
                <a:ea typeface="ＭＳ Ｐゴシック" charset="0"/>
              </a:rPr>
              <a:t>Risk aversion</a:t>
            </a:r>
          </a:p>
          <a:p>
            <a:pPr marL="742950" lvl="1" indent="-285750" eaLnBrk="1" hangingPunct="1"/>
            <a:r>
              <a:rPr lang="en-US" sz="2000" dirty="0">
                <a:solidFill>
                  <a:srgbClr val="010004"/>
                </a:solidFill>
                <a:ea typeface="ＭＳ Ｐゴシック" charset="0"/>
              </a:rPr>
              <a:t>Examine sample asset returns and variances</a:t>
            </a:r>
          </a:p>
          <a:p>
            <a:pPr marL="342900" indent="-342900" eaLnBrk="1" hangingPunct="1"/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Portfolios and diversification</a:t>
            </a:r>
          </a:p>
          <a:p>
            <a:pPr marL="742950" lvl="1" indent="-285750" eaLnBrk="1" hangingPunct="1"/>
            <a:r>
              <a:rPr lang="en-US" sz="2000" dirty="0">
                <a:ea typeface="ＭＳ Ｐゴシック" charset="0"/>
              </a:rPr>
              <a:t>How to measure the benefits of diversification</a:t>
            </a:r>
          </a:p>
          <a:p>
            <a:pPr marL="742950" lvl="1" indent="-285750" eaLnBrk="1" hangingPunct="1"/>
            <a:r>
              <a:rPr lang="en-US" sz="2000" dirty="0">
                <a:ea typeface="ＭＳ Ｐゴシック" charset="0"/>
              </a:rPr>
              <a:t>How to measure the trade-off between risk and return</a:t>
            </a:r>
          </a:p>
          <a:p>
            <a:pPr marL="742950" lvl="1" indent="-285750" eaLnBrk="1" hangingPunct="1"/>
            <a:r>
              <a:rPr lang="en-US" sz="2000" dirty="0">
                <a:ea typeface="ＭＳ Ｐゴシック" charset="0"/>
              </a:rPr>
              <a:t>Construction of diverse portfolios</a:t>
            </a:r>
          </a:p>
          <a:p>
            <a:pPr marL="742950" lvl="1" indent="-285750" eaLnBrk="1" hangingPunct="1"/>
            <a:r>
              <a:rPr lang="en-US" sz="2000" dirty="0">
                <a:ea typeface="ＭＳ Ｐゴシック" charset="0"/>
              </a:rPr>
              <a:t>Limits</a:t>
            </a:r>
          </a:p>
          <a:p>
            <a:pPr marL="342900" indent="-342900" eaLnBrk="1" hangingPunct="1"/>
            <a:r>
              <a:rPr lang="en-US" sz="2400" b="1" dirty="0">
                <a:ea typeface="ＭＳ Ｐゴシック" charset="0"/>
                <a:cs typeface="ＭＳ Ｐゴシック" charset="0"/>
              </a:rPr>
              <a:t>Importance:  Determine the Cost of Capital </a:t>
            </a:r>
            <a:r>
              <a:rPr lang="en-US" sz="2400" b="1" dirty="0">
                <a:ea typeface="ＭＳ Ｐゴシック" charset="0"/>
                <a:cs typeface="ＭＳ Ｐゴシック" charset="0"/>
                <a:sym typeface="Wingdings" charset="0"/>
              </a:rPr>
              <a:t></a:t>
            </a:r>
            <a:endParaRPr lang="en-US" sz="2400" b="1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  <a:ea typeface="ＭＳ Ｐゴシック" charset="0"/>
                <a:cs typeface="ＭＳ Ｐゴシック" charset="0"/>
              </a:rPr>
              <a:t>Risk and Return:  Overview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544915"/>
              </p:ext>
            </p:extLst>
          </p:nvPr>
        </p:nvGraphicFramePr>
        <p:xfrm>
          <a:off x="6629400" y="4800600"/>
          <a:ext cx="609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9040" imgH="155160" progId="Equation.3">
                  <p:embed/>
                </p:oleObj>
              </mc:Choice>
              <mc:Fallback>
                <p:oleObj name="Equation" r:id="rId3" imgW="329040" imgH="155160" progId="Equation.3">
                  <p:embed/>
                  <p:pic>
                    <p:nvPicPr>
                      <p:cNvPr id="163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800600"/>
                        <a:ext cx="609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1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37C88F-AE1F-0A48-B9F7-1CACE55E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41934"/>
            <a:ext cx="8458200" cy="365127"/>
          </a:xfrm>
        </p:spPr>
        <p:txBody>
          <a:bodyPr/>
          <a:lstStyle/>
          <a:p>
            <a:r>
              <a:rPr lang="en-US" i="1" dirty="0">
                <a:ea typeface="ＭＳ Ｐゴシック" charset="0"/>
                <a:cs typeface="ＭＳ Ｐゴシック" charset="0"/>
              </a:rPr>
              <a:t>Nominal</a:t>
            </a:r>
            <a:r>
              <a:rPr lang="en-US" dirty="0">
                <a:ea typeface="ＭＳ Ｐゴシック" charset="0"/>
                <a:cs typeface="ＭＳ Ｐゴシック" charset="0"/>
              </a:rPr>
              <a:t> Value of an Investment of $1 in 1926 Through 2024 (U.S.)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279F9-6FBB-3A4F-B828-D57CFDEDE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C7717-E918-F347-9CF4-4803CE13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6" name="Picture 5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E0446244-7AEF-C717-7846-AAE5224D1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09600"/>
            <a:ext cx="84582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78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568A9-70B5-C9A6-7CEA-41A90D4BF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9CD64A-FA9B-F229-EFD9-552DF2BA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Value of an Investment of $1 (</a:t>
            </a:r>
            <a:r>
              <a:rPr lang="en-US" i="1" dirty="0">
                <a:ea typeface="ＭＳ Ｐゴシック" charset="0"/>
                <a:cs typeface="ＭＳ Ｐゴシック" charset="0"/>
              </a:rPr>
              <a:t>after taxes</a:t>
            </a:r>
            <a:r>
              <a:rPr lang="en-US" dirty="0">
                <a:ea typeface="ＭＳ Ｐゴシック" charset="0"/>
                <a:cs typeface="ＭＳ Ｐゴシック" charset="0"/>
              </a:rPr>
              <a:t>) in 1926 Through 2024 (U.S.)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DDD48-DD41-472B-5DA6-445AB9E91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99FD6-B3E5-A0BB-8BBF-CFA4D660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7" name="Picture 6" descr="A graph of growth of stocks&#10;&#10;AI-generated content may be incorrect.">
            <a:extLst>
              <a:ext uri="{FF2B5EF4-FFF2-40B4-BE49-F238E27FC236}">
                <a16:creationId xmlns:a16="http://schemas.microsoft.com/office/drawing/2014/main" id="{8098B8B9-600B-F1F4-A637-D187B1D50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38" y="609600"/>
            <a:ext cx="845361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3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9F2188-D467-A646-B290-05A167C6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ea typeface="ＭＳ Ｐゴシック" charset="0"/>
                <a:cs typeface="ＭＳ Ｐゴシック" charset="0"/>
              </a:rPr>
              <a:t>Real (after inflation &amp; taxes) </a:t>
            </a:r>
            <a:r>
              <a:rPr lang="en-US" dirty="0">
                <a:ea typeface="ＭＳ Ｐゴシック" charset="0"/>
                <a:cs typeface="ＭＳ Ｐゴシック" charset="0"/>
              </a:rPr>
              <a:t>Value of an Investment of $1 in 1926 Through 2024 (U.S.)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C196B-017A-C640-8BA9-6BB9024F2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83675-9427-5049-831D-683F50A2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CBB52651-E8B1-30B0-54F4-E2EFAE284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48" y="609600"/>
            <a:ext cx="8468299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4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6A2BA2-0FC8-154D-BA15-B6B39BA7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Series: US Stock Returns  (1900-2024)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B1AEA-3CEF-E142-AA80-89F0F7853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E278B-A057-364C-AE23-A4BD69554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EBE787-2B15-6F0D-8AA7-7074B01C8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33399"/>
            <a:ext cx="8458200" cy="576191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426F2C7-6B93-D470-E1EF-109999265206}"/>
              </a:ext>
            </a:extLst>
          </p:cNvPr>
          <p:cNvSpPr/>
          <p:nvPr/>
        </p:nvSpPr>
        <p:spPr>
          <a:xfrm>
            <a:off x="228600" y="562689"/>
            <a:ext cx="606552" cy="2462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03A09B-F0F4-7ACD-1D4E-D5187532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Series: US Bond (10-yr) Returns  (1900-2024)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E49E4-BCB2-DD14-25C6-C75DE5988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97647-3905-83D5-2A70-84DE64B6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91BF63-5EF7-DC52-E34B-B5775CEB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72" y="617620"/>
            <a:ext cx="8532876" cy="570698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174772B-47D3-AD93-113D-F3E052804E96}"/>
              </a:ext>
            </a:extLst>
          </p:cNvPr>
          <p:cNvSpPr/>
          <p:nvPr/>
        </p:nvSpPr>
        <p:spPr>
          <a:xfrm>
            <a:off x="301752" y="960436"/>
            <a:ext cx="606552" cy="3651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8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A42780-9245-EF10-4B52-CD554833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Series: T-Bill Returns (1900-2024)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263C9-22F8-C048-3B05-6C5381B55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106E4-1164-22F5-B37E-B97D0CBF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9364A-E027-06B8-3ABA-5A891B2E3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09600"/>
            <a:ext cx="84582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3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699CD6-A317-A710-462F-30FD2D9D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Histogram:  US Stock Returns (1900-2024)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5CEEF-F51F-748C-E222-1AE898A21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CEC2B-F97C-83BA-DCCB-77259858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CFC9F-5E69-1B91-509B-9AEC63866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09600"/>
            <a:ext cx="8458200" cy="571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82EB82-E305-5D52-BEEA-FAB195430D38}"/>
              </a:ext>
            </a:extLst>
          </p:cNvPr>
          <p:cNvSpPr txBox="1"/>
          <p:nvPr/>
        </p:nvSpPr>
        <p:spPr>
          <a:xfrm>
            <a:off x="5715000" y="1066800"/>
            <a:ext cx="22098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Mean: 11.68%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6737C4-17C9-1AF2-894B-177F4FD767C2}"/>
              </a:ext>
            </a:extLst>
          </p:cNvPr>
          <p:cNvCxnSpPr/>
          <p:nvPr/>
        </p:nvCxnSpPr>
        <p:spPr>
          <a:xfrm flipH="1">
            <a:off x="4724400" y="1219200"/>
            <a:ext cx="91440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653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86A080-4F34-E668-F14E-460FC0CC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Histogram:  US 10-YR Bond Returns  (1900-2024)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288F2-E807-6F6F-6CAD-942032ADEB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3BC90-07AA-7FC1-1DED-3EBDFD10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7F18AB-5A88-654E-39C5-4EE21A43C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59" y="619684"/>
            <a:ext cx="8458200" cy="563879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098DCC-F05F-0519-4179-9F2133C94133}"/>
              </a:ext>
            </a:extLst>
          </p:cNvPr>
          <p:cNvCxnSpPr>
            <a:cxnSpLocks/>
          </p:cNvCxnSpPr>
          <p:nvPr/>
        </p:nvCxnSpPr>
        <p:spPr>
          <a:xfrm flipH="1">
            <a:off x="2941320" y="2001689"/>
            <a:ext cx="951411" cy="1647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471A193-B346-4634-5A18-342395867393}"/>
              </a:ext>
            </a:extLst>
          </p:cNvPr>
          <p:cNvSpPr txBox="1"/>
          <p:nvPr/>
        </p:nvSpPr>
        <p:spPr>
          <a:xfrm>
            <a:off x="3892731" y="1817023"/>
            <a:ext cx="22098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Mean: 4.72%</a:t>
            </a:r>
          </a:p>
        </p:txBody>
      </p:sp>
    </p:spTree>
    <p:extLst>
      <p:ext uri="{BB962C8B-B14F-4D97-AF65-F5344CB8AC3E}">
        <p14:creationId xmlns:p14="http://schemas.microsoft.com/office/powerpoint/2010/main" val="977841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Histogram:  T-Bill Return (1900-2024) 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457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98124E-1052-9B0B-3A05-BB0C8FBD4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914400"/>
            <a:ext cx="8153400" cy="52578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A568F23-B2C8-71ED-2417-6A3CBA3EDB72}"/>
              </a:ext>
            </a:extLst>
          </p:cNvPr>
          <p:cNvCxnSpPr>
            <a:cxnSpLocks/>
          </p:cNvCxnSpPr>
          <p:nvPr/>
        </p:nvCxnSpPr>
        <p:spPr>
          <a:xfrm flipH="1">
            <a:off x="2629989" y="2318266"/>
            <a:ext cx="951411" cy="1647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CF8297E-3271-A3C8-7956-CA81079992D6}"/>
              </a:ext>
            </a:extLst>
          </p:cNvPr>
          <p:cNvSpPr txBox="1"/>
          <p:nvPr/>
        </p:nvSpPr>
        <p:spPr>
          <a:xfrm>
            <a:off x="3581400" y="2133600"/>
            <a:ext cx="22098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Mean: 3.66%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6DD622-B22B-91B3-C1CD-3C38DC9D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Histogram: Returns of US Stocks, Bonds, and T-Bills (1900-2024)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AD92F-2FBB-8AB5-D358-284C4C2B45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E11A5-140D-532D-109B-C89303B28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791582-EB49-164C-641F-26A27A823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0"/>
            <a:ext cx="8458200" cy="5562600"/>
          </a:xfrm>
          <a:prstGeom prst="rect">
            <a:avLst/>
          </a:prstGeom>
        </p:spPr>
      </p:pic>
      <p:sp>
        <p:nvSpPr>
          <p:cNvPr id="7" name="Text Box 15">
            <a:extLst>
              <a:ext uri="{FF2B5EF4-FFF2-40B4-BE49-F238E27FC236}">
                <a16:creationId xmlns:a16="http://schemas.microsoft.com/office/drawing/2014/main" id="{80D5E845-2E07-B548-5866-A0FBFA477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322" y="1342699"/>
            <a:ext cx="685800" cy="223838"/>
          </a:xfrm>
          <a:prstGeom prst="rect">
            <a:avLst/>
          </a:prstGeom>
          <a:solidFill>
            <a:srgbClr val="FFE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14AA07D3-2230-2DF1-3E9C-C7607A1CA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322" y="1896583"/>
            <a:ext cx="685800" cy="223838"/>
          </a:xfrm>
          <a:prstGeom prst="rect">
            <a:avLst/>
          </a:prstGeom>
          <a:solidFill>
            <a:srgbClr val="DFFFD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 dirty="0"/>
          </a:p>
        </p:txBody>
      </p:sp>
      <p:sp>
        <p:nvSpPr>
          <p:cNvPr id="9" name="Text Box 17">
            <a:extLst>
              <a:ext uri="{FF2B5EF4-FFF2-40B4-BE49-F238E27FC236}">
                <a16:creationId xmlns:a16="http://schemas.microsoft.com/office/drawing/2014/main" id="{B8A34FED-D29F-9BC4-B2F3-3EEDE506B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405238"/>
            <a:ext cx="685800" cy="223838"/>
          </a:xfrm>
          <a:prstGeom prst="rect">
            <a:avLst/>
          </a:prstGeom>
          <a:solidFill>
            <a:srgbClr val="E6E8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>
              <a:solidFill>
                <a:srgbClr val="FF0000"/>
              </a:solidFill>
            </a:endParaRP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185164A0-01FA-EA55-345C-5E0661E06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092" y="1369183"/>
            <a:ext cx="5957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T-Bills </a:t>
            </a: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20FBE587-D25E-58AC-4572-1F4DA00DA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092" y="1870002"/>
            <a:ext cx="5822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Bonds</a:t>
            </a:r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1D448EFA-BBAE-4105-B0F4-FF7180C25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3013" y="2352077"/>
            <a:ext cx="5890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Stocks</a:t>
            </a:r>
          </a:p>
        </p:txBody>
      </p:sp>
    </p:spTree>
    <p:extLst>
      <p:ext uri="{BB962C8B-B14F-4D97-AF65-F5344CB8AC3E}">
        <p14:creationId xmlns:p14="http://schemas.microsoft.com/office/powerpoint/2010/main" val="1425309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U.S. Equity Nominal Returns </a:t>
            </a:r>
          </a:p>
        </p:txBody>
      </p:sp>
      <p:sp>
        <p:nvSpPr>
          <p:cNvPr id="2867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28677" name="Text Box 15"/>
          <p:cNvSpPr txBox="1">
            <a:spLocks noChangeArrowheads="1"/>
          </p:cNvSpPr>
          <p:nvPr/>
        </p:nvSpPr>
        <p:spPr bwMode="auto">
          <a:xfrm>
            <a:off x="4556760" y="-2725459"/>
            <a:ext cx="685800" cy="223838"/>
          </a:xfrm>
          <a:prstGeom prst="rect">
            <a:avLst/>
          </a:prstGeom>
          <a:solidFill>
            <a:srgbClr val="FF7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/>
          </a:p>
        </p:txBody>
      </p:sp>
      <p:sp>
        <p:nvSpPr>
          <p:cNvPr id="28678" name="Text Box 16"/>
          <p:cNvSpPr txBox="1">
            <a:spLocks noChangeArrowheads="1"/>
          </p:cNvSpPr>
          <p:nvPr/>
        </p:nvSpPr>
        <p:spPr bwMode="auto">
          <a:xfrm>
            <a:off x="4556760" y="-2297098"/>
            <a:ext cx="685800" cy="223838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/>
          </a:p>
        </p:txBody>
      </p:sp>
      <p:sp>
        <p:nvSpPr>
          <p:cNvPr id="28679" name="Text Box 17"/>
          <p:cNvSpPr txBox="1">
            <a:spLocks noChangeArrowheads="1"/>
          </p:cNvSpPr>
          <p:nvPr/>
        </p:nvSpPr>
        <p:spPr bwMode="auto">
          <a:xfrm>
            <a:off x="4556760" y="-1947770"/>
            <a:ext cx="685800" cy="223838"/>
          </a:xfrm>
          <a:prstGeom prst="rect">
            <a:avLst/>
          </a:prstGeom>
          <a:solidFill>
            <a:srgbClr val="44D7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>
              <a:solidFill>
                <a:srgbClr val="FF0000"/>
              </a:solidFill>
            </a:endParaRPr>
          </a:p>
        </p:txBody>
      </p:sp>
      <p:sp>
        <p:nvSpPr>
          <p:cNvPr id="28680" name="Text Box 18"/>
          <p:cNvSpPr txBox="1">
            <a:spLocks noChangeArrowheads="1"/>
          </p:cNvSpPr>
          <p:nvPr/>
        </p:nvSpPr>
        <p:spPr bwMode="auto">
          <a:xfrm>
            <a:off x="5388237" y="-2737505"/>
            <a:ext cx="20120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1900-2024 (Mean = 11.68%) </a:t>
            </a:r>
          </a:p>
        </p:txBody>
      </p:sp>
      <p:sp>
        <p:nvSpPr>
          <p:cNvPr id="28681" name="Text Box 19"/>
          <p:cNvSpPr txBox="1">
            <a:spLocks noChangeArrowheads="1"/>
          </p:cNvSpPr>
          <p:nvPr/>
        </p:nvSpPr>
        <p:spPr bwMode="auto">
          <a:xfrm>
            <a:off x="5394960" y="-2348735"/>
            <a:ext cx="19768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1975-2024 (Mean = 13.81%)</a:t>
            </a:r>
          </a:p>
        </p:txBody>
      </p:sp>
      <p:sp>
        <p:nvSpPr>
          <p:cNvPr id="28682" name="Text Box 20"/>
          <p:cNvSpPr txBox="1">
            <a:spLocks noChangeArrowheads="1"/>
          </p:cNvSpPr>
          <p:nvPr/>
        </p:nvSpPr>
        <p:spPr bwMode="auto">
          <a:xfrm>
            <a:off x="5394960" y="-1986133"/>
            <a:ext cx="19768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2015-2024 (Mean = 14.11%)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020ED1-9DDE-0245-2BC3-950DF6E41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44" y="685800"/>
            <a:ext cx="8535604" cy="5664343"/>
          </a:xfrm>
          <a:prstGeom prst="rect">
            <a:avLst/>
          </a:prstGeom>
        </p:spPr>
      </p:pic>
      <p:sp>
        <p:nvSpPr>
          <p:cNvPr id="3" name="Text Box 15">
            <a:extLst>
              <a:ext uri="{FF2B5EF4-FFF2-40B4-BE49-F238E27FC236}">
                <a16:creationId xmlns:a16="http://schemas.microsoft.com/office/drawing/2014/main" id="{5269341F-6D53-43E3-1E76-FC73773F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013274"/>
            <a:ext cx="685800" cy="223838"/>
          </a:xfrm>
          <a:prstGeom prst="rect">
            <a:avLst/>
          </a:prstGeom>
          <a:solidFill>
            <a:srgbClr val="FF7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/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8E689F06-3C2D-E8AD-4A59-91919C20C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441635"/>
            <a:ext cx="685800" cy="223838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/>
          </a:p>
        </p:txBody>
      </p:sp>
      <p:sp>
        <p:nvSpPr>
          <p:cNvPr id="6" name="Text Box 17">
            <a:extLst>
              <a:ext uri="{FF2B5EF4-FFF2-40B4-BE49-F238E27FC236}">
                <a16:creationId xmlns:a16="http://schemas.microsoft.com/office/drawing/2014/main" id="{D4E420F0-CF3C-EF98-F07B-CC3F71313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790963"/>
            <a:ext cx="685800" cy="223838"/>
          </a:xfrm>
          <a:prstGeom prst="rect">
            <a:avLst/>
          </a:prstGeom>
          <a:solidFill>
            <a:srgbClr val="44D7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800">
              <a:solidFill>
                <a:srgbClr val="FF0000"/>
              </a:solidFill>
            </a:endParaRP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C2CCD72F-CE56-AE5A-DE78-A4B62B30E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677" y="1001228"/>
            <a:ext cx="20120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1900-2024 (Mean = 11.68%) </a:t>
            </a:r>
          </a:p>
        </p:txBody>
      </p:sp>
      <p:sp>
        <p:nvSpPr>
          <p:cNvPr id="8" name="Text Box 19">
            <a:extLst>
              <a:ext uri="{FF2B5EF4-FFF2-40B4-BE49-F238E27FC236}">
                <a16:creationId xmlns:a16="http://schemas.microsoft.com/office/drawing/2014/main" id="{7AFAA18D-3DC1-3A74-AB49-B544D2FAE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389998"/>
            <a:ext cx="19768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1975-2024 (Mean = 13.81%)</a:t>
            </a:r>
          </a:p>
        </p:txBody>
      </p:sp>
      <p:sp>
        <p:nvSpPr>
          <p:cNvPr id="9" name="Text Box 20">
            <a:extLst>
              <a:ext uri="{FF2B5EF4-FFF2-40B4-BE49-F238E27FC236}">
                <a16:creationId xmlns:a16="http://schemas.microsoft.com/office/drawing/2014/main" id="{0D660878-B904-A9ED-39E7-057052970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752600"/>
            <a:ext cx="19768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latin typeface="Calibri"/>
              </a:rPr>
              <a:t>2015-2024 (Mean = 14.11%)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Annual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Nominal</a:t>
            </a:r>
            <a:r>
              <a:rPr lang="en-US" b="1" dirty="0">
                <a:ea typeface="ＭＳ Ｐゴシック" charset="0"/>
                <a:cs typeface="ＭＳ Ｐゴシック" charset="0"/>
              </a:rPr>
              <a:t> Returns: SP500, T-Bills, T-Bonds</a:t>
            </a:r>
          </a:p>
        </p:txBody>
      </p:sp>
      <p:sp>
        <p:nvSpPr>
          <p:cNvPr id="3072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514970"/>
              </p:ext>
            </p:extLst>
          </p:nvPr>
        </p:nvGraphicFramePr>
        <p:xfrm>
          <a:off x="1143000" y="762001"/>
          <a:ext cx="7093268" cy="53477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7338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SP500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T-Bills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T-Bonds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Baa Corp Bond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2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Calibri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Calibri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Arithmetic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761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1928-2024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6.90%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1975-2024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13.55%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2015-2024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621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Geometric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1" i="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1928-2024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9.94%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1974-2024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12.26%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6.05%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8.62%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477"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2014-2024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12.98%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39054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2001-2010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1.38%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2.16%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alibri"/>
                        </a:rPr>
                        <a:t>5.49%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780" name="Rectangle 6"/>
          <p:cNvSpPr>
            <a:spLocks noChangeArrowheads="1"/>
          </p:cNvSpPr>
          <p:nvPr/>
        </p:nvSpPr>
        <p:spPr bwMode="auto">
          <a:xfrm>
            <a:off x="3810000" y="6109781"/>
            <a:ext cx="11368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900" dirty="0">
                <a:latin typeface="Calibri"/>
              </a:rPr>
              <a:t>Source:  </a:t>
            </a:r>
            <a:r>
              <a:rPr lang="en-US" sz="900" dirty="0" err="1">
                <a:latin typeface="Calibri"/>
              </a:rPr>
              <a:t>Damodaran</a:t>
            </a:r>
            <a:endParaRPr lang="en-US" sz="900" dirty="0"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1CB265-F90A-D449-B9AD-E7D134BC1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sz="2000" dirty="0"/>
              <a:t>The Ride Can be Rough (1980 - 2025 3Q)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43854-B2E2-8741-B8ED-36D0837E3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7B3E355C-57B9-BC4B-95D8-406A1F834537}" type="slidenum">
              <a:rPr lang="en-US" altLang="en-US" smtClean="0"/>
              <a:pPr>
                <a:spcAft>
                  <a:spcPts val="600"/>
                </a:spcAft>
              </a:pPr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3259F-34E0-EE4E-BEB7-1E9B394D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Historical Returns</a:t>
            </a:r>
          </a:p>
        </p:txBody>
      </p:sp>
      <p:pic>
        <p:nvPicPr>
          <p:cNvPr id="9" name="Content Placeholder 8" descr="A graph with numbers and red dots&#10;&#10;AI-generated content may be incorrect.">
            <a:extLst>
              <a:ext uri="{FF2B5EF4-FFF2-40B4-BE49-F238E27FC236}">
                <a16:creationId xmlns:a16="http://schemas.microsoft.com/office/drawing/2014/main" id="{7E2FD8C5-6CD7-C7C4-D8EF-15A8FD1BD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649186"/>
            <a:ext cx="8458200" cy="5580265"/>
          </a:xfrm>
        </p:spPr>
      </p:pic>
    </p:spTree>
    <p:extLst>
      <p:ext uri="{BB962C8B-B14F-4D97-AF65-F5344CB8AC3E}">
        <p14:creationId xmlns:p14="http://schemas.microsoft.com/office/powerpoint/2010/main" val="2822611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of Risk Over Time: 1950-2024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62400" y="6105308"/>
            <a:ext cx="10102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latin typeface="Calibri"/>
              </a:rPr>
              <a:t>Source: JPM GTM</a:t>
            </a:r>
            <a:endParaRPr lang="en-US" sz="900" dirty="0"/>
          </a:p>
        </p:txBody>
      </p:sp>
      <p:pic>
        <p:nvPicPr>
          <p:cNvPr id="6" name="Picture 5" descr="A graph of a stock market&#10;&#10;AI-generated content may be incorrect.">
            <a:extLst>
              <a:ext uri="{FF2B5EF4-FFF2-40B4-BE49-F238E27FC236}">
                <a16:creationId xmlns:a16="http://schemas.microsoft.com/office/drawing/2014/main" id="{057E5E66-7B74-B094-4AB4-6211F7FA6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59"/>
          <a:stretch>
            <a:fillRect/>
          </a:stretch>
        </p:blipFill>
        <p:spPr>
          <a:xfrm>
            <a:off x="411262" y="647992"/>
            <a:ext cx="8430986" cy="521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23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95970E-1B7F-4FFC-80D4-E83E08A8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Stock Market Total Returns: Rolling Periods (1872 – 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4EF1D-2778-7871-FB3B-D75D34AB72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70CAC-A0D5-8CFC-F98D-F01548DF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7DB48A2E-A10F-3226-C5ED-9DDBA56D0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36254"/>
            <a:ext cx="8458200" cy="555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15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447186-6C6C-F04C-B24F-769A0782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Asset-Class Winners &amp; Losers: 2010 – 2025 (3rdQ)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6449B-ABCF-2D4B-96CE-08D214A12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C7D22-8F22-5D4E-9EF8-DC622EA6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8EED8-1D66-3C41-A7DC-C9B651F4F5B0}"/>
              </a:ext>
            </a:extLst>
          </p:cNvPr>
          <p:cNvSpPr/>
          <p:nvPr/>
        </p:nvSpPr>
        <p:spPr>
          <a:xfrm>
            <a:off x="4000369" y="6197601"/>
            <a:ext cx="13067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latin typeface="Calibri"/>
              </a:rPr>
              <a:t>Source: JP Morgan GTM</a:t>
            </a:r>
            <a:endParaRPr lang="en-US" sz="900" dirty="0"/>
          </a:p>
        </p:txBody>
      </p:sp>
      <p:pic>
        <p:nvPicPr>
          <p:cNvPr id="2" name="Picture 1" descr="A chart with numbers and lines&#10;&#10;AI-generated content may be incorrect.">
            <a:extLst>
              <a:ext uri="{FF2B5EF4-FFF2-40B4-BE49-F238E27FC236}">
                <a16:creationId xmlns:a16="http://schemas.microsoft.com/office/drawing/2014/main" id="{5992E62B-3B18-7B4A-352C-F01885179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33400"/>
            <a:ext cx="8458200" cy="541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7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of stock market performance&#10;&#10;Description automatically generated with medium confidence">
            <a:extLst>
              <a:ext uri="{FF2B5EF4-FFF2-40B4-BE49-F238E27FC236}">
                <a16:creationId xmlns:a16="http://schemas.microsoft.com/office/drawing/2014/main" id="{07CA8194-0EAA-6AC3-EFF6-1F40905A0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533400"/>
            <a:ext cx="8458200" cy="56388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1864C00-F9E8-D92A-DA6F-34BF0A70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Stocks beat bonds, but not always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7B545-DC38-0DAC-F10A-8E8C371E90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27030-BB9D-4254-D65C-DC2F332A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E9C2E-AC08-9CCE-6F38-DA6014FE0456}"/>
              </a:ext>
            </a:extLst>
          </p:cNvPr>
          <p:cNvSpPr txBox="1"/>
          <p:nvPr/>
        </p:nvSpPr>
        <p:spPr>
          <a:xfrm>
            <a:off x="5802290" y="6185313"/>
            <a:ext cx="3252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effectLst/>
                <a:latin typeface="OpenSans"/>
              </a:rPr>
              <a:t>McQuarrie</a:t>
            </a:r>
            <a:r>
              <a:rPr lang="en-US" sz="800" b="1" dirty="0">
                <a:effectLst/>
                <a:latin typeface="OpenSans"/>
              </a:rPr>
              <a:t> </a:t>
            </a:r>
            <a:r>
              <a:rPr lang="en-US" sz="800" i="1" dirty="0">
                <a:effectLst/>
                <a:latin typeface="OpenSans"/>
              </a:rPr>
              <a:t>Stocks for the Long Run? Sometimes Yes, Sometimes No </a:t>
            </a:r>
            <a:r>
              <a:rPr lang="en-US" sz="800" dirty="0">
                <a:effectLst/>
                <a:latin typeface="OpenSans"/>
              </a:rPr>
              <a:t>(2023)</a:t>
            </a:r>
            <a:r>
              <a:rPr lang="en-US" sz="800" i="1" dirty="0">
                <a:effectLst/>
                <a:latin typeface="OpenSans"/>
              </a:rPr>
              <a:t> 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2871447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lose-up of a graph&#10;&#10;Description automatically generated">
            <a:extLst>
              <a:ext uri="{FF2B5EF4-FFF2-40B4-BE49-F238E27FC236}">
                <a16:creationId xmlns:a16="http://schemas.microsoft.com/office/drawing/2014/main" id="{AF461178-C41A-B8BB-5B16-CDF4C3357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1066800"/>
            <a:ext cx="8458327" cy="3962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B377946-8A43-08CE-6BB5-B676FDC05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Stock Markets: 1899 vs.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A3684-D5E9-75AB-2BBE-F705DB6581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51425-D177-4B82-6390-24E0FDBA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659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DF9E71-955F-FC4F-8228-4DB2E28F7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Weighting in the US: 1900 and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069CD-55AF-C04D-B91F-A3EC01090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BF89B-1A35-A348-A92F-574F5148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E6365B-D042-4146-AE58-A5C5795AF648}"/>
              </a:ext>
            </a:extLst>
          </p:cNvPr>
          <p:cNvSpPr txBox="1"/>
          <p:nvPr/>
        </p:nvSpPr>
        <p:spPr>
          <a:xfrm>
            <a:off x="3276600" y="6117595"/>
            <a:ext cx="32640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Source: Credit Swiss Global Invest. Returns YB 2021</a:t>
            </a:r>
          </a:p>
        </p:txBody>
      </p:sp>
      <p:pic>
        <p:nvPicPr>
          <p:cNvPr id="7" name="Picture 6" descr="A diagram of different types of industry&#10;&#10;AI-generated content may be incorrect.">
            <a:extLst>
              <a:ext uri="{FF2B5EF4-FFF2-40B4-BE49-F238E27FC236}">
                <a16:creationId xmlns:a16="http://schemas.microsoft.com/office/drawing/2014/main" id="{EBFEC240-BE34-FB5F-E790-386E4EE5B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603634"/>
            <a:ext cx="6400799" cy="57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58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cs typeface="Calibri"/>
              </a:rPr>
              <a:t>Stocks had higher returns than bonds, which beat cash</a:t>
            </a:r>
          </a:p>
          <a:p>
            <a:r>
              <a:rPr lang="en-US" sz="2000" dirty="0">
                <a:cs typeface="Calibri"/>
              </a:rPr>
              <a:t>Cash was the safest investment, followed by bonds and stocks.</a:t>
            </a:r>
          </a:p>
          <a:p>
            <a:r>
              <a:rPr lang="en-US" sz="2000" dirty="0">
                <a:cs typeface="Calibri"/>
              </a:rPr>
              <a:t>Portfolios generally have less than risk than individual stocks</a:t>
            </a:r>
          </a:p>
          <a:p>
            <a:r>
              <a:rPr lang="en-US" sz="2000" dirty="0">
                <a:cs typeface="Calibri"/>
              </a:rPr>
              <a:t>Average return is always greater than geometric return</a:t>
            </a:r>
          </a:p>
          <a:p>
            <a:r>
              <a:rPr lang="en-US" sz="2000" dirty="0">
                <a:cs typeface="Calibri"/>
              </a:rPr>
              <a:t>Correlation between stock market and cash/bond is low (10%), but around 50% -70% for individual stocks and the market.</a:t>
            </a:r>
          </a:p>
          <a:p>
            <a:r>
              <a:rPr lang="en-US" sz="2000" dirty="0">
                <a:cs typeface="Calibri"/>
              </a:rPr>
              <a:t>Historical risk measures (correlation, </a:t>
            </a:r>
            <a:r>
              <a:rPr lang="en-US" sz="2000" dirty="0" err="1">
                <a:cs typeface="Calibri"/>
              </a:rPr>
              <a:t>Sdev</a:t>
            </a:r>
            <a:r>
              <a:rPr lang="en-US" sz="2000" dirty="0">
                <a:cs typeface="Calibri"/>
              </a:rPr>
              <a:t>, Beta) are more stable than historical returns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Step Back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Historical Returns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123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7338" indent="-2873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r>
              <a:rPr lang="en-US" dirty="0">
                <a:ea typeface="ＭＳ Ｐゴシック" charset="0"/>
                <a:cs typeface="ＭＳ Ｐゴシック" charset="0"/>
              </a:rPr>
              <a:t>Return of asset </a:t>
            </a:r>
            <a:r>
              <a:rPr lang="ja-JP" altLang="en-US" dirty="0">
                <a:ea typeface="ＭＳ Ｐゴシック" charset="0"/>
                <a:cs typeface="ＭＳ Ｐゴシック" charset="0"/>
              </a:rPr>
              <a:t>“</a:t>
            </a:r>
            <a:r>
              <a:rPr lang="en-US" dirty="0">
                <a:ea typeface="ＭＳ Ｐゴシック" charset="0"/>
                <a:cs typeface="ＭＳ Ｐゴシック" charset="0"/>
              </a:rPr>
              <a:t>j</a:t>
            </a:r>
            <a:r>
              <a:rPr lang="ja-JP" altLang="en-US" dirty="0">
                <a:ea typeface="ＭＳ Ｐゴシック" charset="0"/>
                <a:cs typeface="ＭＳ Ｐゴシック" charset="0"/>
              </a:rPr>
              <a:t>”</a:t>
            </a:r>
            <a:r>
              <a:rPr lang="en-US" dirty="0">
                <a:ea typeface="ＭＳ Ｐゴシック" charset="0"/>
                <a:cs typeface="ＭＳ Ｐゴシック" charset="0"/>
              </a:rPr>
              <a:t> at time t=</a:t>
            </a:r>
          </a:p>
          <a:p>
            <a:pPr marL="287338" indent="-2873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r>
              <a:rPr lang="en-US" dirty="0">
                <a:ea typeface="ＭＳ Ｐゴシック" charset="0"/>
                <a:cs typeface="ＭＳ Ｐゴシック" charset="0"/>
              </a:rPr>
              <a:t>Sample Average Return</a:t>
            </a:r>
          </a:p>
          <a:p>
            <a:pPr marL="287338" indent="-287338" eaLnBrk="1" hangingPunct="1">
              <a:buFontTx/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	(Arithmetic Mean): </a:t>
            </a:r>
          </a:p>
          <a:p>
            <a:pPr marL="287338" indent="-287338" eaLnBrk="1" hangingPunct="1">
              <a:buFontTx/>
              <a:buNone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r>
              <a:rPr lang="en-US" dirty="0">
                <a:ea typeface="ＭＳ Ｐゴシック" charset="0"/>
                <a:cs typeface="ＭＳ Ｐゴシック" charset="0"/>
              </a:rPr>
              <a:t>Sample Average Return</a:t>
            </a:r>
          </a:p>
          <a:p>
            <a:pPr marL="287338" indent="-287338" eaLnBrk="1" hangingPunct="1">
              <a:buFontTx/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	(Geometric Mean): </a:t>
            </a:r>
          </a:p>
        </p:txBody>
      </p:sp>
      <p:sp>
        <p:nvSpPr>
          <p:cNvPr id="460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Returns:  Single Asset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608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195520"/>
              </p:ext>
            </p:extLst>
          </p:nvPr>
        </p:nvGraphicFramePr>
        <p:xfrm>
          <a:off x="3962400" y="1143000"/>
          <a:ext cx="3225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70800" imgH="393120" progId="Equation.3">
                  <p:embed/>
                </p:oleObj>
              </mc:Choice>
              <mc:Fallback>
                <p:oleObj name="Equation" r:id="rId3" imgW="1270800" imgH="393120" progId="Equation.3">
                  <p:embed/>
                  <p:pic>
                    <p:nvPicPr>
                      <p:cNvPr id="46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143000"/>
                        <a:ext cx="32258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166248"/>
              </p:ext>
            </p:extLst>
          </p:nvPr>
        </p:nvGraphicFramePr>
        <p:xfrm>
          <a:off x="4114800" y="2329316"/>
          <a:ext cx="1905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1200" imgH="420480" progId="Equation.3">
                  <p:embed/>
                </p:oleObj>
              </mc:Choice>
              <mc:Fallback>
                <p:oleObj name="Equation" r:id="rId5" imgW="1051200" imgH="420480" progId="Equation.3">
                  <p:embed/>
                  <p:pic>
                    <p:nvPicPr>
                      <p:cNvPr id="460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329316"/>
                        <a:ext cx="1905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212805"/>
              </p:ext>
            </p:extLst>
          </p:nvPr>
        </p:nvGraphicFramePr>
        <p:xfrm>
          <a:off x="3314700" y="3363232"/>
          <a:ext cx="5410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97120" imgH="237600" progId="Equation.3">
                  <p:embed/>
                </p:oleObj>
              </mc:Choice>
              <mc:Fallback>
                <p:oleObj name="Equation" r:id="rId7" imgW="2697120" imgH="237600" progId="Equation.3">
                  <p:embed/>
                  <p:pic>
                    <p:nvPicPr>
                      <p:cNvPr id="460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3363232"/>
                        <a:ext cx="5410200" cy="304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8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38138" indent="-338138"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marL="338138" indent="-338138"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Variance</a:t>
            </a:r>
            <a:r>
              <a:rPr lang="en-US" dirty="0">
                <a:ea typeface="ＭＳ Ｐゴシック" charset="0"/>
                <a:cs typeface="ＭＳ Ｐゴシック" charset="0"/>
              </a:rPr>
              <a:t>:</a:t>
            </a:r>
          </a:p>
          <a:p>
            <a:pPr marL="338138" indent="-3381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338138" indent="-338138"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marL="338138" indent="-338138"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marL="338138" indent="-338138"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Standard </a:t>
            </a:r>
            <a:r>
              <a:rPr lang="en-US" sz="2000" b="1" dirty="0">
                <a:ea typeface="ＭＳ Ｐゴシック" charset="0"/>
                <a:cs typeface="ＭＳ Ｐゴシック" charset="0"/>
              </a:rPr>
              <a:t>Deviation</a:t>
            </a:r>
            <a:r>
              <a:rPr lang="en-US" dirty="0">
                <a:ea typeface="ＭＳ Ｐゴシック" charset="0"/>
                <a:cs typeface="ＭＳ Ｐゴシック" charset="0"/>
              </a:rPr>
              <a:t>: </a:t>
            </a:r>
          </a:p>
          <a:p>
            <a:pPr marL="338138" indent="-338138"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marL="338138" indent="-338138" algn="ctr" eaLnBrk="1" hangingPunct="1">
              <a:buFontTx/>
              <a:buNone/>
            </a:pPr>
            <a:r>
              <a:rPr lang="en-US" sz="20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 marL="338138" indent="-338138" eaLnBrk="1" hangingPunct="1"/>
            <a:r>
              <a:rPr lang="en-US" sz="2000" dirty="0">
                <a:ea typeface="ＭＳ Ｐゴシック" charset="0"/>
                <a:cs typeface="ＭＳ Ｐゴシック" charset="0"/>
              </a:rPr>
              <a:t>A stock has the following returns (in %):  8, -10, 24, 5, and -2.  Find the mean and SD of the returns.</a:t>
            </a:r>
          </a:p>
          <a:p>
            <a:pPr marL="635000" lvl="1" indent="-342900" eaLnBrk="1" hangingPunct="1"/>
            <a:r>
              <a:rPr lang="en-US" sz="1800" i="1" dirty="0">
                <a:ea typeface="ＭＳ Ｐゴシック" charset="0"/>
              </a:rPr>
              <a:t>Mean</a:t>
            </a:r>
            <a:r>
              <a:rPr lang="en-US" sz="1800" dirty="0">
                <a:ea typeface="ＭＳ Ｐゴシック" charset="0"/>
              </a:rPr>
              <a:t>:  (8-10+24+5-2) / 5 = 5%</a:t>
            </a:r>
          </a:p>
          <a:p>
            <a:pPr marL="635000" lvl="1" indent="-342900" eaLnBrk="1" hangingPunct="1"/>
            <a:r>
              <a:rPr lang="en-US" sz="1800" i="1" dirty="0" err="1">
                <a:ea typeface="ＭＳ Ｐゴシック" charset="0"/>
              </a:rPr>
              <a:t>Var</a:t>
            </a:r>
            <a:r>
              <a:rPr lang="en-US" sz="1800" dirty="0">
                <a:ea typeface="ＭＳ Ｐゴシック" charset="0"/>
              </a:rPr>
              <a:t>: 1/5*[(8-5)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+(-10-5)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+(24-5)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+(5-5)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+(-2-5)</a:t>
            </a:r>
            <a:r>
              <a:rPr lang="en-US" sz="1800" baseline="30000" dirty="0">
                <a:ea typeface="ＭＳ Ｐゴシック" charset="0"/>
              </a:rPr>
              <a:t>2</a:t>
            </a:r>
            <a:r>
              <a:rPr lang="en-US" sz="1800" dirty="0">
                <a:ea typeface="ＭＳ Ｐゴシック" charset="0"/>
              </a:rPr>
              <a:t>] = 128.8%</a:t>
            </a:r>
            <a:r>
              <a:rPr lang="en-US" sz="1800" baseline="30000" dirty="0">
                <a:ea typeface="ＭＳ Ｐゴシック" charset="0"/>
              </a:rPr>
              <a:t>2</a:t>
            </a:r>
          </a:p>
          <a:p>
            <a:pPr marL="635000" lvl="1" indent="-342900" eaLnBrk="1" hangingPunct="1"/>
            <a:r>
              <a:rPr lang="en-US" sz="1800" i="1" dirty="0">
                <a:ea typeface="ＭＳ Ｐゴシック" charset="0"/>
              </a:rPr>
              <a:t>SD</a:t>
            </a:r>
            <a:r>
              <a:rPr lang="en-US" sz="1800" dirty="0">
                <a:ea typeface="ＭＳ Ｐゴシック" charset="0"/>
              </a:rPr>
              <a:t>: √</a:t>
            </a:r>
            <a:r>
              <a:rPr lang="en-US" sz="1800" dirty="0" err="1">
                <a:ea typeface="ＭＳ Ｐゴシック" charset="0"/>
              </a:rPr>
              <a:t>Var</a:t>
            </a:r>
            <a:r>
              <a:rPr lang="en-US" sz="1800" dirty="0">
                <a:ea typeface="ＭＳ Ｐゴシック" charset="0"/>
              </a:rPr>
              <a:t> = 11.35% </a:t>
            </a:r>
          </a:p>
          <a:p>
            <a:pPr marL="635000" lvl="1" indent="-342900" eaLnBrk="1" hangingPunct="1"/>
            <a:endParaRPr lang="en-US" sz="1800" dirty="0">
              <a:ea typeface="ＭＳ Ｐゴシック" charset="0"/>
            </a:endParaRPr>
          </a:p>
        </p:txBody>
      </p:sp>
      <p:sp>
        <p:nvSpPr>
          <p:cNvPr id="481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Measuring Risk (Volatility):  Single Asset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098"/>
              </p:ext>
            </p:extLst>
          </p:nvPr>
        </p:nvGraphicFramePr>
        <p:xfrm>
          <a:off x="1908025" y="821917"/>
          <a:ext cx="32122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440" imgH="420480" progId="Equation.3">
                  <p:embed/>
                </p:oleObj>
              </mc:Choice>
              <mc:Fallback>
                <p:oleObj name="Equation" r:id="rId3" imgW="1828440" imgH="420480" progId="Equation.3">
                  <p:embed/>
                  <p:pic>
                    <p:nvPicPr>
                      <p:cNvPr id="48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025" y="821917"/>
                        <a:ext cx="32122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355093"/>
              </p:ext>
            </p:extLst>
          </p:nvPr>
        </p:nvGraphicFramePr>
        <p:xfrm>
          <a:off x="2971800" y="2133601"/>
          <a:ext cx="2362200" cy="499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6560" imgH="237600" progId="Equation.3">
                  <p:embed/>
                </p:oleObj>
              </mc:Choice>
              <mc:Fallback>
                <p:oleObj name="Equation" r:id="rId5" imgW="1636560" imgH="237600" progId="Equation.3">
                  <p:embed/>
                  <p:pic>
                    <p:nvPicPr>
                      <p:cNvPr id="481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33601"/>
                        <a:ext cx="2362200" cy="499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Oval 6"/>
          <p:cNvSpPr>
            <a:spLocks noChangeArrowheads="1"/>
          </p:cNvSpPr>
          <p:nvPr/>
        </p:nvSpPr>
        <p:spPr bwMode="auto">
          <a:xfrm>
            <a:off x="3514144" y="1139368"/>
            <a:ext cx="457200" cy="313122"/>
          </a:xfrm>
          <a:prstGeom prst="ellipse">
            <a:avLst/>
          </a:prstGeom>
          <a:solidFill>
            <a:schemeClr val="accent2">
              <a:alpha val="16078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7" name="Line 7"/>
          <p:cNvSpPr>
            <a:spLocks noChangeShapeType="1"/>
          </p:cNvSpPr>
          <p:nvPr/>
        </p:nvSpPr>
        <p:spPr bwMode="auto">
          <a:xfrm flipV="1">
            <a:off x="2895599" y="1482347"/>
            <a:ext cx="618545" cy="3628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6" grpId="0" animBg="1"/>
      <p:bldP spid="481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As investors, for wealth we don’t consume today, we aim generally to maximize expected future consumption or maximize expected future utility of wealth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We generally prefer more to less, and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Our utility increases as wealth increases, but at a decreasing rate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Different representations of utility curves: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Logarithm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Square Root</a:t>
            </a:r>
            <a:endParaRPr lang="en-US" dirty="0">
              <a:ea typeface="ＭＳ Ｐゴシック" charset="0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Risk and Risk Aversion</a:t>
            </a:r>
          </a:p>
        </p:txBody>
      </p:sp>
      <p:sp>
        <p:nvSpPr>
          <p:cNvPr id="5017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Risk Averse</a:t>
            </a:r>
            <a:r>
              <a:rPr lang="en-US" dirty="0">
                <a:ea typeface="ＭＳ Ｐゴシック" charset="0"/>
                <a:cs typeface="ＭＳ Ｐゴシック" charset="0"/>
              </a:rPr>
              <a:t>: 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rejects fair bets;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pays premium (more than expected value) for insurance</a:t>
            </a:r>
          </a:p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Risk Neutral</a:t>
            </a:r>
            <a:r>
              <a:rPr lang="en-US" dirty="0">
                <a:ea typeface="ＭＳ Ｐゴシック" charset="0"/>
                <a:cs typeface="ＭＳ Ｐゴシック" charset="0"/>
              </a:rPr>
              <a:t>: 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is indifferent about fair bets;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does not pay a premium for insurance</a:t>
            </a:r>
          </a:p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b="1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Risk Lover</a:t>
            </a:r>
            <a:r>
              <a:rPr lang="en-US" dirty="0">
                <a:ea typeface="ＭＳ Ｐゴシック" charset="0"/>
                <a:cs typeface="ＭＳ Ｐゴシック" charset="0"/>
              </a:rPr>
              <a:t>: 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accepts all fair (and some unfair) bets; 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never purchases insurance</a:t>
            </a: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Risk Lover, Risk Averse, and Risk Neutral</a:t>
            </a:r>
          </a:p>
        </p:txBody>
      </p:sp>
      <p:sp>
        <p:nvSpPr>
          <p:cNvPr id="5222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52230" name="Oval 4"/>
          <p:cNvSpPr>
            <a:spLocks noChangeArrowheads="1"/>
          </p:cNvSpPr>
          <p:nvPr/>
        </p:nvSpPr>
        <p:spPr bwMode="auto">
          <a:xfrm>
            <a:off x="152400" y="685800"/>
            <a:ext cx="2209800" cy="533400"/>
          </a:xfrm>
          <a:prstGeom prst="ellipse">
            <a:avLst/>
          </a:prstGeom>
          <a:solidFill>
            <a:schemeClr val="hlink">
              <a:alpha val="16078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What happens to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expected returns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when assets are combined to form portfolios?</a:t>
            </a:r>
          </a:p>
          <a:p>
            <a:pPr marL="628650" lvl="1" indent="-457200"/>
            <a:r>
              <a:rPr lang="en-US" sz="1850" dirty="0">
                <a:ea typeface="ＭＳ Ｐゴシック" charset="0"/>
              </a:rPr>
              <a:t>E(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AMZN</a:t>
            </a:r>
            <a:r>
              <a:rPr lang="en-US" sz="1850" dirty="0">
                <a:ea typeface="ＭＳ Ｐゴシック" charset="0"/>
              </a:rPr>
              <a:t>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BABA</a:t>
            </a:r>
            <a:r>
              <a:rPr lang="en-US" sz="1850" dirty="0">
                <a:ea typeface="ＭＳ Ｐゴシック" charset="0"/>
              </a:rPr>
              <a:t>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TBill</a:t>
            </a:r>
            <a:r>
              <a:rPr lang="en-US" sz="1850" dirty="0">
                <a:ea typeface="ＭＳ Ｐゴシック" charset="0"/>
              </a:rPr>
              <a:t>) ?=?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E</a:t>
            </a:r>
            <a:r>
              <a:rPr lang="en-US" sz="1850" dirty="0">
                <a:ea typeface="ＭＳ Ｐゴシック" charset="0"/>
              </a:rPr>
              <a:t>(</a:t>
            </a:r>
            <a:r>
              <a:rPr lang="en-US" sz="1850" dirty="0" err="1">
                <a:ea typeface="ＭＳ Ｐゴシック" charset="0"/>
              </a:rPr>
              <a:t>AMZN</a:t>
            </a:r>
            <a:r>
              <a:rPr lang="en-US" sz="1850" dirty="0">
                <a:ea typeface="ＭＳ Ｐゴシック" charset="0"/>
              </a:rPr>
              <a:t>) +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E</a:t>
            </a:r>
            <a:r>
              <a:rPr lang="en-US" sz="1850" dirty="0">
                <a:ea typeface="ＭＳ Ｐゴシック" charset="0"/>
              </a:rPr>
              <a:t>(BABA)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E</a:t>
            </a:r>
            <a:r>
              <a:rPr lang="en-US" sz="1850" dirty="0">
                <a:ea typeface="ＭＳ Ｐゴシック" charset="0"/>
              </a:rPr>
              <a:t>(</a:t>
            </a:r>
            <a:r>
              <a:rPr lang="en-US" sz="1850" dirty="0" err="1">
                <a:ea typeface="ＭＳ Ｐゴシック" charset="0"/>
              </a:rPr>
              <a:t>TBill</a:t>
            </a:r>
            <a:r>
              <a:rPr lang="en-US" sz="1850" dirty="0">
                <a:ea typeface="ＭＳ Ｐゴシック" charset="0"/>
              </a:rPr>
              <a:t>)</a:t>
            </a:r>
          </a:p>
          <a:p>
            <a:pPr marL="177800" indent="-177800" eaLnBrk="1" hangingPunct="1"/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520700" indent="-5207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What happens to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risk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(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standard deviation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)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when assets are combined to form portfolios?</a:t>
            </a:r>
          </a:p>
          <a:p>
            <a:pPr marL="692150" lvl="1" indent="-520700"/>
            <a:r>
              <a:rPr lang="en-US" sz="1850" dirty="0">
                <a:ea typeface="ＭＳ Ｐゴシック" charset="0"/>
              </a:rPr>
              <a:t>SD(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AMZN</a:t>
            </a:r>
            <a:r>
              <a:rPr lang="en-US" sz="1850" dirty="0">
                <a:ea typeface="ＭＳ Ｐゴシック" charset="0"/>
              </a:rPr>
              <a:t>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BABA</a:t>
            </a:r>
            <a:r>
              <a:rPr lang="en-US" sz="1850" dirty="0">
                <a:ea typeface="ＭＳ Ｐゴシック" charset="0"/>
              </a:rPr>
              <a:t>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TBill</a:t>
            </a:r>
            <a:r>
              <a:rPr lang="en-US" sz="1850" dirty="0">
                <a:ea typeface="ＭＳ Ｐゴシック" charset="0"/>
              </a:rPr>
              <a:t>) ?=?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SD</a:t>
            </a:r>
            <a:r>
              <a:rPr lang="en-US" sz="1850" dirty="0">
                <a:ea typeface="ＭＳ Ｐゴシック" charset="0"/>
              </a:rPr>
              <a:t>(</a:t>
            </a:r>
            <a:r>
              <a:rPr lang="en-US" sz="1850" dirty="0" err="1">
                <a:ea typeface="ＭＳ Ｐゴシック" charset="0"/>
              </a:rPr>
              <a:t>AMZN</a:t>
            </a:r>
            <a:r>
              <a:rPr lang="en-US" sz="1850" dirty="0">
                <a:ea typeface="ＭＳ Ｐゴシック" charset="0"/>
              </a:rPr>
              <a:t>)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SD</a:t>
            </a:r>
            <a:r>
              <a:rPr lang="en-US" sz="1850" dirty="0">
                <a:ea typeface="ＭＳ Ｐゴシック" charset="0"/>
              </a:rPr>
              <a:t>(BABA) + </a:t>
            </a:r>
            <a:r>
              <a:rPr lang="en-US" sz="1850" i="1" dirty="0" err="1">
                <a:ea typeface="ＭＳ Ｐゴシック" charset="0"/>
              </a:rPr>
              <a:t>w</a:t>
            </a:r>
            <a:r>
              <a:rPr lang="en-US" sz="1850" dirty="0" err="1">
                <a:ea typeface="ＭＳ Ｐゴシック" charset="0"/>
              </a:rPr>
              <a:t>SD</a:t>
            </a:r>
            <a:r>
              <a:rPr lang="en-US" sz="1850" dirty="0">
                <a:ea typeface="ＭＳ Ｐゴシック" charset="0"/>
              </a:rPr>
              <a:t>(</a:t>
            </a:r>
            <a:r>
              <a:rPr lang="en-US" sz="1850" dirty="0" err="1">
                <a:ea typeface="ＭＳ Ｐゴシック" charset="0"/>
              </a:rPr>
              <a:t>TBill</a:t>
            </a:r>
            <a:r>
              <a:rPr lang="en-US" sz="1850" dirty="0">
                <a:ea typeface="ＭＳ Ｐゴシック" charset="0"/>
              </a:rPr>
              <a:t>)</a:t>
            </a:r>
          </a:p>
          <a:p>
            <a:pPr marL="177800" indent="-177800" eaLnBrk="1" hangingPunct="1"/>
            <a:endParaRPr lang="en-US" sz="2400" b="1" dirty="0">
              <a:ea typeface="ＭＳ Ｐゴシック" charset="0"/>
              <a:cs typeface="ＭＳ Ｐゴシック" charset="0"/>
            </a:endParaRPr>
          </a:p>
          <a:p>
            <a:pPr marL="457200" indent="-457200" eaLnBrk="1" hangingPunct="1"/>
            <a:r>
              <a:rPr lang="en-US" sz="2400" b="1" dirty="0">
                <a:ea typeface="ＭＳ Ｐゴシック" charset="0"/>
                <a:cs typeface="ＭＳ Ｐゴシック" charset="0"/>
              </a:rPr>
              <a:t>Efficient Portfolio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 portfolio whose return is maximized for a given level of risk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or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whose risk is minimized for a given level of return</a:t>
            </a:r>
          </a:p>
        </p:txBody>
      </p:sp>
      <p:sp>
        <p:nvSpPr>
          <p:cNvPr id="5427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a typeface="ＭＳ Ｐゴシック" charset="0"/>
                <a:cs typeface="ＭＳ Ｐゴシック" charset="0"/>
              </a:rPr>
              <a:t>Diversification can lower an investor’s overall risk to the extent that the returns of the assets in a portfolio don’t move together.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Measures of </a:t>
            </a:r>
            <a:r>
              <a:rPr lang="en-US" sz="2800" dirty="0" err="1">
                <a:ea typeface="ＭＳ Ｐゴシック" charset="0"/>
                <a:cs typeface="ＭＳ Ｐゴシック" charset="0"/>
              </a:rPr>
              <a:t>comovement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: 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correlation, covariance, and beta (</a:t>
            </a:r>
            <a:r>
              <a:rPr lang="en-US" sz="2800" i="1" dirty="0">
                <a:ea typeface="ＭＳ Ｐゴシック" charset="0"/>
                <a:cs typeface="ＭＳ Ｐゴシック" charset="0"/>
                <a:sym typeface="Symbol" charset="0"/>
              </a:rPr>
              <a:t>)</a:t>
            </a:r>
            <a:endParaRPr lang="en-US" sz="2800" i="1" dirty="0"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The market beta (</a:t>
            </a:r>
            <a:r>
              <a:rPr lang="en-US" sz="2800" dirty="0">
                <a:ea typeface="ＭＳ Ｐゴシック" charset="0"/>
                <a:cs typeface="ＭＳ Ｐゴシック" charset="0"/>
                <a:sym typeface="Symbol" charset="0"/>
              </a:rPr>
              <a:t>) of a stock measures a stock’s </a:t>
            </a:r>
            <a:r>
              <a:rPr lang="en-US" sz="2800" dirty="0" err="1">
                <a:ea typeface="ＭＳ Ｐゴシック" charset="0"/>
                <a:cs typeface="ＭＳ Ｐゴシック" charset="0"/>
                <a:sym typeface="Symbol" charset="0"/>
              </a:rPr>
              <a:t>comovement</a:t>
            </a:r>
            <a:r>
              <a:rPr lang="en-US" sz="2800" dirty="0">
                <a:ea typeface="ＭＳ Ｐゴシック" charset="0"/>
                <a:cs typeface="ＭＳ Ｐゴシック" charset="0"/>
                <a:sym typeface="Symbol" charset="0"/>
              </a:rPr>
              <a:t> with the market portfolio</a:t>
            </a:r>
          </a:p>
          <a:p>
            <a:pPr lvl="1"/>
            <a:r>
              <a:rPr lang="en-US" sz="2400" dirty="0">
                <a:ea typeface="ＭＳ Ｐゴシック" charset="0"/>
                <a:sym typeface="Symbol" charset="0"/>
              </a:rPr>
              <a:t>A stock with a negative beta functions like insurance </a:t>
            </a:r>
          </a:p>
          <a:p>
            <a:endParaRPr lang="en-US" sz="2400" dirty="0">
              <a:ea typeface="ＭＳ Ｐゴシック" charset="0"/>
              <a:cs typeface="ＭＳ Ｐゴシック" charset="0"/>
              <a:sym typeface="Symbol" charset="0"/>
            </a:endParaRPr>
          </a:p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563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Diversification</a:t>
            </a:r>
          </a:p>
        </p:txBody>
      </p:sp>
      <p:sp>
        <p:nvSpPr>
          <p:cNvPr id="5632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700">
                <a:latin typeface="Calibri"/>
              </a:rPr>
              <a:t>Historical Returns</a:t>
            </a:r>
          </a:p>
        </p:txBody>
      </p:sp>
      <p:graphicFrame>
        <p:nvGraphicFramePr>
          <p:cNvPr id="563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677082"/>
              </p:ext>
            </p:extLst>
          </p:nvPr>
        </p:nvGraphicFramePr>
        <p:xfrm>
          <a:off x="1143000" y="4419600"/>
          <a:ext cx="62023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5800" imgH="219240" progId="Equation.3">
                  <p:embed/>
                </p:oleObj>
              </mc:Choice>
              <mc:Fallback>
                <p:oleObj name="Equation" r:id="rId2" imgW="1855800" imgH="219240" progId="Equation.3">
                  <p:embed/>
                  <p:pic>
                    <p:nvPicPr>
                      <p:cNvPr id="563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62023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ea typeface="ＭＳ Ｐゴシック" charset="0"/>
                <a:cs typeface="ＭＳ Ｐゴシック" charset="0"/>
              </a:rPr>
              <a:t>Beta</a:t>
            </a:r>
            <a:r>
              <a:rPr lang="en-US" dirty="0">
                <a:ea typeface="ＭＳ Ｐゴシック" charset="0"/>
                <a:cs typeface="ＭＳ Ｐゴシック" charset="0"/>
              </a:rPr>
              <a:t> (</a:t>
            </a:r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) </a:t>
            </a:r>
            <a:r>
              <a:rPr lang="en-US" dirty="0">
                <a:ea typeface="ＭＳ Ｐゴシック" charset="0"/>
                <a:cs typeface="ＭＳ Ｐゴシック" charset="0"/>
              </a:rPr>
              <a:t>of COST-SP500 (Sept 2025, past 2 years)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4DCA0B33-C30F-B8FC-A119-842E154BA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3" r="1"/>
          <a:stretch>
            <a:fillRect/>
          </a:stretch>
        </p:blipFill>
        <p:spPr>
          <a:xfrm>
            <a:off x="762000" y="829621"/>
            <a:ext cx="7599467" cy="523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124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50" dirty="0"/>
              <a:t>Investment Companies</a:t>
            </a:r>
          </a:p>
          <a:p>
            <a:pPr lvl="1"/>
            <a:r>
              <a:rPr lang="en-US" sz="2000" dirty="0"/>
              <a:t>Open-end Mutual Funds</a:t>
            </a:r>
          </a:p>
          <a:p>
            <a:pPr lvl="1"/>
            <a:r>
              <a:rPr lang="en-US" sz="2000" dirty="0"/>
              <a:t>Exchange Traded Funds (ETFs)</a:t>
            </a:r>
          </a:p>
          <a:p>
            <a:pPr lvl="1"/>
            <a:r>
              <a:rPr lang="en-US" sz="2000" dirty="0"/>
              <a:t>Closed-end Funds</a:t>
            </a:r>
          </a:p>
          <a:p>
            <a:endParaRPr lang="en-US" sz="2400" dirty="0"/>
          </a:p>
          <a:p>
            <a:r>
              <a:rPr lang="en-US" sz="2400" dirty="0"/>
              <a:t>Regulation</a:t>
            </a:r>
          </a:p>
          <a:p>
            <a:pPr lvl="1"/>
            <a:r>
              <a:rPr lang="en-US" sz="2000" dirty="0"/>
              <a:t>Investment Company Act of 1940</a:t>
            </a:r>
          </a:p>
          <a:p>
            <a:pPr lvl="1"/>
            <a:r>
              <a:rPr lang="en-US" sz="2000" dirty="0"/>
              <a:t>Investment Advisers Act of 1940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Public Investment Companies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Historical Returns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2227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 descr="Children">
            <a:extLst>
              <a:ext uri="{FF2B5EF4-FFF2-40B4-BE49-F238E27FC236}">
                <a16:creationId xmlns:a16="http://schemas.microsoft.com/office/drawing/2014/main" id="{EE653E94-BBE4-1742-8F71-F4C3FD554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5052" y="1051560"/>
            <a:ext cx="914400" cy="914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31EAD26-72D3-3B44-8E29-EC98379A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Open-End Mutual Fund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CD9F7-9734-404E-A63D-CED3C6396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DBF9A-95FE-5840-AD66-26B1E23D9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A42B01-F766-124E-85AB-A6AD018B8C9D}"/>
              </a:ext>
            </a:extLst>
          </p:cNvPr>
          <p:cNvSpPr/>
          <p:nvPr/>
        </p:nvSpPr>
        <p:spPr>
          <a:xfrm>
            <a:off x="3349754" y="4758985"/>
            <a:ext cx="2060446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Assets: Stocks, Bonds, 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AC8FF2-1644-304A-909C-B6B5C239242B}"/>
              </a:ext>
            </a:extLst>
          </p:cNvPr>
          <p:cNvSpPr/>
          <p:nvPr/>
        </p:nvSpPr>
        <p:spPr>
          <a:xfrm>
            <a:off x="3273553" y="2590800"/>
            <a:ext cx="2209800" cy="13031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Mutual Fund</a:t>
            </a:r>
            <a:br>
              <a:rPr lang="en-US" dirty="0"/>
            </a:br>
            <a:r>
              <a:rPr lang="en-US" dirty="0"/>
              <a:t>Regulated Invest. Co.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9F7CE-AF4C-8E40-A61A-8E00FAF7A045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>
            <a:off x="4378453" y="3893938"/>
            <a:ext cx="1524" cy="865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0F6DF17E-04A2-A141-B3EF-A4DE1F7E3E85}"/>
              </a:ext>
            </a:extLst>
          </p:cNvPr>
          <p:cNvCxnSpPr>
            <a:stCxn id="18" idx="1"/>
            <a:endCxn id="12" idx="1"/>
          </p:cNvCxnSpPr>
          <p:nvPr/>
        </p:nvCxnSpPr>
        <p:spPr>
          <a:xfrm rot="10800000" flipV="1">
            <a:off x="3273554" y="1508759"/>
            <a:ext cx="571499" cy="1733609"/>
          </a:xfrm>
          <a:prstGeom prst="bentConnector3">
            <a:avLst>
              <a:gd name="adj1" fmla="val 14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3FE56A6-4603-8341-A3B4-6693F527C754}"/>
              </a:ext>
            </a:extLst>
          </p:cNvPr>
          <p:cNvCxnSpPr>
            <a:cxnSpLocks/>
            <a:stCxn id="12" idx="3"/>
            <a:endCxn id="18" idx="3"/>
          </p:cNvCxnSpPr>
          <p:nvPr/>
        </p:nvCxnSpPr>
        <p:spPr>
          <a:xfrm flipH="1" flipV="1">
            <a:off x="4759452" y="1508760"/>
            <a:ext cx="723901" cy="1733609"/>
          </a:xfrm>
          <a:prstGeom prst="bentConnector3">
            <a:avLst>
              <a:gd name="adj1" fmla="val -315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586EF00-A168-5E4C-BA2D-8921C9413F8F}"/>
              </a:ext>
            </a:extLst>
          </p:cNvPr>
          <p:cNvSpPr txBox="1"/>
          <p:nvPr/>
        </p:nvSpPr>
        <p:spPr>
          <a:xfrm>
            <a:off x="2103395" y="1944469"/>
            <a:ext cx="792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$$ @</a:t>
            </a:r>
            <a:br>
              <a:rPr lang="en-US" dirty="0"/>
            </a:br>
            <a:r>
              <a:rPr lang="en-US" dirty="0"/>
              <a:t>NAV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BABF6F-3727-064D-A0E5-8984C09E279F}"/>
              </a:ext>
            </a:extLst>
          </p:cNvPr>
          <p:cNvSpPr txBox="1"/>
          <p:nvPr/>
        </p:nvSpPr>
        <p:spPr>
          <a:xfrm>
            <a:off x="5837195" y="2052397"/>
            <a:ext cx="792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$$ @</a:t>
            </a:r>
            <a:br>
              <a:rPr lang="en-US" dirty="0"/>
            </a:br>
            <a:r>
              <a:rPr lang="en-US" dirty="0"/>
              <a:t>NAV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11FFB4-3408-A649-A77B-639A42D53F6B}"/>
              </a:ext>
            </a:extLst>
          </p:cNvPr>
          <p:cNvSpPr txBox="1"/>
          <p:nvPr/>
        </p:nvSpPr>
        <p:spPr>
          <a:xfrm>
            <a:off x="2110741" y="1683065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Buy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4DFAD9-86FC-434D-BACC-5D174CD2DEAC}"/>
              </a:ext>
            </a:extLst>
          </p:cNvPr>
          <p:cNvSpPr txBox="1"/>
          <p:nvPr/>
        </p:nvSpPr>
        <p:spPr>
          <a:xfrm>
            <a:off x="5847863" y="1724943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Sell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C80D41-02D7-1347-A4B6-775D0B7C2F4D}"/>
              </a:ext>
            </a:extLst>
          </p:cNvPr>
          <p:cNvSpPr txBox="1"/>
          <p:nvPr/>
        </p:nvSpPr>
        <p:spPr>
          <a:xfrm>
            <a:off x="4247869" y="5838035"/>
            <a:ext cx="467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NAV: Net Assets (Ass-</a:t>
            </a:r>
            <a:r>
              <a:rPr lang="en-US" dirty="0" err="1"/>
              <a:t>Liab</a:t>
            </a:r>
            <a:r>
              <a:rPr lang="en-US" dirty="0"/>
              <a:t>) / # Shares</a:t>
            </a:r>
          </a:p>
        </p:txBody>
      </p:sp>
    </p:spTree>
    <p:extLst>
      <p:ext uri="{BB962C8B-B14F-4D97-AF65-F5344CB8AC3E}">
        <p14:creationId xmlns:p14="http://schemas.microsoft.com/office/powerpoint/2010/main" val="297866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30" grpId="0"/>
      <p:bldP spid="31" grpId="0"/>
      <p:bldP spid="32" grpId="0"/>
      <p:bldP spid="33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1B2019-1EEA-A240-BD8F-86433E49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41934"/>
            <a:ext cx="8458200" cy="36512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Open-End Mutual Fund: VTSAX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3695A-BE77-4443-A0A6-70B7A7405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85048" y="6471106"/>
            <a:ext cx="4572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7B3E355C-57B9-BC4B-95D8-406A1F834537}" type="slidenum">
              <a:rPr lang="en-US" altLang="en-US" smtClean="0"/>
              <a:pPr>
                <a:spcAft>
                  <a:spcPts val="600"/>
                </a:spcAft>
              </a:pPr>
              <a:t>32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D7C5A-DB37-884A-BDDE-BA6E1F6E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42488"/>
            <a:ext cx="28956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Historical Returns</a:t>
            </a:r>
          </a:p>
        </p:txBody>
      </p:sp>
      <p:pic>
        <p:nvPicPr>
          <p:cNvPr id="7" name="Picture 6" descr="A graph with red blue and yellow lines&#10;&#10;AI-generated content may be incorrect.">
            <a:extLst>
              <a:ext uri="{FF2B5EF4-FFF2-40B4-BE49-F238E27FC236}">
                <a16:creationId xmlns:a16="http://schemas.microsoft.com/office/drawing/2014/main" id="{E9445F3C-A348-C1EA-B4F2-C7EA92F12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48" y="581522"/>
            <a:ext cx="8445500" cy="22460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111572-29EE-CED8-D577-359D20269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48" y="2827601"/>
            <a:ext cx="8325104" cy="753799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56E7E0BA-2581-6CCB-E619-75525DD35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652" y="3755861"/>
            <a:ext cx="2895600" cy="2512166"/>
          </a:xfrm>
          <a:prstGeom prst="rect">
            <a:avLst/>
          </a:prstGeom>
        </p:spPr>
      </p:pic>
      <p:pic>
        <p:nvPicPr>
          <p:cNvPr id="16" name="Picture 15" descr="A screenshot of a graph&#10;&#10;AI-generated content may be incorrect.">
            <a:extLst>
              <a:ext uri="{FF2B5EF4-FFF2-40B4-BE49-F238E27FC236}">
                <a16:creationId xmlns:a16="http://schemas.microsoft.com/office/drawing/2014/main" id="{3C0EDAFC-F831-2AC4-E8B8-B0D8C0703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3871830"/>
            <a:ext cx="3165348" cy="22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49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7895AF-1AA9-D503-C5D8-0C095056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Open-End Mutual Fund: VTSAX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E0D0F-AF24-3699-88E3-72956AB8B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7A910-4258-B101-4E29-DAE4CB19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pic>
        <p:nvPicPr>
          <p:cNvPr id="6" name="Picture 5" descr="A screenshot of a white and black screen&#10;&#10;AI-generated content may be incorrect.">
            <a:extLst>
              <a:ext uri="{FF2B5EF4-FFF2-40B4-BE49-F238E27FC236}">
                <a16:creationId xmlns:a16="http://schemas.microsoft.com/office/drawing/2014/main" id="{6474D30D-D110-794B-7F6E-DC962BA20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990600"/>
            <a:ext cx="508939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32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D0AD71-EF5D-554B-B920-5520D6DB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Exchanged Traded Funds (ETFs)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B3CD2-6EC2-AA4E-A31E-44AF64BAB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FAD97-58A0-0149-A22E-A144D53C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59D4D2-A74E-674A-9AE1-AA8CA7BA55EA}"/>
              </a:ext>
            </a:extLst>
          </p:cNvPr>
          <p:cNvSpPr/>
          <p:nvPr/>
        </p:nvSpPr>
        <p:spPr>
          <a:xfrm>
            <a:off x="2262192" y="4758985"/>
            <a:ext cx="2060446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Assets: Stocks, Bonds, 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97FE5B-9FCE-F247-9529-14216B01F7BA}"/>
              </a:ext>
            </a:extLst>
          </p:cNvPr>
          <p:cNvSpPr/>
          <p:nvPr/>
        </p:nvSpPr>
        <p:spPr>
          <a:xfrm>
            <a:off x="2185991" y="2590800"/>
            <a:ext cx="2209800" cy="13031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ETF</a:t>
            </a:r>
            <a:br>
              <a:rPr lang="en-US" dirty="0"/>
            </a:br>
            <a:r>
              <a:rPr lang="en-US" dirty="0"/>
              <a:t>Regulated Invest. Co.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7E3CDD-623B-0C45-9FE6-E23B9C67AD55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3290891" y="3893938"/>
            <a:ext cx="1524" cy="865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CC433F3-CC89-044A-87C0-501F6D9405B9}"/>
              </a:ext>
            </a:extLst>
          </p:cNvPr>
          <p:cNvCxnSpPr>
            <a:cxnSpLocks/>
            <a:endCxn id="8" idx="1"/>
          </p:cNvCxnSpPr>
          <p:nvPr/>
        </p:nvCxnSpPr>
        <p:spPr>
          <a:xfrm rot="10800000" flipV="1">
            <a:off x="2185992" y="1508759"/>
            <a:ext cx="571499" cy="1733609"/>
          </a:xfrm>
          <a:prstGeom prst="bentConnector3">
            <a:avLst>
              <a:gd name="adj1" fmla="val 14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885F2AAC-F247-984A-876F-0BADFD735356}"/>
              </a:ext>
            </a:extLst>
          </p:cNvPr>
          <p:cNvCxnSpPr>
            <a:cxnSpLocks/>
            <a:stCxn id="8" idx="3"/>
          </p:cNvCxnSpPr>
          <p:nvPr/>
        </p:nvCxnSpPr>
        <p:spPr>
          <a:xfrm flipH="1" flipV="1">
            <a:off x="3671890" y="1508760"/>
            <a:ext cx="723901" cy="1733609"/>
          </a:xfrm>
          <a:prstGeom prst="bentConnector3">
            <a:avLst>
              <a:gd name="adj1" fmla="val -315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A87B183-DD5F-9940-B6A6-0CD5512379B9}"/>
              </a:ext>
            </a:extLst>
          </p:cNvPr>
          <p:cNvSpPr txBox="1"/>
          <p:nvPr/>
        </p:nvSpPr>
        <p:spPr>
          <a:xfrm>
            <a:off x="354493" y="1983777"/>
            <a:ext cx="1404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Contribute</a:t>
            </a:r>
          </a:p>
          <a:p>
            <a:r>
              <a:rPr lang="en-US" dirty="0"/>
              <a:t>portfolio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5AFBAE-5F34-2240-B209-B2CE48420667}"/>
              </a:ext>
            </a:extLst>
          </p:cNvPr>
          <p:cNvSpPr txBox="1"/>
          <p:nvPr/>
        </p:nvSpPr>
        <p:spPr>
          <a:xfrm>
            <a:off x="5181600" y="2052397"/>
            <a:ext cx="2032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Portfolio (not $)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FA64BF-1976-4048-8F27-70A65C1B29CB}"/>
              </a:ext>
            </a:extLst>
          </p:cNvPr>
          <p:cNvSpPr txBox="1"/>
          <p:nvPr/>
        </p:nvSpPr>
        <p:spPr>
          <a:xfrm>
            <a:off x="304800" y="1649010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Buy Shares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ED784-C417-AA4A-A60D-89FCDF68AF82}"/>
              </a:ext>
            </a:extLst>
          </p:cNvPr>
          <p:cNvSpPr txBox="1"/>
          <p:nvPr/>
        </p:nvSpPr>
        <p:spPr>
          <a:xfrm>
            <a:off x="5192268" y="1724943"/>
            <a:ext cx="2000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Redeem Shares</a:t>
            </a:r>
          </a:p>
        </p:txBody>
      </p:sp>
      <p:pic>
        <p:nvPicPr>
          <p:cNvPr id="18" name="Content Placeholder 17" descr="Children">
            <a:extLst>
              <a:ext uri="{FF2B5EF4-FFF2-40B4-BE49-F238E27FC236}">
                <a16:creationId xmlns:a16="http://schemas.microsoft.com/office/drawing/2014/main" id="{F7F174B2-A85A-9D4E-B8AB-D90B184D3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4076" y="734610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E9C3A2B-1BEA-CC43-BEA2-DDB1594F2428}"/>
              </a:ext>
            </a:extLst>
          </p:cNvPr>
          <p:cNvSpPr txBox="1"/>
          <p:nvPr/>
        </p:nvSpPr>
        <p:spPr>
          <a:xfrm>
            <a:off x="2660442" y="1258268"/>
            <a:ext cx="118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Authorized </a:t>
            </a:r>
            <a:br>
              <a:rPr lang="en-US" sz="1200" b="1" dirty="0"/>
            </a:br>
            <a:r>
              <a:rPr lang="en-US" sz="1200" b="1" dirty="0"/>
              <a:t>Participant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DB2EFF-9864-424A-8196-80E3DBE433D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109058" y="1191810"/>
            <a:ext cx="2555018" cy="0"/>
          </a:xfrm>
          <a:prstGeom prst="straightConnector1">
            <a:avLst/>
          </a:prstGeom>
          <a:ln w="28575">
            <a:solidFill>
              <a:schemeClr val="accent3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EBE02BD-C910-544B-AC0C-38B4EC586DA3}"/>
              </a:ext>
            </a:extLst>
          </p:cNvPr>
          <p:cNvSpPr txBox="1"/>
          <p:nvPr/>
        </p:nvSpPr>
        <p:spPr>
          <a:xfrm>
            <a:off x="3914014" y="570209"/>
            <a:ext cx="2853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Sale/purchase of </a:t>
            </a:r>
          </a:p>
          <a:p>
            <a:r>
              <a:rPr lang="en-US" sz="1400" b="1" dirty="0"/>
              <a:t>ETF shares @ </a:t>
            </a:r>
            <a:r>
              <a:rPr lang="en-US" sz="1400" b="1" dirty="0">
                <a:highlight>
                  <a:srgbClr val="FF00FF"/>
                </a:highlight>
              </a:rPr>
              <a:t>market price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F12D6B-8954-7A43-9A70-9F6A6E11A3FD}"/>
              </a:ext>
            </a:extLst>
          </p:cNvPr>
          <p:cNvSpPr txBox="1"/>
          <p:nvPr/>
        </p:nvSpPr>
        <p:spPr>
          <a:xfrm>
            <a:off x="5036820" y="3026638"/>
            <a:ext cx="3878580" cy="2862322"/>
          </a:xfrm>
          <a:prstGeom prst="rect">
            <a:avLst/>
          </a:prstGeom>
          <a:noFill/>
          <a:ln w="22225">
            <a:solidFill>
              <a:schemeClr val="accent3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Creation/Redemption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If NAV (10) &gt; </a:t>
            </a:r>
            <a:r>
              <a:rPr lang="en-US" i="1" dirty="0" err="1"/>
              <a:t>mrkt</a:t>
            </a:r>
            <a:r>
              <a:rPr lang="en-US" i="1" dirty="0"/>
              <a:t> price (9)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Buy shares at 9, redeem, and sell portfolio for 10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If NAV (9) &lt; </a:t>
            </a:r>
            <a:r>
              <a:rPr lang="en-US" i="1" dirty="0" err="1"/>
              <a:t>mrkt</a:t>
            </a:r>
            <a:r>
              <a:rPr lang="en-US" i="1" dirty="0"/>
              <a:t> price (10)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Buy portfolio at 9, create shares, and sell to public for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15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/>
      <p:bldP spid="13" grpId="0"/>
      <p:bldP spid="14" grpId="0"/>
      <p:bldP spid="15" grpId="0"/>
      <p:bldP spid="19" grpId="0"/>
      <p:bldP spid="24" grpId="0"/>
      <p:bldP spid="25" grpId="0" uiExpand="1" build="allAtOnce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believe that Apple stock is overvalued.  How can I make money if my beliefs are correct?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Shorting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Historical Returns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35</a:t>
            </a:fld>
            <a:endParaRPr lang="en-US" altLang="en-US" dirty="0"/>
          </a:p>
        </p:txBody>
      </p:sp>
      <p:pic>
        <p:nvPicPr>
          <p:cNvPr id="7" name="Graphic 6" descr="Woman">
            <a:extLst>
              <a:ext uri="{FF2B5EF4-FFF2-40B4-BE49-F238E27FC236}">
                <a16:creationId xmlns:a16="http://schemas.microsoft.com/office/drawing/2014/main" id="{8FEEED13-C658-F140-BF5B-7ECB6F680B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418734"/>
            <a:ext cx="914400" cy="914400"/>
          </a:xfrm>
          <a:prstGeom prst="rect">
            <a:avLst/>
          </a:prstGeom>
        </p:spPr>
      </p:pic>
      <p:pic>
        <p:nvPicPr>
          <p:cNvPr id="9" name="Graphic 8" descr="Confused person">
            <a:extLst>
              <a:ext uri="{FF2B5EF4-FFF2-40B4-BE49-F238E27FC236}">
                <a16:creationId xmlns:a16="http://schemas.microsoft.com/office/drawing/2014/main" id="{1A4C85E5-0528-224B-979F-4394F66BF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1418734"/>
            <a:ext cx="914400" cy="914400"/>
          </a:xfrm>
          <a:prstGeom prst="rect">
            <a:avLst/>
          </a:prstGeom>
        </p:spPr>
      </p:pic>
      <p:pic>
        <p:nvPicPr>
          <p:cNvPr id="57348" name="Picture 4" descr="Fred Design | So why an apple? The history of the apple logo">
            <a:extLst>
              <a:ext uri="{FF2B5EF4-FFF2-40B4-BE49-F238E27FC236}">
                <a16:creationId xmlns:a16="http://schemas.microsoft.com/office/drawing/2014/main" id="{AF0658A1-5CFE-1C4B-933A-FBF64FF21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959" y="1720004"/>
            <a:ext cx="685799" cy="52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Up Arrow 9">
            <a:extLst>
              <a:ext uri="{FF2B5EF4-FFF2-40B4-BE49-F238E27FC236}">
                <a16:creationId xmlns:a16="http://schemas.microsoft.com/office/drawing/2014/main" id="{63E9D264-3341-E64B-B67B-C2AE5CF76225}"/>
              </a:ext>
            </a:extLst>
          </p:cNvPr>
          <p:cNvSpPr/>
          <p:nvPr/>
        </p:nvSpPr>
        <p:spPr>
          <a:xfrm rot="5400000">
            <a:off x="3505200" y="-108910"/>
            <a:ext cx="228600" cy="3429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B13EB7CC-93FB-3F48-AC1C-376392C74748}"/>
              </a:ext>
            </a:extLst>
          </p:cNvPr>
          <p:cNvSpPr/>
          <p:nvPr/>
        </p:nvSpPr>
        <p:spPr>
          <a:xfrm rot="16200000">
            <a:off x="3446116" y="1058776"/>
            <a:ext cx="228600" cy="3429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86494-2DC7-E54F-9944-DD35EA440112}"/>
              </a:ext>
            </a:extLst>
          </p:cNvPr>
          <p:cNvSpPr txBox="1"/>
          <p:nvPr/>
        </p:nvSpPr>
        <p:spPr>
          <a:xfrm>
            <a:off x="2521568" y="1155006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Borrow shares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4EF9A5-FB19-CD4E-AD84-40E224D250CC}"/>
              </a:ext>
            </a:extLst>
          </p:cNvPr>
          <p:cNvSpPr txBox="1"/>
          <p:nvPr/>
        </p:nvSpPr>
        <p:spPr>
          <a:xfrm>
            <a:off x="1600200" y="2286000"/>
            <a:ext cx="392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IOU: Return shares + Dividends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83E56FC2-FD14-984F-89A0-FE612EC899AB}"/>
              </a:ext>
            </a:extLst>
          </p:cNvPr>
          <p:cNvSpPr/>
          <p:nvPr/>
        </p:nvSpPr>
        <p:spPr>
          <a:xfrm>
            <a:off x="6324600" y="1761633"/>
            <a:ext cx="2209800" cy="160019"/>
          </a:xfrm>
          <a:prstGeom prst="rightArrow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FFFDDB-1E63-B044-B342-494BD5AA5216}"/>
              </a:ext>
            </a:extLst>
          </p:cNvPr>
          <p:cNvSpPr txBox="1"/>
          <p:nvPr/>
        </p:nvSpPr>
        <p:spPr>
          <a:xfrm>
            <a:off x="6403716" y="1392301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Sell shares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D3B55996-6E7D-D54D-A937-168654D2C951}"/>
              </a:ext>
            </a:extLst>
          </p:cNvPr>
          <p:cNvSpPr/>
          <p:nvPr/>
        </p:nvSpPr>
        <p:spPr>
          <a:xfrm rot="10800000">
            <a:off x="6324600" y="2333134"/>
            <a:ext cx="2209800" cy="160019"/>
          </a:xfrm>
          <a:prstGeom prst="rightArrow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5EC8E-D2F5-3045-A425-74AC434231D4}"/>
              </a:ext>
            </a:extLst>
          </p:cNvPr>
          <p:cNvSpPr txBox="1"/>
          <p:nvPr/>
        </p:nvSpPr>
        <p:spPr>
          <a:xfrm>
            <a:off x="6417856" y="2029245"/>
            <a:ext cx="1595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Receive $$$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00129E-9B1D-0D40-A373-22CD314426B3}"/>
              </a:ext>
            </a:extLst>
          </p:cNvPr>
          <p:cNvCxnSpPr>
            <a:cxnSpLocks/>
          </p:cNvCxnSpPr>
          <p:nvPr/>
        </p:nvCxnSpPr>
        <p:spPr>
          <a:xfrm>
            <a:off x="384048" y="3276600"/>
            <a:ext cx="8607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Confused person">
            <a:extLst>
              <a:ext uri="{FF2B5EF4-FFF2-40B4-BE49-F238E27FC236}">
                <a16:creationId xmlns:a16="http://schemas.microsoft.com/office/drawing/2014/main" id="{3AD9BDD0-9682-D844-B341-C27693FBC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607" y="3803390"/>
            <a:ext cx="914400" cy="914400"/>
          </a:xfrm>
          <a:prstGeom prst="rect">
            <a:avLst/>
          </a:prstGeom>
        </p:spPr>
      </p:pic>
      <p:sp>
        <p:nvSpPr>
          <p:cNvPr id="24" name="Right Arrow 23">
            <a:extLst>
              <a:ext uri="{FF2B5EF4-FFF2-40B4-BE49-F238E27FC236}">
                <a16:creationId xmlns:a16="http://schemas.microsoft.com/office/drawing/2014/main" id="{51F0B06B-7197-3249-B826-DBADF819D957}"/>
              </a:ext>
            </a:extLst>
          </p:cNvPr>
          <p:cNvSpPr/>
          <p:nvPr/>
        </p:nvSpPr>
        <p:spPr>
          <a:xfrm>
            <a:off x="6343454" y="5021581"/>
            <a:ext cx="2209800" cy="160019"/>
          </a:xfrm>
          <a:prstGeom prst="rightArrow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99FBE3-EB3B-D542-9CB5-6BEAD3C8ED23}"/>
              </a:ext>
            </a:extLst>
          </p:cNvPr>
          <p:cNvSpPr txBox="1"/>
          <p:nvPr/>
        </p:nvSpPr>
        <p:spPr>
          <a:xfrm>
            <a:off x="6403716" y="4001914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Buy shares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6E850A2-9547-7B46-9416-2BDD1D4452D9}"/>
              </a:ext>
            </a:extLst>
          </p:cNvPr>
          <p:cNvSpPr/>
          <p:nvPr/>
        </p:nvSpPr>
        <p:spPr>
          <a:xfrm rot="10800000">
            <a:off x="6398455" y="4367868"/>
            <a:ext cx="2209800" cy="160019"/>
          </a:xfrm>
          <a:prstGeom prst="rightArrow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389FFF-EFBC-3C4D-9719-2AA86F8D693F}"/>
              </a:ext>
            </a:extLst>
          </p:cNvPr>
          <p:cNvSpPr txBox="1"/>
          <p:nvPr/>
        </p:nvSpPr>
        <p:spPr>
          <a:xfrm>
            <a:off x="7115952" y="467689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$$$</a:t>
            </a:r>
          </a:p>
        </p:txBody>
      </p:sp>
      <p:pic>
        <p:nvPicPr>
          <p:cNvPr id="28" name="Picture 4" descr="Fred Design | So why an apple? The history of the apple logo">
            <a:extLst>
              <a:ext uri="{FF2B5EF4-FFF2-40B4-BE49-F238E27FC236}">
                <a16:creationId xmlns:a16="http://schemas.microsoft.com/office/drawing/2014/main" id="{CE00BDDD-F3F9-5740-A376-258E30CD1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376" y="3749983"/>
            <a:ext cx="519852" cy="59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Fred Design | So why an apple? The history of the apple logo">
            <a:extLst>
              <a:ext uri="{FF2B5EF4-FFF2-40B4-BE49-F238E27FC236}">
                <a16:creationId xmlns:a16="http://schemas.microsoft.com/office/drawing/2014/main" id="{A156E234-589F-324C-BDA4-C012E7F92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078" y="1175184"/>
            <a:ext cx="685799" cy="52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Up Arrow 29">
            <a:extLst>
              <a:ext uri="{FF2B5EF4-FFF2-40B4-BE49-F238E27FC236}">
                <a16:creationId xmlns:a16="http://schemas.microsoft.com/office/drawing/2014/main" id="{C90059CE-F7B6-FE45-B56C-F778C8559C31}"/>
              </a:ext>
            </a:extLst>
          </p:cNvPr>
          <p:cNvSpPr/>
          <p:nvPr/>
        </p:nvSpPr>
        <p:spPr>
          <a:xfrm rot="16200000">
            <a:off x="3421638" y="2642267"/>
            <a:ext cx="228600" cy="3429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D811B7-6B88-A54A-9EA7-3F6B7430250D}"/>
              </a:ext>
            </a:extLst>
          </p:cNvPr>
          <p:cNvSpPr txBox="1"/>
          <p:nvPr/>
        </p:nvSpPr>
        <p:spPr>
          <a:xfrm>
            <a:off x="2750852" y="3923695"/>
            <a:ext cx="179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shares</a:t>
            </a:r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EC4002E4-FBA3-1048-9CC0-B06274112999}"/>
              </a:ext>
            </a:extLst>
          </p:cNvPr>
          <p:cNvSpPr/>
          <p:nvPr/>
        </p:nvSpPr>
        <p:spPr>
          <a:xfrm rot="5400000">
            <a:off x="3461631" y="3303277"/>
            <a:ext cx="228600" cy="3429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26D050-6F89-A244-8230-FC574F48F521}"/>
              </a:ext>
            </a:extLst>
          </p:cNvPr>
          <p:cNvSpPr txBox="1"/>
          <p:nvPr/>
        </p:nvSpPr>
        <p:spPr>
          <a:xfrm>
            <a:off x="2909934" y="4613854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Cancel IOU</a:t>
            </a:r>
          </a:p>
        </p:txBody>
      </p:sp>
      <p:pic>
        <p:nvPicPr>
          <p:cNvPr id="34" name="Graphic 33" descr="Woman">
            <a:extLst>
              <a:ext uri="{FF2B5EF4-FFF2-40B4-BE49-F238E27FC236}">
                <a16:creationId xmlns:a16="http://schemas.microsoft.com/office/drawing/2014/main" id="{0932B09A-B416-E340-8F76-021EB57E49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591" y="3939236"/>
            <a:ext cx="914400" cy="914400"/>
          </a:xfrm>
          <a:prstGeom prst="rect">
            <a:avLst/>
          </a:prstGeom>
        </p:spPr>
      </p:pic>
      <p:pic>
        <p:nvPicPr>
          <p:cNvPr id="35" name="Picture 4" descr="Fred Design | So why an apple? The history of the apple logo">
            <a:extLst>
              <a:ext uri="{FF2B5EF4-FFF2-40B4-BE49-F238E27FC236}">
                <a16:creationId xmlns:a16="http://schemas.microsoft.com/office/drawing/2014/main" id="{1FD5BAC6-88B3-F142-8EBF-B88AE2E1E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293" y="3581400"/>
            <a:ext cx="519852" cy="59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64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1" grpId="0"/>
      <p:bldP spid="12" grpId="0"/>
      <p:bldP spid="14" grpId="0" animBg="1"/>
      <p:bldP spid="17" grpId="0"/>
      <p:bldP spid="18" grpId="0" animBg="1"/>
      <p:bldP spid="15" grpId="0"/>
      <p:bldP spid="24" grpId="0" animBg="1"/>
      <p:bldP spid="25" grpId="0"/>
      <p:bldP spid="26" grpId="0" animBg="1"/>
      <p:bldP spid="21" grpId="0"/>
      <p:bldP spid="30" grpId="0" animBg="1"/>
      <p:bldP spid="31" grpId="0"/>
      <p:bldP spid="32" grpId="0" animBg="1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C89F7E-0382-E508-289A-8A414ABC3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Defined benefit (DB) vs. Defined contribution (DC) plans</a:t>
            </a:r>
          </a:p>
          <a:p>
            <a:endParaRPr lang="en-US" dirty="0"/>
          </a:p>
          <a:p>
            <a:r>
              <a:rPr lang="en-US" i="1" dirty="0"/>
              <a:t>Fiduciary duties </a:t>
            </a:r>
            <a:r>
              <a:rPr lang="en-US" dirty="0"/>
              <a:t>apply to apply to plan trustees, administrators, and investment committee</a:t>
            </a:r>
          </a:p>
          <a:p>
            <a:pPr lvl="1"/>
            <a:r>
              <a:rPr lang="en-US" dirty="0"/>
              <a:t>Duty to act prudently—importance of process</a:t>
            </a:r>
          </a:p>
          <a:p>
            <a:pPr lvl="2"/>
            <a:r>
              <a:rPr lang="en-US" dirty="0"/>
              <a:t>Investment selection &amp; continuing monitoring</a:t>
            </a:r>
          </a:p>
          <a:p>
            <a:pPr lvl="1"/>
            <a:r>
              <a:rPr lang="en-US" dirty="0"/>
              <a:t>Duty to diversify plan assets</a:t>
            </a:r>
          </a:p>
          <a:p>
            <a:pPr lvl="2"/>
            <a:r>
              <a:rPr lang="en-US" dirty="0"/>
              <a:t>Exception for participant-directed plans (401(k)) and Qualified Default Investment Alternative (QDIA)</a:t>
            </a:r>
          </a:p>
          <a:p>
            <a:pPr lvl="1"/>
            <a:r>
              <a:rPr lang="en-US" dirty="0"/>
              <a:t>Duty to pay only </a:t>
            </a:r>
            <a:r>
              <a:rPr lang="en-US" b="1" i="1" dirty="0"/>
              <a:t>reasonable</a:t>
            </a:r>
            <a:r>
              <a:rPr lang="en-US" dirty="0"/>
              <a:t> plan expenses</a:t>
            </a:r>
          </a:p>
          <a:p>
            <a:pPr marL="0" indent="0">
              <a:buNone/>
            </a:pPr>
            <a:endParaRPr lang="en-US" sz="1950" dirty="0"/>
          </a:p>
          <a:p>
            <a:r>
              <a:rPr lang="en-US" sz="1950" b="1" dirty="0"/>
              <a:t>Personal</a:t>
            </a:r>
            <a:r>
              <a:rPr lang="en-US" sz="1950" dirty="0"/>
              <a:t> liability for breaches of fiduciary duty</a:t>
            </a:r>
          </a:p>
          <a:p>
            <a:endParaRPr lang="en-US" sz="1950" dirty="0"/>
          </a:p>
          <a:p>
            <a:r>
              <a:rPr lang="en-US" sz="1950" dirty="0"/>
              <a:t>Excessive fee litigation</a:t>
            </a:r>
          </a:p>
          <a:p>
            <a:pPr lvl="1"/>
            <a:r>
              <a:rPr lang="en-US" sz="1800" dirty="0"/>
              <a:t>Recordkeeping fees (% of AUM or fixed fee per capita)</a:t>
            </a:r>
          </a:p>
          <a:p>
            <a:pPr lvl="1"/>
            <a:r>
              <a:rPr lang="en-US" sz="1800" dirty="0"/>
              <a:t>Fund fees (retail vs. institutional classes)</a:t>
            </a:r>
          </a:p>
          <a:p>
            <a:pPr lvl="1"/>
            <a:r>
              <a:rPr lang="en-US" sz="1800" dirty="0"/>
              <a:t>Confusing menu choices (brokerage windows)</a:t>
            </a:r>
          </a:p>
          <a:p>
            <a:pPr lvl="1"/>
            <a:r>
              <a:rPr lang="en-US" sz="1800" i="1" dirty="0"/>
              <a:t>Hughes v. Northwestern</a:t>
            </a:r>
          </a:p>
          <a:p>
            <a:pPr lvl="2"/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17D6FB-9FDA-1AB6-737F-7A28F97E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Retirement Income Security Act (ERISA, 1974)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7A6E8-1C79-E815-0765-1F565AFE6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A203B-9CB0-4340-BC40-6D1BD076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Historical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3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2004:Templates:Presentations:Designs:Bar Code</Template>
  <TotalTime>29023</TotalTime>
  <Words>1383</Words>
  <Application>Microsoft Macintosh PowerPoint</Application>
  <PresentationFormat>On-screen Show (4:3)</PresentationFormat>
  <Paragraphs>313</Paragraphs>
  <Slides>36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ＭＳ Ｐゴシック</vt:lpstr>
      <vt:lpstr>NSimSun</vt:lpstr>
      <vt:lpstr>Arial</vt:lpstr>
      <vt:lpstr>Calibri</vt:lpstr>
      <vt:lpstr>Calibri Regular</vt:lpstr>
      <vt:lpstr>Courier New</vt:lpstr>
      <vt:lpstr>OpenSans</vt:lpstr>
      <vt:lpstr>Times New Roman</vt:lpstr>
      <vt:lpstr>Verdana</vt:lpstr>
      <vt:lpstr>Wingdings</vt:lpstr>
      <vt:lpstr>Wingdings 2</vt:lpstr>
      <vt:lpstr>CG Body - Standard</vt:lpstr>
      <vt:lpstr>Equation</vt:lpstr>
      <vt:lpstr>PowerPoint Presentation</vt:lpstr>
      <vt:lpstr>Risk and Return:  Overview</vt:lpstr>
      <vt:lpstr>Nominal Value of an Investment of $1 in 1926 Through 2024 (U.S.)</vt:lpstr>
      <vt:lpstr>Value of an Investment of $1 (after taxes) in 1926 Through 2024 (U.S.)</vt:lpstr>
      <vt:lpstr>Real (after inflation &amp; taxes) Value of an Investment of $1 in 1926 Through 2024 (U.S.)</vt:lpstr>
      <vt:lpstr>Time Series: US Stock Returns  (1900-2024)</vt:lpstr>
      <vt:lpstr>Time Series: US Bond (10-yr) Returns  (1900-2024)</vt:lpstr>
      <vt:lpstr>Time Series: T-Bill Returns (1900-2024)</vt:lpstr>
      <vt:lpstr>Histogram:  US Stock Returns (1900-2024) </vt:lpstr>
      <vt:lpstr>Histogram:  US 10-YR Bond Returns  (1900-2024) </vt:lpstr>
      <vt:lpstr>Histogram:  T-Bill Return (1900-2024) </vt:lpstr>
      <vt:lpstr>Histogram: Returns of US Stocks, Bonds, and T-Bills (1900-2024)</vt:lpstr>
      <vt:lpstr>U.S. Equity Nominal Returns </vt:lpstr>
      <vt:lpstr>Annual Nominal Returns: SP500, T-Bills, T-Bonds</vt:lpstr>
      <vt:lpstr>The Ride Can be Rough (1980 - 2025 3Q)</vt:lpstr>
      <vt:lpstr>Reduction of Risk Over Time: 1950-2024</vt:lpstr>
      <vt:lpstr>US Stock Market Total Returns: Rolling Periods (1872 – 2024)</vt:lpstr>
      <vt:lpstr>Asset-Class Winners &amp; Losers: 2010 – 2025 (3rdQ)</vt:lpstr>
      <vt:lpstr> Stocks beat bonds, but not always</vt:lpstr>
      <vt:lpstr>World Stock Markets: 1899 vs. 2024</vt:lpstr>
      <vt:lpstr>Industry Weighting in the US: 1900 and 2025</vt:lpstr>
      <vt:lpstr>A Step Back</vt:lpstr>
      <vt:lpstr>Returns:  Single Asset</vt:lpstr>
      <vt:lpstr>Measuring Risk (Volatility):  Single Asset</vt:lpstr>
      <vt:lpstr>Risk and Risk Aversion</vt:lpstr>
      <vt:lpstr>Risk Lover, Risk Averse, and Risk Neutral</vt:lpstr>
      <vt:lpstr>Diversification</vt:lpstr>
      <vt:lpstr>Diversification</vt:lpstr>
      <vt:lpstr>Beta () of COST-SP500 (Sept 2025, past 2 years)</vt:lpstr>
      <vt:lpstr>Public Investment Companies</vt:lpstr>
      <vt:lpstr>Open-End Mutual Fund</vt:lpstr>
      <vt:lpstr>Open-End Mutual Fund: VTSAX</vt:lpstr>
      <vt:lpstr>Open-End Mutual Fund: VTSAX</vt:lpstr>
      <vt:lpstr>Exchanged Traded Funds (ETFs)</vt:lpstr>
      <vt:lpstr>Shorting</vt:lpstr>
      <vt:lpstr>Employee Retirement Income Security Act (ERISA, 1974)</vt:lpstr>
    </vt:vector>
  </TitlesOfParts>
  <Company>Fordham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XPUser</dc:creator>
  <cp:lastModifiedBy>Colon, Jeffrey M.</cp:lastModifiedBy>
  <cp:revision>489</cp:revision>
  <cp:lastPrinted>2021-09-28T16:26:31Z</cp:lastPrinted>
  <dcterms:created xsi:type="dcterms:W3CDTF">2011-02-19T12:46:58Z</dcterms:created>
  <dcterms:modified xsi:type="dcterms:W3CDTF">2026-09-21T16:38:17Z</dcterms:modified>
</cp:coreProperties>
</file>