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notesMasterIdLst>
    <p:notesMasterId r:id="rId28"/>
  </p:notesMasterIdLst>
  <p:handoutMasterIdLst>
    <p:handoutMasterId r:id="rId29"/>
  </p:handoutMasterIdLst>
  <p:sldIdLst>
    <p:sldId id="441" r:id="rId2"/>
    <p:sldId id="298" r:id="rId3"/>
    <p:sldId id="345" r:id="rId4"/>
    <p:sldId id="329" r:id="rId5"/>
    <p:sldId id="342" r:id="rId6"/>
    <p:sldId id="300" r:id="rId7"/>
    <p:sldId id="302" r:id="rId8"/>
    <p:sldId id="301" r:id="rId9"/>
    <p:sldId id="344" r:id="rId10"/>
    <p:sldId id="303" r:id="rId11"/>
    <p:sldId id="346" r:id="rId12"/>
    <p:sldId id="304" r:id="rId13"/>
    <p:sldId id="359" r:id="rId14"/>
    <p:sldId id="340" r:id="rId15"/>
    <p:sldId id="305" r:id="rId16"/>
    <p:sldId id="322" r:id="rId17"/>
    <p:sldId id="331" r:id="rId18"/>
    <p:sldId id="332" r:id="rId19"/>
    <p:sldId id="337" r:id="rId20"/>
    <p:sldId id="338" r:id="rId21"/>
    <p:sldId id="442" r:id="rId22"/>
    <p:sldId id="443" r:id="rId23"/>
    <p:sldId id="347" r:id="rId24"/>
    <p:sldId id="364" r:id="rId25"/>
    <p:sldId id="370" r:id="rId26"/>
    <p:sldId id="368" r:id="rId27"/>
  </p:sldIdLst>
  <p:sldSz cx="9144000" cy="6858000" type="screen4x3"/>
  <p:notesSz cx="69977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6042"/>
    <a:srgbClr val="FEFFB7"/>
    <a:srgbClr val="1A1A1A"/>
    <a:srgbClr val="F5FBAB"/>
    <a:srgbClr val="FBE6C0"/>
    <a:srgbClr val="FF0021"/>
    <a:srgbClr val="FF48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6E7F92-B336-8D4A-9E2E-3C6BE5F482C5}" v="11" dt="2025-11-04T22:43:48.10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58"/>
    <p:restoredTop sz="94640"/>
  </p:normalViewPr>
  <p:slideViewPr>
    <p:cSldViewPr>
      <p:cViewPr varScale="1">
        <p:scale>
          <a:sx n="165" d="100"/>
          <a:sy n="165" d="100"/>
        </p:scale>
        <p:origin x="216" y="10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47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6288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DC1DB158-BAB1-5930-B714-AEF472873853}"/>
    <pc:docChg chg="undo custSel addSld modSld">
      <pc:chgData name="Colon, Jeffrey M." userId="615143b1-cdee-493d-9a9d-1565ce8666d9" providerId="ADAL" clId="{DC1DB158-BAB1-5930-B714-AEF472873853}" dt="2025-11-04T22:49:56.192" v="654" actId="20577"/>
      <pc:docMkLst>
        <pc:docMk/>
      </pc:docMkLst>
      <pc:sldChg chg="modSp">
        <pc:chgData name="Colon, Jeffrey M." userId="615143b1-cdee-493d-9a9d-1565ce8666d9" providerId="ADAL" clId="{DC1DB158-BAB1-5930-B714-AEF472873853}" dt="2025-11-03T12:25:16.368" v="1" actId="20577"/>
        <pc:sldMkLst>
          <pc:docMk/>
          <pc:sldMk cId="0" sldId="344"/>
        </pc:sldMkLst>
        <pc:spChg chg="mod">
          <ac:chgData name="Colon, Jeffrey M." userId="615143b1-cdee-493d-9a9d-1565ce8666d9" providerId="ADAL" clId="{DC1DB158-BAB1-5930-B714-AEF472873853}" dt="2025-11-03T12:25:16.368" v="1" actId="20577"/>
          <ac:spMkLst>
            <pc:docMk/>
            <pc:sldMk cId="0" sldId="344"/>
            <ac:spMk id="26626" creationId="{00000000-0000-0000-0000-000000000000}"/>
          </ac:spMkLst>
        </pc:spChg>
      </pc:sldChg>
      <pc:sldChg chg="addSp delSp modSp new mod chgLayout">
        <pc:chgData name="Colon, Jeffrey M." userId="615143b1-cdee-493d-9a9d-1565ce8666d9" providerId="ADAL" clId="{DC1DB158-BAB1-5930-B714-AEF472873853}" dt="2025-11-04T22:39:28.802" v="197" actId="12"/>
        <pc:sldMkLst>
          <pc:docMk/>
          <pc:sldMk cId="192424720" sldId="442"/>
        </pc:sldMkLst>
        <pc:spChg chg="del">
          <ac:chgData name="Colon, Jeffrey M." userId="615143b1-cdee-493d-9a9d-1565ce8666d9" providerId="ADAL" clId="{DC1DB158-BAB1-5930-B714-AEF472873853}" dt="2025-11-04T22:32:48.310" v="27"/>
          <ac:spMkLst>
            <pc:docMk/>
            <pc:sldMk cId="192424720" sldId="442"/>
            <ac:spMk id="2" creationId="{7B94CA2A-DFB4-4871-C3B5-218EC2CAEA80}"/>
          </ac:spMkLst>
        </pc:spChg>
        <pc:spChg chg="mod">
          <ac:chgData name="Colon, Jeffrey M." userId="615143b1-cdee-493d-9a9d-1565ce8666d9" providerId="ADAL" clId="{DC1DB158-BAB1-5930-B714-AEF472873853}" dt="2025-11-04T22:33:44.415" v="49" actId="26606"/>
          <ac:spMkLst>
            <pc:docMk/>
            <pc:sldMk cId="192424720" sldId="442"/>
            <ac:spMk id="3" creationId="{A9C43E53-C38E-1E2C-782D-2E2EC8A1295C}"/>
          </ac:spMkLst>
        </pc:spChg>
        <pc:spChg chg="mod">
          <ac:chgData name="Colon, Jeffrey M." userId="615143b1-cdee-493d-9a9d-1565ce8666d9" providerId="ADAL" clId="{DC1DB158-BAB1-5930-B714-AEF472873853}" dt="2025-11-04T22:33:44.415" v="49" actId="26606"/>
          <ac:spMkLst>
            <pc:docMk/>
            <pc:sldMk cId="192424720" sldId="442"/>
            <ac:spMk id="4" creationId="{C820CE0E-CCF3-C244-C044-49EE1DF71BD4}"/>
          </ac:spMkLst>
        </pc:spChg>
        <pc:spChg chg="mod">
          <ac:chgData name="Colon, Jeffrey M." userId="615143b1-cdee-493d-9a9d-1565ce8666d9" providerId="ADAL" clId="{DC1DB158-BAB1-5930-B714-AEF472873853}" dt="2025-11-04T22:33:44.415" v="49" actId="26606"/>
          <ac:spMkLst>
            <pc:docMk/>
            <pc:sldMk cId="192424720" sldId="442"/>
            <ac:spMk id="5" creationId="{F74351C7-2E87-AD24-FE73-84D4189D6550}"/>
          </ac:spMkLst>
        </pc:spChg>
        <pc:spChg chg="add del mod">
          <ac:chgData name="Colon, Jeffrey M." userId="615143b1-cdee-493d-9a9d-1565ce8666d9" providerId="ADAL" clId="{DC1DB158-BAB1-5930-B714-AEF472873853}" dt="2025-11-04T22:33:40.217" v="47" actId="26606"/>
          <ac:spMkLst>
            <pc:docMk/>
            <pc:sldMk cId="192424720" sldId="442"/>
            <ac:spMk id="11" creationId="{3E384F0F-94C7-A7D7-2443-C810A96DF34B}"/>
          </ac:spMkLst>
        </pc:spChg>
        <pc:spChg chg="add del mod">
          <ac:chgData name="Colon, Jeffrey M." userId="615143b1-cdee-493d-9a9d-1565ce8666d9" providerId="ADAL" clId="{DC1DB158-BAB1-5930-B714-AEF472873853}" dt="2025-11-04T22:33:40.217" v="47" actId="26606"/>
          <ac:spMkLst>
            <pc:docMk/>
            <pc:sldMk cId="192424720" sldId="442"/>
            <ac:spMk id="12" creationId="{6B3D4160-A004-63DB-FE01-4962D39F715F}"/>
          </ac:spMkLst>
        </pc:spChg>
        <pc:spChg chg="add del mod">
          <ac:chgData name="Colon, Jeffrey M." userId="615143b1-cdee-493d-9a9d-1565ce8666d9" providerId="ADAL" clId="{DC1DB158-BAB1-5930-B714-AEF472873853}" dt="2025-11-04T22:36:21.421" v="71"/>
          <ac:spMkLst>
            <pc:docMk/>
            <pc:sldMk cId="192424720" sldId="442"/>
            <ac:spMk id="13" creationId="{4F6D1332-1976-9850-F5C9-2404CCC8A1EE}"/>
          </ac:spMkLst>
        </pc:spChg>
        <pc:spChg chg="add del mod">
          <ac:chgData name="Colon, Jeffrey M." userId="615143b1-cdee-493d-9a9d-1565ce8666d9" providerId="ADAL" clId="{DC1DB158-BAB1-5930-B714-AEF472873853}" dt="2025-11-04T22:33:17.598" v="39" actId="26606"/>
          <ac:spMkLst>
            <pc:docMk/>
            <pc:sldMk cId="192424720" sldId="442"/>
            <ac:spMk id="14" creationId="{F489A872-73D6-6CBF-9A7D-4E261EB61DE0}"/>
          </ac:spMkLst>
        </pc:spChg>
        <pc:spChg chg="add del mod">
          <ac:chgData name="Colon, Jeffrey M." userId="615143b1-cdee-493d-9a9d-1565ce8666d9" providerId="ADAL" clId="{DC1DB158-BAB1-5930-B714-AEF472873853}" dt="2025-11-04T22:33:44.415" v="49" actId="26606"/>
          <ac:spMkLst>
            <pc:docMk/>
            <pc:sldMk cId="192424720" sldId="442"/>
            <ac:spMk id="15" creationId="{F489A872-73D6-6CBF-9A7D-4E261EB61DE0}"/>
          </ac:spMkLst>
        </pc:spChg>
        <pc:spChg chg="add del mod">
          <ac:chgData name="Colon, Jeffrey M." userId="615143b1-cdee-493d-9a9d-1565ce8666d9" providerId="ADAL" clId="{DC1DB158-BAB1-5930-B714-AEF472873853}" dt="2025-11-04T22:33:28.305" v="41" actId="26606"/>
          <ac:spMkLst>
            <pc:docMk/>
            <pc:sldMk cId="192424720" sldId="442"/>
            <ac:spMk id="16" creationId="{1FE310AB-FAF1-6EBB-3DAB-8E70765763E3}"/>
          </ac:spMkLst>
        </pc:spChg>
        <pc:spChg chg="add del mod">
          <ac:chgData name="Colon, Jeffrey M." userId="615143b1-cdee-493d-9a9d-1565ce8666d9" providerId="ADAL" clId="{DC1DB158-BAB1-5930-B714-AEF472873853}" dt="2025-11-04T22:33:28.305" v="41" actId="26606"/>
          <ac:spMkLst>
            <pc:docMk/>
            <pc:sldMk cId="192424720" sldId="442"/>
            <ac:spMk id="17" creationId="{F1FBDEE2-27AA-DA50-7B40-B0BF20852F74}"/>
          </ac:spMkLst>
        </pc:spChg>
        <pc:spChg chg="add del mod">
          <ac:chgData name="Colon, Jeffrey M." userId="615143b1-cdee-493d-9a9d-1565ce8666d9" providerId="ADAL" clId="{DC1DB158-BAB1-5930-B714-AEF472873853}" dt="2025-11-04T22:33:28.305" v="41" actId="26606"/>
          <ac:spMkLst>
            <pc:docMk/>
            <pc:sldMk cId="192424720" sldId="442"/>
            <ac:spMk id="18" creationId="{6E0943D8-508A-E679-F658-3FBDB26808FC}"/>
          </ac:spMkLst>
        </pc:spChg>
        <pc:spChg chg="add del mod">
          <ac:chgData name="Colon, Jeffrey M." userId="615143b1-cdee-493d-9a9d-1565ce8666d9" providerId="ADAL" clId="{DC1DB158-BAB1-5930-B714-AEF472873853}" dt="2025-11-04T22:33:28.305" v="41" actId="26606"/>
          <ac:spMkLst>
            <pc:docMk/>
            <pc:sldMk cId="192424720" sldId="442"/>
            <ac:spMk id="20" creationId="{FCE39BE8-3238-03B2-7E07-8E241F2093FC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2" creationId="{0537CA40-C23B-DD0C-2577-D304D53337F9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3" creationId="{74752758-2132-64E5-C02E-521EFC35B12E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4" creationId="{AA8DD361-EEDA-4D8C-A929-DD9FBB6A6CE7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5" creationId="{FC33CCEC-93C9-7875-1029-A352EEFD1D57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6" creationId="{DC3B8553-70B1-AA64-9880-EEA89345EAA6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7" creationId="{183F853E-BCB2-6127-AB13-AE4C746AE2B1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29" creationId="{DC4DC595-F52D-6850-94AD-8928F57C1463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30" creationId="{21FE9F02-DFD5-4266-2FC9-58AFA14B8AD8}"/>
          </ac:spMkLst>
        </pc:spChg>
        <pc:spChg chg="add mod">
          <ac:chgData name="Colon, Jeffrey M." userId="615143b1-cdee-493d-9a9d-1565ce8666d9" providerId="ADAL" clId="{DC1DB158-BAB1-5930-B714-AEF472873853}" dt="2025-11-04T22:39:28.802" v="197" actId="12"/>
          <ac:spMkLst>
            <pc:docMk/>
            <pc:sldMk cId="192424720" sldId="442"/>
            <ac:spMk id="31" creationId="{F18B9506-3236-C0E3-1077-4A9528C51AA4}"/>
          </ac:spMkLst>
        </pc:spChg>
        <pc:spChg chg="add del mod">
          <ac:chgData name="Colon, Jeffrey M." userId="615143b1-cdee-493d-9a9d-1565ce8666d9" providerId="ADAL" clId="{DC1DB158-BAB1-5930-B714-AEF472873853}" dt="2025-11-04T22:33:29.946" v="43" actId="26606"/>
          <ac:spMkLst>
            <pc:docMk/>
            <pc:sldMk cId="192424720" sldId="442"/>
            <ac:spMk id="36" creationId="{082460E6-C908-AAA7-648C-FD2FB2272786}"/>
          </ac:spMkLst>
        </pc:spChg>
        <pc:picChg chg="add del mod ord">
          <ac:chgData name="Colon, Jeffrey M." userId="615143b1-cdee-493d-9a9d-1565ce8666d9" providerId="ADAL" clId="{DC1DB158-BAB1-5930-B714-AEF472873853}" dt="2025-11-04T22:36:06.708" v="70" actId="478"/>
          <ac:picMkLst>
            <pc:docMk/>
            <pc:sldMk cId="192424720" sldId="442"/>
            <ac:picMk id="7" creationId="{4BC75293-BC3A-87B9-523B-70B3F42F3AAF}"/>
          </ac:picMkLst>
        </pc:picChg>
        <pc:picChg chg="add mod ord">
          <ac:chgData name="Colon, Jeffrey M." userId="615143b1-cdee-493d-9a9d-1565ce8666d9" providerId="ADAL" clId="{DC1DB158-BAB1-5930-B714-AEF472873853}" dt="2025-11-04T22:33:51.050" v="51" actId="14100"/>
          <ac:picMkLst>
            <pc:docMk/>
            <pc:sldMk cId="192424720" sldId="442"/>
            <ac:picMk id="9" creationId="{B5BE0BCE-B69B-57CD-4F70-A795DA3A7405}"/>
          </ac:picMkLst>
        </pc:picChg>
        <pc:picChg chg="add mod">
          <ac:chgData name="Colon, Jeffrey M." userId="615143b1-cdee-493d-9a9d-1565ce8666d9" providerId="ADAL" clId="{DC1DB158-BAB1-5930-B714-AEF472873853}" dt="2025-11-04T22:36:31.700" v="75" actId="1076"/>
          <ac:picMkLst>
            <pc:docMk/>
            <pc:sldMk cId="192424720" sldId="442"/>
            <ac:picMk id="21" creationId="{18B110DC-FC7D-27DE-0D1F-EF9CEBB00F69}"/>
          </ac:picMkLst>
        </pc:picChg>
      </pc:sldChg>
      <pc:sldChg chg="addSp delSp modSp new mod">
        <pc:chgData name="Colon, Jeffrey M." userId="615143b1-cdee-493d-9a9d-1565ce8666d9" providerId="ADAL" clId="{DC1DB158-BAB1-5930-B714-AEF472873853}" dt="2025-11-04T22:49:56.192" v="654" actId="20577"/>
        <pc:sldMkLst>
          <pc:docMk/>
          <pc:sldMk cId="3307369199" sldId="443"/>
        </pc:sldMkLst>
        <pc:spChg chg="del">
          <ac:chgData name="Colon, Jeffrey M." userId="615143b1-cdee-493d-9a9d-1565ce8666d9" providerId="ADAL" clId="{DC1DB158-BAB1-5930-B714-AEF472873853}" dt="2025-11-04T22:34:09.780" v="55"/>
          <ac:spMkLst>
            <pc:docMk/>
            <pc:sldMk cId="3307369199" sldId="443"/>
            <ac:spMk id="2" creationId="{EB7DBB2B-80A6-10E2-083A-0F9373C69B77}"/>
          </ac:spMkLst>
        </pc:spChg>
        <pc:spChg chg="mod">
          <ac:chgData name="Colon, Jeffrey M." userId="615143b1-cdee-493d-9a9d-1565ce8666d9" providerId="ADAL" clId="{DC1DB158-BAB1-5930-B714-AEF472873853}" dt="2025-11-04T22:34:15.985" v="67" actId="20577"/>
          <ac:spMkLst>
            <pc:docMk/>
            <pc:sldMk cId="3307369199" sldId="443"/>
            <ac:spMk id="3" creationId="{816EC3FA-0452-64FD-89C1-A4E3EC3117DC}"/>
          </ac:spMkLst>
        </pc:spChg>
        <pc:spChg chg="add mod">
          <ac:chgData name="Colon, Jeffrey M." userId="615143b1-cdee-493d-9a9d-1565ce8666d9" providerId="ADAL" clId="{DC1DB158-BAB1-5930-B714-AEF472873853}" dt="2025-11-04T22:42:56.483" v="502" actId="20577"/>
          <ac:spMkLst>
            <pc:docMk/>
            <pc:sldMk cId="3307369199" sldId="443"/>
            <ac:spMk id="9" creationId="{AF258E07-2651-EDB7-4B1D-E2E9411769B7}"/>
          </ac:spMkLst>
        </pc:spChg>
        <pc:spChg chg="add mod">
          <ac:chgData name="Colon, Jeffrey M." userId="615143b1-cdee-493d-9a9d-1565ce8666d9" providerId="ADAL" clId="{DC1DB158-BAB1-5930-B714-AEF472873853}" dt="2025-11-04T22:49:56.192" v="654" actId="20577"/>
          <ac:spMkLst>
            <pc:docMk/>
            <pc:sldMk cId="3307369199" sldId="443"/>
            <ac:spMk id="10" creationId="{E863E52D-FCA3-DCCE-96A4-E3653313EA23}"/>
          </ac:spMkLst>
        </pc:spChg>
        <pc:picChg chg="add mod">
          <ac:chgData name="Colon, Jeffrey M." userId="615143b1-cdee-493d-9a9d-1565ce8666d9" providerId="ADAL" clId="{DC1DB158-BAB1-5930-B714-AEF472873853}" dt="2025-11-04T22:43:08.221" v="504" actId="1076"/>
          <ac:picMkLst>
            <pc:docMk/>
            <pc:sldMk cId="3307369199" sldId="443"/>
            <ac:picMk id="6" creationId="{0B3AD2D5-64D1-0F14-65AA-7CD9199777AE}"/>
          </ac:picMkLst>
        </pc:picChg>
        <pc:picChg chg="add mod">
          <ac:chgData name="Colon, Jeffrey M." userId="615143b1-cdee-493d-9a9d-1565ce8666d9" providerId="ADAL" clId="{DC1DB158-BAB1-5930-B714-AEF472873853}" dt="2025-11-04T22:44:45.166" v="554" actId="14100"/>
          <ac:picMkLst>
            <pc:docMk/>
            <pc:sldMk cId="3307369199" sldId="443"/>
            <ac:picMk id="8" creationId="{53BF1F72-0B63-9D1D-626C-9CAB28A8C85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Arial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>
              <a:latin typeface="Calibri"/>
            </a:endParaRPr>
          </a:p>
        </p:txBody>
      </p:sp>
      <p:sp>
        <p:nvSpPr>
          <p:cNvPr id="9933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/>
            </a:lvl1pPr>
          </a:lstStyle>
          <a:p>
            <a:pPr>
              <a:defRPr/>
            </a:pPr>
            <a:fld id="{F906A1B3-9ACC-2344-9538-309C90CA9A37}" type="slidenum">
              <a:rPr lang="en-US">
                <a:latin typeface="Calibri"/>
              </a:rPr>
              <a:pPr>
                <a:defRPr/>
              </a:pPr>
              <a:t>‹#›</a:t>
            </a:fld>
            <a:endParaRPr lang="en-US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83581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63988" y="0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77925" y="696913"/>
            <a:ext cx="464185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0088" y="4410075"/>
            <a:ext cx="559752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defTabSz="930275">
              <a:defRPr sz="1200">
                <a:latin typeface="Calibri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3988" y="8818563"/>
            <a:ext cx="3032125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031" tIns="46516" rIns="93031" bIns="46516" numCol="1" anchor="b" anchorCtr="0" compatLnSpc="1">
            <a:prstTxWarp prst="textNoShape">
              <a:avLst/>
            </a:prstTxWarp>
          </a:bodyPr>
          <a:lstStyle>
            <a:lvl1pPr algn="r" defTabSz="930275">
              <a:defRPr sz="1200">
                <a:latin typeface="Calibri"/>
              </a:defRPr>
            </a:lvl1pPr>
          </a:lstStyle>
          <a:p>
            <a:pPr>
              <a:defRPr/>
            </a:pPr>
            <a:fld id="{D14AF6C4-53B4-9645-B01E-D4F4022AEB3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6680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/>
        <a:ea typeface="ＭＳ Ｐゴシック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34703CB-0EAF-3B44-880F-CE86F175A90E}" type="slidenum">
              <a:rPr lang="en-US" sz="1200">
                <a:latin typeface="Calibri"/>
              </a:rPr>
              <a:pPr eaLnBrk="1" hangingPunct="1"/>
              <a:t>2</a:t>
            </a:fld>
            <a:endParaRPr lang="en-US" sz="1200">
              <a:latin typeface="Calibri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1287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512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28CDEE25-7132-634C-98FC-0F1E8C1CFC94}" type="slidenum">
              <a:rPr lang="en-US" sz="1200">
                <a:latin typeface="Calibri"/>
              </a:rPr>
              <a:pPr eaLnBrk="1" hangingPunct="1"/>
              <a:t>6</a:t>
            </a:fld>
            <a:endParaRPr lang="en-US" sz="1200">
              <a:latin typeface="Calibri"/>
            </a:endParaRPr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29918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927F1F69-7C40-4147-8D8F-CF2F88AF620A}" type="slidenum">
              <a:rPr lang="en-US" sz="1200">
                <a:latin typeface="Calibri"/>
              </a:rPr>
              <a:pPr eaLnBrk="1" hangingPunct="1"/>
              <a:t>7</a:t>
            </a:fld>
            <a:endParaRPr lang="en-US" sz="1200">
              <a:latin typeface="Calibri"/>
            </a:endParaRPr>
          </a:p>
        </p:txBody>
      </p:sp>
      <p:sp>
        <p:nvSpPr>
          <p:cNvPr id="235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35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79529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64897992-1A8F-1843-8B43-8A427BA14311}" type="slidenum">
              <a:rPr lang="en-US" sz="1200">
                <a:latin typeface="Calibri"/>
              </a:rPr>
              <a:pPr eaLnBrk="1" hangingPunct="1"/>
              <a:t>8</a:t>
            </a:fld>
            <a:endParaRPr lang="en-US" sz="1200">
              <a:latin typeface="Calibri"/>
            </a:endParaRPr>
          </a:p>
        </p:txBody>
      </p:sp>
      <p:sp>
        <p:nvSpPr>
          <p:cNvPr id="256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764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5470089D-58F1-A34D-86AC-6F9780654E86}" type="slidenum">
              <a:rPr lang="en-US" sz="1200">
                <a:latin typeface="Calibri"/>
              </a:rPr>
              <a:pPr eaLnBrk="1" hangingPunct="1"/>
              <a:t>10</a:t>
            </a:fld>
            <a:endParaRPr lang="en-US" sz="1200">
              <a:latin typeface="Calibri"/>
            </a:endParaRPr>
          </a:p>
        </p:txBody>
      </p:sp>
      <p:sp>
        <p:nvSpPr>
          <p:cNvPr id="286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3289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B656B76-B8F1-3840-99F0-3A0317B46367}" type="slidenum">
              <a:rPr lang="en-US" sz="1200">
                <a:latin typeface="Calibri"/>
              </a:rPr>
              <a:pPr eaLnBrk="1" hangingPunct="1"/>
              <a:t>12</a:t>
            </a:fld>
            <a:endParaRPr lang="en-US" sz="1200">
              <a:latin typeface="Calibri"/>
            </a:endParaRPr>
          </a:p>
        </p:txBody>
      </p:sp>
      <p:sp>
        <p:nvSpPr>
          <p:cNvPr id="317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957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7F0584A5-83FC-1C47-A0ED-271B7F7DC46E}" type="slidenum">
              <a:rPr lang="en-US" sz="1200">
                <a:latin typeface="Calibri"/>
              </a:rPr>
              <a:pPr eaLnBrk="1" hangingPunct="1"/>
              <a:t>15</a:t>
            </a:fld>
            <a:endParaRPr lang="en-US" sz="1200">
              <a:latin typeface="Calibri"/>
            </a:endParaRPr>
          </a:p>
        </p:txBody>
      </p:sp>
      <p:sp>
        <p:nvSpPr>
          <p:cNvPr id="3686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5362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3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448F17E0-C651-484F-80D2-340EAA7C7953}" type="slidenum">
              <a:rPr lang="en-US" sz="1200">
                <a:latin typeface="Calibri"/>
              </a:rPr>
              <a:pPr eaLnBrk="1" hangingPunct="1"/>
              <a:t>16</a:t>
            </a:fld>
            <a:endParaRPr lang="en-US" sz="1200">
              <a:latin typeface="Calibri"/>
            </a:endParaRPr>
          </a:p>
        </p:txBody>
      </p:sp>
      <p:sp>
        <p:nvSpPr>
          <p:cNvPr id="3891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0075"/>
            <a:ext cx="5130800" cy="4176713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5255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034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14AF6C4-53B4-9645-B01E-D4F4022AEB3E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5854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7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defTabSz="93027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86A4E500-42D5-5140-A037-7DABDB96194B}" type="slidenum">
              <a:rPr lang="en-US" sz="1200">
                <a:latin typeface="Calibri"/>
              </a:rPr>
              <a:pPr eaLnBrk="1" hangingPunct="1"/>
              <a:t>24</a:t>
            </a:fld>
            <a:endParaRPr lang="en-US" sz="1200">
              <a:latin typeface="Calibri"/>
            </a:endParaRPr>
          </a:p>
        </p:txBody>
      </p:sp>
      <p:sp>
        <p:nvSpPr>
          <p:cNvPr id="6553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553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54442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00082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4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EA9E68-7C1E-2840-BE01-6F2323EF3DB0}"/>
              </a:ext>
            </a:extLst>
          </p:cNvPr>
          <p:cNvSpPr txBox="1"/>
          <p:nvPr userDrawn="1"/>
        </p:nvSpPr>
        <p:spPr>
          <a:xfrm>
            <a:off x="782320" y="662432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7934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171450" indent="-171450" algn="just" defTabSz="6858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18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-17145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165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165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685800" indent="-17145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5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85725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5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4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ctr">
              <a:tabLst>
                <a:tab pos="296466" algn="l"/>
              </a:tabLst>
              <a:defRPr sz="20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6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19702249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171450" marR="0" indent="-17145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200">
                <a:latin typeface="Calibri" charset="0"/>
                <a:ea typeface="Calibri" charset="0"/>
                <a:cs typeface="Calibri" charset="0"/>
              </a:defRPr>
            </a:lvl1pPr>
            <a:lvl2pPr marL="342900" indent="-171450">
              <a:buClr>
                <a:schemeClr val="accent1"/>
              </a:buClr>
              <a:buSzPct val="60000"/>
              <a:buFont typeface="Wingdings" charset="2"/>
              <a:buChar char="Ø"/>
              <a:defRPr lang="en-US" sz="1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514350" indent="-171450">
              <a:buClr>
                <a:schemeClr val="accent1"/>
              </a:buClr>
              <a:buSzPct val="60000"/>
              <a:buFont typeface="Courier New" charset="0"/>
              <a:buChar char="o"/>
              <a:defRPr sz="1200">
                <a:latin typeface="Calibri" charset="0"/>
                <a:ea typeface="Calibri" charset="0"/>
                <a:cs typeface="Calibri" charset="0"/>
              </a:defRPr>
            </a:lvl3pPr>
            <a:lvl4pPr marL="685800" indent="-171450">
              <a:buClr>
                <a:schemeClr val="accent1"/>
              </a:buClr>
              <a:buSzPct val="60000"/>
              <a:buFont typeface="Arial" charset="0"/>
              <a:buChar char="•"/>
              <a:defRPr sz="1200">
                <a:latin typeface="Calibri" charset="0"/>
                <a:ea typeface="Calibri" charset="0"/>
                <a:cs typeface="Calibri" charset="0"/>
              </a:defRPr>
            </a:lvl4pPr>
            <a:lvl5pPr marL="857250">
              <a:buClr>
                <a:schemeClr val="accent1"/>
              </a:buClr>
              <a:buSzPct val="60000"/>
              <a:buFont typeface="Arial" pitchFamily="34" charset="0"/>
              <a:buChar char="–"/>
              <a:defRPr sz="12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30" y="537029"/>
            <a:ext cx="18473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44912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07603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085468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22457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84048" y="805002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814835"/>
            <a:ext cx="4040188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195227"/>
            <a:ext cx="4041648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15" name="Rectangle 14"/>
          <p:cNvSpPr/>
          <p:nvPr userDrawn="1"/>
        </p:nvSpPr>
        <p:spPr>
          <a:xfrm>
            <a:off x="384048" y="407061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3"/>
            <a:ext cx="84582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58717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3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474821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791783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4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3" y="3778177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lang="en-US" sz="9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994499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659733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9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65415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2249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825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825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825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825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513293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9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15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016345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6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6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6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1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4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40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2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1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9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6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7165113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899869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2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9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2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68580" bIns="68580"/>
          <a:lstStyle/>
          <a:p>
            <a:endParaRPr lang="en-US" sz="135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68580" bIns="6858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75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9" y="3460752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35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35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675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75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675" baseline="0"/>
            </a:lvl2pPr>
            <a:lvl3pPr>
              <a:buNone/>
              <a:defRPr sz="750"/>
            </a:lvl3pPr>
            <a:lvl4pPr>
              <a:buNone/>
              <a:defRPr sz="750"/>
            </a:lvl4pPr>
            <a:lvl5pPr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51625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1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1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1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1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1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1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1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1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7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7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0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3144821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6436464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274320" rIns="137160" bIns="137160"/>
          <a:lstStyle/>
          <a:p>
            <a:endParaRPr lang="en-US" sz="135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535238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6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1" y="1911352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1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9" y="1911352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05740" bIns="68580"/>
          <a:lstStyle/>
          <a:p>
            <a:endParaRPr lang="en-US" sz="135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6578344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9" y="1447806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3"/>
            <a:ext cx="2523744" cy="230832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30302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685800">
              <a:buClr>
                <a:srgbClr val="B01C2E"/>
              </a:buClr>
              <a:buFont typeface="Arial" pitchFamily="34" charset="0"/>
              <a:buChar char="–"/>
              <a:defRPr sz="1500"/>
            </a:lvl5pPr>
            <a:lvl6pPr marL="85725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3539046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23444" indent="-123444" algn="l">
              <a:lnSpc>
                <a:spcPts val="105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900" b="0">
                <a:solidFill>
                  <a:srgbClr val="000000"/>
                </a:solidFill>
              </a:defRPr>
            </a:lvl1pPr>
            <a:lvl2pPr marL="123444" indent="0" algn="l">
              <a:spcBef>
                <a:spcPts val="525"/>
              </a:spcBef>
              <a:buNone/>
              <a:defRPr sz="900" b="0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900" b="1" baseline="0">
                <a:solidFill>
                  <a:srgbClr val="FFFFFF"/>
                </a:solidFill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89154" marR="0" indent="-8915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9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88106" indent="0">
              <a:buFontTx/>
              <a:buNone/>
              <a:defRPr sz="75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23444" marR="0" indent="-123444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900" baseline="0"/>
            </a:lvl1pPr>
            <a:lvl2pPr marL="246888" indent="-123444"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29184" indent="-123444">
              <a:buClr>
                <a:srgbClr val="B01C2E"/>
              </a:buClr>
              <a:buFont typeface="Arial" pitchFamily="34" charset="0"/>
              <a:buChar char="‒"/>
              <a:defRPr sz="900" baseline="0"/>
            </a:lvl3pPr>
            <a:lvl4pPr marL="452628" indent="-123444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576072" indent="-123444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685800" indent="-123444">
              <a:buClr>
                <a:srgbClr val="B01C2E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7302828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68580" bIns="6858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35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109393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54000" tIns="54000" rIns="54000" bIns="54000" anchor="ctr"/>
          <a:lstStyle/>
          <a:p>
            <a:endParaRPr lang="en-US" sz="135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3481349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33350" indent="0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862407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76042117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484837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1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6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54000" tIns="54000" rIns="54000" bIns="54000" anchor="ctr"/>
          <a:lstStyle/>
          <a:p>
            <a:pPr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9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 marL="514350">
              <a:buClr>
                <a:srgbClr val="B01C2E"/>
              </a:buClr>
              <a:buFont typeface="Arial" pitchFamily="34" charset="0"/>
              <a:buChar char="–"/>
              <a:defRPr sz="9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  <a:lvl4pPr>
              <a:defRPr lang="en-US" sz="9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1690942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89154" indent="-89154">
              <a:spcBef>
                <a:spcPts val="15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2642083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 marL="836676">
              <a:buClr>
                <a:srgbClr val="B01C1A"/>
              </a:buClr>
              <a:buFont typeface="Arial" pitchFamily="34" charset="0"/>
              <a:buChar char="–"/>
              <a:defRPr sz="9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89154" indent="-89154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900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6006204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750" b="1" baseline="0">
                <a:solidFill>
                  <a:schemeClr val="tx1"/>
                </a:solidFill>
              </a:defRPr>
            </a:lvl1pPr>
            <a:lvl2pPr marL="260604" indent="-123444">
              <a:spcBef>
                <a:spcPts val="225"/>
              </a:spcBef>
              <a:buClr>
                <a:srgbClr val="B01C2E"/>
              </a:buClr>
              <a:buFont typeface="Arial" pitchFamily="34" charset="0"/>
              <a:buChar char="•"/>
              <a:defRPr sz="900" baseline="0"/>
            </a:lvl2pPr>
            <a:lvl3pPr marL="397764" indent="-130302">
              <a:buClr>
                <a:srgbClr val="B01C2E"/>
              </a:buClr>
              <a:buFont typeface="Arial" pitchFamily="34" charset="0"/>
              <a:buChar char="‒"/>
              <a:defRPr sz="9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75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75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75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75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171450" indent="-171450">
              <a:spcBef>
                <a:spcPts val="18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514350"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246573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9" y="1981202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1" y="1982790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9" y="1981202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6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30302" algn="l">
              <a:buClr>
                <a:schemeClr val="accent1"/>
              </a:buClr>
              <a:buFont typeface="Wingdings" pitchFamily="2" charset="2"/>
              <a:buNone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6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257175" marR="0" indent="-257175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90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1969" indent="-127397">
              <a:buClr>
                <a:srgbClr val="B01C2E"/>
              </a:buClr>
              <a:defRPr sz="90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3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30302" indent="-130302">
              <a:lnSpc>
                <a:spcPct val="95000"/>
              </a:lnSpc>
              <a:spcBef>
                <a:spcPts val="540"/>
              </a:spcBef>
              <a:buClr>
                <a:schemeClr val="accent1"/>
              </a:buClr>
              <a:buFont typeface="Wingdings 2" pitchFamily="18" charset="2"/>
              <a:buChar char=""/>
              <a:defRPr sz="900"/>
            </a:lvl1pPr>
            <a:lvl2pPr marL="260604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•"/>
              <a:defRPr sz="900"/>
            </a:lvl2pPr>
            <a:lvl3pPr marL="390906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3pPr>
            <a:lvl4pPr marL="51435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4pPr>
            <a:lvl5pPr marL="685800" indent="-130302">
              <a:lnSpc>
                <a:spcPct val="95000"/>
              </a:lnSpc>
              <a:spcBef>
                <a:spcPts val="225"/>
              </a:spcBef>
              <a:buClr>
                <a:schemeClr val="accent1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1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8008978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9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88106" eaLnBrk="0" hangingPunct="0">
              <a:lnSpc>
                <a:spcPct val="95000"/>
              </a:lnSpc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825" b="1">
                <a:solidFill>
                  <a:schemeClr val="bg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89154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89154" indent="-89154">
              <a:lnSpc>
                <a:spcPct val="95000"/>
              </a:lnSpc>
              <a:spcBef>
                <a:spcPts val="150"/>
              </a:spcBef>
              <a:buClr>
                <a:srgbClr val="B01C2E"/>
              </a:buClr>
              <a:buFont typeface="Wingdings 2" pitchFamily="18" charset="2"/>
              <a:buChar char=""/>
              <a:defRPr sz="825" baseline="0">
                <a:solidFill>
                  <a:schemeClr val="tx1"/>
                </a:solidFill>
              </a:defRPr>
            </a:lvl1pPr>
            <a:lvl2pPr marL="89154" indent="0">
              <a:spcBef>
                <a:spcPts val="225"/>
              </a:spcBef>
              <a:buNone/>
              <a:defRPr sz="9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01265806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6" y="1497015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05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900" b="1"/>
            </a:lvl2pPr>
            <a:lvl3pPr indent="0" algn="ctr">
              <a:spcBef>
                <a:spcPts val="0"/>
              </a:spcBef>
              <a:buNone/>
              <a:defRPr sz="900" b="1"/>
            </a:lvl3pPr>
            <a:lvl4pPr indent="0" algn="ctr">
              <a:spcBef>
                <a:spcPts val="0"/>
              </a:spcBef>
              <a:buNone/>
              <a:defRPr sz="900" b="1"/>
            </a:lvl4pPr>
            <a:lvl5pPr indent="0" algn="ctr">
              <a:spcBef>
                <a:spcPts val="0"/>
              </a:spcBef>
              <a:buNone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175022" indent="-17502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="1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="1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 b="1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3" y="149701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3" y="298543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3" y="4473859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32160" indent="-132160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900" baseline="0"/>
            </a:lvl1pPr>
            <a:lvl2pPr marL="257175" indent="-125016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buClr>
                <a:srgbClr val="B01C2E"/>
              </a:buClr>
              <a:defRPr sz="900"/>
            </a:lvl4pPr>
            <a:lvl5pPr marL="685800" indent="-125016">
              <a:defRPr sz="9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9810478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8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6" y="3590927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5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6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7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3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6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32160" marR="0" indent="-132160" algn="l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900"/>
            </a:lvl1pPr>
            <a:lvl2pPr marL="257175" indent="-125016">
              <a:buClr>
                <a:srgbClr val="B01C2E"/>
              </a:buClr>
              <a:buSzPct val="125000"/>
              <a:defRPr sz="900"/>
            </a:lvl2pPr>
            <a:lvl3pPr marL="389335" indent="-13216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916695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9" y="1782765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9" y="5300665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9" y="4129090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9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35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marR="0" indent="-13216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7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6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32160" indent="-132160" algn="ctr">
              <a:buNone/>
              <a:defRPr sz="900" b="1">
                <a:solidFill>
                  <a:schemeClr val="bg1"/>
                </a:solidFill>
              </a:defRPr>
            </a:lvl1pPr>
            <a:lvl2pPr marL="257175" indent="-125016">
              <a:buSzPct val="125000"/>
              <a:defRPr sz="1050"/>
            </a:lvl2pPr>
            <a:lvl3pPr marL="389335" indent="-132160">
              <a:defRPr sz="1050"/>
            </a:lvl3pPr>
            <a:lvl4pPr marL="514350" indent="-125016">
              <a:defRPr sz="1050"/>
            </a:lvl4pPr>
            <a:lvl5pPr marL="685800" indent="-125016"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81367468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5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90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4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5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6858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4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900"/>
            </a:lvl2pPr>
            <a:lvl3pPr marL="384572" indent="-128588">
              <a:defRPr sz="900"/>
            </a:lvl3pPr>
            <a:lvl4pPr marL="511969" indent="-127397">
              <a:defRPr sz="900"/>
            </a:lvl4pPr>
            <a:lvl5pPr marL="640556" indent="-128588"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Char char=""/>
              <a:defRPr sz="825" baseline="0"/>
            </a:lvl1pPr>
            <a:lvl2pPr marL="255985" indent="-127397">
              <a:buClr>
                <a:srgbClr val="B01C2E"/>
              </a:buClr>
              <a:buFont typeface="Arial" pitchFamily="34" charset="0"/>
              <a:buChar char="•"/>
              <a:defRPr sz="750"/>
            </a:lvl2pPr>
            <a:lvl3pPr marL="384572" indent="-128588">
              <a:buClr>
                <a:srgbClr val="B01C2E"/>
              </a:buClr>
              <a:buFont typeface="Arial" pitchFamily="34" charset="0"/>
              <a:buChar char="–"/>
              <a:defRPr sz="750"/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1514316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4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9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20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4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02870" tIns="102870" rIns="171450" bIns="10287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350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5" y="1282931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7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50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6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8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2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4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9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685800" rtl="0" eaLnBrk="1" fontAlgn="auto" latinLnBrk="0" hangingPunct="1">
              <a:lnSpc>
                <a:spcPts val="12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900" b="1">
                <a:solidFill>
                  <a:schemeClr val="bg1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30302" indent="-130302" algn="l">
              <a:spcBef>
                <a:spcPts val="150"/>
              </a:spcBef>
              <a:buClr>
                <a:srgbClr val="B01C2E"/>
              </a:buClr>
              <a:buFont typeface="Wingdings" pitchFamily="2" charset="2"/>
              <a:buChar char="§"/>
              <a:defRPr sz="900" baseline="0"/>
            </a:lvl1pPr>
            <a:lvl2pPr marL="253604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900" baseline="0"/>
            </a:lvl2pPr>
            <a:lvl3pPr marL="377190" indent="-129779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 baseline="0"/>
            </a:lvl3pPr>
            <a:lvl4pPr marL="514350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900"/>
            </a:lvl4pPr>
            <a:lvl5pPr marL="637794" indent="-130302">
              <a:spcBef>
                <a:spcPts val="150"/>
              </a:spcBef>
              <a:buClr>
                <a:srgbClr val="B01C2E"/>
              </a:buClr>
              <a:buFont typeface="Arial" pitchFamily="34" charset="0"/>
              <a:buChar char="–"/>
              <a:defRPr sz="9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51984275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2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35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4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4" y="1566865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4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050"/>
              </a:lnSpc>
              <a:spcBef>
                <a:spcPts val="1125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6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1" y="1468440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6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4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6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4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1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40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40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40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40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40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40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40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40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40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94301C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B01C2E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45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675" b="1" cap="all" baseline="0">
                <a:solidFill>
                  <a:srgbClr val="4D4D4D"/>
                </a:solidFill>
              </a:defRPr>
            </a:lvl1pPr>
            <a:lvl2pPr marL="255985" indent="-127397">
              <a:defRPr sz="750"/>
            </a:lvl2pPr>
            <a:lvl3pPr marL="384572" indent="-128588">
              <a:defRPr sz="750"/>
            </a:lvl3pPr>
            <a:lvl4pPr marL="511969" indent="-127397">
              <a:defRPr sz="750"/>
            </a:lvl4pPr>
            <a:lvl5pPr marL="640556" indent="-128588"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65817724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9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7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9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6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75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165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32896909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1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1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1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3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3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3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3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1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75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87327577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80" y="1419225"/>
            <a:ext cx="2532185" cy="4800600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825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825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825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825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825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9024523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2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848278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900"/>
            </a:lvl1pPr>
            <a:lvl2pPr marL="342900" indent="-171450">
              <a:buClr>
                <a:srgbClr val="B01C2E"/>
              </a:buClr>
              <a:buSzPct val="125000"/>
              <a:buFont typeface="Arial" pitchFamily="34" charset="0"/>
              <a:buChar char="•"/>
              <a:defRPr sz="900"/>
            </a:lvl2pPr>
            <a:lvl3pPr marL="514350">
              <a:buClr>
                <a:srgbClr val="B01C2E"/>
              </a:buClr>
              <a:buFont typeface="Arial" pitchFamily="34" charset="0"/>
              <a:buChar char="–"/>
              <a:defRPr sz="9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900"/>
            </a:lvl4pPr>
            <a:lvl5pPr marL="857250">
              <a:buClr>
                <a:srgbClr val="B01C2E"/>
              </a:buClr>
              <a:buFont typeface="Arial" pitchFamily="34" charset="0"/>
              <a:buChar char="–"/>
              <a:defRPr sz="9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888285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7"/>
            <a:ext cx="3200400" cy="207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75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900"/>
              </a:lnSpc>
              <a:spcBef>
                <a:spcPts val="0"/>
              </a:spcBef>
              <a:spcAft>
                <a:spcPts val="450"/>
              </a:spcAft>
              <a:buFont typeface="Arial" pitchFamily="34" charset="0"/>
              <a:buChar char=" "/>
              <a:defRPr sz="750" b="0" baseline="0">
                <a:latin typeface="+mn-lt"/>
              </a:defRPr>
            </a:lvl1pPr>
            <a:lvl2pPr marL="0" indent="0">
              <a:lnSpc>
                <a:spcPts val="900"/>
              </a:lnSpc>
              <a:spcBef>
                <a:spcPts val="0"/>
              </a:spcBef>
              <a:spcAft>
                <a:spcPts val="900"/>
              </a:spcAft>
              <a:buFont typeface="Arial" pitchFamily="34" charset="0"/>
              <a:buChar char=" "/>
              <a:defRPr sz="75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171450" indent="-171450">
              <a:buClr>
                <a:srgbClr val="B01C2E"/>
              </a:buClr>
              <a:buFont typeface="Wingdings 2" pitchFamily="18" charset="2"/>
              <a:buChar char="¡"/>
              <a:defRPr sz="750" baseline="0">
                <a:latin typeface="Arial" pitchFamily="34" charset="0"/>
              </a:defRPr>
            </a:lvl3pPr>
            <a:lvl4pPr marL="34290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4pPr>
            <a:lvl5pPr marL="514350" indent="-171450">
              <a:buClr>
                <a:srgbClr val="B01C2E"/>
              </a:buClr>
              <a:buFont typeface="Arial" pitchFamily="34" charset="0"/>
              <a:buChar char="–"/>
              <a:defRPr sz="75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750"/>
              </a:lnSpc>
              <a:buNone/>
              <a:defRPr sz="750" b="0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28588" indent="-128588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1pPr>
            <a:lvl2pPr marL="89154" indent="-89154">
              <a:buClr>
                <a:srgbClr val="B01C2E"/>
              </a:buClr>
              <a:buFont typeface="Wingdings 2" pitchFamily="18" charset="2"/>
              <a:buNone/>
              <a:defRPr sz="750" b="1" baseline="0">
                <a:solidFill>
                  <a:srgbClr val="B01C2E"/>
                </a:solidFill>
              </a:defRPr>
            </a:lvl2pPr>
            <a:lvl3pPr marL="0" indent="-89154" algn="l" defTabSz="6858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Clr>
                <a:srgbClr val="B01C2E"/>
              </a:buClr>
              <a:buFont typeface="Wingdings 2" pitchFamily="18" charset="2"/>
              <a:buNone/>
              <a:defRPr lang="en-US" sz="75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511969" indent="-127397">
              <a:buClr>
                <a:srgbClr val="B01C2E"/>
              </a:buClr>
              <a:defRPr sz="750"/>
            </a:lvl4pPr>
            <a:lvl5pPr marL="640556" indent="-128588">
              <a:buClr>
                <a:srgbClr val="B01C2E"/>
              </a:buClr>
              <a:buFont typeface="Arial" pitchFamily="34" charset="0"/>
              <a:buChar char="–"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180"/>
              </a:spcAft>
              <a:buNone/>
              <a:defRPr sz="750" b="0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NSimSun" pitchFamily="49" charset="-122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chemeClr val="accent1"/>
              </a:buClr>
              <a:buFont typeface="Wingdings 2" pitchFamily="18" charset="2"/>
              <a:buChar char=""/>
              <a:defRPr sz="750" baseline="0">
                <a:solidFill>
                  <a:schemeClr val="tx1"/>
                </a:solidFill>
              </a:defRPr>
            </a:lvl1pPr>
            <a:lvl2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Arial" pitchFamily="34" charset="0"/>
              <a:buChar char=" "/>
              <a:defRPr sz="750" baseline="0"/>
            </a:lvl2pPr>
            <a:lvl3pPr marL="89154" indent="-89154">
              <a:lnSpc>
                <a:spcPct val="95000"/>
              </a:lnSpc>
              <a:spcBef>
                <a:spcPts val="0"/>
              </a:spcBef>
              <a:spcAft>
                <a:spcPts val="150"/>
              </a:spcAft>
              <a:buClr>
                <a:srgbClr val="B01C2E"/>
              </a:buClr>
              <a:buFont typeface="Wingdings 2" pitchFamily="18" charset="2"/>
              <a:buChar char="¡"/>
              <a:defRPr sz="75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46671728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 baseline="0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5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2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9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9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7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4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4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6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2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2" y="1589235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5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9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spcBef>
                <a:spcPts val="0"/>
              </a:spcBef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7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4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4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6" y="3927188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2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750"/>
              </a:lnSpc>
              <a:buNone/>
              <a:defRPr sz="750" b="1"/>
            </a:lvl1pPr>
            <a:lvl2pPr marL="0" indent="0">
              <a:lnSpc>
                <a:spcPts val="750"/>
              </a:lnSpc>
              <a:buNone/>
              <a:defRPr sz="750" i="1"/>
            </a:lvl2pPr>
            <a:lvl3pPr marL="0" indent="0">
              <a:lnSpc>
                <a:spcPts val="750"/>
              </a:lnSpc>
              <a:buFont typeface="Arial" pitchFamily="34" charset="0"/>
              <a:buNone/>
              <a:defRPr sz="750"/>
            </a:lvl3pPr>
            <a:lvl4pPr marL="0" indent="0">
              <a:lnSpc>
                <a:spcPts val="750"/>
              </a:lnSpc>
              <a:buNone/>
              <a:defRPr sz="750"/>
            </a:lvl4pPr>
            <a:lvl5pPr marL="0" indent="0">
              <a:buNone/>
              <a:defRPr sz="7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2" y="3962402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2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66831492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1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788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1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1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 baseline="0">
                <a:latin typeface="+mn-lt"/>
              </a:defRPr>
            </a:lvl1pPr>
            <a:lvl2pPr>
              <a:defRPr sz="900" baseline="0">
                <a:latin typeface="Arial" pitchFamily="34" charset="0"/>
              </a:defRPr>
            </a:lvl2pPr>
            <a:lvl3pPr>
              <a:defRPr sz="900" baseline="0">
                <a:latin typeface="Arial" pitchFamily="34" charset="0"/>
              </a:defRPr>
            </a:lvl3pPr>
            <a:lvl4pPr>
              <a:defRPr sz="900" baseline="0">
                <a:latin typeface="Arial" pitchFamily="34" charset="0"/>
              </a:defRPr>
            </a:lvl4pPr>
            <a:lvl5pPr>
              <a:defRPr sz="9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9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72199276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806012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30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150"/>
              </a:spcBef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525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buNone/>
              <a:defRPr kumimoji="0" lang="en-US" sz="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15765587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525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50815755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75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450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2053221119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525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225"/>
              </a:spcBef>
              <a:buNone/>
              <a:defRPr sz="6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525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9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75"/>
              </a:spcBef>
              <a:spcAft>
                <a:spcPts val="150"/>
              </a:spcAft>
              <a:buNone/>
              <a:defRPr sz="6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6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165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</p:spTree>
    <p:extLst>
      <p:ext uri="{BB962C8B-B14F-4D97-AF65-F5344CB8AC3E}">
        <p14:creationId xmlns:p14="http://schemas.microsoft.com/office/powerpoint/2010/main" val="120709352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Accounting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90836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457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371601"/>
            <a:ext cx="40386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Accounting</a:t>
            </a:r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3699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Accounting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F3C724D-B57F-F94F-8F6D-BE1CC47DC0D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711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35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5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700" b="1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8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Accounting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9"/>
            <a:ext cx="2362200" cy="365125"/>
          </a:xfrm>
          <a:prstGeom prst="rect">
            <a:avLst/>
          </a:prstGeom>
        </p:spPr>
        <p:txBody>
          <a:bodyPr vert="horz" wrap="square" lIns="68580" tIns="34290" rIns="68580" bIns="3429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700" b="1" dirty="0">
                <a:latin typeface="+mn-lt"/>
              </a:rPr>
              <a:t>CF_Ch14_Accounting_25</a:t>
            </a:r>
          </a:p>
        </p:txBody>
      </p:sp>
    </p:spTree>
    <p:extLst>
      <p:ext uri="{BB962C8B-B14F-4D97-AF65-F5344CB8AC3E}">
        <p14:creationId xmlns:p14="http://schemas.microsoft.com/office/powerpoint/2010/main" val="2038482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  <p:sldLayoutId id="2147483772" r:id="rId12"/>
    <p:sldLayoutId id="2147483773" r:id="rId13"/>
    <p:sldLayoutId id="2147483774" r:id="rId14"/>
    <p:sldLayoutId id="2147483775" r:id="rId15"/>
    <p:sldLayoutId id="2147483776" r:id="rId16"/>
    <p:sldLayoutId id="2147483777" r:id="rId17"/>
    <p:sldLayoutId id="2147483778" r:id="rId18"/>
    <p:sldLayoutId id="2147483779" r:id="rId19"/>
    <p:sldLayoutId id="2147483780" r:id="rId20"/>
    <p:sldLayoutId id="2147483781" r:id="rId21"/>
    <p:sldLayoutId id="2147483782" r:id="rId22"/>
    <p:sldLayoutId id="2147483783" r:id="rId23"/>
    <p:sldLayoutId id="2147483784" r:id="rId24"/>
    <p:sldLayoutId id="2147483785" r:id="rId25"/>
    <p:sldLayoutId id="2147483786" r:id="rId26"/>
    <p:sldLayoutId id="2147483787" r:id="rId27"/>
    <p:sldLayoutId id="2147483788" r:id="rId28"/>
    <p:sldLayoutId id="2147483789" r:id="rId29"/>
    <p:sldLayoutId id="2147483790" r:id="rId30"/>
    <p:sldLayoutId id="2147483791" r:id="rId31"/>
    <p:sldLayoutId id="2147483792" r:id="rId32"/>
    <p:sldLayoutId id="2147483793" r:id="rId33"/>
    <p:sldLayoutId id="2147483794" r:id="rId34"/>
    <p:sldLayoutId id="2147483795" r:id="rId35"/>
    <p:sldLayoutId id="2147483796" r:id="rId36"/>
    <p:sldLayoutId id="2147483797" r:id="rId37"/>
    <p:sldLayoutId id="2147483798" r:id="rId38"/>
    <p:sldLayoutId id="2147483799" r:id="rId39"/>
    <p:sldLayoutId id="2147483800" r:id="rId40"/>
    <p:sldLayoutId id="2147483801" r:id="rId41"/>
    <p:sldLayoutId id="2147483802" r:id="rId42"/>
    <p:sldLayoutId id="2147483803" r:id="rId43"/>
    <p:sldLayoutId id="2147483804" r:id="rId44"/>
    <p:sldLayoutId id="2147483805" r:id="rId45"/>
    <p:sldLayoutId id="2147483806" r:id="rId46"/>
    <p:sldLayoutId id="2147483807" r:id="rId47"/>
    <p:sldLayoutId id="2147483808" r:id="rId48"/>
    <p:sldLayoutId id="2147483809" r:id="rId49"/>
    <p:sldLayoutId id="2147483810" r:id="rId50"/>
    <p:sldLayoutId id="2147483811" r:id="rId51"/>
    <p:sldLayoutId id="2147483812" r:id="rId52"/>
    <p:sldLayoutId id="2147483813" r:id="rId53"/>
    <p:sldLayoutId id="2147483814" r:id="rId54"/>
    <p:sldLayoutId id="2147483815" r:id="rId55"/>
    <p:sldLayoutId id="2147483816" r:id="rId56"/>
    <p:sldLayoutId id="21474838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5pPr>
      <a:lvl6pPr marL="3429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6pPr>
      <a:lvl7pPr marL="6858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7pPr>
      <a:lvl8pPr marL="10287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8pPr>
      <a:lvl9pPr marL="1371600" algn="ctr" rtl="0" eaLnBrk="1" fontAlgn="base" hangingPunct="1">
        <a:spcBef>
          <a:spcPct val="0"/>
        </a:spcBef>
        <a:spcAft>
          <a:spcPct val="0"/>
        </a:spcAft>
        <a:defRPr sz="3300">
          <a:solidFill>
            <a:schemeClr val="tx1"/>
          </a:solidFill>
          <a:latin typeface="Arial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6B908C-B5CB-4D61-9AAA-0E6FA8ADAB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527EB-3756-C241-BFD3-DBB1E111190F}" type="slidenum">
              <a:rPr lang="en-US" altLang="en-US" smtClean="0"/>
              <a:pPr/>
              <a:t>1</a:t>
            </a:fld>
            <a:endParaRPr lang="en-US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26835F-3425-4D22-A3BF-7A8DB7F9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-128"/>
              </a:rPr>
              <a:t>Accounting to Finance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ED9786-58D6-4467-A340-9C08B3251F1F}"/>
              </a:ext>
            </a:extLst>
          </p:cNvPr>
          <p:cNvSpPr/>
          <p:nvPr/>
        </p:nvSpPr>
        <p:spPr>
          <a:xfrm>
            <a:off x="641839" y="2111043"/>
            <a:ext cx="8088922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Corporate Finance</a:t>
            </a:r>
          </a:p>
          <a:p>
            <a:pPr algn="ctr"/>
            <a:r>
              <a:rPr lang="en-US" sz="2700" b="1" dirty="0"/>
              <a:t>Financial Statements to Economic Cash Flows</a:t>
            </a:r>
          </a:p>
          <a:p>
            <a:pPr algn="ctr"/>
            <a:endParaRPr lang="en-US" sz="2700" b="1" dirty="0"/>
          </a:p>
          <a:p>
            <a:pPr algn="ctr"/>
            <a:endParaRPr lang="en-US" b="1" dirty="0">
              <a:ea typeface="ＭＳ Ｐゴシック" charset="0"/>
              <a:cs typeface="ＭＳ Ｐゴシック" charset="0"/>
            </a:endParaRPr>
          </a:p>
          <a:p>
            <a:pPr algn="ctr"/>
            <a:endParaRPr lang="en-US" b="1" dirty="0"/>
          </a:p>
          <a:p>
            <a:pPr algn="ctr">
              <a:buNone/>
            </a:pPr>
            <a:r>
              <a:rPr lang="en-US" b="1" dirty="0"/>
              <a:t>Fall 2025</a:t>
            </a:r>
          </a:p>
          <a:p>
            <a:pPr algn="ctr"/>
            <a:r>
              <a:rPr lang="en-US" b="1" dirty="0"/>
              <a:t>Prof. Jeffrey Colón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2871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Importance of Understanding Financial Statements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May be required to be reported (10-K, 10-Q)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Often reported in the media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Understand strengths and limitations in order to value a firm or investment project from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Financial contracts (</a:t>
            </a:r>
            <a:r>
              <a:rPr lang="en-US" sz="1800" b="1" dirty="0">
                <a:ea typeface="ＭＳ Ｐゴシック" charset="0"/>
              </a:rPr>
              <a:t>debt</a:t>
            </a:r>
            <a:r>
              <a:rPr lang="en-US" sz="1800" dirty="0">
                <a:ea typeface="ＭＳ Ｐゴシック" charset="0"/>
              </a:rPr>
              <a:t> and derivative instruments) may refer to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Regulatory rules may refer to financials</a:t>
            </a:r>
          </a:p>
          <a:p>
            <a:pPr lvl="1" eaLnBrk="1" hangingPunct="1"/>
            <a:r>
              <a:rPr lang="en-US" sz="1800" dirty="0">
                <a:ea typeface="ＭＳ Ｐゴシック" charset="0"/>
              </a:rPr>
              <a:t>Managers may care a lot about financials</a:t>
            </a:r>
          </a:p>
          <a:p>
            <a:pPr lvl="2" eaLnBrk="1" hangingPunct="1"/>
            <a:r>
              <a:rPr lang="en-US" sz="1800" i="1" dirty="0">
                <a:ea typeface="ＭＳ Ｐゴシック" charset="0"/>
              </a:rPr>
              <a:t>Manager compensation</a:t>
            </a:r>
          </a:p>
          <a:p>
            <a:pPr lvl="2"/>
            <a:r>
              <a:rPr lang="en-US" sz="1800" dirty="0"/>
              <a:t>“Show me the incentives and I will show you the outcome.” Charlie Munger</a:t>
            </a:r>
          </a:p>
          <a:p>
            <a:pPr lvl="2"/>
            <a:endParaRPr lang="en-US" sz="1800" dirty="0">
              <a:ea typeface="ＭＳ Ｐゴシック" charset="0"/>
            </a:endParaRPr>
          </a:p>
          <a:p>
            <a:pPr marL="0" indent="0">
              <a:buNone/>
            </a:pPr>
            <a:endParaRPr lang="en-US" sz="2150" dirty="0">
              <a:ea typeface="ＭＳ Ｐゴシック" charset="0"/>
            </a:endParaRPr>
          </a:p>
        </p:txBody>
      </p:sp>
      <p:sp>
        <p:nvSpPr>
          <p:cNvPr id="1536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latin typeface="+mn-lt"/>
                <a:ea typeface="ＭＳ Ｐゴシック" charset="0"/>
                <a:cs typeface="ＭＳ Ｐゴシック" charset="0"/>
              </a:rPr>
              <a:t>Financial Statements</a:t>
            </a:r>
            <a:endParaRPr lang="en-US" dirty="0">
              <a:latin typeface="+mn-lt"/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Generally Accepted Accounting Principles (US GAAP)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Standard Setting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FASB</a:t>
            </a:r>
            <a:r>
              <a:rPr lang="en-US" sz="2000" dirty="0">
                <a:ea typeface="ＭＳ Ｐゴシック" charset="0"/>
              </a:rPr>
              <a:t>, Emerging Issues Task Force, AICPA, and the SEC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Before 7/1/09, hodgepodge of various statements and standards: FAS, FIN, </a:t>
            </a:r>
            <a:r>
              <a:rPr lang="en-US" sz="2000" dirty="0" err="1">
                <a:ea typeface="ＭＳ Ｐゴシック" charset="0"/>
              </a:rPr>
              <a:t>FTB</a:t>
            </a:r>
            <a:r>
              <a:rPr lang="en-US" sz="2000" dirty="0">
                <a:ea typeface="ＭＳ Ｐゴシック" charset="0"/>
              </a:rPr>
              <a:t>, </a:t>
            </a:r>
            <a:r>
              <a:rPr lang="en-US" sz="2000" dirty="0" err="1">
                <a:ea typeface="ＭＳ Ｐゴシック" charset="0"/>
              </a:rPr>
              <a:t>EITF</a:t>
            </a:r>
            <a:r>
              <a:rPr lang="en-US" sz="2000" dirty="0">
                <a:ea typeface="ＭＳ Ｐゴシック" charset="0"/>
              </a:rPr>
              <a:t>, APB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Accounting Standards Codification (7/1/09)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Topic--Subtopic—Section</a:t>
            </a:r>
          </a:p>
          <a:p>
            <a:pPr lvl="2" eaLnBrk="1" hangingPunct="1"/>
            <a:r>
              <a:rPr lang="en-US" sz="1800" dirty="0">
                <a:ea typeface="ＭＳ Ｐゴシック" charset="0"/>
              </a:rPr>
              <a:t>820—15—1</a:t>
            </a:r>
          </a:p>
          <a:p>
            <a:pPr lvl="2" eaLnBrk="1" hangingPunct="1"/>
            <a:r>
              <a:rPr lang="en-US" sz="1800" dirty="0">
                <a:ea typeface="ＭＳ Ｐゴシック" charset="0"/>
                <a:sym typeface="Wingdings" charset="0"/>
              </a:rPr>
              <a:t>Fair Value Measurement—Scope—Overall Guidance</a:t>
            </a:r>
            <a:endParaRPr lang="en-US" sz="1800" dirty="0">
              <a:ea typeface="ＭＳ Ｐゴシック" charset="0"/>
            </a:endParaRPr>
          </a:p>
          <a:p>
            <a:pPr lvl="1" eaLnBrk="1" hangingPunct="1"/>
            <a:r>
              <a:rPr lang="en-US" sz="2000" dirty="0">
                <a:ea typeface="ＭＳ Ｐゴシック" charset="0"/>
              </a:rPr>
              <a:t>Accounting Standards Update (ASU)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2" eaLnBrk="1" hangingPunct="1"/>
            <a:r>
              <a:rPr lang="en-US" sz="1600" dirty="0">
                <a:ea typeface="ＭＳ Ｐゴシック" charset="0"/>
                <a:cs typeface="ＭＳ Ｐゴシック" charset="0"/>
              </a:rPr>
              <a:t>ASU 2010-06, Fair Value Measurements and Disclosures (Topic 82)</a:t>
            </a:r>
          </a:p>
          <a:p>
            <a:r>
              <a:rPr lang="en-US" sz="2150" dirty="0">
                <a:ea typeface="ＭＳ Ｐゴシック" charset="0"/>
              </a:rPr>
              <a:t>SEC Requirements</a:t>
            </a:r>
          </a:p>
          <a:p>
            <a:pPr lvl="1"/>
            <a:r>
              <a:rPr lang="en-US" sz="2000" dirty="0">
                <a:ea typeface="ＭＳ Ｐゴシック" charset="0"/>
              </a:rPr>
              <a:t>Regulations </a:t>
            </a:r>
            <a:r>
              <a:rPr lang="en-US" sz="2000" b="1" dirty="0">
                <a:ea typeface="ＭＳ Ｐゴシック" charset="0"/>
              </a:rPr>
              <a:t>S-X</a:t>
            </a:r>
            <a:r>
              <a:rPr lang="en-US" sz="2000" dirty="0">
                <a:ea typeface="ＭＳ Ｐゴシック" charset="0"/>
              </a:rPr>
              <a:t> (17 CFR </a:t>
            </a:r>
            <a:r>
              <a:rPr lang="en-US" sz="2000" dirty="0"/>
              <a:t>§§ 2</a:t>
            </a:r>
            <a:r>
              <a:rPr lang="en-US" sz="2000" dirty="0">
                <a:ea typeface="ＭＳ Ｐゴシック" charset="0"/>
              </a:rPr>
              <a:t>10 </a:t>
            </a:r>
            <a:r>
              <a:rPr lang="en-US" sz="2000" i="1" dirty="0">
                <a:ea typeface="ＭＳ Ｐゴシック" charset="0"/>
              </a:rPr>
              <a:t>et seq</a:t>
            </a:r>
            <a:r>
              <a:rPr lang="en-US" sz="2000" dirty="0">
                <a:ea typeface="ＭＳ Ｐゴシック" charset="0"/>
              </a:rPr>
              <a:t>.); </a:t>
            </a:r>
            <a:r>
              <a:rPr lang="en-US" sz="2000" b="1" dirty="0">
                <a:ea typeface="ＭＳ Ｐゴシック" charset="0"/>
              </a:rPr>
              <a:t>S-K</a:t>
            </a:r>
            <a:r>
              <a:rPr lang="en-US" sz="2000" dirty="0">
                <a:ea typeface="ＭＳ Ｐゴシック" charset="0"/>
              </a:rPr>
              <a:t> (17 CFR </a:t>
            </a:r>
            <a:r>
              <a:rPr lang="en-US" sz="2000" dirty="0"/>
              <a:t>§§ 229.300 </a:t>
            </a:r>
            <a:r>
              <a:rPr lang="en-US" sz="2000" i="1" dirty="0"/>
              <a:t>et seq</a:t>
            </a:r>
            <a:r>
              <a:rPr lang="en-US" sz="2000" dirty="0"/>
              <a:t>.)</a:t>
            </a:r>
          </a:p>
          <a:p>
            <a:pPr lvl="1"/>
            <a:r>
              <a:rPr lang="en-US" sz="2000" dirty="0">
                <a:ea typeface="ＭＳ Ｐゴシック" charset="0"/>
              </a:rPr>
              <a:t>Staff Accounting Bulletins, Interpretive Releases, etc.</a:t>
            </a:r>
          </a:p>
          <a:p>
            <a:pPr lvl="1"/>
            <a:r>
              <a:rPr lang="en-US" sz="2000" dirty="0">
                <a:ea typeface="ＭＳ Ｐゴシック" charset="0"/>
              </a:rPr>
              <a:t>Compliance and disclosure interpretations</a:t>
            </a:r>
          </a:p>
          <a:p>
            <a:pPr lvl="1"/>
            <a:r>
              <a:rPr lang="en-US" sz="2000" dirty="0">
                <a:ea typeface="ＭＳ Ｐゴシック" charset="0"/>
              </a:rPr>
              <a:t>Example: Item 7: </a:t>
            </a:r>
            <a:r>
              <a:rPr lang="en-US" sz="2000" i="1" dirty="0">
                <a:ea typeface="ＭＳ Ｐゴシック" charset="0"/>
              </a:rPr>
              <a:t>Management Discussion and Analysis of Financial Condition and Results of Operations</a:t>
            </a:r>
          </a:p>
          <a:p>
            <a:endParaRPr lang="en-US" sz="1750" dirty="0">
              <a:ea typeface="ＭＳ Ｐゴシック" charset="0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GAAP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38B8EC-6E7D-BA45-9F85-F85AC1B723C1}"/>
              </a:ext>
            </a:extLst>
          </p:cNvPr>
          <p:cNvSpPr txBox="1"/>
          <p:nvPr/>
        </p:nvSpPr>
        <p:spPr>
          <a:xfrm>
            <a:off x="589280" y="65938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410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Balance Sheet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Income Statement</a:t>
            </a:r>
          </a:p>
          <a:p>
            <a:pPr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Statement of Cash Flows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Consolidated Statement of Common </a:t>
            </a:r>
            <a:r>
              <a:rPr lang="en-US" sz="2400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’ 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Equity</a:t>
            </a:r>
          </a:p>
          <a:p>
            <a:r>
              <a:rPr lang="en-US" sz="2150" b="1" dirty="0">
                <a:ea typeface="ＭＳ Ｐゴシック" charset="0"/>
              </a:rPr>
              <a:t>Notes</a:t>
            </a:r>
          </a:p>
          <a:p>
            <a:pPr lvl="1" eaLnBrk="1" hangingPunct="1"/>
            <a:endParaRPr lang="en-US" sz="2000" dirty="0">
              <a:ea typeface="ＭＳ Ｐゴシック" charset="0"/>
            </a:endParaRPr>
          </a:p>
          <a:p>
            <a:pPr lvl="1" eaLnBrk="1" hangingPunct="1">
              <a:buFont typeface="Wingdings" charset="0"/>
              <a:buNone/>
            </a:pPr>
            <a:endParaRPr lang="en-US" dirty="0">
              <a:ea typeface="ＭＳ Ｐゴシック" charset="0"/>
            </a:endParaRPr>
          </a:p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84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Components of Financial Statements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3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Content Placeholder 2"/>
          <p:cNvSpPr>
            <a:spLocks noGrp="1"/>
          </p:cNvSpPr>
          <p:nvPr>
            <p:ph idx="1"/>
          </p:nvPr>
        </p:nvSpPr>
        <p:spPr>
          <a:xfrm>
            <a:off x="384048" y="533051"/>
            <a:ext cx="8458200" cy="5812064"/>
          </a:xfrm>
        </p:spPr>
        <p:txBody>
          <a:bodyPr/>
          <a:lstStyle/>
          <a:p>
            <a:pPr eaLnBrk="1" hangingPunct="1"/>
            <a:r>
              <a:rPr lang="en-US" sz="2400" i="1" dirty="0">
                <a:ea typeface="ＭＳ Ｐゴシック" charset="0"/>
                <a:cs typeface="ＭＳ Ｐゴシック" charset="0"/>
              </a:rPr>
              <a:t>Snapshot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of a firm’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s financial condition at a moment in time prepared in accordance with GAAP/</a:t>
            </a:r>
            <a:r>
              <a:rPr lang="en-US" altLang="ja-JP" sz="2400" dirty="0" err="1">
                <a:ea typeface="ＭＳ Ｐゴシック" charset="0"/>
                <a:cs typeface="ＭＳ Ｐゴシック" charset="0"/>
              </a:rPr>
              <a:t>IFRS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.</a:t>
            </a:r>
          </a:p>
          <a:p>
            <a:pPr eaLnBrk="1" hangingPunct="1"/>
            <a:endParaRPr lang="en-US" sz="2400" dirty="0">
              <a:ea typeface="ＭＳ Ｐゴシック" charset="0"/>
              <a:cs typeface="ＭＳ Ｐゴシック" charset="0"/>
            </a:endParaRPr>
          </a:p>
          <a:p>
            <a:pPr algn="ctr" eaLnBrk="1" hangingPunct="1">
              <a:buFontTx/>
              <a:buNone/>
            </a:pPr>
            <a:r>
              <a:rPr lang="en-US" sz="2400" b="1" u="sng" dirty="0">
                <a:ea typeface="ＭＳ Ｐゴシック" charset="0"/>
                <a:cs typeface="ＭＳ Ｐゴシック" charset="0"/>
              </a:rPr>
              <a:t>Components of a Balance Sheet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Assets</a:t>
            </a:r>
            <a:r>
              <a:rPr lang="en-US" sz="2000" dirty="0">
                <a:ea typeface="ＭＳ Ｐゴシック" charset="0"/>
              </a:rPr>
              <a:t>:  resources/investments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Liabilities</a:t>
            </a:r>
            <a:r>
              <a:rPr lang="en-US" sz="2000" dirty="0">
                <a:ea typeface="ＭＳ Ｐゴシック" charset="0"/>
              </a:rPr>
              <a:t>: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Shareholders’ Equity</a:t>
            </a:r>
            <a:r>
              <a:rPr lang="en-US" sz="2000" dirty="0">
                <a:ea typeface="ＭＳ Ｐゴシック" charset="0"/>
              </a:rPr>
              <a:t>:</a:t>
            </a:r>
          </a:p>
          <a:p>
            <a:pPr lvl="1" eaLnBrk="1" hangingPunct="1"/>
            <a:endParaRPr lang="en-US" sz="2000" b="1" dirty="0">
              <a:ea typeface="ＭＳ Ｐゴシック" charset="0"/>
            </a:endParaRPr>
          </a:p>
          <a:p>
            <a:pPr eaLnBrk="1" hangingPunct="1"/>
            <a:r>
              <a:rPr lang="en-US" sz="2400" b="1" dirty="0">
                <a:ea typeface="ＭＳ Ｐゴシック" charset="0"/>
                <a:cs typeface="ＭＳ Ｐゴシック" charset="0"/>
              </a:rPr>
              <a:t>Assets = Liabilities + Shareholders’ Equity</a:t>
            </a:r>
          </a:p>
          <a:p>
            <a:pPr eaLnBrk="1" hangingPunct="1"/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1945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Balance Sheet</a:t>
            </a:r>
          </a:p>
        </p:txBody>
      </p:sp>
      <p:sp>
        <p:nvSpPr>
          <p:cNvPr id="19461" name="AutoShape 4"/>
          <p:cNvSpPr>
            <a:spLocks/>
          </p:cNvSpPr>
          <p:nvPr/>
        </p:nvSpPr>
        <p:spPr bwMode="auto">
          <a:xfrm>
            <a:off x="3335338" y="2653951"/>
            <a:ext cx="533400" cy="685800"/>
          </a:xfrm>
          <a:prstGeom prst="rightBrace">
            <a:avLst>
              <a:gd name="adj1" fmla="val 10714"/>
              <a:gd name="adj2" fmla="val 46296"/>
            </a:avLst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Calibri"/>
            </a:endParaRPr>
          </a:p>
        </p:txBody>
      </p:sp>
      <p:sp>
        <p:nvSpPr>
          <p:cNvPr id="19462" name="Text Box 5"/>
          <p:cNvSpPr txBox="1">
            <a:spLocks noChangeArrowheads="1"/>
          </p:cNvSpPr>
          <p:nvPr/>
        </p:nvSpPr>
        <p:spPr bwMode="auto">
          <a:xfrm>
            <a:off x="3886200" y="2742851"/>
            <a:ext cx="36576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r>
              <a:rPr lang="en-US" sz="2000" dirty="0">
                <a:latin typeface="Calibri"/>
              </a:rPr>
              <a:t>claims on resources/financing</a:t>
            </a:r>
            <a:endParaRPr lang="en-US" dirty="0"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5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animBg="1"/>
      <p:bldP spid="1946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  <a:sym typeface="Monotype Sorts" charset="0"/>
              </a:rPr>
              <a:t>   </a:t>
            </a:r>
          </a:p>
        </p:txBody>
      </p:sp>
      <p:sp>
        <p:nvSpPr>
          <p:cNvPr id="204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Balance Sheet (Assets)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pic>
        <p:nvPicPr>
          <p:cNvPr id="7" name="Picture 6" descr="A blue and white striped background&#10;&#10;AI-generated content may be incorrect.">
            <a:extLst>
              <a:ext uri="{FF2B5EF4-FFF2-40B4-BE49-F238E27FC236}">
                <a16:creationId xmlns:a16="http://schemas.microsoft.com/office/drawing/2014/main" id="{7996F99F-8882-6F03-EC54-6D763ACD87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912953"/>
            <a:ext cx="8458200" cy="503209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63753E4-769C-6A02-1D63-B6AE45F51F29}"/>
              </a:ext>
            </a:extLst>
          </p:cNvPr>
          <p:cNvSpPr txBox="1"/>
          <p:nvPr/>
        </p:nvSpPr>
        <p:spPr>
          <a:xfrm>
            <a:off x="3429000" y="588647"/>
            <a:ext cx="21804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‘000,000s, except par value &amp; share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Balance Sheet (L &amp; SH Equity)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pic>
        <p:nvPicPr>
          <p:cNvPr id="8" name="Picture 7" descr="A close-up of a financial statement&#10;&#10;AI-generated content may be incorrect.">
            <a:extLst>
              <a:ext uri="{FF2B5EF4-FFF2-40B4-BE49-F238E27FC236}">
                <a16:creationId xmlns:a16="http://schemas.microsoft.com/office/drawing/2014/main" id="{0FF7FB63-2BE4-C092-D468-0B8B80574E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8"/>
          <a:stretch>
            <a:fillRect/>
          </a:stretch>
        </p:blipFill>
        <p:spPr>
          <a:xfrm>
            <a:off x="384048" y="1118807"/>
            <a:ext cx="8458200" cy="51606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472B59-45BC-4EF5-9245-B99042AC94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149" y="598107"/>
            <a:ext cx="3200400" cy="520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C03FCC0-BCE6-534A-9D38-CEA6F6A5026D}"/>
              </a:ext>
            </a:extLst>
          </p:cNvPr>
          <p:cNvSpPr txBox="1"/>
          <p:nvPr/>
        </p:nvSpPr>
        <p:spPr>
          <a:xfrm>
            <a:off x="2866205" y="578512"/>
            <a:ext cx="218040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‘000,000s, except par value &amp; share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8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Cash v. accrual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Assets that don’</a:t>
            </a:r>
            <a:r>
              <a:rPr lang="en-US" altLang="ja-JP" sz="2800" dirty="0">
                <a:ea typeface="ＭＳ Ｐゴシック" charset="0"/>
                <a:cs typeface="ＭＳ Ｐゴシック" charset="0"/>
              </a:rPr>
              <a:t>t appear on the BS</a:t>
            </a:r>
          </a:p>
          <a:p>
            <a:pPr lvl="1" eaLnBrk="1" hangingPunct="1"/>
            <a:r>
              <a:rPr lang="en-US" sz="2400" b="1" dirty="0">
                <a:ea typeface="ＭＳ Ｐゴシック" charset="0"/>
              </a:rPr>
              <a:t>Self-created intangibles</a:t>
            </a:r>
          </a:p>
          <a:p>
            <a:pPr lvl="2"/>
            <a:r>
              <a:rPr lang="en-US" sz="2400" b="1" dirty="0">
                <a:ea typeface="ＭＳ Ｐゴシック" charset="0"/>
              </a:rPr>
              <a:t>Brands, Goodwill, Software, Employee Training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Liabilities that don’</a:t>
            </a:r>
            <a:r>
              <a:rPr lang="en-US" altLang="ja-JP" sz="2800" dirty="0">
                <a:ea typeface="ＭＳ Ｐゴシック" charset="0"/>
                <a:cs typeface="ＭＳ Ｐゴシック" charset="0"/>
              </a:rPr>
              <a:t>t appear on the BS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Liquidity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Retained earnings</a:t>
            </a:r>
            <a:r>
              <a:rPr lang="en-US" sz="2800" dirty="0">
                <a:solidFill>
                  <a:srgbClr val="FF0021"/>
                </a:solidFill>
                <a:ea typeface="ＭＳ Ｐゴシック" charset="0"/>
                <a:cs typeface="ＭＳ Ｐゴシック" charset="0"/>
              </a:rPr>
              <a:t> ≠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cash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Estimates/contingencies </a:t>
            </a:r>
          </a:p>
          <a:p>
            <a:pPr eaLnBrk="1" hangingPunct="1"/>
            <a:r>
              <a:rPr lang="en-US" sz="2800" i="1" dirty="0">
                <a:ea typeface="ＭＳ Ｐゴシック" charset="0"/>
                <a:cs typeface="ＭＳ Ｐゴシック" charset="0"/>
              </a:rPr>
              <a:t>Book Value</a:t>
            </a:r>
          </a:p>
          <a:p>
            <a:pPr lvl="1" eaLnBrk="1" hangingPunct="1"/>
            <a:r>
              <a:rPr lang="en-US" sz="2400" b="1" i="1" dirty="0">
                <a:ea typeface="ＭＳ Ｐゴシック" charset="0"/>
              </a:rPr>
              <a:t>Fair market value v. historical cost</a:t>
            </a:r>
            <a:endParaRPr lang="en-US" sz="2400" dirty="0">
              <a:ea typeface="ＭＳ Ｐゴシック" charset="0"/>
            </a:endParaRPr>
          </a:p>
          <a:p>
            <a:pPr lvl="1" eaLnBrk="1" hangingPunct="1"/>
            <a:endParaRPr lang="en-US" sz="1800" dirty="0">
              <a:ea typeface="ＭＳ Ｐゴシック" charset="0"/>
            </a:endParaRPr>
          </a:p>
        </p:txBody>
      </p:sp>
      <p:sp>
        <p:nvSpPr>
          <p:cNvPr id="245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Balance Sheet Concerns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4581" name="Oval 4"/>
          <p:cNvSpPr>
            <a:spLocks noChangeArrowheads="1"/>
          </p:cNvSpPr>
          <p:nvPr/>
        </p:nvSpPr>
        <p:spPr bwMode="auto">
          <a:xfrm>
            <a:off x="762000" y="5029200"/>
            <a:ext cx="4724400" cy="457200"/>
          </a:xfrm>
          <a:prstGeom prst="ellipse">
            <a:avLst/>
          </a:prstGeom>
          <a:noFill/>
          <a:ln w="28575">
            <a:solidFill>
              <a:srgbClr val="FF002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Calibri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8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Shows firm’</a:t>
            </a:r>
            <a:r>
              <a:rPr lang="en-US" altLang="ja-JP" sz="3200" dirty="0">
                <a:ea typeface="ＭＳ Ｐゴシック" charset="0"/>
                <a:cs typeface="ＭＳ Ｐゴシック" charset="0"/>
              </a:rPr>
              <a:t>s net profit/loss over given period and how it was earned: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Revenues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Costs/Expenses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Interest/Dividends</a:t>
            </a:r>
          </a:p>
          <a:p>
            <a:pPr lvl="1" eaLnBrk="1" hangingPunct="1"/>
            <a:r>
              <a:rPr lang="en-US" sz="2800" dirty="0">
                <a:ea typeface="ＭＳ Ｐゴシック" charset="0"/>
              </a:rPr>
              <a:t>Income Taxes</a:t>
            </a:r>
          </a:p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Measures </a:t>
            </a:r>
            <a:r>
              <a:rPr lang="en-US" sz="3200" b="1" i="1" dirty="0">
                <a:ea typeface="ＭＳ Ｐゴシック" charset="0"/>
                <a:cs typeface="ＭＳ Ｐゴシック" charset="0"/>
              </a:rPr>
              <a:t>flows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 not stock</a:t>
            </a:r>
          </a:p>
          <a:p>
            <a:pPr eaLnBrk="1" hangingPunct="1"/>
            <a:r>
              <a:rPr lang="en-US" sz="3200" dirty="0">
                <a:ea typeface="ＭＳ Ｐゴシック" charset="0"/>
                <a:cs typeface="ＭＳ Ｐゴシック" charset="0"/>
              </a:rPr>
              <a:t>Also referred to </a:t>
            </a:r>
            <a:r>
              <a:rPr lang="en-US" sz="3200">
                <a:ea typeface="ＭＳ Ｐゴシック" charset="0"/>
                <a:cs typeface="ＭＳ Ｐゴシック" charset="0"/>
              </a:rPr>
              <a:t>as a P</a:t>
            </a:r>
            <a:r>
              <a:rPr lang="en-US" sz="3200" dirty="0">
                <a:ea typeface="ＭＳ Ｐゴシック" charset="0"/>
                <a:cs typeface="ＭＳ Ｐゴシック" charset="0"/>
              </a:rPr>
              <a:t>&amp;L Statement</a:t>
            </a:r>
          </a:p>
        </p:txBody>
      </p:sp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Income Statement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2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lvl="1" eaLnBrk="1" hangingPunct="1">
              <a:buFont typeface="Wingdings" charset="0"/>
              <a:buNone/>
            </a:pPr>
            <a:r>
              <a:rPr lang="en-US">
                <a:ea typeface="ＭＳ Ｐゴシック" charset="0"/>
              </a:rPr>
              <a:t> </a:t>
            </a:r>
          </a:p>
        </p:txBody>
      </p:sp>
      <p:sp>
        <p:nvSpPr>
          <p:cNvPr id="2765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Income Statement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7653" name="Rectangle 5"/>
          <p:cNvSpPr>
            <a:spLocks noChangeArrowheads="1"/>
          </p:cNvSpPr>
          <p:nvPr/>
        </p:nvSpPr>
        <p:spPr bwMode="auto">
          <a:xfrm>
            <a:off x="5343525" y="866775"/>
            <a:ext cx="1841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endParaRPr lang="en-US">
              <a:latin typeface="Calibri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pic>
        <p:nvPicPr>
          <p:cNvPr id="7" name="Picture 6" descr="A table with numbers and a few lines&#10;&#10;AI-generated content may be incorrect.">
            <a:extLst>
              <a:ext uri="{FF2B5EF4-FFF2-40B4-BE49-F238E27FC236}">
                <a16:creationId xmlns:a16="http://schemas.microsoft.com/office/drawing/2014/main" id="{1D2D8862-117B-D847-4DAA-EDDD1ED23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609600"/>
            <a:ext cx="8458200" cy="5562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C00A2D-782B-CED8-A9C1-2D366FD6B60B}"/>
              </a:ext>
            </a:extLst>
          </p:cNvPr>
          <p:cNvSpPr txBox="1"/>
          <p:nvPr/>
        </p:nvSpPr>
        <p:spPr>
          <a:xfrm>
            <a:off x="3352800" y="578078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ea typeface="ＭＳ Ｐゴシック" charset="0"/>
                <a:cs typeface="ＭＳ Ｐゴシック" charset="0"/>
              </a:rPr>
              <a:t>Shows changes in Cash (BS) over period</a:t>
            </a:r>
          </a:p>
          <a:p>
            <a:pPr lvl="1"/>
            <a:r>
              <a:rPr lang="en-US" sz="2000" dirty="0">
                <a:ea typeface="ＭＳ Ｐゴシック" charset="0"/>
              </a:rPr>
              <a:t>Flow, not stock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Difference between Net Income and Cash Flow?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CFs separated by activity:</a:t>
            </a:r>
          </a:p>
          <a:p>
            <a:pPr lvl="1"/>
            <a:r>
              <a:rPr lang="en-US" sz="2000" dirty="0">
                <a:ea typeface="ＭＳ Ｐゴシック" charset="0"/>
              </a:rPr>
              <a:t>Operating Activities</a:t>
            </a:r>
          </a:p>
          <a:p>
            <a:pPr lvl="1"/>
            <a:r>
              <a:rPr lang="en-US" sz="2000" dirty="0">
                <a:ea typeface="ＭＳ Ｐゴシック" charset="0"/>
              </a:rPr>
              <a:t>Investing Activities</a:t>
            </a:r>
          </a:p>
          <a:p>
            <a:pPr lvl="1"/>
            <a:r>
              <a:rPr lang="en-US" sz="2000" dirty="0">
                <a:ea typeface="ＭＳ Ｐゴシック" charset="0"/>
              </a:rPr>
              <a:t>Financing Activities</a:t>
            </a:r>
          </a:p>
        </p:txBody>
      </p:sp>
      <p:sp>
        <p:nvSpPr>
          <p:cNvPr id="29697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ea typeface="ＭＳ Ｐゴシック" charset="0"/>
                <a:cs typeface="ＭＳ Ｐゴシック" charset="0"/>
              </a:rPr>
              <a:t>Statement of Cash Flows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buFontTx/>
              <a:buNone/>
            </a:pP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3072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Statement of Cash Flows:  Operating  &amp; Investing Activities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92D945-CD98-295C-3183-8689EE7F5DF8}"/>
              </a:ext>
            </a:extLst>
          </p:cNvPr>
          <p:cNvSpPr txBox="1"/>
          <p:nvPr/>
        </p:nvSpPr>
        <p:spPr>
          <a:xfrm>
            <a:off x="4419600" y="681966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10" name="Picture 9" descr="A close-up of a report&#10;&#10;AI-generated content may be incorrect.">
            <a:extLst>
              <a:ext uri="{FF2B5EF4-FFF2-40B4-BE49-F238E27FC236}">
                <a16:creationId xmlns:a16="http://schemas.microsoft.com/office/drawing/2014/main" id="{60B1997F-C532-BEF4-670A-84605F4E2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" y="838200"/>
            <a:ext cx="8458200" cy="5181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4048" y="50387"/>
            <a:ext cx="8458200" cy="365127"/>
          </a:xfrm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 Statement of Cash Flows: Financing Activities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21DD2F-806C-4B41-93B7-1DBEB963E181}"/>
              </a:ext>
            </a:extLst>
          </p:cNvPr>
          <p:cNvSpPr txBox="1"/>
          <p:nvPr/>
        </p:nvSpPr>
        <p:spPr>
          <a:xfrm>
            <a:off x="5943600" y="661086"/>
            <a:ext cx="3048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2025	    2024      2023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67770D-CCA7-230D-B30B-404B2212D689}"/>
              </a:ext>
            </a:extLst>
          </p:cNvPr>
          <p:cNvSpPr txBox="1"/>
          <p:nvPr/>
        </p:nvSpPr>
        <p:spPr>
          <a:xfrm>
            <a:off x="4800600" y="697086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6" name="Picture 5" descr="A close-up of a financial statement&#10;&#10;AI-generated content may be incorrect.">
            <a:extLst>
              <a:ext uri="{FF2B5EF4-FFF2-40B4-BE49-F238E27FC236}">
                <a16:creationId xmlns:a16="http://schemas.microsoft.com/office/drawing/2014/main" id="{FF177CA0-9DD3-04E1-1539-11665F739C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9"/>
          <a:stretch>
            <a:fillRect/>
          </a:stretch>
        </p:blipFill>
        <p:spPr>
          <a:xfrm>
            <a:off x="384048" y="1066800"/>
            <a:ext cx="8458200" cy="5094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1303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5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41934"/>
            <a:ext cx="8458200" cy="365127"/>
          </a:xfrm>
        </p:spPr>
        <p:txBody>
          <a:bodyPr/>
          <a:lstStyle/>
          <a:p>
            <a:pPr eaLnBrk="1" hangingPunct="1"/>
            <a:r>
              <a:rPr lang="en-US" dirty="0">
                <a:ea typeface="ＭＳ Ｐゴシック" charset="0"/>
                <a:cs typeface="ＭＳ Ｐゴシック" charset="0"/>
              </a:rPr>
              <a:t>Costco’s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FY 2025</a:t>
            </a:r>
            <a:r>
              <a:rPr lang="en-US" dirty="0">
                <a:ea typeface="ＭＳ Ｐゴシック" charset="0"/>
                <a:cs typeface="ＭＳ Ｐゴシック" charset="0"/>
              </a:rPr>
              <a:t>’s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 </a:t>
            </a:r>
            <a:r>
              <a:rPr lang="en-US" b="1" dirty="0">
                <a:ea typeface="ＭＳ Ｐゴシック" charset="0"/>
                <a:cs typeface="ＭＳ Ｐゴシック" charset="0"/>
              </a:rPr>
              <a:t>Consolidated Statement of Common Shareholders</a:t>
            </a:r>
            <a:r>
              <a:rPr lang="ja-JP" altLang="en-US" b="1" dirty="0">
                <a:ea typeface="ＭＳ Ｐゴシック" charset="0"/>
                <a:cs typeface="ＭＳ Ｐゴシック" charset="0"/>
              </a:rPr>
              <a:t>’</a:t>
            </a:r>
            <a:r>
              <a:rPr lang="en-US" altLang="ja-JP" b="1" dirty="0">
                <a:ea typeface="ＭＳ Ｐゴシック" charset="0"/>
                <a:cs typeface="ＭＳ Ｐゴシック" charset="0"/>
              </a:rPr>
              <a:t>Equity</a:t>
            </a:r>
            <a:endParaRPr lang="en-US" b="1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04068E-789E-76DE-FE36-0BDF91BC5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599355"/>
            <a:ext cx="6403848" cy="6985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B8B4B0-2AC3-48CF-98EB-547B868B2B61}"/>
              </a:ext>
            </a:extLst>
          </p:cNvPr>
          <p:cNvSpPr txBox="1"/>
          <p:nvPr/>
        </p:nvSpPr>
        <p:spPr>
          <a:xfrm>
            <a:off x="152400" y="9053"/>
            <a:ext cx="7489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In ‘000,000s</a:t>
            </a:r>
          </a:p>
        </p:txBody>
      </p:sp>
      <p:pic>
        <p:nvPicPr>
          <p:cNvPr id="5" name="Picture 4" descr="A table with numbers and lines&#10;&#10;AI-generated content may be incorrect.">
            <a:extLst>
              <a:ext uri="{FF2B5EF4-FFF2-40B4-BE49-F238E27FC236}">
                <a16:creationId xmlns:a16="http://schemas.microsoft.com/office/drawing/2014/main" id="{29454E2F-D648-34DF-3252-A642B6F2F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297854"/>
            <a:ext cx="8001000" cy="48743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4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Finance focuses on Cash Flows</a:t>
            </a: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Accountants focus on current valuation through the lenses of the BS, IS, and </a:t>
            </a:r>
            <a:r>
              <a:rPr lang="en-US" sz="2400" dirty="0" err="1">
                <a:ea typeface="ＭＳ Ｐゴシック" charset="0"/>
                <a:cs typeface="ＭＳ Ｐゴシック" charset="0"/>
              </a:rPr>
              <a:t>SoCF</a:t>
            </a:r>
            <a:endParaRPr lang="en-US" sz="2400" dirty="0">
              <a:ea typeface="ＭＳ Ｐゴシック" charset="0"/>
              <a:cs typeface="ＭＳ Ｐゴシック" charset="0"/>
            </a:endParaRPr>
          </a:p>
          <a:p>
            <a:pPr eaLnBrk="1" hangingPunct="1"/>
            <a:r>
              <a:rPr lang="en-US" sz="2400" dirty="0">
                <a:ea typeface="ＭＳ Ｐゴシック" charset="0"/>
                <a:cs typeface="ＭＳ Ｐゴシック" charset="0"/>
              </a:rPr>
              <a:t>Important Differences: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Accruals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  </a:t>
            </a:r>
          </a:p>
          <a:p>
            <a:pPr lvl="1" eaLnBrk="1" hangingPunct="1"/>
            <a:r>
              <a:rPr lang="en-US" sz="2000" b="1" dirty="0">
                <a:ea typeface="ＭＳ Ｐゴシック" charset="0"/>
              </a:rPr>
              <a:t>long-term (depreciation), </a:t>
            </a:r>
            <a:r>
              <a:rPr lang="en-US" sz="2000" dirty="0">
                <a:ea typeface="ＭＳ Ｐゴシック" charset="0"/>
              </a:rPr>
              <a:t>and </a:t>
            </a:r>
          </a:p>
          <a:p>
            <a:pPr lvl="1" eaLnBrk="1" hangingPunct="1"/>
            <a:r>
              <a:rPr lang="en-US" sz="2000" dirty="0">
                <a:ea typeface="ＭＳ Ｐゴシック" charset="0"/>
              </a:rPr>
              <a:t>short-term (changes in working capital, </a:t>
            </a:r>
            <a:r>
              <a:rPr lang="en-US" sz="2000" i="1" dirty="0">
                <a:ea typeface="ＭＳ Ｐゴシック" charset="0"/>
              </a:rPr>
              <a:t>e.g., </a:t>
            </a:r>
            <a:r>
              <a:rPr lang="en-US" sz="2000" dirty="0">
                <a:ea typeface="ＭＳ Ｐゴシック" charset="0"/>
              </a:rPr>
              <a:t>accounts receivable</a:t>
            </a:r>
            <a:r>
              <a:rPr lang="en-US" sz="2000" i="1" dirty="0">
                <a:ea typeface="ＭＳ Ｐゴシック" charset="0"/>
              </a:rPr>
              <a:t>,</a:t>
            </a:r>
            <a:r>
              <a:rPr lang="en-US" sz="2000" dirty="0">
                <a:ea typeface="ＭＳ Ｐゴシック" charset="0"/>
              </a:rPr>
              <a:t> and corporate income taxes)</a:t>
            </a:r>
          </a:p>
        </p:txBody>
      </p:sp>
      <p:sp>
        <p:nvSpPr>
          <p:cNvPr id="3584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>
                <a:ea typeface="ＭＳ Ｐゴシック" charset="0"/>
                <a:cs typeface="ＭＳ Ｐゴシック" charset="0"/>
              </a:rPr>
              <a:t>Finance and Accounting</a:t>
            </a:r>
            <a:endParaRPr lang="en-US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3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342900" indent="-342900"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Accrual vs. cash method of accounting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Sales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Payables, such as interest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Capital expenditures vs. expenses</a:t>
            </a:r>
          </a:p>
          <a:p>
            <a:pPr marL="342900" indent="-342900" eaLnBrk="1" hangingPunct="1">
              <a:lnSpc>
                <a:spcPct val="90000"/>
              </a:lnSpc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 marL="342900" indent="-342900" eaLnBrk="1" hangingPunct="1">
              <a:lnSpc>
                <a:spcPct val="90000"/>
              </a:lnSpc>
            </a:pPr>
            <a:r>
              <a:rPr lang="en-US" sz="2400" dirty="0">
                <a:ea typeface="ＭＳ Ｐゴシック" charset="0"/>
                <a:cs typeface="ＭＳ Ｐゴシック" charset="0"/>
              </a:rPr>
              <a:t>Depreciation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Accounting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Economic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Tax (SL v. accelerated)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Useful life, salvage value, and conventions</a:t>
            </a:r>
          </a:p>
          <a:p>
            <a:pPr marL="742950" lvl="1" indent="-285750" eaLnBrk="1" hangingPunct="1">
              <a:lnSpc>
                <a:spcPct val="90000"/>
              </a:lnSpc>
            </a:pPr>
            <a:r>
              <a:rPr lang="en-US" sz="2000" dirty="0">
                <a:ea typeface="ＭＳ Ｐゴシック" charset="0"/>
              </a:rPr>
              <a:t>Depreciation is </a:t>
            </a:r>
            <a:r>
              <a:rPr lang="en-US" sz="2000" i="1" dirty="0">
                <a:ea typeface="ＭＳ Ｐゴシック" charset="0"/>
              </a:rPr>
              <a:t>NOT</a:t>
            </a:r>
            <a:r>
              <a:rPr lang="en-US" sz="2000" dirty="0">
                <a:ea typeface="ＭＳ Ｐゴシック" charset="0"/>
              </a:rPr>
              <a:t> a CF, but it affects taxes, a CF</a:t>
            </a:r>
          </a:p>
        </p:txBody>
      </p:sp>
      <p:sp>
        <p:nvSpPr>
          <p:cNvPr id="378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Cash Flows (Finance) vs. Accruals (Accounting)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3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4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Classification of Securities with readily determinable fair value</a:t>
            </a:r>
          </a:p>
          <a:p>
            <a:pPr lvl="1" eaLnBrk="1" hangingPunct="1"/>
            <a:r>
              <a:rPr lang="en-US" sz="2400" i="1" dirty="0">
                <a:ea typeface="ＭＳ Ｐゴシック" charset="0"/>
              </a:rPr>
              <a:t>Marketable Securities</a:t>
            </a:r>
            <a:r>
              <a:rPr lang="en-US" sz="2400" dirty="0">
                <a:ea typeface="ＭＳ Ｐゴシック" charset="0"/>
              </a:rPr>
              <a:t>:  liquid assets that the company can and intends to convert into cash, when necessary, but usually within 1 year (current asset)</a:t>
            </a:r>
          </a:p>
          <a:p>
            <a:pPr lvl="1" eaLnBrk="1" hangingPunct="1"/>
            <a:r>
              <a:rPr lang="en-US" sz="2400" i="1" dirty="0">
                <a:ea typeface="ＭＳ Ｐゴシック" charset="0"/>
              </a:rPr>
              <a:t>Investment In Securities</a:t>
            </a:r>
            <a:r>
              <a:rPr lang="en-US" sz="2400" dirty="0">
                <a:ea typeface="ＭＳ Ｐゴシック" charset="0"/>
              </a:rPr>
              <a:t>: noncurrent asset</a:t>
            </a:r>
          </a:p>
          <a:p>
            <a:pPr eaLnBrk="1" hangingPunct="1"/>
            <a:r>
              <a:rPr lang="en-US" sz="2800" dirty="0">
                <a:ea typeface="ＭＳ Ｐゴシック" charset="0"/>
                <a:cs typeface="ＭＳ Ｐゴシック" charset="0"/>
              </a:rPr>
              <a:t>Valuation at Acquisition</a:t>
            </a:r>
          </a:p>
          <a:p>
            <a:pPr lvl="1" eaLnBrk="1" hangingPunct="1"/>
            <a:r>
              <a:rPr lang="en-US" sz="2400" dirty="0">
                <a:ea typeface="ＭＳ Ｐゴシック" charset="0"/>
              </a:rPr>
              <a:t>Initially booked at </a:t>
            </a:r>
            <a:r>
              <a:rPr lang="en-US" sz="2400" i="1" dirty="0">
                <a:ea typeface="ＭＳ Ｐゴシック" charset="0"/>
              </a:rPr>
              <a:t>cost</a:t>
            </a:r>
          </a:p>
          <a:p>
            <a:pPr eaLnBrk="1" hangingPunct="1">
              <a:buFontTx/>
              <a:buNone/>
            </a:pPr>
            <a:r>
              <a:rPr lang="en-US" sz="3600" i="1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399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Fair Value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2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Trading Securities (TS)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Held for short-term profit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FV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 with changes in FV reported in the IS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Securities Available for Sale (AFS)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Neither TS nor HTM; acquired for operating rather than ST potential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FV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 with changes in FV reported SHs </a:t>
            </a:r>
            <a:r>
              <a:rPr lang="en-US" altLang="ja-JP" sz="2000" b="1" dirty="0">
                <a:solidFill>
                  <a:srgbClr val="FF0000"/>
                </a:solidFill>
                <a:ea typeface="ＭＳ Ｐゴシック" charset="0"/>
              </a:rPr>
              <a:t>Equity in Comprehensive Income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Debt Held to Maturity</a:t>
            </a:r>
            <a:r>
              <a:rPr lang="en-US" sz="2400" b="1" i="1" dirty="0">
                <a:ea typeface="ＭＳ Ｐゴシック" charset="0"/>
                <a:cs typeface="ＭＳ Ｐゴシック" charset="0"/>
              </a:rPr>
              <a:t>  </a:t>
            </a:r>
            <a:r>
              <a:rPr lang="en-US" sz="2400" b="1" dirty="0">
                <a:ea typeface="ＭＳ Ｐゴシック" charset="0"/>
                <a:cs typeface="ＭＳ Ｐゴシック" charset="0"/>
              </a:rPr>
              <a:t>(HTM)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Debt securities that a firm intends to hold to maturity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on the BS at </a:t>
            </a:r>
            <a:r>
              <a:rPr lang="en-US" sz="2000" b="1" i="1" dirty="0">
                <a:solidFill>
                  <a:srgbClr val="FF0000"/>
                </a:solidFill>
                <a:ea typeface="ＭＳ Ｐゴシック" charset="0"/>
              </a:rPr>
              <a:t>amortized cost</a:t>
            </a:r>
            <a:r>
              <a:rPr lang="en-US" sz="2000" dirty="0">
                <a:ea typeface="ＭＳ Ｐゴシック" charset="0"/>
              </a:rPr>
              <a:t> (premium or discount amortized over the life of the bond as an adjustment to interest)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dirty="0">
                <a:ea typeface="ＭＳ Ｐゴシック" charset="0"/>
              </a:rPr>
              <a:t>Changes in FV not reported in IS or BS unless security value is permanently impaired</a:t>
            </a:r>
          </a:p>
          <a:p>
            <a:pPr marL="284163" indent="-284163" eaLnBrk="1" hangingPunct="1">
              <a:lnSpc>
                <a:spcPct val="8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Direct Investment Loans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ea typeface="ＭＳ Ｐゴシック" charset="0"/>
              </a:rPr>
              <a:t>HFI:  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shown at amortized cost</a:t>
            </a:r>
            <a:r>
              <a:rPr lang="en-US" sz="2000" dirty="0">
                <a:ea typeface="ＭＳ Ｐゴシック" charset="0"/>
              </a:rPr>
              <a:t>, with </a:t>
            </a:r>
            <a:r>
              <a:rPr lang="en-US" sz="2000" i="1" dirty="0">
                <a:ea typeface="ＭＳ Ｐゴシック" charset="0"/>
              </a:rPr>
              <a:t>impairment</a:t>
            </a:r>
            <a:r>
              <a:rPr lang="en-US" sz="2000" dirty="0">
                <a:ea typeface="ＭＳ Ｐゴシック" charset="0"/>
              </a:rPr>
              <a:t> recognized for probable credit losses (delay in timing and amount of E(CF) due to events incurred as of measurement date)</a:t>
            </a:r>
          </a:p>
          <a:p>
            <a:pPr marL="630238" lvl="1" indent="-173038" eaLnBrk="1" hangingPunct="1">
              <a:lnSpc>
                <a:spcPct val="80000"/>
              </a:lnSpc>
            </a:pPr>
            <a:r>
              <a:rPr lang="en-US" sz="2000" b="1" dirty="0">
                <a:ea typeface="ＭＳ Ｐゴシック" charset="0"/>
              </a:rPr>
              <a:t>HFS:  </a:t>
            </a:r>
            <a:r>
              <a:rPr lang="en-US" sz="2000" b="1" dirty="0">
                <a:solidFill>
                  <a:srgbClr val="FF0000"/>
                </a:solidFill>
                <a:ea typeface="ＭＳ Ｐゴシック" charset="0"/>
              </a:rPr>
              <a:t>lower-of-cost-or-FV</a:t>
            </a:r>
            <a:r>
              <a:rPr lang="en-US" sz="2000" dirty="0">
                <a:ea typeface="ＭＳ Ｐゴシック" charset="0"/>
              </a:rPr>
              <a:t>, with losses recognized in income</a:t>
            </a:r>
            <a:endParaRPr lang="en-US" sz="2000" b="1" dirty="0">
              <a:ea typeface="ＭＳ Ｐゴシック" charset="0"/>
            </a:endParaRPr>
          </a:p>
          <a:p>
            <a:pPr marL="0" indent="0" eaLnBrk="1" hangingPunct="1">
              <a:lnSpc>
                <a:spcPct val="80000"/>
              </a:lnSpc>
              <a:buNone/>
            </a:pPr>
            <a:endParaRPr lang="en-US" sz="24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FV</a:t>
            </a:r>
            <a:r>
              <a:rPr lang="en-US" dirty="0">
                <a:ea typeface="ＭＳ Ｐゴシック" charset="0"/>
                <a:cs typeface="ＭＳ Ｐゴシック" charset="0"/>
              </a:rPr>
              <a:t>: Valuation after Acquisition FASB 115 (Topics 320 and 820)</a:t>
            </a:r>
            <a:endParaRPr lang="en-US" dirty="0">
              <a:latin typeface="+mn-lt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2867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8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0" dur="500"/>
                                        <p:tgtEl>
                                          <p:spTgt spid="2867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1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3" dur="500"/>
                                        <p:tgtEl>
                                          <p:spTgt spid="2867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18" dur="500"/>
                                        <p:tgtEl>
                                          <p:spTgt spid="2867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1" dur="500"/>
                                        <p:tgtEl>
                                          <p:spTgt spid="2867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2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4" dur="500"/>
                                        <p:tgtEl>
                                          <p:spTgt spid="2867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2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29" dur="500"/>
                                        <p:tgtEl>
                                          <p:spTgt spid="2867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0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2" dur="500"/>
                                        <p:tgtEl>
                                          <p:spTgt spid="2867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5" dur="500"/>
                                        <p:tgtEl>
                                          <p:spTgt spid="2867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6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38" dur="500"/>
                                        <p:tgtEl>
                                          <p:spTgt spid="2867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6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3" dur="500"/>
                                        <p:tgtEl>
                                          <p:spTgt spid="2867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4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6" dur="500"/>
                                        <p:tgtEl>
                                          <p:spTgt spid="2867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7" presetID="4" presetClass="entr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49" dur="500"/>
                                        <p:tgtEl>
                                          <p:spTgt spid="2867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Camera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23" grpId="0" build="p" autoUpdateAnimBg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Fair Value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</a:t>
            </a:r>
          </a:p>
          <a:p>
            <a:pPr marL="517525" lvl="1" indent="-171450" eaLnBrk="1" hangingPunct="1">
              <a:lnSpc>
                <a:spcPct val="90000"/>
              </a:lnSpc>
            </a:pPr>
            <a:r>
              <a:rPr lang="ja-JP" altLang="en-US" sz="2000">
                <a:ea typeface="ＭＳ Ｐゴシック" charset="0"/>
              </a:rPr>
              <a:t>“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price that would be received to</a:t>
            </a:r>
            <a:r>
              <a:rPr lang="en-US" altLang="ja-JP" sz="2000" i="1" dirty="0">
                <a:latin typeface="Helvetica" charset="0"/>
                <a:ea typeface="ＭＳ Ｐゴシック" charset="0"/>
              </a:rPr>
              <a:t> sell 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an asset or paid to transfer a liability in an orderly transaction between market participants at the measurement date.</a:t>
            </a:r>
            <a:r>
              <a:rPr lang="ja-JP" altLang="en-US" sz="2000">
                <a:latin typeface="Helvetica" charset="0"/>
                <a:ea typeface="ＭＳ Ｐゴシック" charset="0"/>
              </a:rPr>
              <a:t>”</a:t>
            </a:r>
            <a:r>
              <a:rPr lang="en-US" altLang="ja-JP" sz="2000" dirty="0">
                <a:latin typeface="Helvetica" charset="0"/>
                <a:ea typeface="ＭＳ Ｐゴシック" charset="0"/>
              </a:rPr>
              <a:t> SFAS 157, par. 5.</a:t>
            </a:r>
            <a:r>
              <a:rPr lang="en-US" altLang="ja-JP" sz="2000" dirty="0">
                <a:ea typeface="ＭＳ Ｐゴシック" charset="0"/>
              </a:rPr>
              <a:t>  (Topic 820-10-35-2)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1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inputs based on prices on active markets of identical asset or liability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2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quoted prices of similar instruments in active markets or identical instruments in inactive markets, or market information on valuation parameters (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e.g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., yield curves, interest rates)</a:t>
            </a:r>
          </a:p>
          <a:p>
            <a:pPr marL="173038" indent="-173038" eaLnBrk="1" hangingPunct="1">
              <a:lnSpc>
                <a:spcPct val="90000"/>
              </a:lnSpc>
            </a:pPr>
            <a:r>
              <a:rPr lang="en-US" sz="2400" b="1" dirty="0">
                <a:ea typeface="ＭＳ Ｐゴシック" charset="0"/>
                <a:cs typeface="ＭＳ Ｐゴシック" charset="0"/>
              </a:rPr>
              <a:t>Level 3</a:t>
            </a:r>
            <a:r>
              <a:rPr lang="en-US" sz="2400" dirty="0">
                <a:ea typeface="ＭＳ Ｐゴシック" charset="0"/>
                <a:cs typeface="ＭＳ Ｐゴシック" charset="0"/>
              </a:rPr>
              <a:t>:  inputs that are not currently observable, such as the </a:t>
            </a:r>
            <a:r>
              <a:rPr lang="en-US" sz="2400" i="1" dirty="0">
                <a:ea typeface="ＭＳ Ｐゴシック" charset="0"/>
                <a:cs typeface="ＭＳ Ｐゴシック" charset="0"/>
              </a:rPr>
              <a:t>firm’</a:t>
            </a:r>
            <a:r>
              <a:rPr lang="en-US" altLang="ja-JP" sz="2400" i="1" dirty="0">
                <a:ea typeface="ＭＳ Ｐゴシック" charset="0"/>
                <a:cs typeface="ＭＳ Ｐゴシック" charset="0"/>
              </a:rPr>
              <a:t>s own assumptions 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regarding valuation parameters that participants would use</a:t>
            </a:r>
            <a:r>
              <a:rPr lang="en-US" altLang="ja-JP" sz="2400" i="1" dirty="0">
                <a:ea typeface="ＭＳ Ｐゴシック" charset="0"/>
                <a:cs typeface="ＭＳ Ｐゴシック" charset="0"/>
              </a:rPr>
              <a:t>, e.g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., expected CFs, discount rates.</a:t>
            </a:r>
            <a:endParaRPr lang="en-US" sz="2400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4403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Fair Value Hierarchy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>
                <a:ea typeface="ＭＳ Ｐゴシック" charset="0"/>
                <a:cs typeface="ＭＳ Ｐゴシック" charset="0"/>
              </a:rPr>
              <a:t>Level Designations and Typical Instruments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pic>
        <p:nvPicPr>
          <p:cNvPr id="45061" name="Picture 4" descr="Snapshot 2009-03-16 21-49-5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048" y="685800"/>
            <a:ext cx="8458200" cy="541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9C43E53-C38E-1E2C-782D-2E2EC8A12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SVB Balance Sheet (2022)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0CE0E-CCF3-C244-C044-49EE1DF71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4351C7-2E87-AD24-FE73-84D4189D6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9" name="Picture 8" descr="A screenshot of a financial statement&#10;&#10;AI-generated content may be incorrect.">
            <a:extLst>
              <a:ext uri="{FF2B5EF4-FFF2-40B4-BE49-F238E27FC236}">
                <a16:creationId xmlns:a16="http://schemas.microsoft.com/office/drawing/2014/main" id="{B5BE0BCE-B69B-57CD-4F70-A795DA3A7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1" y="581879"/>
            <a:ext cx="8458200" cy="2770921"/>
          </a:xfrm>
          <a:prstGeom prst="rect">
            <a:avLst/>
          </a:prstGeom>
        </p:spPr>
      </p:pic>
      <p:pic>
        <p:nvPicPr>
          <p:cNvPr id="21" name="Content Placeholder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8B110DC-FC7D-27DE-0D1F-EF9CEBB00F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4048" y="3429000"/>
            <a:ext cx="8458200" cy="1743472"/>
          </a:xfr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18B9506-3236-C0E3-1077-4A9528C51AA4}"/>
              </a:ext>
            </a:extLst>
          </p:cNvPr>
          <p:cNvSpPr txBox="1"/>
          <p:nvPr/>
        </p:nvSpPr>
        <p:spPr>
          <a:xfrm>
            <a:off x="369840" y="5280880"/>
            <a:ext cx="8316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SVB showed cash, AFS, and HTM with a value of around 120Bi.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Its SH equity was 16Bi</a:t>
            </a:r>
          </a:p>
        </p:txBody>
      </p:sp>
    </p:spTree>
    <p:extLst>
      <p:ext uri="{BB962C8B-B14F-4D97-AF65-F5344CB8AC3E}">
        <p14:creationId xmlns:p14="http://schemas.microsoft.com/office/powerpoint/2010/main" val="1924247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16EC3FA-0452-64FD-89C1-A4E3EC311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SVB 2022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CB645-0EE7-0035-AD9E-AA43B6A4AD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96AAF9-7A0C-2483-91B6-CEC0442C9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6" name="Content Placeholder 6" descr="A screenshot of a report&#10;&#10;AI-generated content may be incorrect.">
            <a:extLst>
              <a:ext uri="{FF2B5EF4-FFF2-40B4-BE49-F238E27FC236}">
                <a16:creationId xmlns:a16="http://schemas.microsoft.com/office/drawing/2014/main" id="{0B3AD2D5-64D1-0F14-65AA-7CD9199777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84048" y="4641351"/>
            <a:ext cx="8316959" cy="1615483"/>
          </a:xfrm>
        </p:spPr>
      </p:pic>
      <p:pic>
        <p:nvPicPr>
          <p:cNvPr id="8" name="Picture 7" descr="A screenshot of a report&#10;&#10;AI-generated content may be incorrect.">
            <a:extLst>
              <a:ext uri="{FF2B5EF4-FFF2-40B4-BE49-F238E27FC236}">
                <a16:creationId xmlns:a16="http://schemas.microsoft.com/office/drawing/2014/main" id="{53BF1F72-0B63-9D1D-626C-9CAB28A8C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926" y="1794646"/>
            <a:ext cx="8634674" cy="163435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258E07-2651-EDB7-4B1D-E2E9411769B7}"/>
              </a:ext>
            </a:extLst>
          </p:cNvPr>
          <p:cNvSpPr txBox="1"/>
          <p:nvPr/>
        </p:nvSpPr>
        <p:spPr>
          <a:xfrm>
            <a:off x="293641" y="594317"/>
            <a:ext cx="83169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SVB’s FV of the HTM securities was 76Bi versus 91Bi on the balance sheet.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Had the HTM been instead AFS, the 15Bi of loss would have been recognized in Other Comprehensive Income and would have wiped out virtually all the equity book value.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63E52D-FCA3-DCCE-96A4-E3653313EA23}"/>
              </a:ext>
            </a:extLst>
          </p:cNvPr>
          <p:cNvSpPr txBox="1"/>
          <p:nvPr/>
        </p:nvSpPr>
        <p:spPr>
          <a:xfrm>
            <a:off x="293641" y="3579028"/>
            <a:ext cx="8316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FV of cash, AFS and HTM (115Bi) was around 66% of the deposits due under 1 </a:t>
            </a:r>
            <a:r>
              <a:rPr lang="en-US"/>
              <a:t>year (173Bi) making </a:t>
            </a:r>
            <a:r>
              <a:rPr lang="en-US" dirty="0"/>
              <a:t>it susceptible to a run. </a:t>
            </a:r>
          </a:p>
        </p:txBody>
      </p:sp>
    </p:spTree>
    <p:extLst>
      <p:ext uri="{BB962C8B-B14F-4D97-AF65-F5344CB8AC3E}">
        <p14:creationId xmlns:p14="http://schemas.microsoft.com/office/powerpoint/2010/main" val="33073691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>
                <a:ea typeface="ＭＳ Ｐゴシック" charset="0"/>
                <a:cs typeface="ＭＳ Ｐゴシック" charset="0"/>
              </a:rPr>
              <a:t>Why can’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t we just use earnings for our </a:t>
            </a:r>
            <a:r>
              <a:rPr lang="en-US" altLang="ja-JP" sz="2400" dirty="0" err="1">
                <a:ea typeface="ＭＳ Ｐゴシック" charset="0"/>
                <a:cs typeface="ＭＳ Ｐゴシック" charset="0"/>
              </a:rPr>
              <a:t>NPV</a:t>
            </a:r>
            <a:r>
              <a:rPr lang="en-US" altLang="ja-JP" sz="2400" dirty="0">
                <a:ea typeface="ＭＳ Ｐゴシック" charset="0"/>
                <a:cs typeface="ＭＳ Ｐゴシック" charset="0"/>
              </a:rPr>
              <a:t> analysis?</a:t>
            </a:r>
          </a:p>
          <a:p>
            <a:r>
              <a:rPr lang="en-US" sz="2400" dirty="0">
                <a:ea typeface="ＭＳ Ｐゴシック" charset="0"/>
                <a:cs typeface="ＭＳ Ｐゴシック" charset="0"/>
              </a:rPr>
              <a:t>Going from Financials to Finance</a:t>
            </a:r>
          </a:p>
        </p:txBody>
      </p:sp>
      <p:sp>
        <p:nvSpPr>
          <p:cNvPr id="4710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b="1" dirty="0">
                <a:ea typeface="ＭＳ Ｐゴシック" charset="0"/>
                <a:cs typeface="ＭＳ Ｐゴシック" charset="0"/>
              </a:rPr>
              <a:t>Cash Flows (Finance) vs. Accruals (Accounting)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645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ea typeface="ＭＳ Ｐゴシック" charset="0"/>
                <a:cs typeface="ＭＳ Ｐゴシック" charset="0"/>
              </a:rPr>
              <a:t>Unlevered Free Cash Flow: Accounting to Finance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  <p:graphicFrame>
        <p:nvGraphicFramePr>
          <p:cNvPr id="242813" name="Group 1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7029639"/>
              </p:ext>
            </p:extLst>
          </p:nvPr>
        </p:nvGraphicFramePr>
        <p:xfrm>
          <a:off x="1143000" y="685800"/>
          <a:ext cx="7315200" cy="525779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31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EBIT (Earnings </a:t>
                      </a:r>
                      <a:r>
                        <a:rPr kumimoji="0" lang="en-US" sz="2400" b="1" u="none" strike="noStrike" cap="none" normalizeH="0" baseline="0">
                          <a:ln>
                            <a:noFill/>
                          </a:ln>
                          <a:effectLst/>
                        </a:rPr>
                        <a:t>before Interest and Taxes)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+ Depreciation/Amort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 Capital Expenditures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585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 Taxes (EBIT – Tax Rate)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-Increases (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+Decreases</a:t>
                      </a: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</a:rPr>
                        <a:t>) in Working Capital (Inv, Pay) 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anchor="b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0052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5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____________________________________________________________________________________________________________</a:t>
                      </a:r>
                      <a:endParaRPr kumimoji="0" lang="en-US" sz="5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u="none" strike="noStrike" cap="none" normalizeH="0" baseline="0" dirty="0">
                          <a:ln>
                            <a:noFill/>
                          </a:ln>
                          <a:effectLst/>
                        </a:rPr>
                        <a:t> = Unlevered Free Cash Flow </a:t>
                      </a: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27413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/>
                        <a:ea typeface="ＭＳ Ｐゴシック" charset="0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06572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5D1E63-7149-4341-957F-2B116C3AE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FCF</a:t>
            </a:r>
            <a:r>
              <a:rPr lang="en-US" dirty="0"/>
              <a:t> Analysis: </a:t>
            </a:r>
            <a:r>
              <a:rPr lang="en-US" i="1" dirty="0"/>
              <a:t>Owen v. </a:t>
            </a:r>
            <a:r>
              <a:rPr lang="en-US" i="1" dirty="0" err="1"/>
              <a:t>ESG</a:t>
            </a:r>
            <a:r>
              <a:rPr lang="en-US" b="0" dirty="0"/>
              <a:t>, </a:t>
            </a:r>
            <a:r>
              <a:rPr lang="en-US" dirty="0"/>
              <a:t>Del. Ch. Ct. 2015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B81E0-BABF-304F-9C18-B354A8F7B5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E71ED-D5E3-BE4B-B44F-13CCB246F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476861-1E49-A048-9280-695E1542B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10195"/>
            <a:ext cx="8683752" cy="5819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5492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/>
              <a:t>JC Penny (2/3/18)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Accounting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7227384-69EC-5840-AF21-0861899E7D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4048" y="762000"/>
            <a:ext cx="8458200" cy="1752600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5BCAC74-6525-CF43-AB51-A3EF09A1DA4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857"/>
          <a:stretch/>
        </p:blipFill>
        <p:spPr>
          <a:xfrm>
            <a:off x="430543" y="2505105"/>
            <a:ext cx="8627007" cy="1073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70E0BA-B2F0-4C41-B202-1B175BBEA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9" y="3578210"/>
            <a:ext cx="8627007" cy="154532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D2B83A-527F-8A43-96FB-2B6281938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898" y="5269170"/>
            <a:ext cx="8191501" cy="853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56939"/>
      </p:ext>
    </p:extLst>
  </p:cSld>
  <p:clrMapOvr>
    <a:masterClrMapping/>
  </p:clrMapOvr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19881</TotalTime>
  <Words>1255</Words>
  <Application>Microsoft Macintosh PowerPoint</Application>
  <PresentationFormat>On-screen Show (4:3)</PresentationFormat>
  <Paragraphs>225</Paragraphs>
  <Slides>26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6" baseType="lpstr">
      <vt:lpstr>ＭＳ Ｐゴシック</vt:lpstr>
      <vt:lpstr>NSimSun</vt:lpstr>
      <vt:lpstr>Arial</vt:lpstr>
      <vt:lpstr>Calibri</vt:lpstr>
      <vt:lpstr>Courier New</vt:lpstr>
      <vt:lpstr>Helvetica</vt:lpstr>
      <vt:lpstr>Times New Roman</vt:lpstr>
      <vt:lpstr>Wingdings</vt:lpstr>
      <vt:lpstr>Wingdings 2</vt:lpstr>
      <vt:lpstr>CG Body - Standard</vt:lpstr>
      <vt:lpstr>PowerPoint Presentation</vt:lpstr>
      <vt:lpstr>Financial Statements</vt:lpstr>
      <vt:lpstr>GAAP</vt:lpstr>
      <vt:lpstr>Components of Financial Statements</vt:lpstr>
      <vt:lpstr>Balance Sheet</vt:lpstr>
      <vt:lpstr>Costco’s FY 2025 Balance Sheet (Assets)</vt:lpstr>
      <vt:lpstr>Costco’s FY 2025 Balance Sheet (L &amp; SH Equity)</vt:lpstr>
      <vt:lpstr>Balance Sheet Concerns</vt:lpstr>
      <vt:lpstr>Income Statement</vt:lpstr>
      <vt:lpstr>Costco’s FY 2025 Income Statement</vt:lpstr>
      <vt:lpstr>Statement of Cash Flows</vt:lpstr>
      <vt:lpstr>Costco’s FY 2025 Statement of Cash Flows:  Operating  &amp; Investing Activities</vt:lpstr>
      <vt:lpstr>Costco’s FY 2025 Statement of Cash Flows: Financing Activities</vt:lpstr>
      <vt:lpstr>Costco’s FY 2025’s Consolidated Statement of Common Shareholders’Equity</vt:lpstr>
      <vt:lpstr>Finance and Accounting</vt:lpstr>
      <vt:lpstr>Cash Flows (Finance) vs. Accruals (Accounting)</vt:lpstr>
      <vt:lpstr>Fair Value</vt:lpstr>
      <vt:lpstr>FV: Valuation after Acquisition FASB 115 (Topics 320 and 820)</vt:lpstr>
      <vt:lpstr>Fair Value Hierarchy</vt:lpstr>
      <vt:lpstr>Level Designations and Typical Instruments</vt:lpstr>
      <vt:lpstr>SVB Balance Sheet (2022)</vt:lpstr>
      <vt:lpstr>SVB 2022</vt:lpstr>
      <vt:lpstr>Cash Flows (Finance) vs. Accruals (Accounting)</vt:lpstr>
      <vt:lpstr>Unlevered Free Cash Flow: Accounting to Finance</vt:lpstr>
      <vt:lpstr>FCF Analysis: Owen v. ESG, Del. Ch. Ct. 2015</vt:lpstr>
      <vt:lpstr>JC Penny (2/3/18)</vt:lpstr>
    </vt:vector>
  </TitlesOfParts>
  <Company>Fordham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XPUser</dc:creator>
  <cp:lastModifiedBy>Colon, Jeffrey M.</cp:lastModifiedBy>
  <cp:revision>342</cp:revision>
  <cp:lastPrinted>2021-10-24T02:13:45Z</cp:lastPrinted>
  <dcterms:created xsi:type="dcterms:W3CDTF">2010-03-20T00:16:08Z</dcterms:created>
  <dcterms:modified xsi:type="dcterms:W3CDTF">2025-11-04T22:49:56Z</dcterms:modified>
</cp:coreProperties>
</file>