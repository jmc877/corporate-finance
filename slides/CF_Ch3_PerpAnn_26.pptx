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1"/>
  </p:notesMasterIdLst>
  <p:sldIdLst>
    <p:sldId id="306" r:id="rId5"/>
    <p:sldId id="256" r:id="rId6"/>
    <p:sldId id="257" r:id="rId7"/>
    <p:sldId id="258" r:id="rId8"/>
    <p:sldId id="260" r:id="rId9"/>
    <p:sldId id="261" r:id="rId10"/>
    <p:sldId id="295" r:id="rId11"/>
    <p:sldId id="262" r:id="rId12"/>
    <p:sldId id="263" r:id="rId13"/>
    <p:sldId id="264" r:id="rId14"/>
    <p:sldId id="265" r:id="rId15"/>
    <p:sldId id="266" r:id="rId16"/>
    <p:sldId id="267" r:id="rId17"/>
    <p:sldId id="294" r:id="rId18"/>
    <p:sldId id="270" r:id="rId19"/>
    <p:sldId id="274" r:id="rId20"/>
    <p:sldId id="292" r:id="rId21"/>
    <p:sldId id="275" r:id="rId22"/>
    <p:sldId id="307" r:id="rId23"/>
    <p:sldId id="308" r:id="rId24"/>
    <p:sldId id="309" r:id="rId25"/>
    <p:sldId id="278" r:id="rId26"/>
    <p:sldId id="288" r:id="rId27"/>
    <p:sldId id="289" r:id="rId28"/>
    <p:sldId id="283" r:id="rId29"/>
    <p:sldId id="281" r:id="rId30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/>
    <p:restoredTop sz="94696"/>
  </p:normalViewPr>
  <p:slideViewPr>
    <p:cSldViewPr snapToGrid="0" snapToObjects="1">
      <p:cViewPr varScale="1">
        <p:scale>
          <a:sx n="134" d="100"/>
          <a:sy n="134" d="100"/>
        </p:scale>
        <p:origin x="216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undo custSel addSld modSld modMainMaster">
      <pc:chgData name="Colon, Jeffrey M." userId="615143b1-cdee-493d-9a9d-1565ce8666d9" providerId="ADAL" clId="{DC1DB158-BAB1-5930-B714-AEF472873853}" dt="2026-08-28T12:18:04.080" v="1488" actId="20577"/>
      <pc:docMkLst>
        <pc:docMk/>
      </pc:docMkLst>
      <pc:sldChg chg="modSp">
        <pc:chgData name="Colon, Jeffrey M." userId="615143b1-cdee-493d-9a9d-1565ce8666d9" providerId="ADAL" clId="{DC1DB158-BAB1-5930-B714-AEF472873853}" dt="2026-08-27T22:24:30.923" v="4" actId="20577"/>
        <pc:sldMkLst>
          <pc:docMk/>
          <pc:sldMk cId="992168479" sldId="266"/>
        </pc:sldMkLst>
        <pc:spChg chg="mod">
          <ac:chgData name="Colon, Jeffrey M." userId="615143b1-cdee-493d-9a9d-1565ce8666d9" providerId="ADAL" clId="{DC1DB158-BAB1-5930-B714-AEF472873853}" dt="2026-08-27T22:24:30.923" v="4" actId="20577"/>
          <ac:spMkLst>
            <pc:docMk/>
            <pc:sldMk cId="992168479" sldId="266"/>
            <ac:spMk id="58371" creationId="{00000000-0000-0000-0000-000000000000}"/>
          </ac:spMkLst>
        </pc:spChg>
      </pc:sldChg>
      <pc:sldChg chg="modSp mod">
        <pc:chgData name="Colon, Jeffrey M." userId="615143b1-cdee-493d-9a9d-1565ce8666d9" providerId="ADAL" clId="{DC1DB158-BAB1-5930-B714-AEF472873853}" dt="2026-08-28T12:18:04.080" v="1488" actId="20577"/>
        <pc:sldMkLst>
          <pc:docMk/>
          <pc:sldMk cId="1144128459" sldId="283"/>
        </pc:sldMkLst>
        <pc:spChg chg="mod">
          <ac:chgData name="Colon, Jeffrey M." userId="615143b1-cdee-493d-9a9d-1565ce8666d9" providerId="ADAL" clId="{DC1DB158-BAB1-5930-B714-AEF472873853}" dt="2026-08-28T12:13:21.106" v="1410" actId="20577"/>
          <ac:spMkLst>
            <pc:docMk/>
            <pc:sldMk cId="1144128459" sldId="283"/>
            <ac:spMk id="2" creationId="{036D74F7-ED82-4866-8BE5-117D42F34A19}"/>
          </ac:spMkLst>
        </pc:spChg>
        <pc:graphicFrameChg chg="mod modGraphic">
          <ac:chgData name="Colon, Jeffrey M." userId="615143b1-cdee-493d-9a9d-1565ce8666d9" providerId="ADAL" clId="{DC1DB158-BAB1-5930-B714-AEF472873853}" dt="2026-08-28T12:18:04.080" v="1488" actId="20577"/>
          <ac:graphicFrameMkLst>
            <pc:docMk/>
            <pc:sldMk cId="1144128459" sldId="283"/>
            <ac:graphicFrameMk id="3" creationId="{00000000-0000-0000-0000-000000000000}"/>
          </ac:graphicFrameMkLst>
        </pc:graphicFrameChg>
      </pc:sldChg>
      <pc:sldChg chg="modSp mod">
        <pc:chgData name="Colon, Jeffrey M." userId="615143b1-cdee-493d-9a9d-1565ce8666d9" providerId="ADAL" clId="{DC1DB158-BAB1-5930-B714-AEF472873853}" dt="2026-08-28T12:10:52.252" v="1357" actId="14100"/>
        <pc:sldMkLst>
          <pc:docMk/>
          <pc:sldMk cId="1048837813" sldId="289"/>
        </pc:sldMkLst>
        <pc:spChg chg="mod">
          <ac:chgData name="Colon, Jeffrey M." userId="615143b1-cdee-493d-9a9d-1565ce8666d9" providerId="ADAL" clId="{DC1DB158-BAB1-5930-B714-AEF472873853}" dt="2026-08-28T12:08:40.872" v="1324" actId="6549"/>
          <ac:spMkLst>
            <pc:docMk/>
            <pc:sldMk cId="1048837813" sldId="289"/>
            <ac:spMk id="2" creationId="{EEC793F6-A9F0-C7BF-14D2-267129B34D4F}"/>
          </ac:spMkLst>
        </pc:spChg>
        <pc:graphicFrameChg chg="mod modGraphic">
          <ac:chgData name="Colon, Jeffrey M." userId="615143b1-cdee-493d-9a9d-1565ce8666d9" providerId="ADAL" clId="{DC1DB158-BAB1-5930-B714-AEF472873853}" dt="2026-08-28T12:10:52.252" v="1357" actId="14100"/>
          <ac:graphicFrameMkLst>
            <pc:docMk/>
            <pc:sldMk cId="1048837813" sldId="289"/>
            <ac:graphicFrameMk id="10" creationId="{00000000-0000-0000-0000-000000000000}"/>
          </ac:graphicFrameMkLst>
        </pc:graphicFrameChg>
      </pc:sldChg>
      <pc:sldChg chg="modSp mod">
        <pc:chgData name="Colon, Jeffrey M." userId="615143b1-cdee-493d-9a9d-1565ce8666d9" providerId="ADAL" clId="{DC1DB158-BAB1-5930-B714-AEF472873853}" dt="2026-08-27T21:27:24.609" v="3" actId="20577"/>
        <pc:sldMkLst>
          <pc:docMk/>
          <pc:sldMk cId="3622871933" sldId="306"/>
        </pc:sldMkLst>
        <pc:spChg chg="mod">
          <ac:chgData name="Colon, Jeffrey M." userId="615143b1-cdee-493d-9a9d-1565ce8666d9" providerId="ADAL" clId="{DC1DB158-BAB1-5930-B714-AEF472873853}" dt="2026-08-27T21:27:24.609" v="3" actId="20577"/>
          <ac:spMkLst>
            <pc:docMk/>
            <pc:sldMk cId="3622871933" sldId="306"/>
            <ac:spMk id="6" creationId="{E9ED9786-58D6-4467-A340-9C08B3251F1F}"/>
          </ac:spMkLst>
        </pc:spChg>
      </pc:sldChg>
      <pc:sldChg chg="addSp delSp modSp new mod chgLayout">
        <pc:chgData name="Colon, Jeffrey M." userId="615143b1-cdee-493d-9a9d-1565ce8666d9" providerId="ADAL" clId="{DC1DB158-BAB1-5930-B714-AEF472873853}" dt="2026-08-28T11:26:55.650" v="1288" actId="1076"/>
        <pc:sldMkLst>
          <pc:docMk/>
          <pc:sldMk cId="1065015816" sldId="307"/>
        </pc:sldMkLst>
        <pc:spChg chg="del">
          <ac:chgData name="Colon, Jeffrey M." userId="615143b1-cdee-493d-9a9d-1565ce8666d9" providerId="ADAL" clId="{DC1DB158-BAB1-5930-B714-AEF472873853}" dt="2026-08-27T23:00:40.397" v="67"/>
          <ac:spMkLst>
            <pc:docMk/>
            <pc:sldMk cId="1065015816" sldId="307"/>
            <ac:spMk id="2" creationId="{3AC19D4A-5396-80B5-58D9-25AAD5144F91}"/>
          </ac:spMkLst>
        </pc:spChg>
        <pc:spChg chg="mod ord">
          <ac:chgData name="Colon, Jeffrey M." userId="615143b1-cdee-493d-9a9d-1565ce8666d9" providerId="ADAL" clId="{DC1DB158-BAB1-5930-B714-AEF472873853}" dt="2026-08-27T23:36:25.180" v="380" actId="700"/>
          <ac:spMkLst>
            <pc:docMk/>
            <pc:sldMk cId="1065015816" sldId="307"/>
            <ac:spMk id="3" creationId="{2D1BCD6D-0BBD-6DA4-8A7B-EC267D14A6B0}"/>
          </ac:spMkLst>
        </pc:spChg>
        <pc:spChg chg="mod ord">
          <ac:chgData name="Colon, Jeffrey M." userId="615143b1-cdee-493d-9a9d-1565ce8666d9" providerId="ADAL" clId="{DC1DB158-BAB1-5930-B714-AEF472873853}" dt="2026-08-27T23:36:25.180" v="380" actId="700"/>
          <ac:spMkLst>
            <pc:docMk/>
            <pc:sldMk cId="1065015816" sldId="307"/>
            <ac:spMk id="4" creationId="{6BAB62FC-2593-4C20-D7DE-D5B21989EEC1}"/>
          </ac:spMkLst>
        </pc:spChg>
        <pc:spChg chg="mod ord">
          <ac:chgData name="Colon, Jeffrey M." userId="615143b1-cdee-493d-9a9d-1565ce8666d9" providerId="ADAL" clId="{DC1DB158-BAB1-5930-B714-AEF472873853}" dt="2026-08-27T23:36:25.180" v="380" actId="700"/>
          <ac:spMkLst>
            <pc:docMk/>
            <pc:sldMk cId="1065015816" sldId="307"/>
            <ac:spMk id="5" creationId="{C3B49F26-8FE7-3FC8-F936-EED215703F2B}"/>
          </ac:spMkLst>
        </pc:spChg>
        <pc:spChg chg="add del mod ord">
          <ac:chgData name="Colon, Jeffrey M." userId="615143b1-cdee-493d-9a9d-1565ce8666d9" providerId="ADAL" clId="{DC1DB158-BAB1-5930-B714-AEF472873853}" dt="2026-08-28T11:26:21.193" v="1276" actId="120"/>
          <ac:spMkLst>
            <pc:docMk/>
            <pc:sldMk cId="1065015816" sldId="307"/>
            <ac:spMk id="12" creationId="{F9EC724F-D209-E358-540B-DB102C70B7D4}"/>
          </ac:spMkLst>
        </pc:spChg>
        <pc:spChg chg="add mod">
          <ac:chgData name="Colon, Jeffrey M." userId="615143b1-cdee-493d-9a9d-1565ce8666d9" providerId="ADAL" clId="{DC1DB158-BAB1-5930-B714-AEF472873853}" dt="2026-08-27T23:02:30.673" v="85" actId="208"/>
          <ac:spMkLst>
            <pc:docMk/>
            <pc:sldMk cId="1065015816" sldId="307"/>
            <ac:spMk id="13" creationId="{F3E70ECE-BD83-588F-C1AB-16CB1909FDD8}"/>
          </ac:spMkLst>
        </pc:spChg>
        <pc:spChg chg="add del mod">
          <ac:chgData name="Colon, Jeffrey M." userId="615143b1-cdee-493d-9a9d-1565ce8666d9" providerId="ADAL" clId="{DC1DB158-BAB1-5930-B714-AEF472873853}" dt="2026-08-27T23:01:51.391" v="82" actId="26606"/>
          <ac:spMkLst>
            <pc:docMk/>
            <pc:sldMk cId="1065015816" sldId="307"/>
            <ac:spMk id="17" creationId="{A0E8275A-C7BF-F2F2-7413-4AB5805CE853}"/>
          </ac:spMkLst>
        </pc:spChg>
        <pc:spChg chg="add del mod">
          <ac:chgData name="Colon, Jeffrey M." userId="615143b1-cdee-493d-9a9d-1565ce8666d9" providerId="ADAL" clId="{DC1DB158-BAB1-5930-B714-AEF472873853}" dt="2026-08-27T23:01:51.391" v="82" actId="26606"/>
          <ac:spMkLst>
            <pc:docMk/>
            <pc:sldMk cId="1065015816" sldId="307"/>
            <ac:spMk id="19" creationId="{C366C175-94BD-9296-CE46-BFF6F74EB829}"/>
          </ac:spMkLst>
        </pc:spChg>
        <pc:spChg chg="add del mod">
          <ac:chgData name="Colon, Jeffrey M." userId="615143b1-cdee-493d-9a9d-1565ce8666d9" providerId="ADAL" clId="{DC1DB158-BAB1-5930-B714-AEF472873853}" dt="2026-08-27T23:01:51.391" v="82" actId="26606"/>
          <ac:spMkLst>
            <pc:docMk/>
            <pc:sldMk cId="1065015816" sldId="307"/>
            <ac:spMk id="21" creationId="{508B1BB4-BBA2-4D86-6313-AA331BA62BEB}"/>
          </ac:spMkLst>
        </pc:spChg>
        <pc:spChg chg="add del mod ord">
          <ac:chgData name="Colon, Jeffrey M." userId="615143b1-cdee-493d-9a9d-1565ce8666d9" providerId="ADAL" clId="{DC1DB158-BAB1-5930-B714-AEF472873853}" dt="2026-08-27T23:36:25.180" v="380" actId="700"/>
          <ac:spMkLst>
            <pc:docMk/>
            <pc:sldMk cId="1065015816" sldId="307"/>
            <ac:spMk id="25" creationId="{6B51A03F-74F1-D42B-0C43-4370AD5ED313}"/>
          </ac:spMkLst>
        </pc:spChg>
        <pc:picChg chg="add del mod ord">
          <ac:chgData name="Colon, Jeffrey M." userId="615143b1-cdee-493d-9a9d-1565ce8666d9" providerId="ADAL" clId="{DC1DB158-BAB1-5930-B714-AEF472873853}" dt="2026-08-27T23:01:19.704" v="76" actId="478"/>
          <ac:picMkLst>
            <pc:docMk/>
            <pc:sldMk cId="1065015816" sldId="307"/>
            <ac:picMk id="7" creationId="{BB31314F-DC50-90B2-2AC5-A82C9C431B9C}"/>
          </ac:picMkLst>
        </pc:picChg>
        <pc:picChg chg="add del mod">
          <ac:chgData name="Colon, Jeffrey M." userId="615143b1-cdee-493d-9a9d-1565ce8666d9" providerId="ADAL" clId="{DC1DB158-BAB1-5930-B714-AEF472873853}" dt="2026-08-27T23:01:22.248" v="77" actId="478"/>
          <ac:picMkLst>
            <pc:docMk/>
            <pc:sldMk cId="1065015816" sldId="307"/>
            <ac:picMk id="8" creationId="{959BE3E5-999C-9D51-1B8D-5857D042159E}"/>
          </ac:picMkLst>
        </pc:picChg>
        <pc:picChg chg="add mod ord">
          <ac:chgData name="Colon, Jeffrey M." userId="615143b1-cdee-493d-9a9d-1565ce8666d9" providerId="ADAL" clId="{DC1DB158-BAB1-5930-B714-AEF472873853}" dt="2026-08-27T23:01:51.391" v="82" actId="26606"/>
          <ac:picMkLst>
            <pc:docMk/>
            <pc:sldMk cId="1065015816" sldId="307"/>
            <ac:picMk id="10" creationId="{8C5D2EB0-1C07-BE61-EB7A-86E5B3EAF2FD}"/>
          </ac:picMkLst>
        </pc:picChg>
        <pc:picChg chg="add mod">
          <ac:chgData name="Colon, Jeffrey M." userId="615143b1-cdee-493d-9a9d-1565ce8666d9" providerId="ADAL" clId="{DC1DB158-BAB1-5930-B714-AEF472873853}" dt="2026-08-28T11:26:38.479" v="1281" actId="1076"/>
          <ac:picMkLst>
            <pc:docMk/>
            <pc:sldMk cId="1065015816" sldId="307"/>
            <ac:picMk id="15" creationId="{626FDC63-F1FE-B6F8-47DC-9A3829221E57}"/>
          </ac:picMkLst>
        </pc:picChg>
        <pc:picChg chg="add mod">
          <ac:chgData name="Colon, Jeffrey M." userId="615143b1-cdee-493d-9a9d-1565ce8666d9" providerId="ADAL" clId="{DC1DB158-BAB1-5930-B714-AEF472873853}" dt="2026-08-28T11:26:43.501" v="1283" actId="1076"/>
          <ac:picMkLst>
            <pc:docMk/>
            <pc:sldMk cId="1065015816" sldId="307"/>
            <ac:picMk id="18" creationId="{91B909E9-5E86-0648-1B59-E6619EE8CE23}"/>
          </ac:picMkLst>
        </pc:picChg>
        <pc:picChg chg="add mod">
          <ac:chgData name="Colon, Jeffrey M." userId="615143b1-cdee-493d-9a9d-1565ce8666d9" providerId="ADAL" clId="{DC1DB158-BAB1-5930-B714-AEF472873853}" dt="2026-08-28T11:26:33.226" v="1279" actId="1076"/>
          <ac:picMkLst>
            <pc:docMk/>
            <pc:sldMk cId="1065015816" sldId="307"/>
            <ac:picMk id="22" creationId="{1FC2660D-CC5A-AB6B-6774-51A9848A3CDA}"/>
          </ac:picMkLst>
        </pc:picChg>
        <pc:picChg chg="add mod">
          <ac:chgData name="Colon, Jeffrey M." userId="615143b1-cdee-493d-9a9d-1565ce8666d9" providerId="ADAL" clId="{DC1DB158-BAB1-5930-B714-AEF472873853}" dt="2026-08-28T11:26:30.693" v="1278" actId="1076"/>
          <ac:picMkLst>
            <pc:docMk/>
            <pc:sldMk cId="1065015816" sldId="307"/>
            <ac:picMk id="24" creationId="{1B1CB89B-F450-162B-52DB-989E93FA9EF1}"/>
          </ac:picMkLst>
        </pc:picChg>
        <pc:picChg chg="add mod">
          <ac:chgData name="Colon, Jeffrey M." userId="615143b1-cdee-493d-9a9d-1565ce8666d9" providerId="ADAL" clId="{DC1DB158-BAB1-5930-B714-AEF472873853}" dt="2026-08-28T11:26:53.134" v="1287" actId="1076"/>
          <ac:picMkLst>
            <pc:docMk/>
            <pc:sldMk cId="1065015816" sldId="307"/>
            <ac:picMk id="27" creationId="{2DB474D5-4DE1-854D-55D4-9CE708B949B8}"/>
          </ac:picMkLst>
        </pc:picChg>
        <pc:picChg chg="add mod">
          <ac:chgData name="Colon, Jeffrey M." userId="615143b1-cdee-493d-9a9d-1565ce8666d9" providerId="ADAL" clId="{DC1DB158-BAB1-5930-B714-AEF472873853}" dt="2026-08-27T23:40:31.567" v="599"/>
          <ac:picMkLst>
            <pc:docMk/>
            <pc:sldMk cId="1065015816" sldId="307"/>
            <ac:picMk id="28" creationId="{81C4BAB9-BEDB-FA22-CFAD-7BCFA238553B}"/>
          </ac:picMkLst>
        </pc:picChg>
        <pc:picChg chg="add mod">
          <ac:chgData name="Colon, Jeffrey M." userId="615143b1-cdee-493d-9a9d-1565ce8666d9" providerId="ADAL" clId="{DC1DB158-BAB1-5930-B714-AEF472873853}" dt="2026-08-28T11:26:51.294" v="1286" actId="1076"/>
          <ac:picMkLst>
            <pc:docMk/>
            <pc:sldMk cId="1065015816" sldId="307"/>
            <ac:picMk id="29" creationId="{21F27795-75E1-D8B5-342E-6E6AA42EC5BB}"/>
          </ac:picMkLst>
        </pc:picChg>
        <pc:picChg chg="add mod">
          <ac:chgData name="Colon, Jeffrey M." userId="615143b1-cdee-493d-9a9d-1565ce8666d9" providerId="ADAL" clId="{DC1DB158-BAB1-5930-B714-AEF472873853}" dt="2026-08-28T11:26:55.650" v="1288" actId="1076"/>
          <ac:picMkLst>
            <pc:docMk/>
            <pc:sldMk cId="1065015816" sldId="307"/>
            <ac:picMk id="30" creationId="{62E4357E-C6EB-7CBD-48C5-C5A6BC9C1F1B}"/>
          </ac:picMkLst>
        </pc:picChg>
        <pc:picChg chg="add mod">
          <ac:chgData name="Colon, Jeffrey M." userId="615143b1-cdee-493d-9a9d-1565ce8666d9" providerId="ADAL" clId="{DC1DB158-BAB1-5930-B714-AEF472873853}" dt="2026-08-28T11:26:26.161" v="1277" actId="1076"/>
          <ac:picMkLst>
            <pc:docMk/>
            <pc:sldMk cId="1065015816" sldId="307"/>
            <ac:picMk id="32" creationId="{800DBF5D-A0AD-ABBD-0AFB-E45429E7A812}"/>
          </ac:picMkLst>
        </pc:picChg>
        <pc:picChg chg="add del mod">
          <ac:chgData name="Colon, Jeffrey M." userId="615143b1-cdee-493d-9a9d-1565ce8666d9" providerId="ADAL" clId="{DC1DB158-BAB1-5930-B714-AEF472873853}" dt="2026-08-28T11:26:46.058" v="1284" actId="478"/>
          <ac:picMkLst>
            <pc:docMk/>
            <pc:sldMk cId="1065015816" sldId="307"/>
            <ac:picMk id="33" creationId="{DBB24597-1A0F-9028-60D9-1FB796E3688A}"/>
          </ac:picMkLst>
        </pc:picChg>
      </pc:sldChg>
      <pc:sldChg chg="addSp delSp modSp new mod chgLayout">
        <pc:chgData name="Colon, Jeffrey M." userId="615143b1-cdee-493d-9a9d-1565ce8666d9" providerId="ADAL" clId="{DC1DB158-BAB1-5930-B714-AEF472873853}" dt="2026-08-27T23:58:57.416" v="967" actId="14100"/>
        <pc:sldMkLst>
          <pc:docMk/>
          <pc:sldMk cId="2395967694" sldId="308"/>
        </pc:sldMkLst>
        <pc:spChg chg="del mod ord">
          <ac:chgData name="Colon, Jeffrey M." userId="615143b1-cdee-493d-9a9d-1565ce8666d9" providerId="ADAL" clId="{DC1DB158-BAB1-5930-B714-AEF472873853}" dt="2026-08-27T23:51:43.673" v="821" actId="700"/>
          <ac:spMkLst>
            <pc:docMk/>
            <pc:sldMk cId="2395967694" sldId="308"/>
            <ac:spMk id="2" creationId="{1333561C-4401-32D7-6222-BA96CD9BDE7A}"/>
          </ac:spMkLst>
        </pc:spChg>
        <pc:spChg chg="del mod ord">
          <ac:chgData name="Colon, Jeffrey M." userId="615143b1-cdee-493d-9a9d-1565ce8666d9" providerId="ADAL" clId="{DC1DB158-BAB1-5930-B714-AEF472873853}" dt="2026-08-27T23:51:43.673" v="821" actId="700"/>
          <ac:spMkLst>
            <pc:docMk/>
            <pc:sldMk cId="2395967694" sldId="308"/>
            <ac:spMk id="3" creationId="{CA5D21C6-143F-7F48-7838-A3B3EBEDF01B}"/>
          </ac:spMkLst>
        </pc:spChg>
        <pc:spChg chg="del">
          <ac:chgData name="Colon, Jeffrey M." userId="615143b1-cdee-493d-9a9d-1565ce8666d9" providerId="ADAL" clId="{DC1DB158-BAB1-5930-B714-AEF472873853}" dt="2026-08-27T23:51:43.673" v="821" actId="700"/>
          <ac:spMkLst>
            <pc:docMk/>
            <pc:sldMk cId="2395967694" sldId="308"/>
            <ac:spMk id="4" creationId="{924A6EB0-E5A4-00A6-383D-33EB97398440}"/>
          </ac:spMkLst>
        </pc:spChg>
        <pc:spChg chg="mod ord">
          <ac:chgData name="Colon, Jeffrey M." userId="615143b1-cdee-493d-9a9d-1565ce8666d9" providerId="ADAL" clId="{DC1DB158-BAB1-5930-B714-AEF472873853}" dt="2026-08-27T23:55:36.092" v="920" actId="26606"/>
          <ac:spMkLst>
            <pc:docMk/>
            <pc:sldMk cId="2395967694" sldId="308"/>
            <ac:spMk id="5" creationId="{776A5559-CD26-81FF-2744-D16134CE0B10}"/>
          </ac:spMkLst>
        </pc:spChg>
        <pc:spChg chg="mod ord">
          <ac:chgData name="Colon, Jeffrey M." userId="615143b1-cdee-493d-9a9d-1565ce8666d9" providerId="ADAL" clId="{DC1DB158-BAB1-5930-B714-AEF472873853}" dt="2026-08-27T23:55:36.092" v="920" actId="26606"/>
          <ac:spMkLst>
            <pc:docMk/>
            <pc:sldMk cId="2395967694" sldId="308"/>
            <ac:spMk id="6" creationId="{15AFD30D-E166-D102-4C08-8F85AADBB539}"/>
          </ac:spMkLst>
        </pc:spChg>
        <pc:spChg chg="add mod ord">
          <ac:chgData name="Colon, Jeffrey M." userId="615143b1-cdee-493d-9a9d-1565ce8666d9" providerId="ADAL" clId="{DC1DB158-BAB1-5930-B714-AEF472873853}" dt="2026-08-27T23:55:36.092" v="920" actId="26606"/>
          <ac:spMkLst>
            <pc:docMk/>
            <pc:sldMk cId="2395967694" sldId="308"/>
            <ac:spMk id="7" creationId="{DD980430-F66C-DA3C-C1BF-5DB729D2D45C}"/>
          </ac:spMkLst>
        </pc:spChg>
        <pc:spChg chg="add mod ord">
          <ac:chgData name="Colon, Jeffrey M." userId="615143b1-cdee-493d-9a9d-1565ce8666d9" providerId="ADAL" clId="{DC1DB158-BAB1-5930-B714-AEF472873853}" dt="2026-08-27T23:56:45.754" v="952" actId="403"/>
          <ac:spMkLst>
            <pc:docMk/>
            <pc:sldMk cId="2395967694" sldId="308"/>
            <ac:spMk id="8" creationId="{1360B1E5-EA9E-20C0-2D5C-96FEFA4890BA}"/>
          </ac:spMkLst>
        </pc:spChg>
        <pc:spChg chg="add mod">
          <ac:chgData name="Colon, Jeffrey M." userId="615143b1-cdee-493d-9a9d-1565ce8666d9" providerId="ADAL" clId="{DC1DB158-BAB1-5930-B714-AEF472873853}" dt="2026-08-27T23:56:49.302" v="959" actId="20577"/>
          <ac:spMkLst>
            <pc:docMk/>
            <pc:sldMk cId="2395967694" sldId="308"/>
            <ac:spMk id="15" creationId="{D0622A98-8636-5AD5-E6B6-6D26BCD5379F}"/>
          </ac:spMkLst>
        </pc:spChg>
        <pc:spChg chg="add mod">
          <ac:chgData name="Colon, Jeffrey M." userId="615143b1-cdee-493d-9a9d-1565ce8666d9" providerId="ADAL" clId="{DC1DB158-BAB1-5930-B714-AEF472873853}" dt="2026-08-27T23:55:58.873" v="940" actId="20577"/>
          <ac:spMkLst>
            <pc:docMk/>
            <pc:sldMk cId="2395967694" sldId="308"/>
            <ac:spMk id="17" creationId="{9BF53249-0BB2-7202-BC08-662A023A1C17}"/>
          </ac:spMkLst>
        </pc:spChg>
        <pc:picChg chg="add del mod ord">
          <ac:chgData name="Colon, Jeffrey M." userId="615143b1-cdee-493d-9a9d-1565ce8666d9" providerId="ADAL" clId="{DC1DB158-BAB1-5930-B714-AEF472873853}" dt="2026-08-27T23:56:24.840" v="944" actId="478"/>
          <ac:picMkLst>
            <pc:docMk/>
            <pc:sldMk cId="2395967694" sldId="308"/>
            <ac:picMk id="10" creationId="{EC0C97DF-0AB5-10F9-AABD-DE5554243569}"/>
          </ac:picMkLst>
        </pc:picChg>
        <pc:picChg chg="add del mod">
          <ac:chgData name="Colon, Jeffrey M." userId="615143b1-cdee-493d-9a9d-1565ce8666d9" providerId="ADAL" clId="{DC1DB158-BAB1-5930-B714-AEF472873853}" dt="2026-08-27T23:58:26.266" v="960" actId="478"/>
          <ac:picMkLst>
            <pc:docMk/>
            <pc:sldMk cId="2395967694" sldId="308"/>
            <ac:picMk id="12" creationId="{61D87330-23F7-D450-E1AE-8A3730DE37F9}"/>
          </ac:picMkLst>
        </pc:picChg>
        <pc:picChg chg="add mod">
          <ac:chgData name="Colon, Jeffrey M." userId="615143b1-cdee-493d-9a9d-1565ce8666d9" providerId="ADAL" clId="{DC1DB158-BAB1-5930-B714-AEF472873853}" dt="2026-08-27T23:58:57.416" v="967" actId="14100"/>
          <ac:picMkLst>
            <pc:docMk/>
            <pc:sldMk cId="2395967694" sldId="308"/>
            <ac:picMk id="14" creationId="{8F9C0759-F969-EB91-03CC-514D45F9D231}"/>
          </ac:picMkLst>
        </pc:picChg>
      </pc:sldChg>
      <pc:sldChg chg="addSp delSp modSp add mod">
        <pc:chgData name="Colon, Jeffrey M." userId="615143b1-cdee-493d-9a9d-1565ce8666d9" providerId="ADAL" clId="{DC1DB158-BAB1-5930-B714-AEF472873853}" dt="2026-08-28T01:07:17.937" v="1259" actId="20577"/>
        <pc:sldMkLst>
          <pc:docMk/>
          <pc:sldMk cId="3559631682" sldId="309"/>
        </pc:sldMkLst>
        <pc:spChg chg="mod">
          <ac:chgData name="Colon, Jeffrey M." userId="615143b1-cdee-493d-9a9d-1565ce8666d9" providerId="ADAL" clId="{DC1DB158-BAB1-5930-B714-AEF472873853}" dt="2026-08-28T01:07:17.937" v="1259" actId="20577"/>
          <ac:spMkLst>
            <pc:docMk/>
            <pc:sldMk cId="3559631682" sldId="309"/>
            <ac:spMk id="8" creationId="{E6C62207-271F-011C-E3F0-F56CA134F990}"/>
          </ac:spMkLst>
        </pc:spChg>
        <pc:picChg chg="add mod">
          <ac:chgData name="Colon, Jeffrey M." userId="615143b1-cdee-493d-9a9d-1565ce8666d9" providerId="ADAL" clId="{DC1DB158-BAB1-5930-B714-AEF472873853}" dt="2026-08-28T00:02:57.983" v="981" actId="14100"/>
          <ac:picMkLst>
            <pc:docMk/>
            <pc:sldMk cId="3559631682" sldId="309"/>
            <ac:picMk id="3" creationId="{8E7FA529-D9F3-C1BD-C35D-17AC00B55438}"/>
          </ac:picMkLst>
        </pc:picChg>
        <pc:picChg chg="del">
          <ac:chgData name="Colon, Jeffrey M." userId="615143b1-cdee-493d-9a9d-1565ce8666d9" providerId="ADAL" clId="{DC1DB158-BAB1-5930-B714-AEF472873853}" dt="2026-08-28T00:00:01.038" v="969" actId="478"/>
          <ac:picMkLst>
            <pc:docMk/>
            <pc:sldMk cId="3559631682" sldId="309"/>
            <ac:picMk id="14" creationId="{D167036B-C499-88C9-E4AA-A0A829DF01F2}"/>
          </ac:picMkLst>
        </pc:picChg>
      </pc:sldChg>
      <pc:sldMasterChg chg="modSp mod">
        <pc:chgData name="Colon, Jeffrey M." userId="615143b1-cdee-493d-9a9d-1565ce8666d9" providerId="ADAL" clId="{DC1DB158-BAB1-5930-B714-AEF472873853}" dt="2026-08-27T21:27:15.910" v="1" actId="20577"/>
        <pc:sldMasterMkLst>
          <pc:docMk/>
          <pc:sldMasterMk cId="371776349" sldId="2147483660"/>
        </pc:sldMasterMkLst>
        <pc:spChg chg="mod">
          <ac:chgData name="Colon, Jeffrey M." userId="615143b1-cdee-493d-9a9d-1565ce8666d9" providerId="ADAL" clId="{DC1DB158-BAB1-5930-B714-AEF472873853}" dt="2026-08-27T21:27:15.910" v="1" actId="20577"/>
          <ac:spMkLst>
            <pc:docMk/>
            <pc:sldMasterMk cId="371776349" sldId="2147483660"/>
            <ac:spMk id="9" creationId="{00000000-0000-0000-0000-000000000000}"/>
          </ac:spMkLst>
        </pc:spChg>
      </pc:sldMasterChg>
    </pc:docChg>
  </pc:docChgLst>
  <pc:docChgLst>
    <pc:chgData name="Jeffrey M. Colon" userId="615143b1-cdee-493d-9a9d-1565ce8666d9" providerId="ADAL" clId="{DC1DB158-BAB1-5930-B714-AEF472873853}"/>
    <pc:docChg chg="undo custSel modSld">
      <pc:chgData name="Jeffrey M. Colon" userId="615143b1-cdee-493d-9a9d-1565ce8666d9" providerId="ADAL" clId="{DC1DB158-BAB1-5930-B714-AEF472873853}" dt="2026-08-28T12:40:34.611" v="86" actId="404"/>
      <pc:docMkLst>
        <pc:docMk/>
      </pc:docMkLst>
      <pc:sldChg chg="modSp mod">
        <pc:chgData name="Jeffrey M. Colon" userId="615143b1-cdee-493d-9a9d-1565ce8666d9" providerId="ADAL" clId="{DC1DB158-BAB1-5930-B714-AEF472873853}" dt="2026-08-28T12:40:34.611" v="86" actId="404"/>
        <pc:sldMkLst>
          <pc:docMk/>
          <pc:sldMk cId="1048837813" sldId="289"/>
        </pc:sldMkLst>
        <pc:graphicFrameChg chg="mod modGraphic">
          <ac:chgData name="Jeffrey M. Colon" userId="615143b1-cdee-493d-9a9d-1565ce8666d9" providerId="ADAL" clId="{DC1DB158-BAB1-5930-B714-AEF472873853}" dt="2026-08-28T12:40:34.611" v="86" actId="404"/>
          <ac:graphicFrameMkLst>
            <pc:docMk/>
            <pc:sldMk cId="1048837813" sldId="289"/>
            <ac:graphicFrameMk id="10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1F2E595D-07B5-CF44-AE63-906CA02C7BEF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D2991C84-E9AD-4349-A89D-CDCB4DBB2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9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43D166F-904A-7A4D-BD16-D81CB9FB5F23}" type="slidenum">
              <a:rPr lang="en-US" sz="1200">
                <a:latin typeface="Calibri"/>
              </a:rPr>
              <a:pPr eaLnBrk="1" hangingPunct="1"/>
              <a:t>2</a:t>
            </a:fld>
            <a:endParaRPr lang="en-US" sz="1200">
              <a:latin typeface="Calibri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228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FF24A01-8F4B-9A47-B57F-86F17C126579}" type="slidenum">
              <a:rPr lang="en-US" sz="1200">
                <a:latin typeface="Calibri"/>
              </a:rPr>
              <a:pPr eaLnBrk="1" hangingPunct="1"/>
              <a:t>3</a:t>
            </a:fld>
            <a:endParaRPr lang="en-US" sz="1200">
              <a:latin typeface="Calibri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219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CA111EF-DAEA-0349-A614-ED9A69EBA105}" type="slidenum">
              <a:rPr lang="en-US" sz="1200">
                <a:latin typeface="Calibri"/>
              </a:rPr>
              <a:pPr eaLnBrk="1" hangingPunct="1"/>
              <a:t>4</a:t>
            </a:fld>
            <a:endParaRPr lang="en-US" sz="1200">
              <a:latin typeface="Calibri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720" y="4387136"/>
            <a:ext cx="5140960" cy="4156234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0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91C84-E9AD-4349-A89D-CDCB4DBB2B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1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D4769CD-3ABB-FB4D-8F22-1504D32C7112}" type="slidenum">
              <a:rPr lang="en-US" sz="1200">
                <a:latin typeface="Calibri"/>
              </a:rPr>
              <a:pPr eaLnBrk="1" hangingPunct="1"/>
              <a:t>6</a:t>
            </a:fld>
            <a:endParaRPr lang="en-US" sz="1200">
              <a:latin typeface="Calibri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720" y="4387136"/>
            <a:ext cx="5140960" cy="4156234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460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91C84-E9AD-4349-A89D-CDCB4DBB2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225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B9E154C-E226-6242-816C-2B5FD7E55435}" type="slidenum">
              <a:rPr lang="en-US" sz="1200">
                <a:latin typeface="Calibri"/>
              </a:rPr>
              <a:pPr eaLnBrk="1" hangingPunct="1"/>
              <a:t>8</a:t>
            </a:fld>
            <a:endParaRPr lang="en-US" sz="1200">
              <a:latin typeface="Calibri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623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B1C3ADC-11EF-4B46-A4A4-FEA4DBE83EA8}" type="slidenum">
              <a:rPr lang="en-US" sz="1200">
                <a:latin typeface="Calibri"/>
              </a:rPr>
              <a:pPr eaLnBrk="1" hangingPunct="1"/>
              <a:t>9</a:t>
            </a:fld>
            <a:endParaRPr lang="en-US" sz="1200">
              <a:latin typeface="Calibri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720" y="4387136"/>
            <a:ext cx="5140960" cy="4156234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3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4444EA8-55E7-874A-9E9C-6F332F9C3337}" type="slidenum">
              <a:rPr lang="en-US" sz="1200">
                <a:latin typeface="Calibri"/>
              </a:rPr>
              <a:pPr eaLnBrk="1" hangingPunct="1"/>
              <a:t>10</a:t>
            </a:fld>
            <a:endParaRPr lang="en-US" sz="1200">
              <a:latin typeface="Calibri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499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F7C6961-0B98-954D-A227-FFC36941CEEA}" type="slidenum">
              <a:rPr lang="en-US" sz="1200">
                <a:latin typeface="Calibri"/>
              </a:rPr>
              <a:pPr eaLnBrk="1" hangingPunct="1"/>
              <a:t>12</a:t>
            </a:fld>
            <a:endParaRPr lang="en-US" sz="1200">
              <a:latin typeface="Calibri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07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8FAD289-F05A-1748-968B-238A7137D6D5}" type="slidenum">
              <a:rPr lang="en-US" sz="1200">
                <a:latin typeface="Calibri"/>
              </a:rPr>
              <a:pPr eaLnBrk="1" hangingPunct="1"/>
              <a:t>13</a:t>
            </a:fld>
            <a:endParaRPr lang="en-US" sz="1200">
              <a:latin typeface="Calibri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464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54632E9-5F7E-DA4A-9A9B-F4A5B106ADB0}" type="slidenum">
              <a:rPr lang="en-US" sz="1200">
                <a:latin typeface="Calibri"/>
              </a:rPr>
              <a:pPr eaLnBrk="1" hangingPunct="1"/>
              <a:t>15</a:t>
            </a:fld>
            <a:endParaRPr lang="en-US" sz="1200">
              <a:latin typeface="Calibri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58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0FA564E-8F02-D647-89AD-CD1568381740}" type="slidenum">
              <a:rPr lang="en-US" sz="1200">
                <a:latin typeface="Calibri"/>
              </a:rPr>
              <a:pPr eaLnBrk="1" hangingPunct="1"/>
              <a:t>16</a:t>
            </a:fld>
            <a:endParaRPr lang="en-US" sz="1200">
              <a:latin typeface="Calibri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200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0FA564E-8F02-D647-89AD-CD1568381740}" type="slidenum">
              <a:rPr lang="en-US" sz="1200">
                <a:latin typeface="Calibri"/>
              </a:rPr>
              <a:pPr eaLnBrk="1" hangingPunct="1"/>
              <a:t>17</a:t>
            </a:fld>
            <a:endParaRPr lang="en-US" sz="1200">
              <a:latin typeface="Calibri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724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DBF32C8-52E5-8442-A932-39F48AD362C8}" type="slidenum">
              <a:rPr lang="en-US" sz="1200">
                <a:latin typeface="Calibri"/>
              </a:rPr>
              <a:pPr eaLnBrk="1" hangingPunct="1"/>
              <a:t>18</a:t>
            </a:fld>
            <a:endParaRPr lang="en-US" sz="1200">
              <a:latin typeface="Calibri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14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4243" indent="-290093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0374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24523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88672" indent="-232075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52822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1697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81121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45270" indent="-2320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4E5E8B0-465A-4245-B240-088054613F0B}" type="slidenum">
              <a:rPr lang="en-US" sz="1200">
                <a:latin typeface="Calibri"/>
              </a:rPr>
              <a:pPr eaLnBrk="1" hangingPunct="1"/>
              <a:t>22</a:t>
            </a:fld>
            <a:endParaRPr lang="en-US" sz="1200">
              <a:latin typeface="Calibri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21" tIns="46411" rIns="92821" bIns="46411"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56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1C84-E9AD-4349-A89D-CDCB4DBB2B6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59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TVM: Perpetuities and Annuities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TVM: Perpetuities and Annuities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8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 err="1"/>
              <a:t>TVM</a:t>
            </a:r>
            <a:r>
              <a:rPr lang="en-US" dirty="0"/>
              <a:t>: Perpetuities and Annuities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CF_Ch3_PerpAnn_26</a:t>
            </a: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8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B908C-B5CB-4D61-9AAA-0E6FA8AD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527EB-3756-C241-BFD3-DBB1E111190F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835F-3425-4D22-A3BF-7A8DB7F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Perpetuities and Annuities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D9786-58D6-4467-A340-9C08B3251F1F}"/>
              </a:ext>
            </a:extLst>
          </p:cNvPr>
          <p:cNvSpPr/>
          <p:nvPr/>
        </p:nvSpPr>
        <p:spPr>
          <a:xfrm>
            <a:off x="855785" y="1671724"/>
            <a:ext cx="10785229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ea typeface="ＭＳ Ｐゴシック" charset="0"/>
                <a:cs typeface="ＭＳ Ｐゴシック" charset="0"/>
              </a:rPr>
              <a:t>Corporate Finance</a:t>
            </a:r>
          </a:p>
          <a:p>
            <a:pPr algn="ctr"/>
            <a:r>
              <a:rPr lang="en-US" sz="3600" b="1" dirty="0">
                <a:ea typeface="ＭＳ Ｐゴシック" charset="0"/>
                <a:cs typeface="ＭＳ Ｐゴシック" charset="0"/>
              </a:rPr>
              <a:t>Annuities and Perpetuities</a:t>
            </a:r>
          </a:p>
          <a:p>
            <a:pPr algn="ctr"/>
            <a:r>
              <a:rPr lang="en-US" sz="3600" b="1" dirty="0">
                <a:ea typeface="ＭＳ Ｐゴシック" charset="0"/>
                <a:cs typeface="ＭＳ Ｐゴシック" charset="0"/>
              </a:rPr>
              <a:t>Basic Stock and Bond Valuation</a:t>
            </a:r>
          </a:p>
          <a:p>
            <a:pPr algn="ctr"/>
            <a:endParaRPr lang="en-US" sz="3600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sz="3600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sz="2400" b="1" dirty="0">
              <a:ea typeface="ＭＳ Ｐゴシック" charset="0"/>
              <a:cs typeface="ＭＳ Ｐゴシック" charset="0"/>
            </a:endParaRPr>
          </a:p>
          <a:p>
            <a:pPr algn="ctr">
              <a:buNone/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Fall 2026</a:t>
            </a:r>
          </a:p>
          <a:p>
            <a:pPr algn="ctr"/>
            <a:r>
              <a:rPr lang="en-US" sz="2400" b="1" dirty="0">
                <a:ea typeface="ＭＳ Ｐゴシック" charset="0"/>
                <a:cs typeface="ＭＳ Ｐゴシック" charset="0"/>
              </a:rPr>
              <a:t>Prof. Jeffrey Colón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287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b="1" dirty="0">
                <a:ea typeface="ＭＳ Ｐゴシック" charset="0"/>
                <a:cs typeface="ＭＳ Ｐゴシック" charset="0"/>
              </a:rPr>
              <a:t>Perpetuity</a:t>
            </a:r>
          </a:p>
          <a:p>
            <a:pPr marL="1092200" lvl="1"/>
            <a:r>
              <a:rPr lang="en-US" dirty="0">
                <a:ea typeface="ＭＳ Ｐゴシック" charset="0"/>
              </a:rPr>
              <a:t>A stream of equal cash flows that lasts </a:t>
            </a:r>
            <a:r>
              <a:rPr lang="en-US" i="1" dirty="0">
                <a:ea typeface="ＭＳ Ｐゴシック" charset="0"/>
              </a:rPr>
              <a:t>forever</a:t>
            </a:r>
            <a:r>
              <a:rPr lang="en-US" dirty="0">
                <a:ea typeface="ＭＳ Ｐゴシック" charset="0"/>
              </a:rPr>
              <a:t>.</a:t>
            </a:r>
          </a:p>
          <a:p>
            <a:pPr marL="457200" indent="-457200"/>
            <a:r>
              <a:rPr lang="en-US" dirty="0">
                <a:ea typeface="ＭＳ Ｐゴシック" charset="0"/>
                <a:cs typeface="ＭＳ Ｐゴシック" charset="0"/>
              </a:rPr>
              <a:t>Growing perpetuity</a:t>
            </a:r>
          </a:p>
          <a:p>
            <a:pPr marL="1092200" lvl="1"/>
            <a:r>
              <a:rPr lang="en-US" dirty="0">
                <a:ea typeface="ＭＳ Ｐゴシック" charset="0"/>
              </a:rPr>
              <a:t>A stream of cash flows that grows at a constant rate </a:t>
            </a:r>
            <a:r>
              <a:rPr lang="en-US" i="1" dirty="0">
                <a:ea typeface="ＭＳ Ｐゴシック" charset="0"/>
              </a:rPr>
              <a:t>forever</a:t>
            </a:r>
            <a:r>
              <a:rPr lang="en-US" dirty="0">
                <a:ea typeface="ＭＳ Ｐゴシック" charset="0"/>
              </a:rPr>
              <a:t>.</a:t>
            </a:r>
          </a:p>
          <a:p>
            <a:pPr marL="457200" indent="-457200"/>
            <a:r>
              <a:rPr lang="en-US" b="1" dirty="0">
                <a:ea typeface="ＭＳ Ｐゴシック" charset="0"/>
                <a:cs typeface="ＭＳ Ｐゴシック" charset="0"/>
              </a:rPr>
              <a:t>Annuity</a:t>
            </a:r>
          </a:p>
          <a:p>
            <a:pPr marL="1092200" lvl="1"/>
            <a:r>
              <a:rPr lang="en-US" dirty="0">
                <a:ea typeface="ＭＳ Ｐゴシック" charset="0"/>
              </a:rPr>
              <a:t>A stream of equal cash flows that lasts for a </a:t>
            </a:r>
            <a:r>
              <a:rPr lang="en-US" i="1" dirty="0">
                <a:ea typeface="ＭＳ Ｐゴシック" charset="0"/>
              </a:rPr>
              <a:t>fixed </a:t>
            </a:r>
            <a:r>
              <a:rPr lang="en-US" dirty="0">
                <a:ea typeface="ＭＳ Ｐゴシック" charset="0"/>
              </a:rPr>
              <a:t>number of periods.</a:t>
            </a:r>
          </a:p>
          <a:p>
            <a:pPr marL="457200" indent="-457200"/>
            <a:r>
              <a:rPr lang="en-US" dirty="0">
                <a:ea typeface="ＭＳ Ｐゴシック" charset="0"/>
                <a:cs typeface="ＭＳ Ｐゴシック" charset="0"/>
              </a:rPr>
              <a:t>Growing annuity</a:t>
            </a:r>
          </a:p>
          <a:p>
            <a:pPr marL="1092200" lvl="1"/>
            <a:r>
              <a:rPr lang="en-US" dirty="0">
                <a:ea typeface="ＭＳ Ｐゴシック" charset="0"/>
              </a:rPr>
              <a:t>A stream of cash flows that grows at a constant rate for a </a:t>
            </a:r>
            <a:r>
              <a:rPr lang="en-US" i="1" dirty="0">
                <a:ea typeface="ＭＳ Ｐゴシック" charset="0"/>
              </a:rPr>
              <a:t>fixed</a:t>
            </a:r>
            <a:r>
              <a:rPr lang="en-US" dirty="0">
                <a:ea typeface="ＭＳ Ｐゴシック" charset="0"/>
              </a:rPr>
              <a:t> number of periods.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395288" algn="l"/>
                <a:tab pos="2392363" algn="l"/>
              </a:tabLst>
            </a:pPr>
            <a:r>
              <a:rPr lang="en-US" dirty="0">
                <a:latin typeface="+mn-lt"/>
                <a:ea typeface="ＭＳ Ｐゴシック" charset="0"/>
                <a:cs typeface="ＭＳ Ｐゴシック" charset="0"/>
              </a:rPr>
              <a:t>PV Simplifications</a:t>
            </a:r>
          </a:p>
        </p:txBody>
      </p:sp>
      <p:sp>
        <p:nvSpPr>
          <p:cNvPr id="1843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4798438-8184-614B-85CC-1C4CD9024065}" type="slidenum">
              <a:rPr lang="en-US" sz="1000">
                <a:latin typeface="Calibri"/>
              </a:rPr>
              <a:pPr eaLnBrk="1" hangingPunct="1"/>
              <a:t>2</a:t>
            </a:fld>
            <a:endParaRPr lang="en-US" sz="1000">
              <a:latin typeface="Calibri"/>
            </a:endParaRPr>
          </a:p>
        </p:txBody>
      </p:sp>
      <p:sp>
        <p:nvSpPr>
          <p:cNvPr id="1843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dirty="0">
                <a:latin typeface="Calibri"/>
              </a:rPr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203196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endParaRPr lang="en-US" sz="1800" dirty="0">
              <a:ea typeface="ＭＳ Ｐゴシック" charset="0"/>
              <a:cs typeface="ＭＳ Ｐゴシック" charset="0"/>
            </a:endParaRPr>
          </a:p>
          <a:p>
            <a:pPr marL="457200" indent="-457200"/>
            <a:endParaRPr lang="en-US" sz="1800" dirty="0">
              <a:ea typeface="ＭＳ Ｐゴシック" charset="0"/>
              <a:cs typeface="ＭＳ Ｐゴシック" charset="0"/>
            </a:endParaRPr>
          </a:p>
          <a:p>
            <a:pPr marL="457200" indent="-457200"/>
            <a:endParaRPr lang="en-US" sz="1800" dirty="0">
              <a:ea typeface="ＭＳ Ｐゴシック" charset="0"/>
              <a:cs typeface="ＭＳ Ｐゴシック" charset="0"/>
            </a:endParaRPr>
          </a:p>
          <a:p>
            <a:pPr marL="457200" indent="-457200"/>
            <a:endParaRPr lang="en-US" sz="1800" dirty="0">
              <a:ea typeface="ＭＳ Ｐゴシック" charset="0"/>
              <a:cs typeface="ＭＳ Ｐゴシック" charset="0"/>
            </a:endParaRPr>
          </a:p>
          <a:p>
            <a:pPr marL="457200" indent="-457200"/>
            <a:endParaRPr lang="en-US" sz="1800" dirty="0">
              <a:ea typeface="ＭＳ Ｐゴシック" charset="0"/>
              <a:cs typeface="ＭＳ Ｐゴシック" charset="0"/>
            </a:endParaRPr>
          </a:p>
          <a:p>
            <a:pPr marL="457200" indent="-457200"/>
            <a:endParaRPr lang="en-US" sz="1800" dirty="0">
              <a:ea typeface="ＭＳ Ｐゴシック" charset="0"/>
              <a:cs typeface="ＭＳ Ｐゴシック" charset="0"/>
            </a:endParaRPr>
          </a:p>
          <a:p>
            <a:pPr marL="457200" indent="-457200"/>
            <a:endParaRPr lang="en-US" sz="1800" dirty="0">
              <a:ea typeface="ＭＳ Ｐゴシック" charset="0"/>
              <a:cs typeface="ＭＳ Ｐゴシック" charset="0"/>
            </a:endParaRPr>
          </a:p>
          <a:p>
            <a:pPr marL="457200" indent="-457200"/>
            <a:endParaRPr lang="en-US" sz="1800" dirty="0">
              <a:ea typeface="ＭＳ Ｐゴシック" charset="0"/>
              <a:cs typeface="ＭＳ Ｐゴシック" charset="0"/>
            </a:endParaRPr>
          </a:p>
          <a:p>
            <a:pPr marL="457200" indent="-457200" algn="ctr"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  <a:p>
            <a:pPr marL="457200" indent="-457200" algn="ctr"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  <a:p>
            <a:pPr marL="457200" indent="-457200" algn="ctr"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  <a:p>
            <a:pPr marL="457200" indent="-457200" algn="ctr">
              <a:buNone/>
            </a:pPr>
            <a:r>
              <a:rPr lang="en-US" sz="2400" b="1" u="sng" dirty="0">
                <a:ea typeface="ＭＳ Ｐゴシック" charset="0"/>
                <a:cs typeface="ＭＳ Ｐゴシック" charset="0"/>
              </a:rPr>
              <a:t>Example</a:t>
            </a:r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457200" indent="-457200">
              <a:buNone/>
            </a:pPr>
            <a:r>
              <a:rPr lang="en-US" sz="2400" dirty="0">
                <a:ea typeface="ＭＳ Ｐゴシック" charset="0"/>
                <a:cs typeface="ＭＳ Ｐゴシック" charset="0"/>
              </a:rPr>
              <a:t>	You’ve won a lottery that promises to pay you $100 per year for the rest of time.  How much could you sell this promise for if the discount rate is 5%?</a:t>
            </a:r>
          </a:p>
          <a:p>
            <a:pPr marL="457200" indent="-457200"/>
            <a:r>
              <a:rPr lang="en-US" sz="2400" dirty="0">
                <a:ea typeface="ＭＳ Ｐゴシック" charset="0"/>
                <a:cs typeface="ＭＳ Ｐゴシック" charset="0"/>
              </a:rPr>
              <a:t>Answer:  $100 /. 05 =  $2,000 </a:t>
            </a:r>
            <a:endParaRPr lang="en-US" sz="18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+mn-lt"/>
                <a:ea typeface="ＭＳ Ｐゴシック" charset="0"/>
                <a:cs typeface="ＭＳ Ｐゴシック" charset="0"/>
              </a:rPr>
              <a:t>Perpetuity</a:t>
            </a:r>
            <a:endParaRPr lang="en-US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102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270FACB-BD0F-1E4F-B174-A37F29FC6F5F}" type="slidenum">
              <a:rPr lang="en-US" sz="1000">
                <a:latin typeface="Calibri"/>
              </a:rPr>
              <a:pPr eaLnBrk="1" hangingPunct="1"/>
              <a:t>3</a:t>
            </a:fld>
            <a:endParaRPr lang="en-US" sz="1000">
              <a:latin typeface="Calibri"/>
            </a:endParaRPr>
          </a:p>
        </p:txBody>
      </p:sp>
      <p:sp>
        <p:nvSpPr>
          <p:cNvPr id="1042" name="Footer Placeholder 29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>
            <a:off x="2586038" y="2133600"/>
            <a:ext cx="571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409825" y="1943100"/>
            <a:ext cx="361950" cy="1104900"/>
            <a:chOff x="624" y="2544"/>
            <a:chExt cx="228" cy="634"/>
          </a:xfrm>
        </p:grpSpPr>
        <p:sp>
          <p:nvSpPr>
            <p:cNvPr id="1052" name="Line 6"/>
            <p:cNvSpPr>
              <a:spLocks noChangeShapeType="1"/>
            </p:cNvSpPr>
            <p:nvPr/>
          </p:nvSpPr>
          <p:spPr bwMode="auto">
            <a:xfrm>
              <a:off x="768" y="2544"/>
              <a:ext cx="0" cy="2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sp>
          <p:nvSpPr>
            <p:cNvPr id="1053" name="Rectangle 7"/>
            <p:cNvSpPr>
              <a:spLocks noChangeArrowheads="1"/>
            </p:cNvSpPr>
            <p:nvPr/>
          </p:nvSpPr>
          <p:spPr bwMode="auto">
            <a:xfrm>
              <a:off x="624" y="2880"/>
              <a:ext cx="22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0</a:t>
              </a:r>
            </a:p>
          </p:txBody>
        </p:sp>
      </p:grp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8458200" y="1600201"/>
            <a:ext cx="609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000">
                <a:solidFill>
                  <a:srgbClr val="644A1A"/>
                </a:solidFill>
                <a:latin typeface="Times New Roman" charset="0"/>
              </a:rPr>
              <a:t>…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886201" y="1219200"/>
            <a:ext cx="569913" cy="1816100"/>
            <a:chOff x="1567" y="2136"/>
            <a:chExt cx="348" cy="1042"/>
          </a:xfrm>
        </p:grpSpPr>
        <p:sp>
          <p:nvSpPr>
            <p:cNvPr id="1049" name="Line 10"/>
            <p:cNvSpPr>
              <a:spLocks noChangeShapeType="1"/>
            </p:cNvSpPr>
            <p:nvPr/>
          </p:nvSpPr>
          <p:spPr bwMode="auto">
            <a:xfrm>
              <a:off x="1711" y="2544"/>
              <a:ext cx="0" cy="2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sp>
          <p:nvSpPr>
            <p:cNvPr id="1050" name="Rectangle 11"/>
            <p:cNvSpPr>
              <a:spLocks noChangeArrowheads="1"/>
            </p:cNvSpPr>
            <p:nvPr/>
          </p:nvSpPr>
          <p:spPr bwMode="auto">
            <a:xfrm>
              <a:off x="1567" y="2880"/>
              <a:ext cx="22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1</a:t>
              </a:r>
            </a:p>
          </p:txBody>
        </p:sp>
        <p:sp>
          <p:nvSpPr>
            <p:cNvPr id="1051" name="Rectangle 12"/>
            <p:cNvSpPr>
              <a:spLocks noChangeArrowheads="1"/>
            </p:cNvSpPr>
            <p:nvPr/>
          </p:nvSpPr>
          <p:spPr bwMode="auto">
            <a:xfrm>
              <a:off x="1584" y="2136"/>
              <a:ext cx="33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C</a:t>
              </a:r>
              <a:r>
                <a:rPr lang="en-US" sz="2800" i="1" baseline="-25000">
                  <a:latin typeface="Times New Roman" charset="0"/>
                </a:rPr>
                <a:t>1</a:t>
              </a:r>
              <a:endParaRPr lang="en-US" sz="2800" i="1">
                <a:latin typeface="Times New Roman" charset="0"/>
              </a:endParaRP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443538" y="1257300"/>
            <a:ext cx="544512" cy="1816100"/>
            <a:chOff x="2517" y="2136"/>
            <a:chExt cx="343" cy="1042"/>
          </a:xfrm>
        </p:grpSpPr>
        <p:sp>
          <p:nvSpPr>
            <p:cNvPr id="1046" name="Line 14"/>
            <p:cNvSpPr>
              <a:spLocks noChangeShapeType="1"/>
            </p:cNvSpPr>
            <p:nvPr/>
          </p:nvSpPr>
          <p:spPr bwMode="auto">
            <a:xfrm>
              <a:off x="2661" y="2544"/>
              <a:ext cx="0" cy="2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sp>
          <p:nvSpPr>
            <p:cNvPr id="1047" name="Rectangle 15"/>
            <p:cNvSpPr>
              <a:spLocks noChangeArrowheads="1"/>
            </p:cNvSpPr>
            <p:nvPr/>
          </p:nvSpPr>
          <p:spPr bwMode="auto">
            <a:xfrm>
              <a:off x="2517" y="2880"/>
              <a:ext cx="22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2</a:t>
              </a:r>
            </a:p>
          </p:txBody>
        </p:sp>
        <p:sp>
          <p:nvSpPr>
            <p:cNvPr id="1048" name="Rectangle 16"/>
            <p:cNvSpPr>
              <a:spLocks noChangeArrowheads="1"/>
            </p:cNvSpPr>
            <p:nvPr/>
          </p:nvSpPr>
          <p:spPr bwMode="auto">
            <a:xfrm>
              <a:off x="2519" y="2136"/>
              <a:ext cx="34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C</a:t>
              </a:r>
              <a:r>
                <a:rPr lang="en-US" sz="2800" i="1" baseline="-25000">
                  <a:latin typeface="Times New Roman" charset="0"/>
                </a:rPr>
                <a:t>2</a:t>
              </a:r>
              <a:endParaRPr lang="en-US" sz="2800" i="1">
                <a:latin typeface="Times New Roman" charset="0"/>
              </a:endParaRP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981825" y="1257300"/>
            <a:ext cx="541338" cy="1816100"/>
            <a:chOff x="3486" y="2136"/>
            <a:chExt cx="341" cy="1042"/>
          </a:xfrm>
        </p:grpSpPr>
        <p:sp>
          <p:nvSpPr>
            <p:cNvPr id="1043" name="Line 18"/>
            <p:cNvSpPr>
              <a:spLocks noChangeShapeType="1"/>
            </p:cNvSpPr>
            <p:nvPr/>
          </p:nvSpPr>
          <p:spPr bwMode="auto">
            <a:xfrm>
              <a:off x="3618" y="2544"/>
              <a:ext cx="0" cy="2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sp>
          <p:nvSpPr>
            <p:cNvPr id="1044" name="Rectangle 19"/>
            <p:cNvSpPr>
              <a:spLocks noChangeArrowheads="1"/>
            </p:cNvSpPr>
            <p:nvPr/>
          </p:nvSpPr>
          <p:spPr bwMode="auto">
            <a:xfrm>
              <a:off x="3504" y="2880"/>
              <a:ext cx="22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3</a:t>
              </a:r>
            </a:p>
          </p:txBody>
        </p:sp>
        <p:sp>
          <p:nvSpPr>
            <p:cNvPr id="1045" name="Rectangle 20"/>
            <p:cNvSpPr>
              <a:spLocks noChangeArrowheads="1"/>
            </p:cNvSpPr>
            <p:nvPr/>
          </p:nvSpPr>
          <p:spPr bwMode="auto">
            <a:xfrm>
              <a:off x="3486" y="2136"/>
              <a:ext cx="34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C</a:t>
              </a:r>
              <a:r>
                <a:rPr lang="en-US" sz="2800" i="1" baseline="-25000">
                  <a:latin typeface="Times New Roman" charset="0"/>
                </a:rPr>
                <a:t>3</a:t>
              </a:r>
              <a:endParaRPr lang="en-US" sz="2800" i="1">
                <a:latin typeface="Times New Roman" charset="0"/>
              </a:endParaRPr>
            </a:p>
          </p:txBody>
        </p:sp>
      </p:grpSp>
      <p:sp>
        <p:nvSpPr>
          <p:cNvPr id="1037" name="Line 25"/>
          <p:cNvSpPr>
            <a:spLocks noChangeShapeType="1"/>
          </p:cNvSpPr>
          <p:nvPr/>
        </p:nvSpPr>
        <p:spPr bwMode="auto">
          <a:xfrm>
            <a:off x="2667000" y="1828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038" name="Line 26"/>
          <p:cNvSpPr>
            <a:spLocks noChangeShapeType="1"/>
          </p:cNvSpPr>
          <p:nvPr/>
        </p:nvSpPr>
        <p:spPr bwMode="auto">
          <a:xfrm>
            <a:off x="4114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039" name="Line 27"/>
          <p:cNvSpPr>
            <a:spLocks noChangeShapeType="1"/>
          </p:cNvSpPr>
          <p:nvPr/>
        </p:nvSpPr>
        <p:spPr bwMode="auto">
          <a:xfrm>
            <a:off x="5638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040" name="Line 28"/>
          <p:cNvSpPr>
            <a:spLocks noChangeShapeType="1"/>
          </p:cNvSpPr>
          <p:nvPr/>
        </p:nvSpPr>
        <p:spPr bwMode="auto">
          <a:xfrm>
            <a:off x="7162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graphicFrame>
        <p:nvGraphicFramePr>
          <p:cNvPr id="4406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562789"/>
              </p:ext>
            </p:extLst>
          </p:nvPr>
        </p:nvGraphicFramePr>
        <p:xfrm>
          <a:off x="1874838" y="3385457"/>
          <a:ext cx="78787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51100" imgH="393700" progId="Equation.3">
                  <p:embed/>
                </p:oleObj>
              </mc:Choice>
              <mc:Fallback>
                <p:oleObj name="Equation" r:id="rId3" imgW="2451100" imgH="393700" progId="Equation.3">
                  <p:embed/>
                  <p:pic>
                    <p:nvPicPr>
                      <p:cNvPr id="4406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3385457"/>
                        <a:ext cx="787876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Oval 28"/>
          <p:cNvSpPr/>
          <p:nvPr/>
        </p:nvSpPr>
        <p:spPr>
          <a:xfrm>
            <a:off x="9168715" y="3420774"/>
            <a:ext cx="584886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78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  <p:bldP spid="44036" grpId="0" animBg="1"/>
      <p:bldP spid="44040" grpId="0" autoUpdateAnimBg="0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Growing Perpetuity:  A growing stream of cash flows that lasts forever.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t"/>
          <a:lstStyle/>
          <a:p>
            <a:pPr eaLnBrk="1" hangingPunct="1"/>
            <a:r>
              <a:rPr lang="en-US" b="1" dirty="0">
                <a:latin typeface="+mn-lt"/>
                <a:ea typeface="ＭＳ Ｐゴシック" charset="0"/>
                <a:cs typeface="ＭＳ Ｐゴシック" charset="0"/>
              </a:rPr>
              <a:t>Growing Perpetuity</a:t>
            </a:r>
            <a:endParaRPr lang="en-US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205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199D036-7763-D145-8084-CC33807AEFE9}" type="slidenum">
              <a:rPr lang="en-US" sz="1000">
                <a:latin typeface="Calibri"/>
              </a:rPr>
              <a:pPr eaLnBrk="1" hangingPunct="1"/>
              <a:t>4</a:t>
            </a:fld>
            <a:endParaRPr lang="en-US" sz="1000">
              <a:latin typeface="Calibri"/>
            </a:endParaRPr>
          </a:p>
        </p:txBody>
      </p:sp>
      <p:sp>
        <p:nvSpPr>
          <p:cNvPr id="2064" name="Footer Placeholder 2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sp>
        <p:nvSpPr>
          <p:cNvPr id="48132" name="Line 4"/>
          <p:cNvSpPr>
            <a:spLocks noChangeShapeType="1"/>
          </p:cNvSpPr>
          <p:nvPr/>
        </p:nvSpPr>
        <p:spPr bwMode="auto">
          <a:xfrm>
            <a:off x="2686050" y="2895600"/>
            <a:ext cx="571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438400" y="2701926"/>
            <a:ext cx="361950" cy="1052513"/>
            <a:chOff x="624" y="2544"/>
            <a:chExt cx="228" cy="663"/>
          </a:xfrm>
        </p:grpSpPr>
        <p:sp>
          <p:nvSpPr>
            <p:cNvPr id="2074" name="Line 6"/>
            <p:cNvSpPr>
              <a:spLocks noChangeShapeType="1"/>
            </p:cNvSpPr>
            <p:nvPr/>
          </p:nvSpPr>
          <p:spPr bwMode="auto">
            <a:xfrm>
              <a:off x="768" y="254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sp>
          <p:nvSpPr>
            <p:cNvPr id="2075" name="Rectangle 7"/>
            <p:cNvSpPr>
              <a:spLocks noChangeArrowheads="1"/>
            </p:cNvSpPr>
            <p:nvPr/>
          </p:nvSpPr>
          <p:spPr bwMode="auto">
            <a:xfrm>
              <a:off x="624" y="288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0</a:t>
              </a:r>
            </a:p>
          </p:txBody>
        </p:sp>
      </p:grp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8686800" y="2397126"/>
            <a:ext cx="609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000">
                <a:latin typeface="Times New Roman" charset="0"/>
              </a:rPr>
              <a:t>…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935414" y="2054226"/>
            <a:ext cx="568325" cy="1700213"/>
            <a:chOff x="1567" y="2136"/>
            <a:chExt cx="358" cy="1071"/>
          </a:xfrm>
        </p:grpSpPr>
        <p:sp>
          <p:nvSpPr>
            <p:cNvPr id="2071" name="Line 10"/>
            <p:cNvSpPr>
              <a:spLocks noChangeShapeType="1"/>
            </p:cNvSpPr>
            <p:nvPr/>
          </p:nvSpPr>
          <p:spPr bwMode="auto">
            <a:xfrm>
              <a:off x="1711" y="2544"/>
              <a:ext cx="0" cy="2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sp>
          <p:nvSpPr>
            <p:cNvPr id="2072" name="Rectangle 11"/>
            <p:cNvSpPr>
              <a:spLocks noChangeArrowheads="1"/>
            </p:cNvSpPr>
            <p:nvPr/>
          </p:nvSpPr>
          <p:spPr bwMode="auto">
            <a:xfrm>
              <a:off x="1567" y="288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1</a:t>
              </a:r>
            </a:p>
          </p:txBody>
        </p:sp>
        <p:sp>
          <p:nvSpPr>
            <p:cNvPr id="2073" name="Rectangle 12"/>
            <p:cNvSpPr>
              <a:spLocks noChangeArrowheads="1"/>
            </p:cNvSpPr>
            <p:nvPr/>
          </p:nvSpPr>
          <p:spPr bwMode="auto">
            <a:xfrm>
              <a:off x="1584" y="2136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C</a:t>
              </a:r>
              <a:r>
                <a:rPr lang="en-US" sz="2800" i="1" baseline="-25000">
                  <a:latin typeface="Times New Roman" charset="0"/>
                </a:rPr>
                <a:t>1</a:t>
              </a:r>
              <a:endParaRPr lang="en-US" sz="2800" i="1">
                <a:latin typeface="Times New Roman" charset="0"/>
              </a:endParaRP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124450" y="2057401"/>
            <a:ext cx="1512888" cy="1700213"/>
            <a:chOff x="2736" y="1104"/>
            <a:chExt cx="953" cy="1071"/>
          </a:xfrm>
        </p:grpSpPr>
        <p:sp>
          <p:nvSpPr>
            <p:cNvPr id="2068" name="Line 14"/>
            <p:cNvSpPr>
              <a:spLocks noChangeShapeType="1"/>
            </p:cNvSpPr>
            <p:nvPr/>
          </p:nvSpPr>
          <p:spPr bwMode="auto">
            <a:xfrm>
              <a:off x="3189" y="151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sp>
          <p:nvSpPr>
            <p:cNvPr id="2069" name="Rectangle 15"/>
            <p:cNvSpPr>
              <a:spLocks noChangeArrowheads="1"/>
            </p:cNvSpPr>
            <p:nvPr/>
          </p:nvSpPr>
          <p:spPr bwMode="auto">
            <a:xfrm>
              <a:off x="3045" y="184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2</a:t>
              </a:r>
            </a:p>
          </p:txBody>
        </p:sp>
        <p:sp>
          <p:nvSpPr>
            <p:cNvPr id="2070" name="Rectangle 16"/>
            <p:cNvSpPr>
              <a:spLocks noChangeArrowheads="1"/>
            </p:cNvSpPr>
            <p:nvPr/>
          </p:nvSpPr>
          <p:spPr bwMode="auto">
            <a:xfrm>
              <a:off x="2736" y="1104"/>
              <a:ext cx="9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C</a:t>
              </a:r>
              <a:r>
                <a:rPr lang="en-US" sz="2800" i="1" baseline="-25000">
                  <a:latin typeface="Times New Roman" charset="0"/>
                </a:rPr>
                <a:t>1</a:t>
              </a:r>
              <a:r>
                <a:rPr lang="en-US" sz="2800">
                  <a:latin typeface="Times New Roman" charset="0"/>
                  <a:cs typeface="Times New Roman" charset="0"/>
                </a:rPr>
                <a:t>*(1+</a:t>
              </a:r>
              <a:r>
                <a:rPr lang="en-US" sz="2800" i="1">
                  <a:latin typeface="Times New Roman" charset="0"/>
                  <a:cs typeface="Times New Roman" charset="0"/>
                </a:rPr>
                <a:t>g</a:t>
              </a:r>
              <a:r>
                <a:rPr lang="en-US" sz="2800">
                  <a:latin typeface="Times New Roman" charset="0"/>
                  <a:cs typeface="Times New Roman" charset="0"/>
                </a:rPr>
                <a:t>)</a:t>
              </a: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724650" y="2057401"/>
            <a:ext cx="1722438" cy="1700213"/>
            <a:chOff x="3873" y="1104"/>
            <a:chExt cx="1085" cy="1071"/>
          </a:xfrm>
        </p:grpSpPr>
        <p:sp>
          <p:nvSpPr>
            <p:cNvPr id="2065" name="Line 18"/>
            <p:cNvSpPr>
              <a:spLocks noChangeShapeType="1"/>
            </p:cNvSpPr>
            <p:nvPr/>
          </p:nvSpPr>
          <p:spPr bwMode="auto">
            <a:xfrm>
              <a:off x="4384" y="151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sp>
          <p:nvSpPr>
            <p:cNvPr id="2066" name="Rectangle 19"/>
            <p:cNvSpPr>
              <a:spLocks noChangeArrowheads="1"/>
            </p:cNvSpPr>
            <p:nvPr/>
          </p:nvSpPr>
          <p:spPr bwMode="auto">
            <a:xfrm>
              <a:off x="4270" y="184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3</a:t>
              </a:r>
            </a:p>
          </p:txBody>
        </p:sp>
        <p:sp>
          <p:nvSpPr>
            <p:cNvPr id="2067" name="Rectangle 20"/>
            <p:cNvSpPr>
              <a:spLocks noChangeArrowheads="1"/>
            </p:cNvSpPr>
            <p:nvPr/>
          </p:nvSpPr>
          <p:spPr bwMode="auto">
            <a:xfrm>
              <a:off x="3873" y="1104"/>
              <a:ext cx="10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latin typeface="Times New Roman" charset="0"/>
                </a:rPr>
                <a:t>C</a:t>
              </a:r>
              <a:r>
                <a:rPr lang="en-US" sz="2800" i="1" baseline="-25000">
                  <a:latin typeface="Times New Roman" charset="0"/>
                </a:rPr>
                <a:t>1</a:t>
              </a:r>
              <a:r>
                <a:rPr lang="en-US" sz="2800" i="1">
                  <a:latin typeface="Times New Roman" charset="0"/>
                </a:rPr>
                <a:t> </a:t>
              </a:r>
              <a:r>
                <a:rPr lang="en-US" sz="2800">
                  <a:latin typeface="Times New Roman" charset="0"/>
                  <a:cs typeface="Times New Roman" charset="0"/>
                </a:rPr>
                <a:t>*(1+</a:t>
              </a:r>
              <a:r>
                <a:rPr lang="en-US" sz="2800" i="1">
                  <a:latin typeface="Times New Roman" charset="0"/>
                  <a:cs typeface="Times New Roman" charset="0"/>
                </a:rPr>
                <a:t>g</a:t>
              </a:r>
              <a:r>
                <a:rPr lang="en-US" sz="2800">
                  <a:latin typeface="Times New Roman" charset="0"/>
                  <a:cs typeface="Times New Roman" charset="0"/>
                </a:rPr>
                <a:t>)</a:t>
              </a:r>
              <a:r>
                <a:rPr lang="en-US" sz="2800" baseline="30000">
                  <a:latin typeface="Times New Roman" charset="0"/>
                  <a:cs typeface="Times New Roman" charset="0"/>
                </a:rPr>
                <a:t>2</a:t>
              </a:r>
            </a:p>
          </p:txBody>
        </p:sp>
      </p:grpSp>
      <p:sp>
        <p:nvSpPr>
          <p:cNvPr id="48152" name="Line 24"/>
          <p:cNvSpPr>
            <a:spLocks noChangeShapeType="1"/>
          </p:cNvSpPr>
          <p:nvPr/>
        </p:nvSpPr>
        <p:spPr bwMode="auto">
          <a:xfrm>
            <a:off x="4210050" y="25908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graphicFrame>
        <p:nvGraphicFramePr>
          <p:cNvPr id="48154" name="Object 26"/>
          <p:cNvGraphicFramePr>
            <a:graphicFrameLocks noChangeAspect="1"/>
          </p:cNvGraphicFramePr>
          <p:nvPr/>
        </p:nvGraphicFramePr>
        <p:xfrm>
          <a:off x="2362201" y="4495800"/>
          <a:ext cx="68357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60700" imgH="419100" progId="Equation.3">
                  <p:embed/>
                </p:oleObj>
              </mc:Choice>
              <mc:Fallback>
                <p:oleObj name="Equation" r:id="rId3" imgW="3060700" imgH="419100" progId="Equation.3">
                  <p:embed/>
                  <p:pic>
                    <p:nvPicPr>
                      <p:cNvPr id="4815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4495800"/>
                        <a:ext cx="68357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Oval 24"/>
          <p:cNvSpPr/>
          <p:nvPr/>
        </p:nvSpPr>
        <p:spPr>
          <a:xfrm>
            <a:off x="7315200" y="4419600"/>
            <a:ext cx="3048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010400" y="5029200"/>
            <a:ext cx="304800" cy="381000"/>
          </a:xfrm>
          <a:prstGeom prst="ellipse">
            <a:avLst/>
          </a:prstGeom>
          <a:solidFill>
            <a:srgbClr val="FFFF99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763000" y="4724400"/>
            <a:ext cx="3048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6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  <p:bldP spid="48132" grpId="0" animBg="1"/>
      <p:bldP spid="48136" grpId="0" autoUpdateAnimBg="0"/>
      <p:bldP spid="48152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Perpetuity and Growing Perpetuity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C4E00-6E6A-5F46-9BC9-3018E895DE1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Perpetuities and Annuities</a:t>
            </a:r>
          </a:p>
        </p:txBody>
      </p:sp>
      <p:pic>
        <p:nvPicPr>
          <p:cNvPr id="7" name="Picture 6" descr="shrinking-width-perp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91" y="2004391"/>
            <a:ext cx="4800600" cy="3048000"/>
          </a:xfrm>
          <a:prstGeom prst="rect">
            <a:avLst/>
          </a:prstGeom>
        </p:spPr>
      </p:pic>
      <p:pic>
        <p:nvPicPr>
          <p:cNvPr id="8" name="Picture 7" descr="shrinking-width-gperp(1)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052" y="1242045"/>
            <a:ext cx="4267200" cy="396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0618" y="5226571"/>
            <a:ext cx="116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Perpetuity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2071" y="5052391"/>
            <a:ext cx="2008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Growing Perpetuity</a:t>
            </a:r>
          </a:p>
        </p:txBody>
      </p:sp>
      <p:cxnSp>
        <p:nvCxnSpPr>
          <p:cNvPr id="9" name="Straight Connector 8"/>
          <p:cNvCxnSpPr>
            <a:endCxn id="4" idx="0"/>
          </p:cNvCxnSpPr>
          <p:nvPr/>
        </p:nvCxnSpPr>
        <p:spPr>
          <a:xfrm>
            <a:off x="6096000" y="466317"/>
            <a:ext cx="0" cy="5976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13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Annuity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 A stream of constant cash flows with a fixed maturity.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Annuity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307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9685DE6-1062-DB4C-B13F-672950B7727D}" type="slidenum">
              <a:rPr lang="en-US" sz="1000">
                <a:latin typeface="Calibri"/>
              </a:rPr>
              <a:pPr eaLnBrk="1" hangingPunct="1"/>
              <a:t>6</a:t>
            </a:fld>
            <a:endParaRPr lang="en-US" sz="1000">
              <a:latin typeface="Calibri"/>
            </a:endParaRPr>
          </a:p>
        </p:txBody>
      </p:sp>
      <p:sp>
        <p:nvSpPr>
          <p:cNvPr id="3081" name="Footer Placeholder 3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362201" y="2057400"/>
            <a:ext cx="7839075" cy="1441450"/>
            <a:chOff x="1430" y="1294"/>
            <a:chExt cx="4318" cy="908"/>
          </a:xfrm>
        </p:grpSpPr>
        <p:sp>
          <p:nvSpPr>
            <p:cNvPr id="3082" name="Line 8"/>
            <p:cNvSpPr>
              <a:spLocks noChangeShapeType="1"/>
            </p:cNvSpPr>
            <p:nvPr/>
          </p:nvSpPr>
          <p:spPr bwMode="auto">
            <a:xfrm>
              <a:off x="1563" y="1720"/>
              <a:ext cx="3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grpSp>
          <p:nvGrpSpPr>
            <p:cNvPr id="3083" name="Group 9"/>
            <p:cNvGrpSpPr>
              <a:grpSpLocks/>
            </p:cNvGrpSpPr>
            <p:nvPr/>
          </p:nvGrpSpPr>
          <p:grpSpPr bwMode="auto">
            <a:xfrm>
              <a:off x="1430" y="1606"/>
              <a:ext cx="199" cy="589"/>
              <a:chOff x="624" y="2544"/>
              <a:chExt cx="216" cy="755"/>
            </a:xfrm>
          </p:grpSpPr>
          <p:sp>
            <p:nvSpPr>
              <p:cNvPr id="3101" name="Line 10"/>
              <p:cNvSpPr>
                <a:spLocks noChangeShapeType="1"/>
              </p:cNvSpPr>
              <p:nvPr/>
            </p:nvSpPr>
            <p:spPr bwMode="auto">
              <a:xfrm>
                <a:off x="768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3102" name="Rectangle 11"/>
              <p:cNvSpPr>
                <a:spLocks noChangeArrowheads="1"/>
              </p:cNvSpPr>
              <p:nvPr/>
            </p:nvSpPr>
            <p:spPr bwMode="auto">
              <a:xfrm>
                <a:off x="624" y="2880"/>
                <a:ext cx="216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0</a:t>
                </a:r>
              </a:p>
            </p:txBody>
          </p:sp>
        </p:grpSp>
        <p:grpSp>
          <p:nvGrpSpPr>
            <p:cNvPr id="3084" name="Group 12"/>
            <p:cNvGrpSpPr>
              <a:grpSpLocks/>
            </p:cNvGrpSpPr>
            <p:nvPr/>
          </p:nvGrpSpPr>
          <p:grpSpPr bwMode="auto">
            <a:xfrm>
              <a:off x="2296" y="1294"/>
              <a:ext cx="317" cy="907"/>
              <a:chOff x="1567" y="2136"/>
              <a:chExt cx="344" cy="1163"/>
            </a:xfrm>
          </p:grpSpPr>
          <p:sp>
            <p:nvSpPr>
              <p:cNvPr id="3098" name="Line 13"/>
              <p:cNvSpPr>
                <a:spLocks noChangeShapeType="1"/>
              </p:cNvSpPr>
              <p:nvPr/>
            </p:nvSpPr>
            <p:spPr bwMode="auto">
              <a:xfrm>
                <a:off x="1711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3099" name="Rectangle 14"/>
              <p:cNvSpPr>
                <a:spLocks noChangeArrowheads="1"/>
              </p:cNvSpPr>
              <p:nvPr/>
            </p:nvSpPr>
            <p:spPr bwMode="auto">
              <a:xfrm>
                <a:off x="1567" y="2880"/>
                <a:ext cx="216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1</a:t>
                </a:r>
              </a:p>
            </p:txBody>
          </p:sp>
          <p:sp>
            <p:nvSpPr>
              <p:cNvPr id="3100" name="Rectangle 15"/>
              <p:cNvSpPr>
                <a:spLocks noChangeArrowheads="1"/>
              </p:cNvSpPr>
              <p:nvPr/>
            </p:nvSpPr>
            <p:spPr bwMode="auto">
              <a:xfrm>
                <a:off x="1588" y="2136"/>
                <a:ext cx="323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C</a:t>
                </a:r>
                <a:r>
                  <a:rPr lang="en-US" sz="2800" i="1" baseline="-25000">
                    <a:latin typeface="Times New Roman" charset="0"/>
                  </a:rPr>
                  <a:t>1</a:t>
                </a:r>
                <a:endParaRPr lang="en-US" sz="2800" i="1">
                  <a:latin typeface="Times New Roman" charset="0"/>
                </a:endParaRPr>
              </a:p>
            </p:txBody>
          </p:sp>
        </p:grpSp>
        <p:grpSp>
          <p:nvGrpSpPr>
            <p:cNvPr id="3085" name="Group 16"/>
            <p:cNvGrpSpPr>
              <a:grpSpLocks/>
            </p:cNvGrpSpPr>
            <p:nvPr/>
          </p:nvGrpSpPr>
          <p:grpSpPr bwMode="auto">
            <a:xfrm>
              <a:off x="3182" y="1294"/>
              <a:ext cx="300" cy="907"/>
              <a:chOff x="2517" y="2136"/>
              <a:chExt cx="324" cy="1163"/>
            </a:xfrm>
          </p:grpSpPr>
          <p:sp>
            <p:nvSpPr>
              <p:cNvPr id="3095" name="Line 17"/>
              <p:cNvSpPr>
                <a:spLocks noChangeShapeType="1"/>
              </p:cNvSpPr>
              <p:nvPr/>
            </p:nvSpPr>
            <p:spPr bwMode="auto">
              <a:xfrm>
                <a:off x="2661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3096" name="Rectangle 18"/>
              <p:cNvSpPr>
                <a:spLocks noChangeArrowheads="1"/>
              </p:cNvSpPr>
              <p:nvPr/>
            </p:nvSpPr>
            <p:spPr bwMode="auto">
              <a:xfrm>
                <a:off x="2517" y="2880"/>
                <a:ext cx="216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2</a:t>
                </a:r>
              </a:p>
            </p:txBody>
          </p:sp>
          <p:sp>
            <p:nvSpPr>
              <p:cNvPr id="3097" name="Rectangle 19"/>
              <p:cNvSpPr>
                <a:spLocks noChangeArrowheads="1"/>
              </p:cNvSpPr>
              <p:nvPr/>
            </p:nvSpPr>
            <p:spPr bwMode="auto">
              <a:xfrm>
                <a:off x="2519" y="2136"/>
                <a:ext cx="322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C</a:t>
                </a:r>
                <a:r>
                  <a:rPr lang="en-US" sz="2800" i="1" baseline="-25000">
                    <a:latin typeface="Times New Roman" charset="0"/>
                  </a:rPr>
                  <a:t>2</a:t>
                </a:r>
                <a:endParaRPr lang="en-US" sz="2800" i="1">
                  <a:latin typeface="Times New Roman" charset="0"/>
                </a:endParaRPr>
              </a:p>
            </p:txBody>
          </p:sp>
        </p:grpSp>
        <p:grpSp>
          <p:nvGrpSpPr>
            <p:cNvPr id="3086" name="Group 20"/>
            <p:cNvGrpSpPr>
              <a:grpSpLocks/>
            </p:cNvGrpSpPr>
            <p:nvPr/>
          </p:nvGrpSpPr>
          <p:grpSpPr bwMode="auto">
            <a:xfrm>
              <a:off x="4069" y="1295"/>
              <a:ext cx="298" cy="907"/>
              <a:chOff x="3486" y="2136"/>
              <a:chExt cx="323" cy="1163"/>
            </a:xfrm>
          </p:grpSpPr>
          <p:sp>
            <p:nvSpPr>
              <p:cNvPr id="3092" name="Line 21"/>
              <p:cNvSpPr>
                <a:spLocks noChangeShapeType="1"/>
              </p:cNvSpPr>
              <p:nvPr/>
            </p:nvSpPr>
            <p:spPr bwMode="auto">
              <a:xfrm>
                <a:off x="3618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3093" name="Rectangle 22"/>
              <p:cNvSpPr>
                <a:spLocks noChangeArrowheads="1"/>
              </p:cNvSpPr>
              <p:nvPr/>
            </p:nvSpPr>
            <p:spPr bwMode="auto">
              <a:xfrm>
                <a:off x="3504" y="2880"/>
                <a:ext cx="216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3</a:t>
                </a:r>
              </a:p>
            </p:txBody>
          </p:sp>
          <p:sp>
            <p:nvSpPr>
              <p:cNvPr id="3094" name="Rectangle 23"/>
              <p:cNvSpPr>
                <a:spLocks noChangeArrowheads="1"/>
              </p:cNvSpPr>
              <p:nvPr/>
            </p:nvSpPr>
            <p:spPr bwMode="auto">
              <a:xfrm>
                <a:off x="3486" y="2136"/>
                <a:ext cx="323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C</a:t>
                </a:r>
                <a:r>
                  <a:rPr lang="en-US" sz="2800" i="1" baseline="-25000">
                    <a:latin typeface="Times New Roman" charset="0"/>
                  </a:rPr>
                  <a:t>3</a:t>
                </a:r>
                <a:endParaRPr lang="en-US" sz="2800" i="1">
                  <a:latin typeface="Times New Roman" charset="0"/>
                </a:endParaRPr>
              </a:p>
            </p:txBody>
          </p:sp>
        </p:grpSp>
        <p:grpSp>
          <p:nvGrpSpPr>
            <p:cNvPr id="3087" name="Group 24"/>
            <p:cNvGrpSpPr>
              <a:grpSpLocks/>
            </p:cNvGrpSpPr>
            <p:nvPr/>
          </p:nvGrpSpPr>
          <p:grpSpPr bwMode="auto">
            <a:xfrm>
              <a:off x="5442" y="1295"/>
              <a:ext cx="306" cy="907"/>
              <a:chOff x="3486" y="2136"/>
              <a:chExt cx="331" cy="1163"/>
            </a:xfrm>
          </p:grpSpPr>
          <p:sp>
            <p:nvSpPr>
              <p:cNvPr id="3089" name="Line 25"/>
              <p:cNvSpPr>
                <a:spLocks noChangeShapeType="1"/>
              </p:cNvSpPr>
              <p:nvPr/>
            </p:nvSpPr>
            <p:spPr bwMode="auto">
              <a:xfrm>
                <a:off x="3618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3090" name="Rectangle 26"/>
              <p:cNvSpPr>
                <a:spLocks noChangeArrowheads="1"/>
              </p:cNvSpPr>
              <p:nvPr/>
            </p:nvSpPr>
            <p:spPr bwMode="auto">
              <a:xfrm>
                <a:off x="3504" y="2880"/>
                <a:ext cx="228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T</a:t>
                </a:r>
              </a:p>
            </p:txBody>
          </p:sp>
          <p:sp>
            <p:nvSpPr>
              <p:cNvPr id="3091" name="Rectangle 27"/>
              <p:cNvSpPr>
                <a:spLocks noChangeArrowheads="1"/>
              </p:cNvSpPr>
              <p:nvPr/>
            </p:nvSpPr>
            <p:spPr bwMode="auto">
              <a:xfrm>
                <a:off x="3486" y="2136"/>
                <a:ext cx="331" cy="4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C</a:t>
                </a:r>
                <a:r>
                  <a:rPr lang="en-US" sz="2800" i="1" baseline="-25000">
                    <a:latin typeface="Times New Roman" charset="0"/>
                  </a:rPr>
                  <a:t>T</a:t>
                </a:r>
                <a:endParaRPr lang="en-US" sz="2800" i="1">
                  <a:latin typeface="Times New Roman" charset="0"/>
                </a:endParaRPr>
              </a:p>
            </p:txBody>
          </p:sp>
        </p:grpSp>
        <p:sp>
          <p:nvSpPr>
            <p:cNvPr id="3088" name="Line 28"/>
            <p:cNvSpPr>
              <a:spLocks noChangeShapeType="1"/>
            </p:cNvSpPr>
            <p:nvPr/>
          </p:nvSpPr>
          <p:spPr bwMode="auto">
            <a:xfrm>
              <a:off x="5420" y="1720"/>
              <a:ext cx="1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graphicFrame>
          <p:nvGraphicFramePr>
            <p:cNvPr id="3075" name="Object 29"/>
            <p:cNvGraphicFramePr>
              <a:graphicFrameLocks noChangeAspect="1"/>
            </p:cNvGraphicFramePr>
            <p:nvPr/>
          </p:nvGraphicFramePr>
          <p:xfrm>
            <a:off x="5021" y="1651"/>
            <a:ext cx="282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800" imgH="101600" progId="Equation.3">
                    <p:embed/>
                  </p:oleObj>
                </mc:Choice>
                <mc:Fallback>
                  <p:oleObj name="Equation" r:id="rId3" imgW="177800" imgH="101600" progId="Equation.3">
                    <p:embed/>
                    <p:pic>
                      <p:nvPicPr>
                        <p:cNvPr id="3075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1" y="1651"/>
                          <a:ext cx="282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206" name="Object 30"/>
          <p:cNvGraphicFramePr>
            <a:graphicFrameLocks noChangeAspect="1"/>
          </p:cNvGraphicFramePr>
          <p:nvPr/>
        </p:nvGraphicFramePr>
        <p:xfrm>
          <a:off x="2070101" y="3886200"/>
          <a:ext cx="82073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22700" imgH="431800" progId="Equation.3">
                  <p:embed/>
                </p:oleObj>
              </mc:Choice>
              <mc:Fallback>
                <p:oleObj name="Equation" r:id="rId5" imgW="3822700" imgH="431800" progId="Equation.3">
                  <p:embed/>
                  <p:pic>
                    <p:nvPicPr>
                      <p:cNvPr id="5020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1" y="3886200"/>
                        <a:ext cx="82073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Oval 32"/>
          <p:cNvSpPr>
            <a:spLocks noChangeArrowheads="1"/>
          </p:cNvSpPr>
          <p:nvPr/>
        </p:nvSpPr>
        <p:spPr bwMode="auto">
          <a:xfrm>
            <a:off x="8153400" y="3810000"/>
            <a:ext cx="533400" cy="6858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774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utoUpdateAnimBg="0"/>
      <p:bldP spid="50178" grpId="0"/>
      <p:bldP spid="308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FF49E7-2068-8A4E-AD70-782012BF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Annuity is Just the Difference Between Two Perpetuities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85B51-1567-A04D-93F2-9C834476F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3E355C-57B9-BC4B-95D8-406A1F834537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F781F-7A38-3345-A0DF-5E1AD16C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TVM: Perpetuities and Annuities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6D4EA1-FC99-C14F-B66A-A6F26492E1F2}"/>
              </a:ext>
            </a:extLst>
          </p:cNvPr>
          <p:cNvCxnSpPr>
            <a:cxnSpLocks/>
          </p:cNvCxnSpPr>
          <p:nvPr/>
        </p:nvCxnSpPr>
        <p:spPr>
          <a:xfrm>
            <a:off x="1641101" y="4436738"/>
            <a:ext cx="8196316" cy="10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F3143F-F930-AF4A-A53A-FC6772BD2F82}"/>
              </a:ext>
            </a:extLst>
          </p:cNvPr>
          <p:cNvSpPr txBox="1"/>
          <p:nvPr/>
        </p:nvSpPr>
        <p:spPr>
          <a:xfrm>
            <a:off x="1257706" y="431797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04748-C9A3-C649-A408-77A4F2619804}"/>
              </a:ext>
            </a:extLst>
          </p:cNvPr>
          <p:cNvSpPr txBox="1"/>
          <p:nvPr/>
        </p:nvSpPr>
        <p:spPr>
          <a:xfrm>
            <a:off x="2435690" y="454520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B12619-D789-1543-A0D6-2D6C16B082AF}"/>
              </a:ext>
            </a:extLst>
          </p:cNvPr>
          <p:cNvSpPr txBox="1"/>
          <p:nvPr/>
        </p:nvSpPr>
        <p:spPr>
          <a:xfrm>
            <a:off x="3359153" y="456700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BEC5A4-0926-1E49-B6C0-1B36E62AE08C}"/>
              </a:ext>
            </a:extLst>
          </p:cNvPr>
          <p:cNvSpPr txBox="1"/>
          <p:nvPr/>
        </p:nvSpPr>
        <p:spPr>
          <a:xfrm>
            <a:off x="4256620" y="457768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5F24B1-7CC4-F846-BF63-DFB19A7B73E7}"/>
              </a:ext>
            </a:extLst>
          </p:cNvPr>
          <p:cNvSpPr txBox="1"/>
          <p:nvPr/>
        </p:nvSpPr>
        <p:spPr>
          <a:xfrm>
            <a:off x="5176665" y="457768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494050-4BC9-254A-9B61-15CA5F35AC5C}"/>
              </a:ext>
            </a:extLst>
          </p:cNvPr>
          <p:cNvSpPr txBox="1"/>
          <p:nvPr/>
        </p:nvSpPr>
        <p:spPr>
          <a:xfrm>
            <a:off x="6132608" y="457768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A038FB6-DC52-BE48-9437-ACCFE79E0643}"/>
              </a:ext>
            </a:extLst>
          </p:cNvPr>
          <p:cNvGrpSpPr/>
          <p:nvPr/>
        </p:nvGrpSpPr>
        <p:grpSpPr>
          <a:xfrm>
            <a:off x="1641101" y="4090356"/>
            <a:ext cx="4583873" cy="357154"/>
            <a:chOff x="2392661" y="2596444"/>
            <a:chExt cx="4583873" cy="7112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E1E1271-E7A4-8344-B061-D3D7BF95BB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5378" y="2596444"/>
              <a:ext cx="0" cy="711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03AC82-22A0-5449-8854-551AC73958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1556" y="2596444"/>
              <a:ext cx="0" cy="711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98EC45-50D3-AA46-9661-8979CAF8B9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9023" y="2596444"/>
              <a:ext cx="0" cy="711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82D39C-EAAD-8F42-A03F-2D2400E857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9068" y="2596444"/>
              <a:ext cx="0" cy="711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5546410-DD03-1F41-A08A-E3F52A1CD5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6534" y="2596444"/>
              <a:ext cx="0" cy="711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4E264F2-5B3E-F34A-8E2E-ACF71CA098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2661" y="2596444"/>
              <a:ext cx="0" cy="711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CD0A74E-727F-AA48-875E-D9825C279000}"/>
              </a:ext>
            </a:extLst>
          </p:cNvPr>
          <p:cNvSpPr txBox="1"/>
          <p:nvPr/>
        </p:nvSpPr>
        <p:spPr>
          <a:xfrm>
            <a:off x="1479747" y="457768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B919C-CA39-0C4C-BDA5-CBA850017AF4}"/>
              </a:ext>
            </a:extLst>
          </p:cNvPr>
          <p:cNvSpPr txBox="1"/>
          <p:nvPr/>
        </p:nvSpPr>
        <p:spPr>
          <a:xfrm>
            <a:off x="2421047" y="3772211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8D721F-6AEA-CF43-AA4D-13E5E34C6F40}"/>
              </a:ext>
            </a:extLst>
          </p:cNvPr>
          <p:cNvSpPr txBox="1"/>
          <p:nvPr/>
        </p:nvSpPr>
        <p:spPr>
          <a:xfrm>
            <a:off x="3403048" y="3722641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BD824E-C9E7-034A-8FD4-9CDD1D689BEF}"/>
              </a:ext>
            </a:extLst>
          </p:cNvPr>
          <p:cNvSpPr txBox="1"/>
          <p:nvPr/>
        </p:nvSpPr>
        <p:spPr>
          <a:xfrm>
            <a:off x="4258386" y="3708742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D42132-C9C8-B04C-8DBC-E25AA0FAEDBB}"/>
              </a:ext>
            </a:extLst>
          </p:cNvPr>
          <p:cNvSpPr txBox="1"/>
          <p:nvPr/>
        </p:nvSpPr>
        <p:spPr>
          <a:xfrm>
            <a:off x="5172785" y="3722642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9DA92D-5412-6043-B9EC-54B9823B84F4}"/>
              </a:ext>
            </a:extLst>
          </p:cNvPr>
          <p:cNvSpPr txBox="1"/>
          <p:nvPr/>
        </p:nvSpPr>
        <p:spPr>
          <a:xfrm>
            <a:off x="6052822" y="3708742"/>
            <a:ext cx="615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027D76-4E8A-D946-AE05-77FE45CC986F}"/>
              </a:ext>
            </a:extLst>
          </p:cNvPr>
          <p:cNvSpPr txBox="1"/>
          <p:nvPr/>
        </p:nvSpPr>
        <p:spPr>
          <a:xfrm>
            <a:off x="6731278" y="3583555"/>
            <a:ext cx="1374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D2D7C4-5927-2747-9C79-3301DCCF51F5}"/>
              </a:ext>
            </a:extLst>
          </p:cNvPr>
          <p:cNvSpPr txBox="1"/>
          <p:nvPr/>
        </p:nvSpPr>
        <p:spPr>
          <a:xfrm>
            <a:off x="570976" y="540816"/>
            <a:ext cx="112186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Consider two perpetuities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first payment begins at T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first payment begins at 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Subtracting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lang="en-US" sz="24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P</a:t>
            </a:r>
            <a:r>
              <a:rPr lang="en-US" sz="2400" b="1" baseline="-250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4</a:t>
            </a:r>
            <a:r>
              <a:rPr lang="en-US" sz="2400" baseline="-250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payments from the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en-US" sz="2400" dirty="0">
                <a:solidFill>
                  <a:prstClr val="black"/>
                </a:solidFill>
              </a:rPr>
              <a:t> payments  leaves a 4-year annuity, </a:t>
            </a:r>
            <a:r>
              <a:rPr lang="en-US" sz="2400" b="1" dirty="0">
                <a:solidFill>
                  <a:srgbClr val="00B050"/>
                </a:solidFill>
              </a:rPr>
              <a:t>A</a:t>
            </a:r>
            <a:r>
              <a:rPr lang="en-US" sz="2400" b="1" baseline="-25000" dirty="0">
                <a:solidFill>
                  <a:srgbClr val="00B050"/>
                </a:solidFill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The PV of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en-US" sz="2400" baseline="-25000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:   	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C/r</a:t>
            </a:r>
            <a:r>
              <a:rPr lang="en-US" sz="2400" dirty="0">
                <a:solidFill>
                  <a:prstClr val="black"/>
                </a:solidFill>
              </a:rPr>
              <a:t> and the PV of </a:t>
            </a:r>
            <a:r>
              <a:rPr lang="en-US" sz="24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P</a:t>
            </a:r>
            <a:r>
              <a:rPr lang="en-US" sz="2400" b="1" baseline="-250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4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00B0F0"/>
                </a:solidFill>
              </a:rPr>
              <a:t>C/r * 1/(1+r)</a:t>
            </a:r>
            <a:r>
              <a:rPr lang="en-US" sz="2400" b="1" baseline="30000" dirty="0">
                <a:solidFill>
                  <a:srgbClr val="00B0F0"/>
                </a:solidFill>
              </a:rPr>
              <a:t>4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The PV of </a:t>
            </a:r>
            <a:r>
              <a:rPr lang="en-US" sz="2400" b="1" dirty="0">
                <a:solidFill>
                  <a:srgbClr val="00B050"/>
                </a:solidFill>
              </a:rPr>
              <a:t>A</a:t>
            </a:r>
            <a:r>
              <a:rPr lang="en-US" sz="2400" b="1" baseline="-25000" dirty="0">
                <a:solidFill>
                  <a:srgbClr val="00B050"/>
                </a:solidFill>
              </a:rPr>
              <a:t>4 </a:t>
            </a:r>
            <a:r>
              <a:rPr lang="en-US" sz="2400" dirty="0"/>
              <a:t>:   	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C/r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– </a:t>
            </a:r>
            <a:r>
              <a:rPr lang="en-US" sz="2400" b="1" dirty="0">
                <a:solidFill>
                  <a:srgbClr val="00B0F0"/>
                </a:solidFill>
              </a:rPr>
              <a:t>C/r*</a:t>
            </a:r>
            <a:r>
              <a:rPr lang="en-US" sz="2400" b="1" baseline="30000" dirty="0">
                <a:solidFill>
                  <a:srgbClr val="00B0F0"/>
                </a:solidFill>
              </a:rPr>
              <a:t> </a:t>
            </a:r>
            <a:r>
              <a:rPr lang="en-US" sz="2400" b="1" dirty="0">
                <a:solidFill>
                  <a:srgbClr val="00B0F0"/>
                </a:solidFill>
              </a:rPr>
              <a:t>1/(1+r)</a:t>
            </a:r>
            <a:r>
              <a:rPr lang="en-US" sz="2400" b="1" baseline="30000" dirty="0">
                <a:solidFill>
                  <a:srgbClr val="00B0F0"/>
                </a:solidFill>
              </a:rPr>
              <a:t>4</a:t>
            </a:r>
            <a:r>
              <a:rPr lang="en-US" sz="2400" dirty="0">
                <a:solidFill>
                  <a:prstClr val="black"/>
                </a:solidFill>
              </a:rPr>
              <a:t> or </a:t>
            </a:r>
            <a:r>
              <a:rPr lang="en-US" sz="2400" b="1" dirty="0">
                <a:solidFill>
                  <a:srgbClr val="00B0F0"/>
                </a:solidFill>
              </a:rPr>
              <a:t>C/r * [1 - 1/(1+r)</a:t>
            </a:r>
            <a:r>
              <a:rPr lang="en-US" sz="2400" b="1" baseline="30000" dirty="0">
                <a:solidFill>
                  <a:srgbClr val="00B0F0"/>
                </a:solidFill>
              </a:rPr>
              <a:t>4</a:t>
            </a:r>
            <a:r>
              <a:rPr lang="en-US" sz="2400" b="1" dirty="0">
                <a:solidFill>
                  <a:srgbClr val="00B0F0"/>
                </a:solidFill>
              </a:rPr>
              <a:t>]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EE98035-FAAD-854E-8F8E-5039CC81A53B}"/>
              </a:ext>
            </a:extLst>
          </p:cNvPr>
          <p:cNvCxnSpPr>
            <a:cxnSpLocks/>
          </p:cNvCxnSpPr>
          <p:nvPr/>
        </p:nvCxnSpPr>
        <p:spPr>
          <a:xfrm>
            <a:off x="2475593" y="3323021"/>
            <a:ext cx="7361824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6F82959-C873-FA4A-A161-AE701C739DD0}"/>
              </a:ext>
            </a:extLst>
          </p:cNvPr>
          <p:cNvCxnSpPr>
            <a:cxnSpLocks/>
          </p:cNvCxnSpPr>
          <p:nvPr/>
        </p:nvCxnSpPr>
        <p:spPr>
          <a:xfrm flipV="1">
            <a:off x="6153898" y="5412462"/>
            <a:ext cx="3980528" cy="8164"/>
          </a:xfrm>
          <a:prstGeom prst="straightConnector1">
            <a:avLst/>
          </a:prstGeom>
          <a:ln w="38100">
            <a:solidFill>
              <a:schemeClr val="accent3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503F989-33E0-4E45-9C46-1929C3E9401B}"/>
              </a:ext>
            </a:extLst>
          </p:cNvPr>
          <p:cNvCxnSpPr>
            <a:cxnSpLocks/>
          </p:cNvCxnSpPr>
          <p:nvPr/>
        </p:nvCxnSpPr>
        <p:spPr>
          <a:xfrm flipH="1">
            <a:off x="5235307" y="5427936"/>
            <a:ext cx="945013" cy="4625"/>
          </a:xfrm>
          <a:prstGeom prst="line">
            <a:avLst/>
          </a:prstGeom>
          <a:ln w="31750">
            <a:solidFill>
              <a:schemeClr val="accent3">
                <a:lumMod val="50000"/>
                <a:lumOff val="50000"/>
                <a:alpha val="55222"/>
              </a:schemeClr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EFD06DB-AA6E-144D-9601-8D99437C9A39}"/>
              </a:ext>
            </a:extLst>
          </p:cNvPr>
          <p:cNvCxnSpPr/>
          <p:nvPr/>
        </p:nvCxnSpPr>
        <p:spPr>
          <a:xfrm flipH="1">
            <a:off x="1578839" y="3323857"/>
            <a:ext cx="955943" cy="0"/>
          </a:xfrm>
          <a:prstGeom prst="line">
            <a:avLst/>
          </a:prstGeom>
          <a:ln w="31750">
            <a:solidFill>
              <a:schemeClr val="accent1">
                <a:lumMod val="40000"/>
                <a:lumOff val="60000"/>
              </a:schemeClr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32BA53-93C9-3C44-B86C-250EC0EFF7C8}"/>
              </a:ext>
            </a:extLst>
          </p:cNvPr>
          <p:cNvSpPr txBox="1"/>
          <p:nvPr/>
        </p:nvSpPr>
        <p:spPr>
          <a:xfrm>
            <a:off x="5224641" y="4924815"/>
            <a:ext cx="497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8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P</a:t>
            </a:r>
            <a:r>
              <a:rPr lang="en-US" sz="2800" b="1" baseline="-250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4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C9DF46-72F3-714F-88B6-9861B4ED5234}"/>
              </a:ext>
            </a:extLst>
          </p:cNvPr>
          <p:cNvSpPr txBox="1"/>
          <p:nvPr/>
        </p:nvSpPr>
        <p:spPr>
          <a:xfrm>
            <a:off x="1446076" y="2771259"/>
            <a:ext cx="452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b="1" dirty="0">
                <a:solidFill>
                  <a:schemeClr val="accent1"/>
                </a:solidFill>
                <a:latin typeface="Calibri" panose="020F0502020204030204"/>
              </a:rPr>
              <a:t>P</a:t>
            </a:r>
            <a:r>
              <a:rPr lang="en-US" sz="2400" b="1" baseline="-25000" dirty="0">
                <a:solidFill>
                  <a:schemeClr val="accent1"/>
                </a:solidFill>
              </a:rPr>
              <a:t>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FF7DD51-C301-1348-BB67-F1329A3BC1DF}"/>
              </a:ext>
            </a:extLst>
          </p:cNvPr>
          <p:cNvCxnSpPr>
            <a:cxnSpLocks/>
          </p:cNvCxnSpPr>
          <p:nvPr/>
        </p:nvCxnSpPr>
        <p:spPr>
          <a:xfrm flipV="1">
            <a:off x="2526259" y="5424193"/>
            <a:ext cx="2744196" cy="6302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B053A1A-BB48-FF47-AE0C-5A9CC94B49EB}"/>
              </a:ext>
            </a:extLst>
          </p:cNvPr>
          <p:cNvCxnSpPr>
            <a:cxnSpLocks/>
          </p:cNvCxnSpPr>
          <p:nvPr/>
        </p:nvCxnSpPr>
        <p:spPr>
          <a:xfrm>
            <a:off x="1604353" y="5436142"/>
            <a:ext cx="921906" cy="0"/>
          </a:xfrm>
          <a:prstGeom prst="straightConnector1">
            <a:avLst/>
          </a:prstGeom>
          <a:ln w="38100">
            <a:solidFill>
              <a:srgbClr val="00B050">
                <a:alpha val="58000"/>
              </a:srgbClr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2DB8632-F427-664D-9464-87C4F3B325B7}"/>
              </a:ext>
            </a:extLst>
          </p:cNvPr>
          <p:cNvSpPr txBox="1"/>
          <p:nvPr/>
        </p:nvSpPr>
        <p:spPr>
          <a:xfrm>
            <a:off x="1532005" y="4933692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800" b="1" dirty="0">
                <a:solidFill>
                  <a:srgbClr val="00B050"/>
                </a:solidFill>
              </a:rPr>
              <a:t>A</a:t>
            </a:r>
            <a:r>
              <a:rPr lang="en-US" sz="2800" b="1" baseline="-25000" dirty="0">
                <a:solidFill>
                  <a:srgbClr val="00B050"/>
                </a:solidFill>
              </a:rPr>
              <a:t>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9A0D1F-AA03-C142-A748-6454B3FAFD0E}"/>
              </a:ext>
            </a:extLst>
          </p:cNvPr>
          <p:cNvSpPr txBox="1"/>
          <p:nvPr/>
        </p:nvSpPr>
        <p:spPr>
          <a:xfrm>
            <a:off x="5823421" y="5492980"/>
            <a:ext cx="2525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PV of P</a:t>
            </a:r>
            <a:r>
              <a:rPr lang="en-US" b="1" baseline="-250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4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 = C</a:t>
            </a:r>
            <a:r>
              <a:rPr kumimoji="0" lang="en-US" b="1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1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/r * 1/(1+r)</a:t>
            </a:r>
            <a:r>
              <a:rPr kumimoji="0" lang="en-US" b="1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4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E57532-AE11-6C47-9253-A587E8604EA2}"/>
              </a:ext>
            </a:extLst>
          </p:cNvPr>
          <p:cNvSpPr txBox="1"/>
          <p:nvPr/>
        </p:nvSpPr>
        <p:spPr>
          <a:xfrm>
            <a:off x="1492908" y="5531988"/>
            <a:ext cx="3073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</a:rPr>
              <a:t>PV of </a:t>
            </a:r>
            <a:r>
              <a:rPr lang="en-US" b="1" dirty="0">
                <a:solidFill>
                  <a:srgbClr val="00B050"/>
                </a:solidFill>
              </a:rPr>
              <a:t>A</a:t>
            </a:r>
            <a:r>
              <a:rPr lang="en-US" b="1" baseline="-25000" dirty="0">
                <a:solidFill>
                  <a:srgbClr val="00B050"/>
                </a:solidFill>
              </a:rPr>
              <a:t>4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</a:rPr>
              <a:t> =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</a:rPr>
              <a:t>C</a:t>
            </a:r>
            <a:r>
              <a:rPr kumimoji="0" lang="en-US" b="1" i="0" u="none" strike="noStrike" kern="1200" cap="none" spc="0" normalizeH="0" baseline="-2500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</a:rPr>
              <a:t>1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</a:rPr>
              <a:t>/r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–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C</a:t>
            </a:r>
            <a:r>
              <a:rPr kumimoji="0" lang="en-US" b="1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1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/r*</a:t>
            </a:r>
            <a:r>
              <a:rPr kumimoji="0" lang="en-US" b="1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1/(1+r)</a:t>
            </a:r>
            <a:r>
              <a:rPr kumimoji="0" lang="en-US" b="1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</a:rPr>
              <a:t>4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283685-65D1-B848-AF1B-A7F54274CA8A}"/>
              </a:ext>
            </a:extLst>
          </p:cNvPr>
          <p:cNvSpPr txBox="1"/>
          <p:nvPr/>
        </p:nvSpPr>
        <p:spPr>
          <a:xfrm>
            <a:off x="1464351" y="3391666"/>
            <a:ext cx="153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b="1" dirty="0">
                <a:solidFill>
                  <a:srgbClr val="C00000"/>
                </a:solidFill>
                <a:latin typeface="Calibri" panose="020F0502020204030204"/>
              </a:rPr>
              <a:t>PV of P</a:t>
            </a:r>
            <a:r>
              <a:rPr lang="en-US" b="1" baseline="-25000" dirty="0">
                <a:solidFill>
                  <a:srgbClr val="C00000"/>
                </a:solidFill>
              </a:rPr>
              <a:t>0 </a:t>
            </a:r>
            <a:r>
              <a:rPr lang="en-US" b="1" dirty="0">
                <a:solidFill>
                  <a:srgbClr val="C00000"/>
                </a:solidFill>
              </a:rPr>
              <a:t>= C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/r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D890D20-5890-9AFB-1082-CB36EBDCE874}"/>
              </a:ext>
            </a:extLst>
          </p:cNvPr>
          <p:cNvSpPr/>
          <p:nvPr/>
        </p:nvSpPr>
        <p:spPr>
          <a:xfrm>
            <a:off x="3451215" y="5369572"/>
            <a:ext cx="138019" cy="1040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50"/>
              </a:solidFill>
              <a:highlight>
                <a:srgbClr val="008000"/>
              </a:highlight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C809D7A-0209-DFFD-4AF3-8A16BFA46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986" y="5370798"/>
            <a:ext cx="1397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2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8" grpId="0"/>
      <p:bldP spid="6" grpId="0"/>
      <p:bldP spid="48" grpId="0"/>
      <p:bldP spid="57" grpId="0"/>
      <p:bldP spid="60" grpId="0"/>
      <p:bldP spid="61" grpId="0"/>
      <p:bldP spid="49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2400" dirty="0">
                <a:ea typeface="ＭＳ Ｐゴシック" charset="0"/>
                <a:cs typeface="Times New Roman" charset="0"/>
              </a:rPr>
              <a:t>You can afford a $400 monthly car payment.  If the interest rate is 7% APR on a 36-month loan, what’s the maximum amount you can borrow?</a:t>
            </a:r>
          </a:p>
          <a:p>
            <a:pPr marL="457200" indent="-457200"/>
            <a:endParaRPr lang="en-US" sz="2400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sz="2400" dirty="0">
                <a:ea typeface="ＭＳ Ｐゴシック" charset="0"/>
                <a:cs typeface="Times New Roman" charset="0"/>
              </a:rPr>
              <a:t>Answer:  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Annuity Example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9067729-0012-1846-AE44-20CBEEDBE39E}" type="slidenum">
              <a:rPr lang="en-US" sz="1000">
                <a:latin typeface="Calibri"/>
              </a:rPr>
              <a:pPr eaLnBrk="1" hangingPunct="1"/>
              <a:t>8</a:t>
            </a:fld>
            <a:endParaRPr lang="en-US" sz="1000">
              <a:latin typeface="Calibri"/>
            </a:endParaRPr>
          </a:p>
        </p:txBody>
      </p:sp>
      <p:sp>
        <p:nvSpPr>
          <p:cNvPr id="4102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624013"/>
              </p:ext>
            </p:extLst>
          </p:nvPr>
        </p:nvGraphicFramePr>
        <p:xfrm>
          <a:off x="2574235" y="2705234"/>
          <a:ext cx="6934200" cy="146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81300" imgH="457200" progId="Equation.3">
                  <p:embed/>
                </p:oleObj>
              </mc:Choice>
              <mc:Fallback>
                <p:oleObj name="Equation" r:id="rId3" imgW="2781300" imgH="457200" progId="Equation.3">
                  <p:embed/>
                  <p:pic>
                    <p:nvPicPr>
                      <p:cNvPr id="21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235" y="2705234"/>
                        <a:ext cx="6934200" cy="1468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764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  <p:bldP spid="2150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sz="2400">
                <a:ea typeface="ＭＳ Ｐゴシック" charset="0"/>
                <a:cs typeface="ＭＳ Ｐゴシック" charset="0"/>
              </a:rPr>
              <a:t>A growing stream of cash flows with a fixed maturity.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t"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Growing Annuity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D805416-12B3-EE48-9897-9E0B1EDADF71}" type="slidenum">
              <a:rPr lang="en-US" sz="1000">
                <a:latin typeface="Calibri"/>
              </a:rPr>
              <a:pPr eaLnBrk="1" hangingPunct="1"/>
              <a:t>9</a:t>
            </a:fld>
            <a:endParaRPr lang="en-US" sz="1000">
              <a:latin typeface="Calibri"/>
            </a:endParaRPr>
          </a:p>
        </p:txBody>
      </p:sp>
      <p:sp>
        <p:nvSpPr>
          <p:cNvPr id="5128" name="Footer Placeholder 29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649539" y="1905001"/>
            <a:ext cx="7027381" cy="1477295"/>
            <a:chOff x="586" y="1040"/>
            <a:chExt cx="5380" cy="1152"/>
          </a:xfrm>
        </p:grpSpPr>
        <p:sp>
          <p:nvSpPr>
            <p:cNvPr id="5129" name="Line 8"/>
            <p:cNvSpPr>
              <a:spLocks noChangeShapeType="1"/>
            </p:cNvSpPr>
            <p:nvPr/>
          </p:nvSpPr>
          <p:spPr bwMode="auto">
            <a:xfrm>
              <a:off x="730" y="1586"/>
              <a:ext cx="3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</a:endParaRPr>
            </a:p>
          </p:txBody>
        </p:sp>
        <p:grpSp>
          <p:nvGrpSpPr>
            <p:cNvPr id="5130" name="Group 9"/>
            <p:cNvGrpSpPr>
              <a:grpSpLocks/>
            </p:cNvGrpSpPr>
            <p:nvPr/>
          </p:nvGrpSpPr>
          <p:grpSpPr bwMode="auto">
            <a:xfrm>
              <a:off x="586" y="1440"/>
              <a:ext cx="279" cy="744"/>
              <a:chOff x="624" y="2544"/>
              <a:chExt cx="279" cy="744"/>
            </a:xfrm>
          </p:grpSpPr>
          <p:sp>
            <p:nvSpPr>
              <p:cNvPr id="5148" name="Line 10"/>
              <p:cNvSpPr>
                <a:spLocks noChangeShapeType="1"/>
              </p:cNvSpPr>
              <p:nvPr/>
            </p:nvSpPr>
            <p:spPr bwMode="auto">
              <a:xfrm>
                <a:off x="768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5149" name="Rectangle 11"/>
              <p:cNvSpPr>
                <a:spLocks noChangeArrowheads="1"/>
              </p:cNvSpPr>
              <p:nvPr/>
            </p:nvSpPr>
            <p:spPr bwMode="auto">
              <a:xfrm>
                <a:off x="624" y="2880"/>
                <a:ext cx="279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0</a:t>
                </a:r>
              </a:p>
            </p:txBody>
          </p:sp>
        </p:grpSp>
        <p:grpSp>
          <p:nvGrpSpPr>
            <p:cNvPr id="5131" name="Group 12"/>
            <p:cNvGrpSpPr>
              <a:grpSpLocks/>
            </p:cNvGrpSpPr>
            <p:nvPr/>
          </p:nvGrpSpPr>
          <p:grpSpPr bwMode="auto">
            <a:xfrm>
              <a:off x="1529" y="1040"/>
              <a:ext cx="341" cy="1152"/>
              <a:chOff x="1567" y="2136"/>
              <a:chExt cx="341" cy="1152"/>
            </a:xfrm>
          </p:grpSpPr>
          <p:sp>
            <p:nvSpPr>
              <p:cNvPr id="5145" name="Line 13"/>
              <p:cNvSpPr>
                <a:spLocks noChangeShapeType="1"/>
              </p:cNvSpPr>
              <p:nvPr/>
            </p:nvSpPr>
            <p:spPr bwMode="auto">
              <a:xfrm>
                <a:off x="1711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5146" name="Rectangle 14"/>
              <p:cNvSpPr>
                <a:spLocks noChangeArrowheads="1"/>
              </p:cNvSpPr>
              <p:nvPr/>
            </p:nvSpPr>
            <p:spPr bwMode="auto">
              <a:xfrm>
                <a:off x="1567" y="2880"/>
                <a:ext cx="279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1</a:t>
                </a:r>
              </a:p>
            </p:txBody>
          </p:sp>
          <p:sp>
            <p:nvSpPr>
              <p:cNvPr id="5147" name="Rectangle 15"/>
              <p:cNvSpPr>
                <a:spLocks noChangeArrowheads="1"/>
              </p:cNvSpPr>
              <p:nvPr/>
            </p:nvSpPr>
            <p:spPr bwMode="auto">
              <a:xfrm>
                <a:off x="1584" y="2136"/>
                <a:ext cx="324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C</a:t>
                </a:r>
              </a:p>
            </p:txBody>
          </p:sp>
        </p:grpSp>
        <p:graphicFrame>
          <p:nvGraphicFramePr>
            <p:cNvPr id="5123" name="Object 16"/>
            <p:cNvGraphicFramePr>
              <a:graphicFrameLocks noChangeAspect="1"/>
            </p:cNvGraphicFramePr>
            <p:nvPr/>
          </p:nvGraphicFramePr>
          <p:xfrm>
            <a:off x="4450" y="1553"/>
            <a:ext cx="30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800" imgH="101600" progId="Equation.3">
                    <p:embed/>
                  </p:oleObj>
                </mc:Choice>
                <mc:Fallback>
                  <p:oleObj name="Equation" r:id="rId3" imgW="177800" imgH="101600" progId="Equation.3">
                    <p:embed/>
                    <p:pic>
                      <p:nvPicPr>
                        <p:cNvPr id="512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0" y="1553"/>
                          <a:ext cx="307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32" name="Group 17"/>
            <p:cNvGrpSpPr>
              <a:grpSpLocks/>
            </p:cNvGrpSpPr>
            <p:nvPr/>
          </p:nvGrpSpPr>
          <p:grpSpPr bwMode="auto">
            <a:xfrm>
              <a:off x="2170" y="1040"/>
              <a:ext cx="1075" cy="1152"/>
              <a:chOff x="2736" y="1104"/>
              <a:chExt cx="1075" cy="1152"/>
            </a:xfrm>
          </p:grpSpPr>
          <p:sp>
            <p:nvSpPr>
              <p:cNvPr id="5142" name="Line 18"/>
              <p:cNvSpPr>
                <a:spLocks noChangeShapeType="1"/>
              </p:cNvSpPr>
              <p:nvPr/>
            </p:nvSpPr>
            <p:spPr bwMode="auto">
              <a:xfrm>
                <a:off x="3189" y="151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5143" name="Rectangle 19"/>
              <p:cNvSpPr>
                <a:spLocks noChangeArrowheads="1"/>
              </p:cNvSpPr>
              <p:nvPr/>
            </p:nvSpPr>
            <p:spPr bwMode="auto">
              <a:xfrm>
                <a:off x="3044" y="1848"/>
                <a:ext cx="279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2</a:t>
                </a:r>
              </a:p>
            </p:txBody>
          </p:sp>
          <p:sp>
            <p:nvSpPr>
              <p:cNvPr id="5144" name="Rectangle 20"/>
              <p:cNvSpPr>
                <a:spLocks noChangeArrowheads="1"/>
              </p:cNvSpPr>
              <p:nvPr/>
            </p:nvSpPr>
            <p:spPr bwMode="auto">
              <a:xfrm>
                <a:off x="2736" y="1104"/>
                <a:ext cx="1075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C*</a:t>
                </a:r>
                <a:r>
                  <a:rPr lang="en-US" sz="2800">
                    <a:latin typeface="Times New Roman" charset="0"/>
                    <a:cs typeface="Times New Roman" charset="0"/>
                  </a:rPr>
                  <a:t>(1+</a:t>
                </a:r>
                <a:r>
                  <a:rPr lang="en-US" sz="2800" i="1">
                    <a:latin typeface="Times New Roman" charset="0"/>
                    <a:cs typeface="Times New Roman" charset="0"/>
                  </a:rPr>
                  <a:t>g</a:t>
                </a:r>
                <a:r>
                  <a:rPr lang="en-US" sz="2800">
                    <a:latin typeface="Times New Roman" charset="0"/>
                    <a:cs typeface="Times New Roman" charset="0"/>
                  </a:rPr>
                  <a:t>)</a:t>
                </a:r>
              </a:p>
            </p:txBody>
          </p:sp>
        </p:grpSp>
        <p:grpSp>
          <p:nvGrpSpPr>
            <p:cNvPr id="5133" name="Group 21"/>
            <p:cNvGrpSpPr>
              <a:grpSpLocks/>
            </p:cNvGrpSpPr>
            <p:nvPr/>
          </p:nvGrpSpPr>
          <p:grpSpPr bwMode="auto">
            <a:xfrm>
              <a:off x="3226" y="1040"/>
              <a:ext cx="1236" cy="1152"/>
              <a:chOff x="3873" y="1104"/>
              <a:chExt cx="1236" cy="1152"/>
            </a:xfrm>
          </p:grpSpPr>
          <p:sp>
            <p:nvSpPr>
              <p:cNvPr id="5139" name="Line 22"/>
              <p:cNvSpPr>
                <a:spLocks noChangeShapeType="1"/>
              </p:cNvSpPr>
              <p:nvPr/>
            </p:nvSpPr>
            <p:spPr bwMode="auto">
              <a:xfrm>
                <a:off x="4384" y="151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5140" name="Rectangle 23"/>
              <p:cNvSpPr>
                <a:spLocks noChangeArrowheads="1"/>
              </p:cNvSpPr>
              <p:nvPr/>
            </p:nvSpPr>
            <p:spPr bwMode="auto">
              <a:xfrm>
                <a:off x="4270" y="1848"/>
                <a:ext cx="279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3</a:t>
                </a:r>
              </a:p>
            </p:txBody>
          </p:sp>
          <p:sp>
            <p:nvSpPr>
              <p:cNvPr id="5141" name="Rectangle 24"/>
              <p:cNvSpPr>
                <a:spLocks noChangeArrowheads="1"/>
              </p:cNvSpPr>
              <p:nvPr/>
            </p:nvSpPr>
            <p:spPr bwMode="auto">
              <a:xfrm>
                <a:off x="3873" y="1104"/>
                <a:ext cx="1236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C *</a:t>
                </a:r>
                <a:r>
                  <a:rPr lang="en-US" sz="2800">
                    <a:latin typeface="Times New Roman" charset="0"/>
                    <a:cs typeface="Times New Roman" charset="0"/>
                  </a:rPr>
                  <a:t>(1+</a:t>
                </a:r>
                <a:r>
                  <a:rPr lang="en-US" sz="2800" i="1">
                    <a:latin typeface="Times New Roman" charset="0"/>
                    <a:cs typeface="Times New Roman" charset="0"/>
                  </a:rPr>
                  <a:t>g</a:t>
                </a:r>
                <a:r>
                  <a:rPr lang="en-US" sz="2800">
                    <a:latin typeface="Times New Roman" charset="0"/>
                    <a:cs typeface="Times New Roman" charset="0"/>
                  </a:rPr>
                  <a:t>)</a:t>
                </a:r>
                <a:r>
                  <a:rPr lang="en-US" sz="2800" baseline="30000">
                    <a:latin typeface="Times New Roman" charset="0"/>
                    <a:cs typeface="Times New Roman" charset="0"/>
                  </a:rPr>
                  <a:t>2</a:t>
                </a:r>
              </a:p>
            </p:txBody>
          </p:sp>
        </p:grpSp>
        <p:grpSp>
          <p:nvGrpSpPr>
            <p:cNvPr id="5134" name="Group 25"/>
            <p:cNvGrpSpPr>
              <a:grpSpLocks/>
            </p:cNvGrpSpPr>
            <p:nvPr/>
          </p:nvGrpSpPr>
          <p:grpSpPr bwMode="auto">
            <a:xfrm>
              <a:off x="4154" y="1040"/>
              <a:ext cx="1812" cy="1152"/>
              <a:chOff x="4288" y="2049"/>
              <a:chExt cx="1812" cy="1152"/>
            </a:xfrm>
          </p:grpSpPr>
          <p:sp>
            <p:nvSpPr>
              <p:cNvPr id="5135" name="Line 26"/>
              <p:cNvSpPr>
                <a:spLocks noChangeShapeType="1"/>
              </p:cNvSpPr>
              <p:nvPr/>
            </p:nvSpPr>
            <p:spPr bwMode="auto">
              <a:xfrm>
                <a:off x="4974" y="2585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5136" name="Line 27"/>
              <p:cNvSpPr>
                <a:spLocks noChangeShapeType="1"/>
              </p:cNvSpPr>
              <p:nvPr/>
            </p:nvSpPr>
            <p:spPr bwMode="auto">
              <a:xfrm>
                <a:off x="5118" y="2457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</a:endParaRPr>
              </a:p>
            </p:txBody>
          </p:sp>
          <p:sp>
            <p:nvSpPr>
              <p:cNvPr id="5137" name="Rectangle 28"/>
              <p:cNvSpPr>
                <a:spLocks noChangeArrowheads="1"/>
              </p:cNvSpPr>
              <p:nvPr/>
            </p:nvSpPr>
            <p:spPr bwMode="auto">
              <a:xfrm>
                <a:off x="4980" y="2793"/>
                <a:ext cx="359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i="1">
                    <a:latin typeface="Times New Roman" charset="0"/>
                  </a:rPr>
                  <a:t>T</a:t>
                </a:r>
                <a:r>
                  <a:rPr lang="en-US" sz="2800" i="1">
                    <a:solidFill>
                      <a:srgbClr val="644A1A"/>
                    </a:solidFill>
                    <a:latin typeface="Times New Roman" charset="0"/>
                  </a:rPr>
                  <a:t> </a:t>
                </a:r>
              </a:p>
            </p:txBody>
          </p:sp>
          <p:sp>
            <p:nvSpPr>
              <p:cNvPr id="5138" name="Rectangle 29"/>
              <p:cNvSpPr>
                <a:spLocks noChangeArrowheads="1"/>
              </p:cNvSpPr>
              <p:nvPr/>
            </p:nvSpPr>
            <p:spPr bwMode="auto">
              <a:xfrm>
                <a:off x="4288" y="2049"/>
                <a:ext cx="1812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>
                    <a:latin typeface="Times New Roman" charset="0"/>
                  </a:rPr>
                  <a:t>       C</a:t>
                </a:r>
                <a:r>
                  <a:rPr lang="en-US" sz="2800">
                    <a:latin typeface="Times New Roman" charset="0"/>
                    <a:cs typeface="Times New Roman" charset="0"/>
                  </a:rPr>
                  <a:t>*(1+</a:t>
                </a:r>
                <a:r>
                  <a:rPr lang="en-US" sz="2800" i="1">
                    <a:latin typeface="Times New Roman" charset="0"/>
                    <a:cs typeface="Times New Roman" charset="0"/>
                  </a:rPr>
                  <a:t>g</a:t>
                </a:r>
                <a:r>
                  <a:rPr lang="en-US" sz="2800">
                    <a:latin typeface="Times New Roman" charset="0"/>
                    <a:cs typeface="Times New Roman" charset="0"/>
                  </a:rPr>
                  <a:t>)</a:t>
                </a:r>
                <a:r>
                  <a:rPr lang="en-US" sz="2800" i="1" baseline="30000">
                    <a:latin typeface="Times New Roman" charset="0"/>
                    <a:cs typeface="Times New Roman" charset="0"/>
                  </a:rPr>
                  <a:t>T</a:t>
                </a:r>
                <a:r>
                  <a:rPr lang="en-US" sz="2800" baseline="30000">
                    <a:latin typeface="Times New Roman" charset="0"/>
                    <a:cs typeface="Times New Roman" charset="0"/>
                  </a:rPr>
                  <a:t>-1</a:t>
                </a:r>
              </a:p>
            </p:txBody>
          </p:sp>
        </p:grpSp>
      </p:grpSp>
      <p:graphicFrame>
        <p:nvGraphicFramePr>
          <p:cNvPr id="53279" name="Object 31"/>
          <p:cNvGraphicFramePr>
            <a:graphicFrameLocks noChangeAspect="1"/>
          </p:cNvGraphicFramePr>
          <p:nvPr/>
        </p:nvGraphicFramePr>
        <p:xfrm>
          <a:off x="1905000" y="4267200"/>
          <a:ext cx="845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13200" imgH="508000" progId="Equation.3">
                  <p:embed/>
                </p:oleObj>
              </mc:Choice>
              <mc:Fallback>
                <p:oleObj name="Equation" r:id="rId5" imgW="4013200" imgH="508000" progId="Equation.3">
                  <p:embed/>
                  <p:pic>
                    <p:nvPicPr>
                      <p:cNvPr id="5327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267200"/>
                        <a:ext cx="8458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562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/>
      <p:bldP spid="532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algn="ctr">
              <a:lnSpc>
                <a:spcPct val="90000"/>
              </a:lnSpc>
              <a:buNone/>
            </a:pPr>
            <a:r>
              <a:rPr lang="en-US" b="1" u="sng" dirty="0">
                <a:ea typeface="ＭＳ Ｐゴシック" charset="0"/>
                <a:cs typeface="Times New Roman" charset="0"/>
              </a:rPr>
              <a:t>Example</a:t>
            </a:r>
            <a:r>
              <a:rPr lang="en-US" dirty="0">
                <a:ea typeface="ＭＳ Ｐゴシック" charset="0"/>
                <a:cs typeface="Times New Roman" charset="0"/>
              </a:rPr>
              <a:t>  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ea typeface="ＭＳ Ｐゴシック" charset="0"/>
                <a:cs typeface="Times New Roman" charset="0"/>
              </a:rPr>
              <a:t>At retirement, you have earned a pension (dream on) that will pay you $20,000 per year for 40 years starting in one year and increase the annual payment by 3% per year.  What’s the PV of the payments if the discount rate is 10%?</a:t>
            </a:r>
          </a:p>
          <a:p>
            <a:pPr marL="457200" indent="-457200">
              <a:lnSpc>
                <a:spcPct val="90000"/>
              </a:lnSpc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dirty="0">
                <a:ea typeface="ＭＳ Ｐゴシック" charset="0"/>
                <a:cs typeface="Times New Roman" charset="0"/>
              </a:rPr>
              <a:t>Answer:  </a:t>
            </a:r>
            <a:endParaRPr lang="en-US" sz="2400" dirty="0">
              <a:ea typeface="ＭＳ Ｐゴシック" charset="0"/>
              <a:cs typeface="Times New Roman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Growing Annuity 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E7521DD-59F4-CC49-BDD2-23FFCEC279F3}" type="slidenum">
              <a:rPr lang="en-US" sz="1000">
                <a:latin typeface="Calibri"/>
              </a:rPr>
              <a:pPr eaLnBrk="1" hangingPunct="1"/>
              <a:t>10</a:t>
            </a:fld>
            <a:endParaRPr lang="en-US" sz="1000">
              <a:latin typeface="Calibri"/>
            </a:endParaRPr>
          </a:p>
        </p:txBody>
      </p:sp>
      <p:sp>
        <p:nvSpPr>
          <p:cNvPr id="6150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aphicFrame>
        <p:nvGraphicFramePr>
          <p:cNvPr id="30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899911"/>
              </p:ext>
            </p:extLst>
          </p:nvPr>
        </p:nvGraphicFramePr>
        <p:xfrm>
          <a:off x="2514600" y="3074774"/>
          <a:ext cx="71628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28900" imgH="482600" progId="Equation.3">
                  <p:embed/>
                </p:oleObj>
              </mc:Choice>
              <mc:Fallback>
                <p:oleObj name="Equation" r:id="rId3" imgW="2628900" imgH="482600" progId="Equation.3">
                  <p:embed/>
                  <p:pic>
                    <p:nvPicPr>
                      <p:cNvPr id="30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74774"/>
                        <a:ext cx="71628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224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Annuity and Growing Annuity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EE2D7-1F05-0540-AD0D-C8F6AEBAE5C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Perpetuities and Annuities</a:t>
            </a:r>
          </a:p>
        </p:txBody>
      </p:sp>
      <p:pic>
        <p:nvPicPr>
          <p:cNvPr id="7" name="Picture 6" descr="shrinking-width-ann(2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19" y="1070016"/>
            <a:ext cx="4721127" cy="4198436"/>
          </a:xfrm>
          <a:prstGeom prst="rect">
            <a:avLst/>
          </a:prstGeom>
        </p:spPr>
      </p:pic>
      <p:pic>
        <p:nvPicPr>
          <p:cNvPr id="8" name="Picture 7" descr="shrinking-width-gann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864" y="1413164"/>
            <a:ext cx="4648200" cy="39142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24201" y="5410200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0" y="5410200"/>
            <a:ext cx="180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Growing Annuity</a:t>
            </a:r>
          </a:p>
        </p:txBody>
      </p:sp>
      <p:cxnSp>
        <p:nvCxnSpPr>
          <p:cNvPr id="11" name="Straight Connector 10"/>
          <p:cNvCxnSpPr>
            <a:stCxn id="5" idx="0"/>
          </p:cNvCxnSpPr>
          <p:nvPr/>
        </p:nvCxnSpPr>
        <p:spPr>
          <a:xfrm flipV="1">
            <a:off x="6096000" y="510209"/>
            <a:ext cx="0" cy="5932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73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2800" dirty="0">
                <a:ea typeface="ＭＳ Ｐゴシック" charset="0"/>
                <a:cs typeface="Times New Roman" charset="0"/>
              </a:rPr>
              <a:t>You plan to save $10,000 per year starting 1 year from now for 40 years.  If you can earn 7% p.a. on the savings, how much will you have in 40 years?  </a:t>
            </a:r>
          </a:p>
          <a:p>
            <a:pPr marL="457200" indent="-457200"/>
            <a:endParaRPr lang="en-US" sz="2800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sz="2800" b="1" u="sng" dirty="0">
                <a:ea typeface="ＭＳ Ｐゴシック" charset="0"/>
                <a:cs typeface="Times New Roman" charset="0"/>
              </a:rPr>
              <a:t>Three Approaches</a:t>
            </a:r>
            <a:r>
              <a:rPr lang="en-US" sz="2800" dirty="0">
                <a:ea typeface="ＭＳ Ｐゴシック" charset="0"/>
                <a:cs typeface="Times New Roman" charset="0"/>
              </a:rPr>
              <a:t>:</a:t>
            </a:r>
          </a:p>
          <a:p>
            <a:pPr marL="1028700" lvl="1"/>
            <a:r>
              <a:rPr lang="en-US" sz="2400" dirty="0">
                <a:ea typeface="ＭＳ Ｐゴシック" charset="0"/>
                <a:cs typeface="Times New Roman" charset="0"/>
              </a:rPr>
              <a:t>Brute force:  Use the FV formula for each of the 40 cash flows and add them together.  Ouch.</a:t>
            </a:r>
          </a:p>
          <a:p>
            <a:pPr marL="1028700" lvl="1"/>
            <a:r>
              <a:rPr lang="en-US" sz="2400" dirty="0">
                <a:ea typeface="ＭＳ Ｐゴシック" charset="0"/>
                <a:cs typeface="Times New Roman" charset="0"/>
              </a:rPr>
              <a:t>Use the </a:t>
            </a:r>
            <a:r>
              <a:rPr lang="en-US" sz="2400" i="1" dirty="0">
                <a:ea typeface="ＭＳ Ｐゴシック" charset="0"/>
                <a:cs typeface="Times New Roman" charset="0"/>
              </a:rPr>
              <a:t>FV</a:t>
            </a:r>
            <a:r>
              <a:rPr lang="en-US" sz="2400" dirty="0">
                <a:ea typeface="ＭＳ Ｐゴシック" charset="0"/>
                <a:cs typeface="Times New Roman" charset="0"/>
              </a:rPr>
              <a:t> function (Excel or a calculator)</a:t>
            </a:r>
          </a:p>
          <a:p>
            <a:pPr marL="1028700" lvl="1"/>
            <a:r>
              <a:rPr lang="en-US" sz="2400" dirty="0">
                <a:ea typeface="ＭＳ Ｐゴシック" charset="0"/>
                <a:cs typeface="Times New Roman" charset="0"/>
              </a:rPr>
              <a:t>Find the PV of a 40-year $10,000 annuity and then use the FV formula.  Clever.</a:t>
            </a:r>
          </a:p>
          <a:p>
            <a:pPr marL="1028700" lvl="1"/>
            <a:endParaRPr lang="en-US" sz="2400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sz="2800" dirty="0">
                <a:ea typeface="ＭＳ Ｐゴシック" charset="0"/>
                <a:cs typeface="Times New Roman" charset="0"/>
              </a:rPr>
              <a:t>Answer:  $1.996M   </a:t>
            </a:r>
            <a:endParaRPr lang="en-US" dirty="0">
              <a:ea typeface="ＭＳ Ｐゴシック" charset="0"/>
              <a:cs typeface="Times New Roman" charset="0"/>
            </a:endParaRP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Future </a:t>
            </a:r>
            <a:r>
              <a:rPr lang="en-US" b="1" dirty="0">
                <a:latin typeface="+mn-lt"/>
                <a:ea typeface="ＭＳ Ｐゴシック" charset="0"/>
                <a:cs typeface="ＭＳ Ｐゴシック" charset="0"/>
              </a:rPr>
              <a:t>Value</a:t>
            </a:r>
            <a:r>
              <a:rPr lang="en-US" b="1" dirty="0">
                <a:ea typeface="ＭＳ Ｐゴシック" charset="0"/>
                <a:cs typeface="ＭＳ Ｐゴシック" charset="0"/>
              </a:rPr>
              <a:t> of an Annuity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B39FB50-FC1C-9642-A390-3A9735B72551}" type="slidenum">
              <a:rPr lang="en-US" sz="1000">
                <a:latin typeface="Calibri"/>
              </a:rPr>
              <a:pPr eaLnBrk="1" hangingPunct="1"/>
              <a:t>12</a:t>
            </a:fld>
            <a:endParaRPr lang="en-US" sz="1000">
              <a:latin typeface="Calibri"/>
            </a:endParaRPr>
          </a:p>
        </p:txBody>
      </p:sp>
      <p:sp>
        <p:nvSpPr>
          <p:cNvPr id="20487" name="Footer Placeholder 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pic>
        <p:nvPicPr>
          <p:cNvPr id="583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04" y="2906032"/>
            <a:ext cx="584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04" y="4206648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16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uiExpand="1" build="p" bldLvl="2" autoUpdateAnimBg="0"/>
      <p:bldP spid="583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Your broker calls wants to sell you a bond that promises three annual coupons of $100 (the first paid one year from today) and a principal payment of $1,000 made with the last coupon.  If the bond is riskless, what’s its price if the discount rate is 7%?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Using the annuity formula, the PV of the coupons is $262.43:  100/.07(1- 1/(1.07)</a:t>
            </a:r>
            <a:r>
              <a:rPr lang="en-US" sz="2400" baseline="30000" dirty="0">
                <a:ea typeface="ＭＳ Ｐゴシック" charset="0"/>
              </a:rPr>
              <a:t>3</a:t>
            </a:r>
            <a:r>
              <a:rPr lang="en-US" sz="2400" dirty="0">
                <a:ea typeface="ＭＳ Ｐゴシック" charset="0"/>
              </a:rPr>
              <a:t>) 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The PV of the principal is: $816.30.  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The price of the bond is: $1,078.73 (PV coupons + PV Principal)</a:t>
            </a:r>
          </a:p>
          <a:p>
            <a:pPr marL="457200" lvl="1" indent="0">
              <a:buNone/>
            </a:pPr>
            <a:endParaRPr lang="en-US" dirty="0">
              <a:ea typeface="ＭＳ Ｐゴシック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Annuity Application:  Pricing a Bond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0E4DFDD-3FB0-C740-A0EE-41C8441FC7FE}" type="slidenum">
              <a:rPr lang="en-US" sz="1000">
                <a:latin typeface="Calibri"/>
              </a:rPr>
              <a:pPr eaLnBrk="1" hangingPunct="1"/>
              <a:t>13</a:t>
            </a:fld>
            <a:endParaRPr lang="en-US" sz="1000">
              <a:latin typeface="Calibri"/>
            </a:endParaRPr>
          </a:p>
        </p:txBody>
      </p:sp>
      <p:sp>
        <p:nvSpPr>
          <p:cNvPr id="2150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</p:spTree>
    <p:extLst>
      <p:ext uri="{BB962C8B-B14F-4D97-AF65-F5344CB8AC3E}">
        <p14:creationId xmlns:p14="http://schemas.microsoft.com/office/powerpoint/2010/main" val="41452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A1FA81-6F05-314D-8850-388F8DF50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034321"/>
              </p:ext>
            </p:extLst>
          </p:nvPr>
        </p:nvGraphicFramePr>
        <p:xfrm>
          <a:off x="3951485" y="984537"/>
          <a:ext cx="7764088" cy="5234270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7764088">
                  <a:extLst>
                    <a:ext uri="{9D8B030D-6E8A-4147-A177-3AD203B41FA5}">
                      <a16:colId xmlns:a16="http://schemas.microsoft.com/office/drawing/2014/main" val="1619155168"/>
                    </a:ext>
                  </a:extLst>
                </a:gridCol>
              </a:tblGrid>
              <a:tr h="11322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=PV(</a:t>
                      </a:r>
                      <a:r>
                        <a:rPr lang="en-US" sz="3200" u="none" strike="noStrike" dirty="0" err="1">
                          <a:effectLst/>
                        </a:rPr>
                        <a:t>rate,nper,pmt</a:t>
                      </a:r>
                      <a:r>
                        <a:rPr lang="en-US" sz="3200" u="none" strike="noStrike" dirty="0">
                          <a:effectLst/>
                        </a:rPr>
                        <a:t>,[</a:t>
                      </a:r>
                      <a:r>
                        <a:rPr lang="en-US" sz="3200" u="none" strike="noStrike" dirty="0" err="1">
                          <a:effectLst/>
                        </a:rPr>
                        <a:t>fv</a:t>
                      </a:r>
                      <a:r>
                        <a:rPr lang="en-US" sz="3200" u="none" strike="noStrike" dirty="0">
                          <a:effectLst/>
                        </a:rPr>
                        <a:t>],[type])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6467646"/>
                  </a:ext>
                </a:extLst>
              </a:tr>
              <a:tr h="9835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=NPER(</a:t>
                      </a:r>
                      <a:r>
                        <a:rPr lang="en-US" sz="3200" u="none" strike="noStrike" dirty="0" err="1">
                          <a:effectLst/>
                        </a:rPr>
                        <a:t>rate,pmt,pv</a:t>
                      </a:r>
                      <a:r>
                        <a:rPr lang="en-US" sz="3200" u="none" strike="noStrike" dirty="0">
                          <a:effectLst/>
                        </a:rPr>
                        <a:t>,[</a:t>
                      </a:r>
                      <a:r>
                        <a:rPr lang="en-US" sz="3200" u="none" strike="noStrike" dirty="0" err="1">
                          <a:effectLst/>
                        </a:rPr>
                        <a:t>fv</a:t>
                      </a:r>
                      <a:r>
                        <a:rPr lang="en-US" sz="3200" u="none" strike="noStrike" dirty="0">
                          <a:effectLst/>
                        </a:rPr>
                        <a:t>],[type])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9580984"/>
                  </a:ext>
                </a:extLst>
              </a:tr>
              <a:tr h="1039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=PMT(</a:t>
                      </a:r>
                      <a:r>
                        <a:rPr lang="en-US" sz="3200" u="none" strike="noStrike" dirty="0" err="1">
                          <a:effectLst/>
                        </a:rPr>
                        <a:t>rate,nper,pv</a:t>
                      </a:r>
                      <a:r>
                        <a:rPr lang="en-US" sz="3200" u="none" strike="noStrike" dirty="0">
                          <a:effectLst/>
                        </a:rPr>
                        <a:t>,[</a:t>
                      </a:r>
                      <a:r>
                        <a:rPr lang="en-US" sz="3200" u="none" strike="noStrike" dirty="0" err="1">
                          <a:effectLst/>
                        </a:rPr>
                        <a:t>fv</a:t>
                      </a:r>
                      <a:r>
                        <a:rPr lang="en-US" sz="3200" u="none" strike="noStrike" dirty="0">
                          <a:effectLst/>
                        </a:rPr>
                        <a:t>],[type])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0596164"/>
                  </a:ext>
                </a:extLst>
              </a:tr>
              <a:tr h="1039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=FV(</a:t>
                      </a:r>
                      <a:r>
                        <a:rPr lang="en-US" sz="3200" u="none" strike="noStrike" dirty="0" err="1">
                          <a:effectLst/>
                        </a:rPr>
                        <a:t>rate,nper,pmt</a:t>
                      </a:r>
                      <a:r>
                        <a:rPr lang="en-US" sz="3200" u="none" strike="noStrike" dirty="0">
                          <a:effectLst/>
                        </a:rPr>
                        <a:t>,[</a:t>
                      </a:r>
                      <a:r>
                        <a:rPr lang="en-US" sz="3200" u="none" strike="noStrike" dirty="0" err="1">
                          <a:effectLst/>
                        </a:rPr>
                        <a:t>pv</a:t>
                      </a:r>
                      <a:r>
                        <a:rPr lang="en-US" sz="3200" u="none" strike="noStrike" dirty="0">
                          <a:effectLst/>
                        </a:rPr>
                        <a:t>],[type])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0457665"/>
                  </a:ext>
                </a:extLst>
              </a:tr>
              <a:tr h="10394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=RATE(</a:t>
                      </a:r>
                      <a:r>
                        <a:rPr lang="en-US" sz="3200" u="none" strike="noStrike" dirty="0" err="1">
                          <a:effectLst/>
                        </a:rPr>
                        <a:t>nper,pmt,pv</a:t>
                      </a:r>
                      <a:r>
                        <a:rPr lang="en-US" sz="3200" u="none" strike="noStrike" dirty="0">
                          <a:effectLst/>
                        </a:rPr>
                        <a:t>,[</a:t>
                      </a:r>
                      <a:r>
                        <a:rPr lang="en-US" sz="3200" u="none" strike="noStrike" dirty="0" err="1">
                          <a:effectLst/>
                        </a:rPr>
                        <a:t>fv</a:t>
                      </a:r>
                      <a:r>
                        <a:rPr lang="en-US" sz="3200" u="none" strike="noStrike" dirty="0">
                          <a:effectLst/>
                        </a:rPr>
                        <a:t>],[type],[guess])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861864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6B1EA79-B5C9-664D-A4D6-46FCC6B7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Annuities in 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2C160-9F26-014D-AA8D-FCBC321BE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FB297-E100-B048-87F6-E255B080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Perpetuities and Annuities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AC5C69-62AA-5F4E-9776-39C9BCD00BC6}"/>
                  </a:ext>
                </a:extLst>
              </p:cNvPr>
              <p:cNvSpPr txBox="1"/>
              <p:nvPr/>
            </p:nvSpPr>
            <p:spPr>
              <a:xfrm>
                <a:off x="413434" y="2791458"/>
                <a:ext cx="3342653" cy="678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dirty="0">
                    <a:latin typeface="Cambria Math" charset="0"/>
                    <a:ea typeface="Cambria Math" charset="0"/>
                    <a:cs typeface="Cambria Math" charset="0"/>
                  </a:rPr>
                  <a:t>PV</a:t>
                </a:r>
                <a14:m>
                  <m:oMath xmlns:m="http://schemas.openxmlformats.org/officeDocument/2006/math">
                    <m:r>
                      <a:rPr lang="el-GR" sz="280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charset="0"/>
                          </a:rPr>
                          <m:t>𝐶</m:t>
                        </m:r>
                        <m:r>
                          <a:rPr lang="en-US" sz="2800" b="0" i="1" baseline="-25000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charset="0"/>
                          </a:rPr>
                          <m:t>𝑟</m:t>
                        </m:r>
                      </m:den>
                    </m:f>
                    <m:d>
                      <m:dPr>
                        <m:ctrlPr>
                          <a:rPr lang="en-US" sz="2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sz="2800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1+</m:t>
                                </m:r>
                                <m:r>
                                  <a:rPr lang="en-US" sz="2800" i="1"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sz="2800" i="1" baseline="30000">
                                <a:latin typeface="Cambria Math" charset="0"/>
                              </a:rPr>
                              <m:t>𝑇</m:t>
                            </m:r>
                          </m:den>
                        </m:f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AC5C69-62AA-5F4E-9776-39C9BCD0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34" y="2791458"/>
                <a:ext cx="3342653" cy="678584"/>
              </a:xfrm>
              <a:prstGeom prst="rect">
                <a:avLst/>
              </a:prstGeom>
              <a:blipFill>
                <a:blip r:embed="rId2"/>
                <a:stretch>
                  <a:fillRect l="-6464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174319-1D21-F040-B82E-C99038704DE3}"/>
              </a:ext>
            </a:extLst>
          </p:cNvPr>
          <p:cNvSpPr/>
          <p:nvPr/>
        </p:nvSpPr>
        <p:spPr>
          <a:xfrm>
            <a:off x="3951485" y="984537"/>
            <a:ext cx="7764087" cy="1072863"/>
          </a:xfrm>
          <a:prstGeom prst="roundRect">
            <a:avLst/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017B59-B11A-D34A-9692-0664CA3D78AF}"/>
              </a:ext>
            </a:extLst>
          </p:cNvPr>
          <p:cNvCxnSpPr/>
          <p:nvPr/>
        </p:nvCxnSpPr>
        <p:spPr>
          <a:xfrm flipV="1">
            <a:off x="2471738" y="1514475"/>
            <a:ext cx="1479747" cy="1157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15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/>
                        </p:par>
                      </p:childTnLst>
                    </p:cTn>
                  </p:par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4792 " pathEditMode="relative" ptsTypes="AA">
                                      <p:cBhvr>
                                        <p:cTn id="22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31042 " pathEditMode="relative" ptsTypes="AA">
                                      <p:cBhvr>
                                        <p:cTn id="2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7.40741E-7 L 0.00208 0.45324 " pathEditMode="relative" rAng="0" ptsTypes="AA">
                                      <p:cBhvr>
                                        <p:cTn id="3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2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7.40741E-7 L 0.00208 0.60949 " pathEditMode="relative" rAng="0" ptsTypes="AA">
                                      <p:cBhvr>
                                        <p:cTn id="3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3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9" grpId="1" animBg="1"/>
      <p:bldP spid="9" grpId="2" animBg="1"/>
      <p:bldP spid="9" grpId="3" animBg="1"/>
      <p:bldP spid="9" grpId="4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>
                <a:ea typeface="ＭＳ Ｐゴシック" charset="0"/>
                <a:cs typeface="ＭＳ Ｐゴシック" charset="0"/>
              </a:rPr>
              <a:t>  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How to Value Annuities with Excel</a:t>
            </a:r>
          </a:p>
        </p:txBody>
      </p:sp>
      <p:sp>
        <p:nvSpPr>
          <p:cNvPr id="2457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E6A9438-6981-CF4B-B79C-C52527E5A96C}" type="slidenum">
              <a:rPr lang="en-US" sz="1000">
                <a:latin typeface="Calibri"/>
              </a:rPr>
              <a:pPr eaLnBrk="1" hangingPunct="1"/>
              <a:t>15</a:t>
            </a:fld>
            <a:endParaRPr lang="en-US" sz="1000">
              <a:latin typeface="Calibri"/>
            </a:endParaRPr>
          </a:p>
        </p:txBody>
      </p:sp>
      <p:sp>
        <p:nvSpPr>
          <p:cNvPr id="24620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aphicFrame>
        <p:nvGraphicFramePr>
          <p:cNvPr id="130203" name="Group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34276"/>
              </p:ext>
            </p:extLst>
          </p:nvPr>
        </p:nvGraphicFramePr>
        <p:xfrm>
          <a:off x="715681" y="1305832"/>
          <a:ext cx="10418826" cy="3736402"/>
        </p:xfrm>
        <a:graphic>
          <a:graphicData uri="http://schemas.openxmlformats.org/drawingml/2006/table">
            <a:tbl>
              <a:tblPr/>
              <a:tblGrid>
                <a:gridCol w="175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7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6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N (NPER)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40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I </a:t>
                      </a:r>
                      <a:b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</a:b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(RATE)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7%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5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PV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PMT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-10000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78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FV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$1,996,351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&lt;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--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=FV(RATE, NPER, PMT, [PV], [type])</a:t>
                      </a:r>
                      <a:b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</a:b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=FV(.07,40,-10000,0,0)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marL="110642" marR="110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847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Excel Formula:  Remaining Principal in Two Steps 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867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943029D-58FA-AE40-A15F-2DFA84269037}" type="slidenum">
              <a:rPr lang="en-US" sz="1000">
                <a:latin typeface="Calibri"/>
              </a:rPr>
              <a:pPr eaLnBrk="1" hangingPunct="1"/>
              <a:t>16</a:t>
            </a:fld>
            <a:endParaRPr lang="en-US" sz="1000">
              <a:latin typeface="Calibri"/>
            </a:endParaRPr>
          </a:p>
        </p:txBody>
      </p:sp>
      <p:sp>
        <p:nvSpPr>
          <p:cNvPr id="28715" name="Footer Placeholder 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aphicFrame>
        <p:nvGraphicFramePr>
          <p:cNvPr id="131179" name="Group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70337"/>
              </p:ext>
            </p:extLst>
          </p:nvPr>
        </p:nvGraphicFramePr>
        <p:xfrm>
          <a:off x="1363081" y="2184461"/>
          <a:ext cx="9465837" cy="3482320"/>
        </p:xfrm>
        <a:graphic>
          <a:graphicData uri="http://schemas.openxmlformats.org/drawingml/2006/table">
            <a:tbl>
              <a:tblPr/>
              <a:tblGrid>
                <a:gridCol w="175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8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1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Rate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0.41667%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Ｐゴシック" charset="-128"/>
                          <a:sym typeface="Wingdings"/>
                        </a:rPr>
                        <a:t>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Ｐゴシック" charset="-128"/>
                        </a:rPr>
                        <a:t>Why is this the correct input?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NPER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360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PV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 $500,000 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  <a:lumOff val="50000"/>
                          </a:schemeClr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PMT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($2,684.11)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=PMT(rate,nper,pv,fv,type)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8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PV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120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$406,710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sym typeface="Wingdings"/>
                        </a:rPr>
                        <a:t>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=PV(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rate,nper,pmt,fv,type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), where </a:t>
                      </a: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NPER = 240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and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pmt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-128"/>
                        </a:rPr>
                        <a:t> is $2,684.11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PV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Ｐゴシック" charset="-128"/>
                        </a:rPr>
                        <a:t> -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PV</a:t>
                      </a:r>
                      <a:r>
                        <a:rPr kumimoji="0" 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120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$93,290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363081" y="778696"/>
            <a:ext cx="9164212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SzPct val="50000"/>
              <a:buFontTx/>
              <a:buChar char="•"/>
            </a:pPr>
            <a:r>
              <a:rPr lang="en-US" sz="2400" b="1" kern="0" dirty="0">
                <a:solidFill>
                  <a:srgbClr val="000000"/>
                </a:solidFill>
                <a:latin typeface="Calibri"/>
              </a:rPr>
              <a:t>You borrow $500,000 for 30 years at 5% APR to purchase a house.  How much of the mortgage will you have paid off in 10 years?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4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Excel Formula:  Cumulative Principal 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867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943029D-58FA-AE40-A15F-2DFA84269037}" type="slidenum">
              <a:rPr lang="en-US" sz="1000">
                <a:latin typeface="Calibri"/>
              </a:rPr>
              <a:pPr eaLnBrk="1" hangingPunct="1"/>
              <a:t>17</a:t>
            </a:fld>
            <a:endParaRPr lang="en-US" sz="1000">
              <a:latin typeface="Calibri"/>
            </a:endParaRPr>
          </a:p>
        </p:txBody>
      </p:sp>
      <p:sp>
        <p:nvSpPr>
          <p:cNvPr id="28715" name="Footer Placeholder 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aphicFrame>
        <p:nvGraphicFramePr>
          <p:cNvPr id="131179" name="Group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27363"/>
              </p:ext>
            </p:extLst>
          </p:nvPr>
        </p:nvGraphicFramePr>
        <p:xfrm>
          <a:off x="1363081" y="2114072"/>
          <a:ext cx="9465837" cy="3735389"/>
        </p:xfrm>
        <a:graphic>
          <a:graphicData uri="http://schemas.openxmlformats.org/drawingml/2006/table">
            <a:tbl>
              <a:tblPr/>
              <a:tblGrid>
                <a:gridCol w="175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1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Rate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0.41667%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Ｐゴシック" charset="-128"/>
                          <a:sym typeface="Wingdings"/>
                        </a:rPr>
                        <a:t>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Ｐゴシック" charset="-128"/>
                        </a:rPr>
                        <a:t>Why is this the correct input?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NPER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360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PV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 $500,000 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Begin Per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End Per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120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Cum Prin.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 ($93,290)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sym typeface="Wingdings"/>
                        </a:rPr>
                        <a:t>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=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CUMPRINC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(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Rate,Nper,PV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,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Begin,End,Type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</a:rPr>
                        <a:t>=CUMPRINC(.0041667,360,500000,1,120,0)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363081" y="869402"/>
            <a:ext cx="9856863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SzPct val="50000"/>
              <a:buFontTx/>
              <a:buChar char="•"/>
            </a:pPr>
            <a:r>
              <a:rPr lang="en-US" sz="2400" b="1" kern="0" dirty="0">
                <a:solidFill>
                  <a:srgbClr val="000000"/>
                </a:solidFill>
                <a:latin typeface="Calibri"/>
              </a:rPr>
              <a:t>You borrow $500,000 for 30 years at 5% APR to purchase a house.  How much of the mortgage will you have paid off in 10 years?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9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Loan Amortization Example</a:t>
            </a:r>
          </a:p>
        </p:txBody>
      </p:sp>
      <p:sp>
        <p:nvSpPr>
          <p:cNvPr id="2969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DBE1071-1C2D-1047-9596-5CAF4B61CB95}" type="slidenum">
              <a:rPr lang="en-US" sz="1000">
                <a:latin typeface="Calibri"/>
              </a:rPr>
              <a:pPr eaLnBrk="1" hangingPunct="1"/>
              <a:t>18</a:t>
            </a:fld>
            <a:endParaRPr lang="en-US" sz="1000">
              <a:latin typeface="Calibri"/>
            </a:endParaRPr>
          </a:p>
        </p:txBody>
      </p:sp>
      <p:sp>
        <p:nvSpPr>
          <p:cNvPr id="29703" name="Footer Placeholder 12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sp>
        <p:nvSpPr>
          <p:cNvPr id="29702" name="Line 439"/>
          <p:cNvSpPr>
            <a:spLocks noChangeShapeType="1"/>
          </p:cNvSpPr>
          <p:nvPr/>
        </p:nvSpPr>
        <p:spPr bwMode="auto">
          <a:xfrm>
            <a:off x="640080" y="4709291"/>
            <a:ext cx="10718807" cy="323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08" y="4847355"/>
            <a:ext cx="10567579" cy="1422317"/>
          </a:xfrm>
          <a:prstGeom prst="rect">
            <a:avLst/>
          </a:prstGeom>
        </p:spPr>
      </p:pic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C327530C-B350-C172-79C2-958A59BC6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707571"/>
            <a:ext cx="10875264" cy="38026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9A5B81-1B3B-719F-C476-139EBB800AB3}"/>
              </a:ext>
            </a:extLst>
          </p:cNvPr>
          <p:cNvCxnSpPr>
            <a:cxnSpLocks/>
          </p:cNvCxnSpPr>
          <p:nvPr/>
        </p:nvCxnSpPr>
        <p:spPr>
          <a:xfrm>
            <a:off x="4838918" y="1716202"/>
            <a:ext cx="1681625" cy="1342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19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CD6D-0BBD-6DA4-8A7B-EC267D14A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Functions on 10bll+: Some Preliminaries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B62FC-2593-4C20-D7DE-D5B21989E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49F26-8FE7-3FC8-F936-EED21570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Perpetuities and Annuities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5D2EB0-1C07-BE61-EB7A-86E5B3EAF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323" y="590256"/>
            <a:ext cx="3483741" cy="5597184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9EC724F-D209-E358-540B-DB102C70B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Importance of clearing financial registers</a:t>
            </a:r>
          </a:p>
          <a:p>
            <a:pPr lvl="1"/>
            <a:r>
              <a:rPr lang="en-US" dirty="0"/>
              <a:t>     then	 </a:t>
            </a:r>
          </a:p>
          <a:p>
            <a:endParaRPr lang="en-US" dirty="0"/>
          </a:p>
          <a:p>
            <a:r>
              <a:rPr lang="en-US" dirty="0"/>
              <a:t>Display: 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Out of the box, </a:t>
            </a:r>
            <a:r>
              <a:rPr lang="en-US" b="1" dirty="0"/>
              <a:t>P/YR </a:t>
            </a:r>
            <a:r>
              <a:rPr lang="en-US" dirty="0"/>
              <a:t>(under       ) is set to 12/yr.</a:t>
            </a:r>
          </a:p>
          <a:p>
            <a:pPr marL="228600" lvl="1" indent="0">
              <a:buNone/>
            </a:pPr>
            <a:r>
              <a:rPr lang="en-US" b="1" dirty="0"/>
              <a:t>Internally</a:t>
            </a:r>
            <a:r>
              <a:rPr lang="en-US" dirty="0"/>
              <a:t> I/YR divides the annual rate by 12, which you may</a:t>
            </a:r>
          </a:p>
          <a:p>
            <a:pPr marL="228600" lvl="1" indent="0">
              <a:buNone/>
            </a:pPr>
            <a:r>
              <a:rPr lang="en-US" dirty="0"/>
              <a:t>not want if you are doing annual calculations.</a:t>
            </a:r>
          </a:p>
          <a:p>
            <a:pPr marL="228600" lvl="1" indent="0">
              <a:buNone/>
            </a:pPr>
            <a:endParaRPr lang="en-US" dirty="0"/>
          </a:p>
          <a:p>
            <a:r>
              <a:rPr lang="en-US" dirty="0"/>
              <a:t>I recommend changing P/Y to 1/yr: </a:t>
            </a:r>
          </a:p>
          <a:p>
            <a:pPr marL="228600" lvl="1" indent="0">
              <a:buNone/>
            </a:pPr>
            <a:r>
              <a:rPr lang="en-US" dirty="0"/>
              <a:t>Note: For monthly payments, you will have to specify the</a:t>
            </a:r>
          </a:p>
          <a:p>
            <a:pPr marL="228600" lvl="1" indent="0">
              <a:buNone/>
            </a:pPr>
            <a:r>
              <a:rPr lang="en-US" dirty="0"/>
              <a:t>monthly rate. Ex: If mortgage is 5%/yr, you will have to divide</a:t>
            </a:r>
          </a:p>
          <a:p>
            <a:pPr marL="228600" lvl="1" indent="0" algn="l">
              <a:buNone/>
            </a:pPr>
            <a:r>
              <a:rPr lang="en-US" dirty="0"/>
              <a:t>5%/12 (0.41667) and enter it into</a:t>
            </a:r>
            <a:br>
              <a:rPr lang="en-US" dirty="0"/>
            </a:br>
            <a:endParaRPr lang="en-US" dirty="0"/>
          </a:p>
          <a:p>
            <a:r>
              <a:rPr lang="en-US" dirty="0"/>
              <a:t>Batteries</a:t>
            </a:r>
          </a:p>
          <a:p>
            <a:pPr lvl="1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E70ECE-BD83-588F-C1AB-16CB1909FDD8}"/>
              </a:ext>
            </a:extLst>
          </p:cNvPr>
          <p:cNvSpPr/>
          <p:nvPr/>
        </p:nvSpPr>
        <p:spPr>
          <a:xfrm>
            <a:off x="7696323" y="1965960"/>
            <a:ext cx="3642237" cy="73152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6FDC63-F1FE-B6F8-47DC-9A3829221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23" y="1002214"/>
            <a:ext cx="304800" cy="266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B909E9-5E86-0648-1B59-E6619EE8C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604" y="982078"/>
            <a:ext cx="279400" cy="241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C2660D-CC5A-AB6B-6774-51A9848A3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604" y="1764214"/>
            <a:ext cx="939800" cy="279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1CB89B-F450-162B-52DB-989E93FA9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6363" y="2595835"/>
            <a:ext cx="469900" cy="20247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DB474D5-4DE1-854D-55D4-9CE708B949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9064" y="4087223"/>
            <a:ext cx="228600" cy="254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1F27795-75E1-D8B5-342E-6E6AA42E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0064" y="4087223"/>
            <a:ext cx="304800" cy="279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2E4357E-C6EB-7CBD-48C5-C5A6BC9C1F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6983" y="4087223"/>
            <a:ext cx="469900" cy="20247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00DBF5D-A0AD-ABBD-0AFB-E45429E7A8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2763" y="5265692"/>
            <a:ext cx="5969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15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D0622A98-8636-5AD5-E6B6-6D26BCD53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BF53249-0BB2-7202-BC08-662A023A1C1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</p:spPr>
        <p:txBody>
          <a:bodyPr/>
          <a:lstStyle/>
          <a:p>
            <a:r>
              <a:rPr lang="en-US" dirty="0"/>
              <a:t>Button Sequences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60B1E5-EA9E-20C0-2D5C-96FEFA4890B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</p:spPr>
        <p:txBody>
          <a:bodyPr>
            <a:normAutofit/>
          </a:bodyPr>
          <a:lstStyle/>
          <a:p>
            <a:r>
              <a:rPr lang="en-US" sz="2800" dirty="0"/>
              <a:t>You plan to save $10,000 per year starting 1 year from now for 40 years.  If you can earn 7% p.a. on the savings, how much will you have in 40 years? 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A5559-CD26-81FF-2744-D16134CE0B1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80800" y="6436634"/>
            <a:ext cx="6096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63EAD6B-1B79-144E-A805-1CA6FF1F03FA}" type="slidenum">
              <a:rPr lang="en-US" altLang="en-US" smtClean="0"/>
              <a:pPr>
                <a:spcAft>
                  <a:spcPts val="600"/>
                </a:spcAft>
              </a:pPr>
              <a:t>20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FD30D-E166-D102-4C08-8F85AADBB53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4165600" y="6442487"/>
            <a:ext cx="38608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TVM: Perpetuities and Annuities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980430-F66C-DA3C-C1BF-5DB729D2D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2"/>
            <a:ext cx="11277600" cy="389593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Problems with a Financial Calculator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9C0759-F969-EB91-03CC-514D45F9D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53" y="1205060"/>
            <a:ext cx="5388863" cy="506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67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08BF-CF04-CA39-3648-4D46C149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96F53814-93A1-E24B-FAF4-299C96FCD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63F75A-44D8-03E5-D90D-4C0B0923A69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</p:spPr>
        <p:txBody>
          <a:bodyPr/>
          <a:lstStyle/>
          <a:p>
            <a:r>
              <a:rPr lang="en-US" dirty="0"/>
              <a:t>Button Sequences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C62207-271F-011C-E3F0-F56CA134F99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You borrow $500,000 for 30 years at 5% APR to purchase a house. What is your monthly payment?</a:t>
            </a:r>
          </a:p>
          <a:p>
            <a:r>
              <a:rPr lang="en-US" sz="3200" dirty="0"/>
              <a:t>Note: you must ensure that the I/YR is the rate for each “N”, in this case monthly. </a:t>
            </a:r>
          </a:p>
          <a:p>
            <a:r>
              <a:rPr lang="en-US" sz="3200" dirty="0"/>
              <a:t>You could also change I/YR to 12 and then just input 5 for I/R, and the calculator will automatically divide 5%/12, but I don’t recommend.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AB3B7-F7A2-9780-36F5-1BB92F689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80800" y="6436634"/>
            <a:ext cx="6096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63EAD6B-1B79-144E-A805-1CA6FF1F03FA}" type="slidenum">
              <a:rPr lang="en-US" altLang="en-US" smtClean="0"/>
              <a:pPr>
                <a:spcAft>
                  <a:spcPts val="600"/>
                </a:spcAft>
              </a:pPr>
              <a:t>21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9F85A-13C2-4556-DBD0-2221745B94C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4165600" y="6442487"/>
            <a:ext cx="38608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TVM: Perpetuities and Annuities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D0CB005-6C77-0D6E-756E-A990441D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2"/>
            <a:ext cx="11277600" cy="389593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Problems with a Financial Calculator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FA529-D9F3-C1BD-C35D-17AC00B55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1185394"/>
            <a:ext cx="5380736" cy="496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31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ea typeface="ＭＳ Ｐゴシック" charset="0"/>
                <a:cs typeface="ＭＳ Ｐゴシック" charset="0"/>
              </a:rPr>
              <a:t>If dividends are assumed to </a:t>
            </a:r>
            <a:r>
              <a:rPr lang="en-US" sz="2800" b="1" i="1" dirty="0">
                <a:ea typeface="ＭＳ Ｐゴシック" charset="0"/>
                <a:cs typeface="ＭＳ Ｐゴシック" charset="0"/>
              </a:rPr>
              <a:t>remain fixed forever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, then the price of stock can be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estimated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using the perpetuity formula</a:t>
            </a:r>
          </a:p>
          <a:p>
            <a:pPr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a typeface="ＭＳ Ｐゴシック" charset="0"/>
                <a:cs typeface="ＭＳ Ｐゴシック" charset="0"/>
              </a:rPr>
              <a:t>If dividends are assumed to </a:t>
            </a:r>
            <a:r>
              <a:rPr lang="en-US" sz="2800" b="1" i="1" dirty="0">
                <a:ea typeface="ＭＳ Ｐゴシック" charset="0"/>
                <a:cs typeface="ＭＳ Ｐゴシック" charset="0"/>
              </a:rPr>
              <a:t>grow at a constant rate g forever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, an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estimate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of the stock price can be found using the growing perpetuity formula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Gordon Growth model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</a:t>
            </a:r>
          </a:p>
          <a:p>
            <a:pPr>
              <a:lnSpc>
                <a:spcPct val="90000"/>
              </a:lnSpc>
            </a:pPr>
            <a:endParaRPr lang="en-US" sz="28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dirty="0">
                <a:ea typeface="ＭＳ Ｐゴシック" charset="0"/>
                <a:cs typeface="ＭＳ Ｐゴシック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i="1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Stock Valuation and Dividends</a:t>
            </a:r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4E1A945-69B1-4A40-9F4C-2ACB98E23AB7}" type="slidenum">
              <a:rPr lang="en-US" sz="1000">
                <a:latin typeface="Calibri"/>
              </a:rPr>
              <a:pPr eaLnBrk="1" hangingPunct="1"/>
              <a:t>22</a:t>
            </a:fld>
            <a:endParaRPr lang="en-US" sz="1000">
              <a:latin typeface="Calibri"/>
            </a:endParaRPr>
          </a:p>
        </p:txBody>
      </p:sp>
      <p:sp>
        <p:nvSpPr>
          <p:cNvPr id="9223" name="Footer Placeholder 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aphicFrame>
        <p:nvGraphicFramePr>
          <p:cNvPr id="1116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616713"/>
              </p:ext>
            </p:extLst>
          </p:nvPr>
        </p:nvGraphicFramePr>
        <p:xfrm>
          <a:off x="2254527" y="1495879"/>
          <a:ext cx="66294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25700" imgH="393700" progId="Equation.3">
                  <p:embed/>
                </p:oleObj>
              </mc:Choice>
              <mc:Fallback>
                <p:oleObj name="Equation" r:id="rId3" imgW="2425700" imgH="393700" progId="Equation.3">
                  <p:embed/>
                  <p:pic>
                    <p:nvPicPr>
                      <p:cNvPr id="1116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527" y="1495879"/>
                        <a:ext cx="66294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52C26208-6121-8D44-9E91-371D705A9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168153"/>
              </p:ext>
            </p:extLst>
          </p:nvPr>
        </p:nvGraphicFramePr>
        <p:xfrm>
          <a:off x="2056857" y="4679904"/>
          <a:ext cx="74056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22600" imgH="419100" progId="Equation.3">
                  <p:embed/>
                </p:oleObj>
              </mc:Choice>
              <mc:Fallback>
                <p:oleObj name="Equation" r:id="rId5" imgW="3022600" imgH="419100" progId="Equation.3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52C26208-6121-8D44-9E91-371D705A95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6857" y="4679904"/>
                        <a:ext cx="74056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545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uiExpand="1" build="p"/>
      <p:bldP spid="1116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3200" i="1" dirty="0">
                    <a:ea typeface="ＭＳ Ｐゴシック" charset="0"/>
                  </a:rPr>
                  <a:t>Given the current price of a stock (P), the expected dividend next year (D</a:t>
                </a:r>
                <a:r>
                  <a:rPr lang="en-US" sz="3200" i="1" baseline="-25000" dirty="0">
                    <a:ea typeface="ＭＳ Ｐゴシック" charset="0"/>
                  </a:rPr>
                  <a:t>1</a:t>
                </a:r>
                <a:r>
                  <a:rPr lang="en-US" sz="3200" i="1" dirty="0">
                    <a:ea typeface="ＭＳ Ｐゴシック" charset="0"/>
                  </a:rPr>
                  <a:t>), and the expected growth rate (g), </a:t>
                </a:r>
                <a:r>
                  <a:rPr lang="en-US" sz="3200" dirty="0">
                    <a:ea typeface="ＭＳ Ｐゴシック" charset="0"/>
                    <a:cs typeface="ＭＳ Ｐゴシック" charset="0"/>
                  </a:rPr>
                  <a:t>we solve for the </a:t>
                </a:r>
                <a:r>
                  <a:rPr lang="en-US" sz="3200" i="1" dirty="0">
                    <a:ea typeface="ＭＳ Ｐゴシック" charset="0"/>
                    <a:cs typeface="ＭＳ Ｐゴシック" charset="0"/>
                  </a:rPr>
                  <a:t>expected return on equity (r)</a:t>
                </a:r>
                <a:r>
                  <a:rPr lang="en-US" sz="3200" dirty="0">
                    <a:ea typeface="ＭＳ Ｐゴシック" charset="0"/>
                    <a:cs typeface="ＭＳ Ｐゴシック" charset="0"/>
                  </a:rPr>
                  <a:t>, which is the sum of the dividend yield (prospective) and expected growth rate</a:t>
                </a:r>
                <a:r>
                  <a:rPr lang="en-US" sz="3600" dirty="0">
                    <a:ea typeface="ＭＳ Ｐゴシック" charset="0"/>
                    <a:cs typeface="ＭＳ Ｐゴシック" charset="0"/>
                  </a:rPr>
                  <a:t>:</a:t>
                </a:r>
              </a:p>
              <a:p>
                <a:pPr lvl="1">
                  <a:buSzPct val="50000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ＭＳ Ｐゴシック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ＭＳ Ｐゴシック" charset="0"/>
                          </a:rPr>
                          <m:t>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ＭＳ Ｐゴシック" charset="0"/>
                          </a:rPr>
                          <m:t> 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ＭＳ Ｐゴシック" charset="0"/>
                          </a:rPr>
                          <m:t>𝑔</m:t>
                        </m:r>
                      </m:den>
                    </m:f>
                  </m:oMath>
                </a14:m>
                <a:endParaRPr lang="en-US" sz="3200" dirty="0">
                  <a:ea typeface="ＭＳ Ｐゴシック" charset="0"/>
                  <a:cs typeface="ＭＳ Ｐゴシック" charset="0"/>
                </a:endParaRPr>
              </a:p>
              <a:p>
                <a:pPr lvl="1"/>
                <a:r>
                  <a:rPr lang="en-US" sz="2600" dirty="0">
                    <a:ea typeface="ＭＳ Ｐゴシック" charset="0"/>
                    <a:cs typeface="ＭＳ Ｐゴシック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𝑔</m:t>
                    </m:r>
                    <m:r>
                      <a:rPr lang="en-US" sz="2800" i="1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ＭＳ Ｐゴシック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ＭＳ Ｐゴシック" charset="0"/>
                          </a:rPr>
                          <m:t>𝑃</m:t>
                        </m:r>
                      </m:den>
                    </m:f>
                  </m:oMath>
                </a14:m>
                <a:endParaRPr lang="en-US" sz="2600" dirty="0">
                  <a:ea typeface="ＭＳ Ｐゴシック" charset="0"/>
                  <a:cs typeface="ＭＳ Ｐゴシック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ＭＳ Ｐゴシック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ＭＳ Ｐゴシック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ＭＳ Ｐゴシック" charset="0"/>
                          </a:rPr>
                          <m:t>𝑃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ea typeface="ＭＳ Ｐゴシック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𝑔</m:t>
                    </m:r>
                  </m:oMath>
                </a14:m>
                <a:endParaRPr lang="en-US" sz="2800" i="1" baseline="-25000" dirty="0">
                  <a:ea typeface="ＭＳ Ｐゴシック" charset="0"/>
                </a:endParaRPr>
              </a:p>
              <a:p>
                <a:pPr lvl="1"/>
                <a:endParaRPr lang="en-US" dirty="0">
                  <a:ea typeface="ＭＳ Ｐゴシック" charset="0"/>
                  <a:cs typeface="ＭＳ Ｐゴシック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7" t="-1310" r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Stock Valuation:  Deriving E(r) from Inverting the Constant Dividend Growth Formula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Perpetuities and Annuities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4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Estimating the Cost of Capital (r) with the Gordon Growth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Perpetuities and Annuities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300507"/>
              </p:ext>
            </p:extLst>
          </p:nvPr>
        </p:nvGraphicFramePr>
        <p:xfrm>
          <a:off x="1422400" y="588746"/>
          <a:ext cx="9132541" cy="5747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9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52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3200" b="1" u="none" strike="noStrike" dirty="0">
                          <a:effectLst/>
                          <a:latin typeface="+mn-lt"/>
                        </a:rPr>
                        <a:t>Microsoft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8252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Dividend Yield</a:t>
                      </a:r>
                      <a:r>
                        <a:rPr lang="en-US" sz="2800" u="none" strike="noStrike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(Div1</a:t>
                      </a:r>
                      <a:r>
                        <a:rPr lang="en-US" sz="2800" u="none" strike="noStrike" baseline="-25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/ Stock Price)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r-HR" sz="2800" u="none" strike="noStrike" dirty="0">
                          <a:effectLst/>
                          <a:latin typeface="+mn-lt"/>
                        </a:rPr>
                        <a:t>0.72%</a:t>
                      </a:r>
                      <a:endParaRPr lang="hr-H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4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Growth Dividends (past 3 years)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u="none" strike="noStrike" dirty="0">
                          <a:effectLst/>
                          <a:latin typeface="+mn-lt"/>
                        </a:rPr>
                        <a:t>10.2%</a:t>
                      </a:r>
                      <a:endParaRPr lang="pt-B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138"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Using Gordon Growth Formula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r = (CF</a:t>
                      </a:r>
                      <a:r>
                        <a:rPr lang="is-IS" sz="2800" u="none" strike="noStrike" baseline="-25000" dirty="0">
                          <a:effectLst/>
                          <a:latin typeface="+mn-lt"/>
                        </a:rPr>
                        <a:t>1</a:t>
                      </a:r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/PV) +g</a:t>
                      </a:r>
                      <a:endParaRPr lang="is-I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138"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800" u="none" strike="noStrike" dirty="0" err="1">
                          <a:effectLst/>
                          <a:latin typeface="+mn-lt"/>
                        </a:rPr>
                        <a:t>r</a:t>
                      </a:r>
                      <a:r>
                        <a:rPr lang="de-DE" sz="2800" u="none" strike="noStrike" dirty="0">
                          <a:effectLst/>
                          <a:latin typeface="+mn-lt"/>
                        </a:rPr>
                        <a:t> = (Div</a:t>
                      </a:r>
                      <a:r>
                        <a:rPr lang="de-DE" sz="2800" u="none" strike="noStrike" baseline="-25000" dirty="0">
                          <a:effectLst/>
                          <a:latin typeface="+mn-lt"/>
                        </a:rPr>
                        <a:t>1</a:t>
                      </a:r>
                      <a:r>
                        <a:rPr lang="de-DE" sz="2800" u="none" strike="noStrike" dirty="0">
                          <a:effectLst/>
                          <a:latin typeface="+mn-lt"/>
                        </a:rPr>
                        <a:t>/P) + </a:t>
                      </a:r>
                      <a:r>
                        <a:rPr lang="de-DE" sz="2800" u="none" strike="noStrike" dirty="0" err="1">
                          <a:effectLst/>
                          <a:latin typeface="+mn-lt"/>
                        </a:rPr>
                        <a:t>g</a:t>
                      </a:r>
                      <a:endParaRPr lang="de-DE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138"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r-HR" sz="2800" u="none" strike="noStrike" dirty="0">
                          <a:effectLst/>
                          <a:latin typeface="+mn-lt"/>
                        </a:rPr>
                        <a:t>r = 0.72% + </a:t>
                      </a:r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10.2</a:t>
                      </a:r>
                      <a:r>
                        <a:rPr lang="hr-HR" sz="2800" u="none" strike="noStrike" dirty="0">
                          <a:effectLst/>
                          <a:latin typeface="+mn-lt"/>
                        </a:rPr>
                        <a:t>%</a:t>
                      </a:r>
                      <a:endParaRPr lang="hr-H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138"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r = 10.92%</a:t>
                      </a:r>
                      <a:endParaRPr lang="is-I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0138"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dirty="0">
                          <a:effectLst/>
                          <a:latin typeface="+mn-lt"/>
                        </a:rPr>
                        <a:t>Estimated Cost of Capital / E(r)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dirty="0">
                          <a:effectLst/>
                          <a:latin typeface="+mn-lt"/>
                        </a:rPr>
                        <a:t>10.92</a:t>
                      </a:r>
                      <a:r>
                        <a:rPr lang="hr-HR" sz="2800" b="1" u="none" strike="noStrike" dirty="0">
                          <a:effectLst/>
                          <a:latin typeface="+mn-lt"/>
                        </a:rPr>
                        <a:t>%</a:t>
                      </a:r>
                      <a:endParaRPr lang="hr-HR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40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Issue: With buybacks D/P would be 1.52% and CoC would be 11.72%</a:t>
                      </a:r>
                    </a:p>
                  </a:txBody>
                  <a:tcPr marL="11112" marR="11112" marT="1111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hr-HR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112" marR="11112" marT="11112" marB="0" anchor="ctr"/>
                </a:tc>
                <a:extLst>
                  <a:ext uri="{0D108BD9-81ED-4DB2-BD59-A6C34878D82A}">
                    <a16:rowId xmlns:a16="http://schemas.microsoft.com/office/drawing/2014/main" val="38789574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EC793F6-A9F0-C7BF-14D2-267129B34D4F}"/>
              </a:ext>
            </a:extLst>
          </p:cNvPr>
          <p:cNvSpPr txBox="1"/>
          <p:nvPr/>
        </p:nvSpPr>
        <p:spPr>
          <a:xfrm>
            <a:off x="9409082" y="6073155"/>
            <a:ext cx="1188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Source: Morningstar</a:t>
            </a:r>
          </a:p>
        </p:txBody>
      </p:sp>
    </p:spTree>
    <p:extLst>
      <p:ext uri="{BB962C8B-B14F-4D97-AF65-F5344CB8AC3E}">
        <p14:creationId xmlns:p14="http://schemas.microsoft.com/office/powerpoint/2010/main" val="1048837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dirty="0"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Cost of Capital (r) with the Gordon Growth Model and </a:t>
            </a:r>
            <a:r>
              <a:rPr lang="en-US" sz="2200" b="1" dirty="0">
                <a:ea typeface="ＭＳ Ｐゴシック" charset="0"/>
                <a:cs typeface="ＭＳ Ｐゴシック" charset="0"/>
              </a:rPr>
              <a:t>Forward Earnings Yield, 1 / (P/E)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0476EF6-A97E-1D40-BCFB-DAAD93D0F9CD}" type="slidenum">
              <a:rPr lang="en-US" sz="1000">
                <a:latin typeface="Calibri"/>
              </a:rPr>
              <a:pPr eaLnBrk="1" hangingPunct="1"/>
              <a:t>25</a:t>
            </a:fld>
            <a:endParaRPr lang="en-US" sz="1000">
              <a:latin typeface="Calibri"/>
            </a:endParaRPr>
          </a:p>
        </p:txBody>
      </p:sp>
      <p:sp>
        <p:nvSpPr>
          <p:cNvPr id="13317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053831"/>
              </p:ext>
            </p:extLst>
          </p:nvPr>
        </p:nvGraphicFramePr>
        <p:xfrm>
          <a:off x="869348" y="554236"/>
          <a:ext cx="10611451" cy="5706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0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707">
                  <a:extLst>
                    <a:ext uri="{9D8B030D-6E8A-4147-A177-3AD203B41FA5}">
                      <a16:colId xmlns:a16="http://schemas.microsoft.com/office/drawing/2014/main" val="4047402101"/>
                    </a:ext>
                  </a:extLst>
                </a:gridCol>
                <a:gridCol w="1531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7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913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12700" marR="12700" marT="1270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204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Assume: Earnings Yield (1/(P/E) or E/P) equals the Div. Yield (Div/Price):</a:t>
                      </a:r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197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Forward P/E =</a:t>
                      </a:r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hr-HR" sz="1600" b="0" i="0" u="none" strike="noStrike"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hr-HR" sz="2800" u="none" strike="noStrike" dirty="0">
                          <a:effectLst/>
                          <a:latin typeface="+mn-lt"/>
                        </a:rPr>
                        <a:t>    25.49</a:t>
                      </a: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hr-HR" sz="280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tabLst/>
                      </a:pPr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204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Earnings Growth (next 3 yrs) = 18</a:t>
                      </a:r>
                      <a:r>
                        <a:rPr lang="nb-NO" sz="2800" u="none" strike="noStrike" dirty="0">
                          <a:effectLst/>
                          <a:latin typeface="+mn-lt"/>
                        </a:rPr>
                        <a:t>.32%</a:t>
                      </a:r>
                      <a:endParaRPr lang="nb-NO" sz="2800" b="0" i="0" u="none" strike="noStrike" dirty="0">
                        <a:effectLst/>
                        <a:latin typeface="+mn-lt"/>
                      </a:endParaRPr>
                    </a:p>
                    <a:p>
                      <a:pPr algn="l" fontAlgn="b"/>
                      <a:endParaRPr lang="en-US" sz="280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nb-NO" sz="1600" b="0" i="0" u="none" strike="noStrike"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nb-NO" sz="2800" u="none" strike="noStrike" dirty="0">
                          <a:effectLst/>
                          <a:latin typeface="+mn-lt"/>
                        </a:rPr>
                        <a:t>12.12%</a:t>
                      </a:r>
                      <a:endParaRPr lang="nb-NO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nb-NO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913">
                <a:tc gridSpan="2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effectLst/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 gridSpan="2"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3200"/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197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1/Forward P/E = E</a:t>
                      </a:r>
                      <a:r>
                        <a:rPr lang="en-US" sz="2800" u="none" strike="noStrike" baseline="-25000" dirty="0">
                          <a:effectLst/>
                          <a:latin typeface="+mn-lt"/>
                        </a:rPr>
                        <a:t>1</a:t>
                      </a:r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 / P and substitute for Div</a:t>
                      </a:r>
                      <a:r>
                        <a:rPr lang="en-US" sz="2800" u="none" strike="noStrike" baseline="-25000" dirty="0">
                          <a:effectLst/>
                          <a:latin typeface="+mn-lt"/>
                        </a:rPr>
                        <a:t>1</a:t>
                      </a:r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 / </a:t>
                      </a:r>
                      <a:r>
                        <a:rPr lang="en-US" sz="2800" u="none" strike="noStrike" dirty="0" err="1">
                          <a:effectLst/>
                          <a:latin typeface="+mn-lt"/>
                        </a:rPr>
                        <a:t>Stk</a:t>
                      </a:r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 Price</a:t>
                      </a:r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197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  <a:latin typeface="+mn-lt"/>
                        </a:rPr>
                        <a:t>Arrange GGM to find E(r) :</a:t>
                      </a:r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197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197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E(r) = (CF</a:t>
                      </a:r>
                      <a:r>
                        <a:rPr lang="is-IS" sz="2800" u="none" strike="noStrike" baseline="-25000" dirty="0">
                          <a:effectLst/>
                          <a:latin typeface="+mn-lt"/>
                        </a:rPr>
                        <a:t>1 </a:t>
                      </a:r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/ PV) + g</a:t>
                      </a:r>
                      <a:endParaRPr lang="is-I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197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E(r) = (E</a:t>
                      </a:r>
                      <a:r>
                        <a:rPr lang="is-IS" sz="2800" u="none" strike="noStrike" baseline="-25000" dirty="0">
                          <a:effectLst/>
                          <a:latin typeface="+mn-lt"/>
                        </a:rPr>
                        <a:t>1</a:t>
                      </a:r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 / P) + g</a:t>
                      </a:r>
                      <a:endParaRPr lang="is-I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197">
                <a:tc gridSpan="3"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>
                          <a:effectLst/>
                          <a:latin typeface="+mn-lt"/>
                        </a:rPr>
                        <a:t>E(r) </a:t>
                      </a:r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= (1 / 25.49)+ 18.32% </a:t>
                      </a:r>
                      <a:r>
                        <a:rPr lang="is-IS" sz="2800" u="none" strike="noStrike" baseline="0" dirty="0">
                          <a:effectLst/>
                          <a:latin typeface="+mn-lt"/>
                        </a:rPr>
                        <a:t>   </a:t>
                      </a:r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= </a:t>
                      </a:r>
                      <a:endParaRPr lang="is-I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3.92% + 18.32% = 22.24%</a:t>
                      </a:r>
                      <a:endParaRPr lang="is-I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  <a:latin typeface="+mn-lt"/>
                        </a:rPr>
                        <a:t>3.82% + 14.52% = 18.34%</a:t>
                      </a:r>
                      <a:endParaRPr lang="is-IS" sz="2800" b="0" i="0" u="none" strike="noStrike" dirty="0">
                        <a:effectLst/>
                        <a:latin typeface="+mn-lt"/>
                      </a:endParaRPr>
                    </a:p>
                  </a:txBody>
                  <a:tcPr marL="12700" marR="12700" marT="1270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36D74F7-ED82-4866-8BE5-117D42F34A19}"/>
              </a:ext>
            </a:extLst>
          </p:cNvPr>
          <p:cNvSpPr txBox="1"/>
          <p:nvPr/>
        </p:nvSpPr>
        <p:spPr>
          <a:xfrm>
            <a:off x="9512913" y="6236855"/>
            <a:ext cx="16722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Source: Morningstar/</a:t>
            </a:r>
            <a:r>
              <a:rPr lang="en-US" sz="900" dirty="0" err="1"/>
              <a:t>Gurufocus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441284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The DDM can be very sensitive to estimates of </a:t>
            </a:r>
            <a:r>
              <a:rPr lang="en-US" i="1" dirty="0">
                <a:ea typeface="ＭＳ Ｐゴシック" charset="0"/>
                <a:cs typeface="ＭＳ Ｐゴシック" charset="0"/>
              </a:rPr>
              <a:t>G (growth rate)</a:t>
            </a: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3097370-1809-3046-AE73-CA0A06111CE2}" type="slidenum">
              <a:rPr lang="en-US" sz="1000">
                <a:latin typeface="Calibri"/>
              </a:rPr>
              <a:pPr eaLnBrk="1" hangingPunct="1"/>
              <a:t>26</a:t>
            </a:fld>
            <a:endParaRPr lang="en-US" sz="1000">
              <a:latin typeface="Calibri"/>
            </a:endParaRP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>
                <a:latin typeface="Calibri"/>
              </a:rPr>
              <a:t>TVM: Perpetuities and Annuities</a:t>
            </a: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3886200" y="3228975"/>
            <a:ext cx="3429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latin typeface="Calibri"/>
              </a:rPr>
              <a:t> </a:t>
            </a:r>
          </a:p>
        </p:txBody>
      </p:sp>
      <p:pic>
        <p:nvPicPr>
          <p:cNvPr id="307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03960"/>
            <a:ext cx="830580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83530" y="1156593"/>
                <a:ext cx="1931670" cy="579454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i="1" dirty="0">
                    <a:latin typeface="Cambria Math" charset="0"/>
                    <a:ea typeface="Cambria Math" charset="0"/>
                    <a:cs typeface="Cambria Math" charset="0"/>
                  </a:rPr>
                  <a:t>   P</a:t>
                </a:r>
                <a:r>
                  <a:rPr lang="en-US" sz="2400" i="1" baseline="-25000" dirty="0">
                    <a:latin typeface="Cambria Math" charset="0"/>
                    <a:ea typeface="Cambria Math" charset="0"/>
                    <a:cs typeface="Cambria Math" charset="0"/>
                  </a:rPr>
                  <a:t>0</a:t>
                </a:r>
                <a:r>
                  <a:rPr lang="en-US" sz="2400" dirty="0">
                    <a:latin typeface="Cambria Math" charset="0"/>
                    <a:ea typeface="Cambria Math" charset="0"/>
                    <a:cs typeface="Cambria Math" charset="0"/>
                  </a:rPr>
                  <a:t>  </a:t>
                </a:r>
                <a:r>
                  <a:rPr lang="en-US" sz="24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charset="0"/>
                          </a:rPr>
                          <m:t>𝐷𝑖𝑣</m:t>
                        </m:r>
                        <m:r>
                          <a:rPr lang="en-US" sz="2400" b="0" i="1" baseline="-25000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𝑔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530" y="1156593"/>
                <a:ext cx="1931670" cy="579454"/>
              </a:xfrm>
              <a:prstGeom prst="rect">
                <a:avLst/>
              </a:prstGeom>
              <a:blipFill rotWithShape="0">
                <a:blip r:embed="rId3"/>
                <a:stretch>
                  <a:fillRect t="-1010" b="-8081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447800" y="234696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0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150864" y="596646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4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1" grpId="0"/>
    </p:bld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A107A376566F4090074DCDC5ED91DF" ma:contentTypeVersion="18" ma:contentTypeDescription="Create a new document." ma:contentTypeScope="" ma:versionID="677d8798a9c4742af99b506781d8e982">
  <xsd:schema xmlns:xsd="http://www.w3.org/2001/XMLSchema" xmlns:xs="http://www.w3.org/2001/XMLSchema" xmlns:p="http://schemas.microsoft.com/office/2006/metadata/properties" xmlns:ns3="dee7606c-638d-4687-a004-8de278f93ba2" xmlns:ns4="f450584a-cb59-46a6-8009-931c1e5e40a6" targetNamespace="http://schemas.microsoft.com/office/2006/metadata/properties" ma:root="true" ma:fieldsID="a1f50768998ef0024b52d5b1f5d59586" ns3:_="" ns4:_="">
    <xsd:import namespace="dee7606c-638d-4687-a004-8de278f93ba2"/>
    <xsd:import namespace="f450584a-cb59-46a6-8009-931c1e5e40a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7606c-638d-4687-a004-8de278f93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0584a-cb59-46a6-8009-931c1e5e40a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e7606c-638d-4687-a004-8de278f93ba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2B2BDD-807F-4FA8-9A58-BF091EDB80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e7606c-638d-4687-a004-8de278f93ba2"/>
    <ds:schemaRef ds:uri="f450584a-cb59-46a6-8009-931c1e5e40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AF944F-4057-411E-915A-110A81F6903F}">
  <ds:schemaRefs>
    <ds:schemaRef ds:uri="f450584a-cb59-46a6-8009-931c1e5e40a6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dee7606c-638d-4687-a004-8de278f93ba2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7ECA845-9D96-442C-8E9F-989EF2C1EF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7919</TotalTime>
  <Words>1848</Words>
  <Application>Microsoft Macintosh PowerPoint</Application>
  <PresentationFormat>Widescreen</PresentationFormat>
  <Paragraphs>342</Paragraphs>
  <Slides>26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ＭＳ Ｐゴシック</vt:lpstr>
      <vt:lpstr>NSimSun</vt:lpstr>
      <vt:lpstr>Arial</vt:lpstr>
      <vt:lpstr>Calibri</vt:lpstr>
      <vt:lpstr>Cambria Math</vt:lpstr>
      <vt:lpstr>Courier New</vt:lpstr>
      <vt:lpstr>Times New Roman</vt:lpstr>
      <vt:lpstr>Verdana</vt:lpstr>
      <vt:lpstr>Wingdings</vt:lpstr>
      <vt:lpstr>Wingdings 2</vt:lpstr>
      <vt:lpstr>CG Body - Standard</vt:lpstr>
      <vt:lpstr>Equation</vt:lpstr>
      <vt:lpstr>PowerPoint Presentation</vt:lpstr>
      <vt:lpstr>PV Simplifications</vt:lpstr>
      <vt:lpstr>Perpetuity</vt:lpstr>
      <vt:lpstr>Growing Perpetuity</vt:lpstr>
      <vt:lpstr>Perpetuity and Growing Perpetuity</vt:lpstr>
      <vt:lpstr>Annuity</vt:lpstr>
      <vt:lpstr>An Annuity is Just the Difference Between Two Perpetuities</vt:lpstr>
      <vt:lpstr>Annuity Example</vt:lpstr>
      <vt:lpstr>Growing Annuity</vt:lpstr>
      <vt:lpstr>Growing Annuity </vt:lpstr>
      <vt:lpstr>Annuity and Growing Annuity</vt:lpstr>
      <vt:lpstr>Future Value of an Annuity</vt:lpstr>
      <vt:lpstr>Annuity Application:  Pricing a Bond</vt:lpstr>
      <vt:lpstr>Annuities in Excel</vt:lpstr>
      <vt:lpstr>How to Value Annuities with Excel</vt:lpstr>
      <vt:lpstr>Excel Formula:  Remaining Principal in Two Steps </vt:lpstr>
      <vt:lpstr>Excel Formula:  Cumulative Principal </vt:lpstr>
      <vt:lpstr>Loan Amortization Example</vt:lpstr>
      <vt:lpstr>Financial Functions on 10bll+: Some Preliminaries</vt:lpstr>
      <vt:lpstr>Problems with a Financial Calculator</vt:lpstr>
      <vt:lpstr>Problems with a Financial Calculator</vt:lpstr>
      <vt:lpstr>Stock Valuation and Dividends</vt:lpstr>
      <vt:lpstr>Stock Valuation:  Deriving E(r) from Inverting the Constant Dividend Growth Formula</vt:lpstr>
      <vt:lpstr>Estimating the Cost of Capital (r) with the Gordon Growth Model</vt:lpstr>
      <vt:lpstr> Cost of Capital (r) with the Gordon Growth Model and Forward Earnings Yield, 1 / (P/E)</vt:lpstr>
      <vt:lpstr>The DDM can be very sensitive to estimates of G (growth rate)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 Simplications</dc:title>
  <dc:creator>J Colon</dc:creator>
  <cp:lastModifiedBy>Jeffrey M. Colon</cp:lastModifiedBy>
  <cp:revision>114</cp:revision>
  <cp:lastPrinted>2018-08-30T16:24:50Z</cp:lastPrinted>
  <dcterms:created xsi:type="dcterms:W3CDTF">2016-08-01T04:04:31Z</dcterms:created>
  <dcterms:modified xsi:type="dcterms:W3CDTF">2026-08-28T12:40:37Z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0x0101006FA107A376566F4090074DCDC5ED91DF</vt:lpwstr>
  </property>
</Properties>
</file>