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9" r:id="rId1"/>
  </p:sldMasterIdLst>
  <p:notesMasterIdLst>
    <p:notesMasterId r:id="rId45"/>
  </p:notesMasterIdLst>
  <p:handoutMasterIdLst>
    <p:handoutMasterId r:id="rId46"/>
  </p:handoutMasterIdLst>
  <p:sldIdLst>
    <p:sldId id="306" r:id="rId2"/>
    <p:sldId id="402" r:id="rId3"/>
    <p:sldId id="384" r:id="rId4"/>
    <p:sldId id="339" r:id="rId5"/>
    <p:sldId id="318" r:id="rId6"/>
    <p:sldId id="340" r:id="rId7"/>
    <p:sldId id="401" r:id="rId8"/>
    <p:sldId id="320" r:id="rId9"/>
    <p:sldId id="330" r:id="rId10"/>
    <p:sldId id="403" r:id="rId11"/>
    <p:sldId id="262" r:id="rId12"/>
    <p:sldId id="263" r:id="rId13"/>
    <p:sldId id="264" r:id="rId14"/>
    <p:sldId id="265" r:id="rId15"/>
    <p:sldId id="266" r:id="rId16"/>
    <p:sldId id="386" r:id="rId17"/>
    <p:sldId id="268" r:id="rId18"/>
    <p:sldId id="269" r:id="rId19"/>
    <p:sldId id="380" r:id="rId20"/>
    <p:sldId id="382" r:id="rId21"/>
    <p:sldId id="383" r:id="rId22"/>
    <p:sldId id="361" r:id="rId23"/>
    <p:sldId id="391" r:id="rId24"/>
    <p:sldId id="397" r:id="rId25"/>
    <p:sldId id="363" r:id="rId26"/>
    <p:sldId id="364" r:id="rId27"/>
    <p:sldId id="365" r:id="rId28"/>
    <p:sldId id="366" r:id="rId29"/>
    <p:sldId id="394" r:id="rId30"/>
    <p:sldId id="367" r:id="rId31"/>
    <p:sldId id="368" r:id="rId32"/>
    <p:sldId id="369" r:id="rId33"/>
    <p:sldId id="370" r:id="rId34"/>
    <p:sldId id="371" r:id="rId35"/>
    <p:sldId id="396" r:id="rId36"/>
    <p:sldId id="392" r:id="rId37"/>
    <p:sldId id="372" r:id="rId38"/>
    <p:sldId id="373" r:id="rId39"/>
    <p:sldId id="374" r:id="rId40"/>
    <p:sldId id="375" r:id="rId41"/>
    <p:sldId id="399" r:id="rId42"/>
    <p:sldId id="395" r:id="rId43"/>
    <p:sldId id="404" r:id="rId44"/>
  </p:sldIdLst>
  <p:sldSz cx="9144000" cy="6858000" type="screen4x3"/>
  <p:notesSz cx="7010400" cy="9236075"/>
  <p:defaultTextStyle>
    <a:defPPr>
      <a:defRPr lang="en-US"/>
    </a:defPPr>
    <a:lvl1pPr algn="l" rtl="0" fontAlgn="base">
      <a:spcBef>
        <a:spcPct val="0"/>
      </a:spcBef>
      <a:spcAft>
        <a:spcPct val="0"/>
      </a:spcAft>
      <a:defRPr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4845"/>
    <a:srgbClr val="A3FBF9"/>
    <a:srgbClr val="FF0021"/>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8"/>
    <p:restoredTop sz="96287"/>
  </p:normalViewPr>
  <p:slideViewPr>
    <p:cSldViewPr>
      <p:cViewPr>
        <p:scale>
          <a:sx n="144" d="100"/>
          <a:sy n="144" d="100"/>
        </p:scale>
        <p:origin x="1296" y="1272"/>
      </p:cViewPr>
      <p:guideLst>
        <p:guide orient="horz" pos="2160"/>
        <p:guide pos="2880"/>
      </p:guideLst>
    </p:cSldViewPr>
  </p:slideViewPr>
  <p:outlineViewPr>
    <p:cViewPr>
      <p:scale>
        <a:sx n="33" d="100"/>
        <a:sy n="33" d="100"/>
      </p:scale>
      <p:origin x="0" y="-13104"/>
    </p:cViewPr>
  </p:outlineViewPr>
  <p:notesTextViewPr>
    <p:cViewPr>
      <p:scale>
        <a:sx n="100" d="100"/>
        <a:sy n="100" d="100"/>
      </p:scale>
      <p:origin x="0" y="0"/>
    </p:cViewPr>
  </p:notesTextViewPr>
  <p:sorterViewPr>
    <p:cViewPr>
      <p:scale>
        <a:sx n="112" d="100"/>
        <a:sy n="112" d="100"/>
      </p:scale>
      <p:origin x="0" y="-8028"/>
    </p:cViewPr>
  </p:sorterViewPr>
  <p:notesViewPr>
    <p:cSldViewPr>
      <p:cViewPr varScale="1">
        <p:scale>
          <a:sx n="156" d="100"/>
          <a:sy n="156" d="100"/>
        </p:scale>
        <p:origin x="3760" y="17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undo redo custSel addSld delSld modSld modMainMaster">
      <pc:chgData name="Colon, Jeffrey M." userId="615143b1-cdee-493d-9a9d-1565ce8666d9" providerId="ADAL" clId="{DC1DB158-BAB1-5930-B714-AEF472873853}" dt="2026-09-13T17:38:06.230" v="889" actId="14100"/>
      <pc:docMkLst>
        <pc:docMk/>
      </pc:docMkLst>
      <pc:sldChg chg="modSp modAnim">
        <pc:chgData name="Colon, Jeffrey M." userId="615143b1-cdee-493d-9a9d-1565ce8666d9" providerId="ADAL" clId="{DC1DB158-BAB1-5930-B714-AEF472873853}" dt="2026-09-13T15:17:07.458" v="751" actId="20577"/>
        <pc:sldMkLst>
          <pc:docMk/>
          <pc:sldMk cId="0" sldId="262"/>
        </pc:sldMkLst>
        <pc:spChg chg="mod">
          <ac:chgData name="Colon, Jeffrey M." userId="615143b1-cdee-493d-9a9d-1565ce8666d9" providerId="ADAL" clId="{DC1DB158-BAB1-5930-B714-AEF472873853}" dt="2026-09-13T15:17:07.458" v="751" actId="20577"/>
          <ac:spMkLst>
            <pc:docMk/>
            <pc:sldMk cId="0" sldId="262"/>
            <ac:spMk id="18435" creationId="{00000000-0000-0000-0000-000000000000}"/>
          </ac:spMkLst>
        </pc:spChg>
      </pc:sldChg>
      <pc:sldChg chg="modSp del mod">
        <pc:chgData name="Colon, Jeffrey M." userId="615143b1-cdee-493d-9a9d-1565ce8666d9" providerId="ADAL" clId="{DC1DB158-BAB1-5930-B714-AEF472873853}" dt="2026-09-13T14:29:51.833" v="562" actId="2696"/>
        <pc:sldMkLst>
          <pc:docMk/>
          <pc:sldMk cId="0" sldId="300"/>
        </pc:sldMkLst>
        <pc:spChg chg="mod">
          <ac:chgData name="Colon, Jeffrey M." userId="615143b1-cdee-493d-9a9d-1565ce8666d9" providerId="ADAL" clId="{DC1DB158-BAB1-5930-B714-AEF472873853}" dt="2026-09-13T14:24:53.003" v="460" actId="1076"/>
          <ac:spMkLst>
            <pc:docMk/>
            <pc:sldMk cId="0" sldId="300"/>
            <ac:spMk id="3" creationId="{A3BC530B-F09B-544F-AA8C-106E63CD3F26}"/>
          </ac:spMkLst>
        </pc:spChg>
      </pc:sldChg>
      <pc:sldChg chg="modSp mod modAnim">
        <pc:chgData name="Colon, Jeffrey M." userId="615143b1-cdee-493d-9a9d-1565ce8666d9" providerId="ADAL" clId="{DC1DB158-BAB1-5930-B714-AEF472873853}" dt="2026-09-13T14:55:08.489" v="609" actId="114"/>
        <pc:sldMkLst>
          <pc:docMk/>
          <pc:sldMk cId="0" sldId="320"/>
        </pc:sldMkLst>
        <pc:spChg chg="mod">
          <ac:chgData name="Colon, Jeffrey M." userId="615143b1-cdee-493d-9a9d-1565ce8666d9" providerId="ADAL" clId="{DC1DB158-BAB1-5930-B714-AEF472873853}" dt="2026-09-13T14:55:08.489" v="609" actId="114"/>
          <ac:spMkLst>
            <pc:docMk/>
            <pc:sldMk cId="0" sldId="320"/>
            <ac:spMk id="151555" creationId="{00000000-0000-0000-0000-000000000000}"/>
          </ac:spMkLst>
        </pc:spChg>
      </pc:sldChg>
      <pc:sldChg chg="del">
        <pc:chgData name="Colon, Jeffrey M." userId="615143b1-cdee-493d-9a9d-1565ce8666d9" providerId="ADAL" clId="{DC1DB158-BAB1-5930-B714-AEF472873853}" dt="2026-09-13T14:55:20.170" v="610" actId="2696"/>
        <pc:sldMkLst>
          <pc:docMk/>
          <pc:sldMk cId="0" sldId="321"/>
        </pc:sldMkLst>
      </pc:sldChg>
      <pc:sldChg chg="del">
        <pc:chgData name="Colon, Jeffrey M." userId="615143b1-cdee-493d-9a9d-1565ce8666d9" providerId="ADAL" clId="{DC1DB158-BAB1-5930-B714-AEF472873853}" dt="2026-09-13T15:06:16.132" v="611" actId="2696"/>
        <pc:sldMkLst>
          <pc:docMk/>
          <pc:sldMk cId="0" sldId="323"/>
        </pc:sldMkLst>
      </pc:sldChg>
      <pc:sldChg chg="modSp mod modAnim">
        <pc:chgData name="Colon, Jeffrey M." userId="615143b1-cdee-493d-9a9d-1565ce8666d9" providerId="ADAL" clId="{DC1DB158-BAB1-5930-B714-AEF472873853}" dt="2026-09-13T14:33:22.985" v="565"/>
        <pc:sldMkLst>
          <pc:docMk/>
          <pc:sldMk cId="0" sldId="339"/>
        </pc:sldMkLst>
        <pc:spChg chg="mod">
          <ac:chgData name="Colon, Jeffrey M." userId="615143b1-cdee-493d-9a9d-1565ce8666d9" providerId="ADAL" clId="{DC1DB158-BAB1-5930-B714-AEF472873853}" dt="2026-09-13T14:28:17.925" v="561" actId="6549"/>
          <ac:spMkLst>
            <pc:docMk/>
            <pc:sldMk cId="0" sldId="339"/>
            <ac:spMk id="197635" creationId="{00000000-0000-0000-0000-000000000000}"/>
          </ac:spMkLst>
        </pc:spChg>
        <pc:graphicFrameChg chg="mod modGraphic">
          <ac:chgData name="Colon, Jeffrey M." userId="615143b1-cdee-493d-9a9d-1565ce8666d9" providerId="ADAL" clId="{DC1DB158-BAB1-5930-B714-AEF472873853}" dt="2026-09-13T14:26:50.058" v="519" actId="1076"/>
          <ac:graphicFrameMkLst>
            <pc:docMk/>
            <pc:sldMk cId="0" sldId="339"/>
            <ac:graphicFrameMk id="197678" creationId="{00000000-0000-0000-0000-000000000000}"/>
          </ac:graphicFrameMkLst>
        </pc:graphicFrameChg>
        <pc:graphicFrameChg chg="mod">
          <ac:chgData name="Colon, Jeffrey M." userId="615143b1-cdee-493d-9a9d-1565ce8666d9" providerId="ADAL" clId="{DC1DB158-BAB1-5930-B714-AEF472873853}" dt="2026-09-13T14:32:28.860" v="563" actId="1076"/>
          <ac:graphicFrameMkLst>
            <pc:docMk/>
            <pc:sldMk cId="0" sldId="339"/>
            <ac:graphicFrameMk id="259072" creationId="{00000000-0000-0000-0000-000000000000}"/>
          </ac:graphicFrameMkLst>
        </pc:graphicFrameChg>
      </pc:sldChg>
      <pc:sldChg chg="modSp mod">
        <pc:chgData name="Colon, Jeffrey M." userId="615143b1-cdee-493d-9a9d-1565ce8666d9" providerId="ADAL" clId="{DC1DB158-BAB1-5930-B714-AEF472873853}" dt="2026-09-13T15:25:28.870" v="787" actId="20577"/>
        <pc:sldMkLst>
          <pc:docMk/>
          <pc:sldMk cId="1837747835" sldId="366"/>
        </pc:sldMkLst>
        <pc:spChg chg="mod">
          <ac:chgData name="Colon, Jeffrey M." userId="615143b1-cdee-493d-9a9d-1565ce8666d9" providerId="ADAL" clId="{DC1DB158-BAB1-5930-B714-AEF472873853}" dt="2026-09-13T15:25:28.870" v="787" actId="20577"/>
          <ac:spMkLst>
            <pc:docMk/>
            <pc:sldMk cId="1837747835" sldId="366"/>
            <ac:spMk id="43011" creationId="{00000000-0000-0000-0000-000000000000}"/>
          </ac:spMkLst>
        </pc:spChg>
      </pc:sldChg>
      <pc:sldChg chg="modSp mod">
        <pc:chgData name="Colon, Jeffrey M." userId="615143b1-cdee-493d-9a9d-1565ce8666d9" providerId="ADAL" clId="{DC1DB158-BAB1-5930-B714-AEF472873853}" dt="2026-09-13T17:24:26.844" v="821" actId="20577"/>
        <pc:sldMkLst>
          <pc:docMk/>
          <pc:sldMk cId="112568308" sldId="371"/>
        </pc:sldMkLst>
        <pc:spChg chg="mod">
          <ac:chgData name="Colon, Jeffrey M." userId="615143b1-cdee-493d-9a9d-1565ce8666d9" providerId="ADAL" clId="{DC1DB158-BAB1-5930-B714-AEF472873853}" dt="2026-09-13T17:24:26.844" v="821" actId="20577"/>
          <ac:spMkLst>
            <pc:docMk/>
            <pc:sldMk cId="112568308" sldId="371"/>
            <ac:spMk id="46084" creationId="{00000000-0000-0000-0000-000000000000}"/>
          </ac:spMkLst>
        </pc:spChg>
      </pc:sldChg>
      <pc:sldChg chg="modSp">
        <pc:chgData name="Colon, Jeffrey M." userId="615143b1-cdee-493d-9a9d-1565ce8666d9" providerId="ADAL" clId="{DC1DB158-BAB1-5930-B714-AEF472873853}" dt="2026-09-13T17:30:48.303" v="829" actId="2710"/>
        <pc:sldMkLst>
          <pc:docMk/>
          <pc:sldMk cId="2107148601" sldId="374"/>
        </pc:sldMkLst>
        <pc:spChg chg="mod">
          <ac:chgData name="Colon, Jeffrey M." userId="615143b1-cdee-493d-9a9d-1565ce8666d9" providerId="ADAL" clId="{DC1DB158-BAB1-5930-B714-AEF472873853}" dt="2026-09-13T17:30:48.303" v="829" actId="2710"/>
          <ac:spMkLst>
            <pc:docMk/>
            <pc:sldMk cId="2107148601" sldId="374"/>
            <ac:spMk id="243715" creationId="{00000000-0000-0000-0000-000000000000}"/>
          </ac:spMkLst>
        </pc:spChg>
      </pc:sldChg>
      <pc:sldChg chg="modSp mod">
        <pc:chgData name="Colon, Jeffrey M." userId="615143b1-cdee-493d-9a9d-1565ce8666d9" providerId="ADAL" clId="{DC1DB158-BAB1-5930-B714-AEF472873853}" dt="2026-09-13T15:21:15.784" v="768" actId="14100"/>
        <pc:sldMkLst>
          <pc:docMk/>
          <pc:sldMk cId="3193413349" sldId="380"/>
        </pc:sldMkLst>
        <pc:spChg chg="mod">
          <ac:chgData name="Colon, Jeffrey M." userId="615143b1-cdee-493d-9a9d-1565ce8666d9" providerId="ADAL" clId="{DC1DB158-BAB1-5930-B714-AEF472873853}" dt="2026-09-13T15:20:31.949" v="766" actId="20577"/>
          <ac:spMkLst>
            <pc:docMk/>
            <pc:sldMk cId="3193413349" sldId="380"/>
            <ac:spMk id="2" creationId="{00000000-0000-0000-0000-000000000000}"/>
          </ac:spMkLst>
        </pc:spChg>
        <pc:graphicFrameChg chg="mod">
          <ac:chgData name="Colon, Jeffrey M." userId="615143b1-cdee-493d-9a9d-1565ce8666d9" providerId="ADAL" clId="{DC1DB158-BAB1-5930-B714-AEF472873853}" dt="2026-09-13T15:21:15.784" v="768" actId="14100"/>
          <ac:graphicFrameMkLst>
            <pc:docMk/>
            <pc:sldMk cId="3193413349" sldId="380"/>
            <ac:graphicFrameMk id="7" creationId="{00000000-0000-0000-0000-000000000000}"/>
          </ac:graphicFrameMkLst>
        </pc:graphicFrameChg>
      </pc:sldChg>
      <pc:sldChg chg="modSp modAnim">
        <pc:chgData name="Colon, Jeffrey M." userId="615143b1-cdee-493d-9a9d-1565ce8666d9" providerId="ADAL" clId="{DC1DB158-BAB1-5930-B714-AEF472873853}" dt="2026-09-13T14:18:14.170" v="323" actId="5793"/>
        <pc:sldMkLst>
          <pc:docMk/>
          <pc:sldMk cId="1420547943" sldId="384"/>
        </pc:sldMkLst>
        <pc:spChg chg="mod">
          <ac:chgData name="Colon, Jeffrey M." userId="615143b1-cdee-493d-9a9d-1565ce8666d9" providerId="ADAL" clId="{DC1DB158-BAB1-5930-B714-AEF472873853}" dt="2026-09-13T14:18:14.170" v="323" actId="5793"/>
          <ac:spMkLst>
            <pc:docMk/>
            <pc:sldMk cId="1420547943" sldId="384"/>
            <ac:spMk id="2" creationId="{00000000-0000-0000-0000-000000000000}"/>
          </ac:spMkLst>
        </pc:spChg>
      </pc:sldChg>
      <pc:sldChg chg="del">
        <pc:chgData name="Colon, Jeffrey M." userId="615143b1-cdee-493d-9a9d-1565ce8666d9" providerId="ADAL" clId="{DC1DB158-BAB1-5930-B714-AEF472873853}" dt="2026-09-13T17:30:08.614" v="828" actId="2696"/>
        <pc:sldMkLst>
          <pc:docMk/>
          <pc:sldMk cId="694868273" sldId="393"/>
        </pc:sldMkLst>
      </pc:sldChg>
      <pc:sldChg chg="modSp">
        <pc:chgData name="Colon, Jeffrey M." userId="615143b1-cdee-493d-9a9d-1565ce8666d9" providerId="ADAL" clId="{DC1DB158-BAB1-5930-B714-AEF472873853}" dt="2026-09-13T17:25:30.987" v="827"/>
        <pc:sldMkLst>
          <pc:docMk/>
          <pc:sldMk cId="2275391296" sldId="396"/>
        </pc:sldMkLst>
        <pc:graphicFrameChg chg="mod">
          <ac:chgData name="Colon, Jeffrey M." userId="615143b1-cdee-493d-9a9d-1565ce8666d9" providerId="ADAL" clId="{DC1DB158-BAB1-5930-B714-AEF472873853}" dt="2026-09-13T17:25:30.987" v="827"/>
          <ac:graphicFrameMkLst>
            <pc:docMk/>
            <pc:sldMk cId="2275391296" sldId="396"/>
            <ac:graphicFrameMk id="8" creationId="{80E5DB25-15E5-8D41-8599-E556B847C0CB}"/>
          </ac:graphicFrameMkLst>
        </pc:graphicFrameChg>
      </pc:sldChg>
      <pc:sldChg chg="del">
        <pc:chgData name="Colon, Jeffrey M." userId="615143b1-cdee-493d-9a9d-1565ce8666d9" providerId="ADAL" clId="{DC1DB158-BAB1-5930-B714-AEF472873853}" dt="2026-09-13T15:17:44.181" v="752" actId="2696"/>
        <pc:sldMkLst>
          <pc:docMk/>
          <pc:sldMk cId="33158832" sldId="400"/>
        </pc:sldMkLst>
      </pc:sldChg>
      <pc:sldChg chg="modSp new mod modAnim">
        <pc:chgData name="Colon, Jeffrey M." userId="615143b1-cdee-493d-9a9d-1565ce8666d9" providerId="ADAL" clId="{DC1DB158-BAB1-5930-B714-AEF472873853}" dt="2026-09-13T14:13:21.678" v="309"/>
        <pc:sldMkLst>
          <pc:docMk/>
          <pc:sldMk cId="4156993710" sldId="402"/>
        </pc:sldMkLst>
        <pc:spChg chg="mod">
          <ac:chgData name="Colon, Jeffrey M." userId="615143b1-cdee-493d-9a9d-1565ce8666d9" providerId="ADAL" clId="{DC1DB158-BAB1-5930-B714-AEF472873853}" dt="2026-09-13T13:45:37.007" v="307" actId="20577"/>
          <ac:spMkLst>
            <pc:docMk/>
            <pc:sldMk cId="4156993710" sldId="402"/>
            <ac:spMk id="2" creationId="{CED5172D-7173-9F0E-6ED4-C08A77F2672C}"/>
          </ac:spMkLst>
        </pc:spChg>
        <pc:spChg chg="mod">
          <ac:chgData name="Colon, Jeffrey M." userId="615143b1-cdee-493d-9a9d-1565ce8666d9" providerId="ADAL" clId="{DC1DB158-BAB1-5930-B714-AEF472873853}" dt="2026-09-13T13:32:07.579" v="8" actId="20577"/>
          <ac:spMkLst>
            <pc:docMk/>
            <pc:sldMk cId="4156993710" sldId="402"/>
            <ac:spMk id="3" creationId="{529556F4-F152-0470-1B60-2CBF98E9042C}"/>
          </ac:spMkLst>
        </pc:spChg>
      </pc:sldChg>
      <pc:sldChg chg="addSp delSp modSp new mod">
        <pc:chgData name="Colon, Jeffrey M." userId="615143b1-cdee-493d-9a9d-1565ce8666d9" providerId="ADAL" clId="{DC1DB158-BAB1-5930-B714-AEF472873853}" dt="2026-09-13T15:14:13.146" v="709" actId="6549"/>
        <pc:sldMkLst>
          <pc:docMk/>
          <pc:sldMk cId="2571260672" sldId="403"/>
        </pc:sldMkLst>
        <pc:spChg chg="del mod">
          <ac:chgData name="Colon, Jeffrey M." userId="615143b1-cdee-493d-9a9d-1565ce8666d9" providerId="ADAL" clId="{DC1DB158-BAB1-5930-B714-AEF472873853}" dt="2026-09-13T15:08:33.105" v="655" actId="3680"/>
          <ac:spMkLst>
            <pc:docMk/>
            <pc:sldMk cId="2571260672" sldId="403"/>
            <ac:spMk id="2" creationId="{DD7F9EBB-5C42-8EBA-4DAA-25FAB870B841}"/>
          </ac:spMkLst>
        </pc:spChg>
        <pc:spChg chg="mod">
          <ac:chgData name="Colon, Jeffrey M." userId="615143b1-cdee-493d-9a9d-1565ce8666d9" providerId="ADAL" clId="{DC1DB158-BAB1-5930-B714-AEF472873853}" dt="2026-09-13T15:06:59.433" v="649" actId="20577"/>
          <ac:spMkLst>
            <pc:docMk/>
            <pc:sldMk cId="2571260672" sldId="403"/>
            <ac:spMk id="3" creationId="{B5DBB4A9-A335-C0A8-D6E2-EA488CC8811C}"/>
          </ac:spMkLst>
        </pc:spChg>
        <pc:spChg chg="add del mod">
          <ac:chgData name="Colon, Jeffrey M." userId="615143b1-cdee-493d-9a9d-1565ce8666d9" providerId="ADAL" clId="{DC1DB158-BAB1-5930-B714-AEF472873853}" dt="2026-09-13T15:12:55.992" v="690"/>
          <ac:spMkLst>
            <pc:docMk/>
            <pc:sldMk cId="2571260672" sldId="403"/>
            <ac:spMk id="7" creationId="{2BD2A324-0592-583D-DAC2-201CEB423310}"/>
          </ac:spMkLst>
        </pc:spChg>
        <pc:graphicFrameChg chg="add mod ord modGraphic">
          <ac:chgData name="Colon, Jeffrey M." userId="615143b1-cdee-493d-9a9d-1565ce8666d9" providerId="ADAL" clId="{DC1DB158-BAB1-5930-B714-AEF472873853}" dt="2026-09-13T15:14:13.146" v="709" actId="6549"/>
          <ac:graphicFrameMkLst>
            <pc:docMk/>
            <pc:sldMk cId="2571260672" sldId="403"/>
            <ac:graphicFrameMk id="6" creationId="{5C3420AB-FFBA-6687-B11B-803F225D8EBE}"/>
          </ac:graphicFrameMkLst>
        </pc:graphicFrameChg>
      </pc:sldChg>
      <pc:sldChg chg="addSp delSp modSp new mod">
        <pc:chgData name="Colon, Jeffrey M." userId="615143b1-cdee-493d-9a9d-1565ce8666d9" providerId="ADAL" clId="{DC1DB158-BAB1-5930-B714-AEF472873853}" dt="2026-09-13T17:38:06.230" v="889" actId="14100"/>
        <pc:sldMkLst>
          <pc:docMk/>
          <pc:sldMk cId="1061301959" sldId="404"/>
        </pc:sldMkLst>
        <pc:spChg chg="del">
          <ac:chgData name="Colon, Jeffrey M." userId="615143b1-cdee-493d-9a9d-1565ce8666d9" providerId="ADAL" clId="{DC1DB158-BAB1-5930-B714-AEF472873853}" dt="2026-09-13T17:36:15.731" v="885"/>
          <ac:spMkLst>
            <pc:docMk/>
            <pc:sldMk cId="1061301959" sldId="404"/>
            <ac:spMk id="2" creationId="{CC98AF6F-B9B2-01F2-A98D-8900DA587430}"/>
          </ac:spMkLst>
        </pc:spChg>
        <pc:spChg chg="mod">
          <ac:chgData name="Colon, Jeffrey M." userId="615143b1-cdee-493d-9a9d-1565ce8666d9" providerId="ADAL" clId="{DC1DB158-BAB1-5930-B714-AEF472873853}" dt="2026-09-13T17:36:05.103" v="883" actId="20577"/>
          <ac:spMkLst>
            <pc:docMk/>
            <pc:sldMk cId="1061301959" sldId="404"/>
            <ac:spMk id="3" creationId="{9B65EC4A-7029-8332-5AAA-1D9F768B9C3E}"/>
          </ac:spMkLst>
        </pc:spChg>
        <pc:picChg chg="add mod ord">
          <ac:chgData name="Colon, Jeffrey M." userId="615143b1-cdee-493d-9a9d-1565ce8666d9" providerId="ADAL" clId="{DC1DB158-BAB1-5930-B714-AEF472873853}" dt="2026-09-13T17:38:06.230" v="889" actId="14100"/>
          <ac:picMkLst>
            <pc:docMk/>
            <pc:sldMk cId="1061301959" sldId="404"/>
            <ac:picMk id="7" creationId="{98486092-C0ED-2973-0182-8A4A56205CCD}"/>
          </ac:picMkLst>
        </pc:picChg>
      </pc:sldChg>
      <pc:sldMasterChg chg="modSp mod">
        <pc:chgData name="Colon, Jeffrey M." userId="615143b1-cdee-493d-9a9d-1565ce8666d9" providerId="ADAL" clId="{DC1DB158-BAB1-5930-B714-AEF472873853}" dt="2026-09-13T14:16:56.269" v="314" actId="403"/>
        <pc:sldMasterMkLst>
          <pc:docMk/>
          <pc:sldMasterMk cId="1419976983" sldId="2147483729"/>
        </pc:sldMasterMkLst>
        <pc:spChg chg="mod">
          <ac:chgData name="Colon, Jeffrey M." userId="615143b1-cdee-493d-9a9d-1565ce8666d9" providerId="ADAL" clId="{DC1DB158-BAB1-5930-B714-AEF472873853}" dt="2026-09-13T14:16:56.269" v="314" actId="403"/>
          <ac:spMkLst>
            <pc:docMk/>
            <pc:sldMasterMk cId="1419976983" sldId="2147483729"/>
            <ac:spMk id="9" creationId="{00000000-0000-0000-0000-000000000000}"/>
          </ac:spMkLst>
        </pc:spChg>
        <pc:spChg chg="mod">
          <ac:chgData name="Colon, Jeffrey M." userId="615143b1-cdee-493d-9a9d-1565ce8666d9" providerId="ADAL" clId="{DC1DB158-BAB1-5930-B714-AEF472873853}" dt="2026-09-13T14:16:44.181" v="312" actId="403"/>
          <ac:spMkLst>
            <pc:docMk/>
            <pc:sldMasterMk cId="1419976983" sldId="2147483729"/>
            <ac:spMk id="10" creationId="{00000000-0000-0000-0000-000000000000}"/>
          </ac:spMkLst>
        </pc:spChg>
      </pc:sldMasterChg>
    </pc:docChg>
  </pc:docChgLst>
  <pc:docChgLst>
    <pc:chgData name="Jeffrey M. Colon" userId="615143b1-cdee-493d-9a9d-1565ce8666d9" providerId="ADAL" clId="{DC1DB158-BAB1-5930-B714-AEF472873853}"/>
    <pc:docChg chg="undo custSel addSld modSld modMainMaster">
      <pc:chgData name="Jeffrey M. Colon" userId="615143b1-cdee-493d-9a9d-1565ce8666d9" providerId="ADAL" clId="{DC1DB158-BAB1-5930-B714-AEF472873853}" dt="2026-09-08T16:23:56.661" v="327" actId="242"/>
      <pc:docMkLst>
        <pc:docMk/>
      </pc:docMkLst>
      <pc:sldChg chg="modSp">
        <pc:chgData name="Jeffrey M. Colon" userId="615143b1-cdee-493d-9a9d-1565ce8666d9" providerId="ADAL" clId="{DC1DB158-BAB1-5930-B714-AEF472873853}" dt="2026-09-08T15:14:00.026" v="59" actId="20577"/>
        <pc:sldMkLst>
          <pc:docMk/>
          <pc:sldMk cId="0" sldId="318"/>
        </pc:sldMkLst>
        <pc:spChg chg="mod">
          <ac:chgData name="Jeffrey M. Colon" userId="615143b1-cdee-493d-9a9d-1565ce8666d9" providerId="ADAL" clId="{DC1DB158-BAB1-5930-B714-AEF472873853}" dt="2026-09-08T15:14:00.026" v="59" actId="20577"/>
          <ac:spMkLst>
            <pc:docMk/>
            <pc:sldMk cId="0" sldId="318"/>
            <ac:spMk id="147459" creationId="{00000000-0000-0000-0000-000000000000}"/>
          </ac:spMkLst>
        </pc:spChg>
      </pc:sldChg>
      <pc:sldChg chg="addSp delSp modSp mod">
        <pc:chgData name="Jeffrey M. Colon" userId="615143b1-cdee-493d-9a9d-1565ce8666d9" providerId="ADAL" clId="{DC1DB158-BAB1-5930-B714-AEF472873853}" dt="2026-09-08T15:44:29.240" v="62" actId="14100"/>
        <pc:sldMkLst>
          <pc:docMk/>
          <pc:sldMk cId="0" sldId="340"/>
        </pc:sldMkLst>
        <pc:picChg chg="add mod">
          <ac:chgData name="Jeffrey M. Colon" userId="615143b1-cdee-493d-9a9d-1565ce8666d9" providerId="ADAL" clId="{DC1DB158-BAB1-5930-B714-AEF472873853}" dt="2026-09-08T15:44:29.240" v="62" actId="14100"/>
          <ac:picMkLst>
            <pc:docMk/>
            <pc:sldMk cId="0" sldId="340"/>
            <ac:picMk id="2" creationId="{1A7C00C1-5A9C-9A93-6128-4EA6088D55F6}"/>
          </ac:picMkLst>
        </pc:picChg>
      </pc:sldChg>
      <pc:sldChg chg="addSp delSp modSp mod">
        <pc:chgData name="Jeffrey M. Colon" userId="615143b1-cdee-493d-9a9d-1565ce8666d9" providerId="ADAL" clId="{DC1DB158-BAB1-5930-B714-AEF472873853}" dt="2026-09-08T15:59:23.987" v="221" actId="1076"/>
        <pc:sldMkLst>
          <pc:docMk/>
          <pc:sldMk cId="2389485820" sldId="391"/>
        </pc:sldMkLst>
        <pc:spChg chg="mod">
          <ac:chgData name="Jeffrey M. Colon" userId="615143b1-cdee-493d-9a9d-1565ce8666d9" providerId="ADAL" clId="{DC1DB158-BAB1-5930-B714-AEF472873853}" dt="2026-09-08T15:56:50.402" v="197" actId="20577"/>
          <ac:spMkLst>
            <pc:docMk/>
            <pc:sldMk cId="2389485820" sldId="391"/>
            <ac:spMk id="3" creationId="{D48A3803-9C59-AD4B-AE15-FDA7DD2A8E21}"/>
          </ac:spMkLst>
        </pc:spChg>
        <pc:picChg chg="add mod">
          <ac:chgData name="Jeffrey M. Colon" userId="615143b1-cdee-493d-9a9d-1565ce8666d9" providerId="ADAL" clId="{DC1DB158-BAB1-5930-B714-AEF472873853}" dt="2026-09-08T15:57:58.463" v="211" actId="14100"/>
          <ac:picMkLst>
            <pc:docMk/>
            <pc:sldMk cId="2389485820" sldId="391"/>
            <ac:picMk id="9" creationId="{14795CC1-F9D4-7844-A2FA-C4E5A1D31D60}"/>
          </ac:picMkLst>
        </pc:picChg>
        <pc:picChg chg="add mod">
          <ac:chgData name="Jeffrey M. Colon" userId="615143b1-cdee-493d-9a9d-1565ce8666d9" providerId="ADAL" clId="{DC1DB158-BAB1-5930-B714-AEF472873853}" dt="2026-09-08T15:59:17.347" v="220" actId="14100"/>
          <ac:picMkLst>
            <pc:docMk/>
            <pc:sldMk cId="2389485820" sldId="391"/>
            <ac:picMk id="12" creationId="{44ED269A-1490-0CEF-56AD-A29B50DDDFC8}"/>
          </ac:picMkLst>
        </pc:picChg>
        <pc:picChg chg="mod">
          <ac:chgData name="Jeffrey M. Colon" userId="615143b1-cdee-493d-9a9d-1565ce8666d9" providerId="ADAL" clId="{DC1DB158-BAB1-5930-B714-AEF472873853}" dt="2026-09-08T15:59:23.987" v="221" actId="1076"/>
          <ac:picMkLst>
            <pc:docMk/>
            <pc:sldMk cId="2389485820" sldId="391"/>
            <ac:picMk id="13" creationId="{3947507A-96D6-827C-FCFB-29BDA0568F4E}"/>
          </ac:picMkLst>
        </pc:picChg>
      </pc:sldChg>
      <pc:sldChg chg="modSp mod">
        <pc:chgData name="Jeffrey M. Colon" userId="615143b1-cdee-493d-9a9d-1565ce8666d9" providerId="ADAL" clId="{DC1DB158-BAB1-5930-B714-AEF472873853}" dt="2026-09-08T16:19:40.226" v="235" actId="13926"/>
        <pc:sldMkLst>
          <pc:docMk/>
          <pc:sldMk cId="787580578" sldId="395"/>
        </pc:sldMkLst>
        <pc:spChg chg="mod">
          <ac:chgData name="Jeffrey M. Colon" userId="615143b1-cdee-493d-9a9d-1565ce8666d9" providerId="ADAL" clId="{DC1DB158-BAB1-5930-B714-AEF472873853}" dt="2026-09-08T16:19:40.226" v="235" actId="13926"/>
          <ac:spMkLst>
            <pc:docMk/>
            <pc:sldMk cId="787580578" sldId="395"/>
            <ac:spMk id="3" creationId="{87784240-D8D0-914D-9CF5-ABA8E3A18626}"/>
          </ac:spMkLst>
        </pc:spChg>
      </pc:sldChg>
      <pc:sldChg chg="addSp delSp modSp mod">
        <pc:chgData name="Jeffrey M. Colon" userId="615143b1-cdee-493d-9a9d-1565ce8666d9" providerId="ADAL" clId="{DC1DB158-BAB1-5930-B714-AEF472873853}" dt="2026-09-08T16:11:50.362" v="230" actId="14100"/>
        <pc:sldMkLst>
          <pc:docMk/>
          <pc:sldMk cId="372449338" sldId="397"/>
        </pc:sldMkLst>
        <pc:picChg chg="add mod">
          <ac:chgData name="Jeffrey M. Colon" userId="615143b1-cdee-493d-9a9d-1565ce8666d9" providerId="ADAL" clId="{DC1DB158-BAB1-5930-B714-AEF472873853}" dt="2026-09-08T16:11:50.362" v="230" actId="14100"/>
          <ac:picMkLst>
            <pc:docMk/>
            <pc:sldMk cId="372449338" sldId="397"/>
            <ac:picMk id="6" creationId="{468F544F-28A5-6861-926F-D0898E80FD6A}"/>
          </ac:picMkLst>
        </pc:picChg>
      </pc:sldChg>
      <pc:sldChg chg="modSp mod">
        <pc:chgData name="Jeffrey M. Colon" userId="615143b1-cdee-493d-9a9d-1565ce8666d9" providerId="ADAL" clId="{DC1DB158-BAB1-5930-B714-AEF472873853}" dt="2026-09-08T16:23:56.661" v="327" actId="242"/>
        <pc:sldMkLst>
          <pc:docMk/>
          <pc:sldMk cId="2894202980" sldId="399"/>
        </pc:sldMkLst>
        <pc:spChg chg="mod">
          <ac:chgData name="Jeffrey M. Colon" userId="615143b1-cdee-493d-9a9d-1565ce8666d9" providerId="ADAL" clId="{DC1DB158-BAB1-5930-B714-AEF472873853}" dt="2026-09-08T16:19:27.996" v="234" actId="20577"/>
          <ac:spMkLst>
            <pc:docMk/>
            <pc:sldMk cId="2894202980" sldId="399"/>
            <ac:spMk id="3" creationId="{6387C5FC-37BE-27CF-E42C-D9A249A2ECD5}"/>
          </ac:spMkLst>
        </pc:spChg>
        <pc:graphicFrameChg chg="mod modGraphic">
          <ac:chgData name="Jeffrey M. Colon" userId="615143b1-cdee-493d-9a9d-1565ce8666d9" providerId="ADAL" clId="{DC1DB158-BAB1-5930-B714-AEF472873853}" dt="2026-09-08T16:23:56.661" v="327" actId="242"/>
          <ac:graphicFrameMkLst>
            <pc:docMk/>
            <pc:sldMk cId="2894202980" sldId="399"/>
            <ac:graphicFrameMk id="8" creationId="{342FC465-8FFD-AC8E-3213-6AA95A67704E}"/>
          </ac:graphicFrameMkLst>
        </pc:graphicFrameChg>
      </pc:sldChg>
      <pc:sldChg chg="addSp delSp modSp new mod chgLayout">
        <pc:chgData name="Jeffrey M. Colon" userId="615143b1-cdee-493d-9a9d-1565ce8666d9" providerId="ADAL" clId="{DC1DB158-BAB1-5930-B714-AEF472873853}" dt="2026-09-08T15:48:28.513" v="139" actId="14100"/>
        <pc:sldMkLst>
          <pc:docMk/>
          <pc:sldMk cId="2157836748" sldId="401"/>
        </pc:sldMkLst>
        <pc:spChg chg="mod ord">
          <ac:chgData name="Jeffrey M. Colon" userId="615143b1-cdee-493d-9a9d-1565ce8666d9" providerId="ADAL" clId="{DC1DB158-BAB1-5930-B714-AEF472873853}" dt="2026-09-08T15:47:31.294" v="138" actId="20577"/>
          <ac:spMkLst>
            <pc:docMk/>
            <pc:sldMk cId="2157836748" sldId="401"/>
            <ac:spMk id="3" creationId="{0F5FFE96-1F74-B9EF-4E7C-2C0940477E37}"/>
          </ac:spMkLst>
        </pc:spChg>
        <pc:spChg chg="mod">
          <ac:chgData name="Jeffrey M. Colon" userId="615143b1-cdee-493d-9a9d-1565ce8666d9" providerId="ADAL" clId="{DC1DB158-BAB1-5930-B714-AEF472873853}" dt="2026-09-08T15:46:44.034" v="101" actId="26606"/>
          <ac:spMkLst>
            <pc:docMk/>
            <pc:sldMk cId="2157836748" sldId="401"/>
            <ac:spMk id="4" creationId="{57A44280-2F44-01B8-612A-935AF4D80ABE}"/>
          </ac:spMkLst>
        </pc:spChg>
        <pc:spChg chg="mod">
          <ac:chgData name="Jeffrey M. Colon" userId="615143b1-cdee-493d-9a9d-1565ce8666d9" providerId="ADAL" clId="{DC1DB158-BAB1-5930-B714-AEF472873853}" dt="2026-09-08T15:46:44.034" v="101" actId="26606"/>
          <ac:spMkLst>
            <pc:docMk/>
            <pc:sldMk cId="2157836748" sldId="401"/>
            <ac:spMk id="5" creationId="{A5577FE5-1CC1-87F2-1524-873101CE21CD}"/>
          </ac:spMkLst>
        </pc:spChg>
        <pc:picChg chg="add mod ord">
          <ac:chgData name="Jeffrey M. Colon" userId="615143b1-cdee-493d-9a9d-1565ce8666d9" providerId="ADAL" clId="{DC1DB158-BAB1-5930-B714-AEF472873853}" dt="2026-09-08T15:47:12.732" v="113" actId="1076"/>
          <ac:picMkLst>
            <pc:docMk/>
            <pc:sldMk cId="2157836748" sldId="401"/>
            <ac:picMk id="6" creationId="{8973F028-42B4-599F-5083-6D08FCCAC793}"/>
          </ac:picMkLst>
        </pc:picChg>
        <pc:picChg chg="add mod ord">
          <ac:chgData name="Jeffrey M. Colon" userId="615143b1-cdee-493d-9a9d-1565ce8666d9" providerId="ADAL" clId="{DC1DB158-BAB1-5930-B714-AEF472873853}" dt="2026-09-08T15:48:28.513" v="139" actId="14100"/>
          <ac:picMkLst>
            <pc:docMk/>
            <pc:sldMk cId="2157836748" sldId="401"/>
            <ac:picMk id="8" creationId="{4CE0BB31-BA54-6604-82C4-F3D74CB0ECEB}"/>
          </ac:picMkLst>
        </pc:picChg>
      </pc:sldChg>
      <pc:sldMasterChg chg="modSp mod">
        <pc:chgData name="Jeffrey M. Colon" userId="615143b1-cdee-493d-9a9d-1565ce8666d9" providerId="ADAL" clId="{DC1DB158-BAB1-5930-B714-AEF472873853}" dt="2026-09-08T15:07:01.077" v="1" actId="20577"/>
        <pc:sldMasterMkLst>
          <pc:docMk/>
          <pc:sldMasterMk cId="1419976983" sldId="2147483729"/>
        </pc:sldMasterMkLst>
        <pc:spChg chg="mod">
          <ac:chgData name="Jeffrey M. Colon" userId="615143b1-cdee-493d-9a9d-1565ce8666d9" providerId="ADAL" clId="{DC1DB158-BAB1-5930-B714-AEF472873853}" dt="2026-09-08T15:07:01.077" v="1" actId="20577"/>
          <ac:spMkLst>
            <pc:docMk/>
            <pc:sldMasterMk cId="1419976983" sldId="2147483729"/>
            <ac:spMk id="9" creationId="{00000000-0000-0000-0000-000000000000}"/>
          </ac:spMkLst>
        </pc:sp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Users/jmcolon1/Dropbox/Corp%20Finance/CorpFin%2020/CF_Ch5_YTM.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b="1" dirty="0"/>
              <a:t>Treasuries,</a:t>
            </a:r>
            <a:r>
              <a:rPr lang="en-US" b="1" baseline="0" dirty="0"/>
              <a:t> TIPS, and Implied Inflation</a:t>
            </a:r>
            <a:endParaRPr lang="en-US" b="1" dirty="0"/>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Treasury</c:v>
                </c:pt>
              </c:strCache>
            </c:strRef>
          </c:tx>
          <c:spPr>
            <a:ln w="28575" cap="rnd">
              <a:solidFill>
                <a:schemeClr val="accent1"/>
              </a:solidFill>
              <a:round/>
            </a:ln>
            <a:effectLst/>
          </c:spPr>
          <c:marker>
            <c:symbol val="none"/>
          </c:marker>
          <c:cat>
            <c:strRef>
              <c:f>Sheet1!$A$2:$A$6</c:f>
              <c:strCache>
                <c:ptCount val="5"/>
                <c:pt idx="0">
                  <c:v>5 YR</c:v>
                </c:pt>
                <c:pt idx="1">
                  <c:v>7 YR</c:v>
                </c:pt>
                <c:pt idx="2">
                  <c:v>10 YR</c:v>
                </c:pt>
                <c:pt idx="3">
                  <c:v>20 YR</c:v>
                </c:pt>
                <c:pt idx="4">
                  <c:v>30 YR</c:v>
                </c:pt>
              </c:strCache>
            </c:strRef>
          </c:cat>
          <c:val>
            <c:numRef>
              <c:f>Sheet1!$B$2:$B$6</c:f>
              <c:numCache>
                <c:formatCode>0.00%</c:formatCode>
                <c:ptCount val="5"/>
                <c:pt idx="0">
                  <c:v>4.5400000000000003E-2</c:v>
                </c:pt>
                <c:pt idx="1">
                  <c:v>4.65E-2</c:v>
                </c:pt>
                <c:pt idx="2">
                  <c:v>4.7800000000000002E-2</c:v>
                </c:pt>
                <c:pt idx="3">
                  <c:v>5.2499999999999998E-2</c:v>
                </c:pt>
                <c:pt idx="4">
                  <c:v>5.2400000000000002E-2</c:v>
                </c:pt>
              </c:numCache>
            </c:numRef>
          </c:val>
          <c:smooth val="0"/>
          <c:extLst>
            <c:ext xmlns:c16="http://schemas.microsoft.com/office/drawing/2014/chart" uri="{C3380CC4-5D6E-409C-BE32-E72D297353CC}">
              <c16:uniqueId val="{00000000-B3BD-7142-8B0B-E78DB128697D}"/>
            </c:ext>
          </c:extLst>
        </c:ser>
        <c:ser>
          <c:idx val="1"/>
          <c:order val="1"/>
          <c:tx>
            <c:strRef>
              <c:f>Sheet1!$C$1</c:f>
              <c:strCache>
                <c:ptCount val="1"/>
                <c:pt idx="0">
                  <c:v>TIPS</c:v>
                </c:pt>
              </c:strCache>
            </c:strRef>
          </c:tx>
          <c:spPr>
            <a:ln w="28575" cap="rnd">
              <a:solidFill>
                <a:srgbClr val="00B050"/>
              </a:solidFill>
              <a:round/>
            </a:ln>
            <a:effectLst/>
          </c:spPr>
          <c:marker>
            <c:symbol val="none"/>
          </c:marker>
          <c:cat>
            <c:strRef>
              <c:f>Sheet1!$A$2:$A$6</c:f>
              <c:strCache>
                <c:ptCount val="5"/>
                <c:pt idx="0">
                  <c:v>5 YR</c:v>
                </c:pt>
                <c:pt idx="1">
                  <c:v>7 YR</c:v>
                </c:pt>
                <c:pt idx="2">
                  <c:v>10 YR</c:v>
                </c:pt>
                <c:pt idx="3">
                  <c:v>20 YR</c:v>
                </c:pt>
                <c:pt idx="4">
                  <c:v>30 YR</c:v>
                </c:pt>
              </c:strCache>
            </c:strRef>
          </c:cat>
          <c:val>
            <c:numRef>
              <c:f>Sheet1!$C$2:$C$6</c:f>
              <c:numCache>
                <c:formatCode>0.00%</c:formatCode>
                <c:ptCount val="5"/>
                <c:pt idx="0">
                  <c:v>2.1700000000000001E-2</c:v>
                </c:pt>
                <c:pt idx="1">
                  <c:v>2.29E-2</c:v>
                </c:pt>
                <c:pt idx="2">
                  <c:v>2.4299999999999999E-2</c:v>
                </c:pt>
                <c:pt idx="3">
                  <c:v>2.7699999999999999E-2</c:v>
                </c:pt>
                <c:pt idx="4">
                  <c:v>2.9600000000000001E-2</c:v>
                </c:pt>
              </c:numCache>
            </c:numRef>
          </c:val>
          <c:smooth val="0"/>
          <c:extLst>
            <c:ext xmlns:c16="http://schemas.microsoft.com/office/drawing/2014/chart" uri="{C3380CC4-5D6E-409C-BE32-E72D297353CC}">
              <c16:uniqueId val="{00000001-B3BD-7142-8B0B-E78DB128697D}"/>
            </c:ext>
          </c:extLst>
        </c:ser>
        <c:ser>
          <c:idx val="2"/>
          <c:order val="2"/>
          <c:tx>
            <c:strRef>
              <c:f>Sheet1!$D$1</c:f>
              <c:strCache>
                <c:ptCount val="1"/>
                <c:pt idx="0">
                  <c:v>Implied Inflation</c:v>
                </c:pt>
              </c:strCache>
            </c:strRef>
          </c:tx>
          <c:spPr>
            <a:ln w="28575" cap="rnd">
              <a:solidFill>
                <a:schemeClr val="accent3">
                  <a:lumMod val="25000"/>
                  <a:lumOff val="75000"/>
                </a:schemeClr>
              </a:solidFill>
              <a:round/>
            </a:ln>
            <a:effectLst/>
          </c:spPr>
          <c:marker>
            <c:symbol val="none"/>
          </c:marker>
          <c:cat>
            <c:strRef>
              <c:f>Sheet1!$A$2:$A$6</c:f>
              <c:strCache>
                <c:ptCount val="5"/>
                <c:pt idx="0">
                  <c:v>5 YR</c:v>
                </c:pt>
                <c:pt idx="1">
                  <c:v>7 YR</c:v>
                </c:pt>
                <c:pt idx="2">
                  <c:v>10 YR</c:v>
                </c:pt>
                <c:pt idx="3">
                  <c:v>20 YR</c:v>
                </c:pt>
                <c:pt idx="4">
                  <c:v>30 YR</c:v>
                </c:pt>
              </c:strCache>
            </c:strRef>
          </c:cat>
          <c:val>
            <c:numRef>
              <c:f>Sheet1!$D$2:$D$6</c:f>
              <c:numCache>
                <c:formatCode>0.00%</c:formatCode>
                <c:ptCount val="5"/>
                <c:pt idx="0">
                  <c:v>2.3700000000000002E-2</c:v>
                </c:pt>
                <c:pt idx="1">
                  <c:v>2.3599999999999999E-2</c:v>
                </c:pt>
                <c:pt idx="2">
                  <c:v>2.3500000000000004E-2</c:v>
                </c:pt>
                <c:pt idx="3">
                  <c:v>2.4799999999999999E-2</c:v>
                </c:pt>
                <c:pt idx="4">
                  <c:v>2.2800000000000001E-2</c:v>
                </c:pt>
              </c:numCache>
            </c:numRef>
          </c:val>
          <c:smooth val="0"/>
          <c:extLst>
            <c:ext xmlns:c16="http://schemas.microsoft.com/office/drawing/2014/chart" uri="{C3380CC4-5D6E-409C-BE32-E72D297353CC}">
              <c16:uniqueId val="{00000002-B3BD-7142-8B0B-E78DB128697D}"/>
            </c:ext>
          </c:extLst>
        </c:ser>
        <c:dLbls>
          <c:showLegendKey val="0"/>
          <c:showVal val="0"/>
          <c:showCatName val="0"/>
          <c:showSerName val="0"/>
          <c:showPercent val="0"/>
          <c:showBubbleSize val="0"/>
        </c:dLbls>
        <c:smooth val="0"/>
        <c:axId val="1220639648"/>
        <c:axId val="1220641296"/>
      </c:lineChart>
      <c:catAx>
        <c:axId val="12206396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20641296"/>
        <c:crosses val="autoZero"/>
        <c:auto val="1"/>
        <c:lblAlgn val="ctr"/>
        <c:lblOffset val="100"/>
        <c:noMultiLvlLbl val="0"/>
      </c:catAx>
      <c:valAx>
        <c:axId val="1220641296"/>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2063964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800" b="1" i="0" baseline="0">
                <a:effectLst/>
              </a:rPr>
              <a:t>Treasuries, TIPS, and Implied Inflation</a:t>
            </a:r>
            <a:endParaRPr lang="en-US">
              <a:effectLst/>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1395101821446311"/>
          <c:y val="0.15198331579952731"/>
          <c:w val="0.64395371267760171"/>
          <c:h val="0.80818785976376406"/>
        </c:manualLayout>
      </c:layout>
      <c:lineChart>
        <c:grouping val="standard"/>
        <c:varyColors val="0"/>
        <c:ser>
          <c:idx val="0"/>
          <c:order val="0"/>
          <c:tx>
            <c:v>Treasuries</c:v>
          </c:tx>
          <c:spPr>
            <a:ln w="34925" cap="rnd">
              <a:solidFill>
                <a:schemeClr val="accent1"/>
              </a:solidFill>
              <a:round/>
            </a:ln>
            <a:effectLst/>
          </c:spPr>
          <c:marker>
            <c:symbol val="none"/>
          </c:marker>
          <c:cat>
            <c:strRef>
              <c:f>Sheet1!$B$24:$B$28</c:f>
              <c:strCache>
                <c:ptCount val="5"/>
                <c:pt idx="0">
                  <c:v>5 YR</c:v>
                </c:pt>
                <c:pt idx="1">
                  <c:v>7 YR</c:v>
                </c:pt>
                <c:pt idx="2">
                  <c:v>10 YR</c:v>
                </c:pt>
                <c:pt idx="3">
                  <c:v>20 YR</c:v>
                </c:pt>
                <c:pt idx="4">
                  <c:v>30 YR</c:v>
                </c:pt>
              </c:strCache>
            </c:strRef>
          </c:cat>
          <c:val>
            <c:numRef>
              <c:f>Sheet1!$C$24:$C$28</c:f>
              <c:numCache>
                <c:formatCode>0.00%</c:formatCode>
                <c:ptCount val="5"/>
                <c:pt idx="0">
                  <c:v>2.3999999999999998E-3</c:v>
                </c:pt>
                <c:pt idx="1">
                  <c:v>4.3E-3</c:v>
                </c:pt>
                <c:pt idx="2">
                  <c:v>6.3E-3</c:v>
                </c:pt>
                <c:pt idx="3">
                  <c:v>1.1299999999999999E-2</c:v>
                </c:pt>
                <c:pt idx="4">
                  <c:v>1.34E-2</c:v>
                </c:pt>
              </c:numCache>
            </c:numRef>
          </c:val>
          <c:smooth val="0"/>
          <c:extLst>
            <c:ext xmlns:c16="http://schemas.microsoft.com/office/drawing/2014/chart" uri="{C3380CC4-5D6E-409C-BE32-E72D297353CC}">
              <c16:uniqueId val="{00000000-D7E1-BE46-9B28-2CEB45045E8F}"/>
            </c:ext>
          </c:extLst>
        </c:ser>
        <c:ser>
          <c:idx val="1"/>
          <c:order val="1"/>
          <c:tx>
            <c:v>TIPS</c:v>
          </c:tx>
          <c:spPr>
            <a:ln w="38100" cap="rnd">
              <a:solidFill>
                <a:schemeClr val="accent4">
                  <a:lumMod val="60000"/>
                  <a:lumOff val="40000"/>
                </a:schemeClr>
              </a:solidFill>
              <a:round/>
            </a:ln>
            <a:effectLst/>
          </c:spPr>
          <c:marker>
            <c:symbol val="none"/>
          </c:marker>
          <c:cat>
            <c:strRef>
              <c:f>Sheet1!$B$24:$B$28</c:f>
              <c:strCache>
                <c:ptCount val="5"/>
                <c:pt idx="0">
                  <c:v>5 YR</c:v>
                </c:pt>
                <c:pt idx="1">
                  <c:v>7 YR</c:v>
                </c:pt>
                <c:pt idx="2">
                  <c:v>10 YR</c:v>
                </c:pt>
                <c:pt idx="3">
                  <c:v>20 YR</c:v>
                </c:pt>
                <c:pt idx="4">
                  <c:v>30 YR</c:v>
                </c:pt>
              </c:strCache>
            </c:strRef>
          </c:cat>
          <c:val>
            <c:numRef>
              <c:f>Sheet1!$D$24:$D$28</c:f>
              <c:numCache>
                <c:formatCode>0.00%</c:formatCode>
                <c:ptCount val="5"/>
                <c:pt idx="0">
                  <c:v>-1.29E-2</c:v>
                </c:pt>
                <c:pt idx="1">
                  <c:v>-1.18E-2</c:v>
                </c:pt>
                <c:pt idx="2">
                  <c:v>-1.0200000000000001E-2</c:v>
                </c:pt>
                <c:pt idx="3">
                  <c:v>-6.4999999999999997E-3</c:v>
                </c:pt>
                <c:pt idx="4">
                  <c:v>-3.8999999999999998E-3</c:v>
                </c:pt>
              </c:numCache>
            </c:numRef>
          </c:val>
          <c:smooth val="0"/>
          <c:extLst>
            <c:ext xmlns:c16="http://schemas.microsoft.com/office/drawing/2014/chart" uri="{C3380CC4-5D6E-409C-BE32-E72D297353CC}">
              <c16:uniqueId val="{00000001-D7E1-BE46-9B28-2CEB45045E8F}"/>
            </c:ext>
          </c:extLst>
        </c:ser>
        <c:ser>
          <c:idx val="2"/>
          <c:order val="2"/>
          <c:tx>
            <c:v>Implied Inflation</c:v>
          </c:tx>
          <c:spPr>
            <a:ln w="38100" cap="rnd">
              <a:solidFill>
                <a:schemeClr val="accent3">
                  <a:lumMod val="50000"/>
                  <a:lumOff val="50000"/>
                </a:schemeClr>
              </a:solidFill>
              <a:round/>
            </a:ln>
            <a:effectLst/>
          </c:spPr>
          <c:marker>
            <c:symbol val="none"/>
          </c:marker>
          <c:cat>
            <c:strRef>
              <c:f>Sheet1!$B$24:$B$28</c:f>
              <c:strCache>
                <c:ptCount val="5"/>
                <c:pt idx="0">
                  <c:v>5 YR</c:v>
                </c:pt>
                <c:pt idx="1">
                  <c:v>7 YR</c:v>
                </c:pt>
                <c:pt idx="2">
                  <c:v>10 YR</c:v>
                </c:pt>
                <c:pt idx="3">
                  <c:v>20 YR</c:v>
                </c:pt>
                <c:pt idx="4">
                  <c:v>30 YR</c:v>
                </c:pt>
              </c:strCache>
            </c:strRef>
          </c:cat>
          <c:val>
            <c:numRef>
              <c:f>Sheet1!$E$24:$E$28</c:f>
              <c:numCache>
                <c:formatCode>0.00%</c:formatCode>
                <c:ptCount val="5"/>
                <c:pt idx="0">
                  <c:v>1.549994934657084E-2</c:v>
                </c:pt>
                <c:pt idx="1">
                  <c:v>1.6292248532685738E-2</c:v>
                </c:pt>
                <c:pt idx="2">
                  <c:v>1.6670034350373841E-2</c:v>
                </c:pt>
                <c:pt idx="3">
                  <c:v>1.7916456970306971E-2</c:v>
                </c:pt>
                <c:pt idx="4">
                  <c:v>1.7367734163236781E-2</c:v>
                </c:pt>
              </c:numCache>
            </c:numRef>
          </c:val>
          <c:smooth val="0"/>
          <c:extLst>
            <c:ext xmlns:c16="http://schemas.microsoft.com/office/drawing/2014/chart" uri="{C3380CC4-5D6E-409C-BE32-E72D297353CC}">
              <c16:uniqueId val="{00000002-D7E1-BE46-9B28-2CEB45045E8F}"/>
            </c:ext>
          </c:extLst>
        </c:ser>
        <c:dLbls>
          <c:showLegendKey val="0"/>
          <c:showVal val="0"/>
          <c:showCatName val="0"/>
          <c:showSerName val="0"/>
          <c:showPercent val="0"/>
          <c:showBubbleSize val="0"/>
        </c:dLbls>
        <c:smooth val="0"/>
        <c:axId val="1490974383"/>
        <c:axId val="2008992703"/>
      </c:lineChart>
      <c:catAx>
        <c:axId val="1490974383"/>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b" anchorCtr="0"/>
          <a:lstStyle/>
          <a:p>
            <a:pPr>
              <a:defRPr sz="1050" b="1" i="0" u="none" strike="noStrike" kern="1200" baseline="0">
                <a:solidFill>
                  <a:schemeClr val="tx1">
                    <a:lumMod val="65000"/>
                    <a:lumOff val="35000"/>
                  </a:schemeClr>
                </a:solidFill>
                <a:latin typeface="+mn-lt"/>
                <a:ea typeface="+mn-ea"/>
                <a:cs typeface="+mn-cs"/>
              </a:defRPr>
            </a:pPr>
            <a:endParaRPr lang="en-US"/>
          </a:p>
        </c:txPr>
        <c:crossAx val="2008992703"/>
        <c:crosses val="autoZero"/>
        <c:auto val="1"/>
        <c:lblAlgn val="ctr"/>
        <c:lblOffset val="100"/>
        <c:noMultiLvlLbl val="0"/>
      </c:catAx>
      <c:valAx>
        <c:axId val="200899270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sz="1100" b="1"/>
                  <a:t>YTM</a:t>
                </a:r>
              </a:p>
            </c:rich>
          </c:tx>
          <c:overlay val="0"/>
          <c:spPr>
            <a:noFill/>
            <a:ln>
              <a:noFill/>
            </a:ln>
            <a:effectLst/>
          </c:spPr>
          <c:txPr>
            <a:bodyPr rot="-54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050" b="1" i="0" u="none" strike="noStrike" kern="1200" baseline="0">
                <a:solidFill>
                  <a:schemeClr val="tx1">
                    <a:lumMod val="65000"/>
                    <a:lumOff val="35000"/>
                  </a:schemeClr>
                </a:solidFill>
                <a:latin typeface="+mn-lt"/>
                <a:ea typeface="+mn-ea"/>
                <a:cs typeface="+mn-cs"/>
              </a:defRPr>
            </a:pPr>
            <a:endParaRPr lang="en-US"/>
          </a:p>
        </c:txPr>
        <c:crossAx val="1490974383"/>
        <c:crosses val="autoZero"/>
        <c:crossBetween val="between"/>
      </c:valAx>
      <c:spPr>
        <a:noFill/>
        <a:ln w="25400">
          <a:noFill/>
        </a:ln>
        <a:effectLst/>
      </c:spPr>
    </c:plotArea>
    <c:legend>
      <c:legendPos val="r"/>
      <c:overlay val="0"/>
      <c:spPr>
        <a:noFill/>
        <a:ln>
          <a:noFill/>
        </a:ln>
        <a:effectLst/>
      </c:spPr>
      <c:txPr>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2"/>
          <p:cNvSpPr>
            <a:spLocks noGrp="1" noChangeArrowheads="1"/>
          </p:cNvSpPr>
          <p:nvPr>
            <p:ph type="hdr" sz="quarter"/>
          </p:nvPr>
        </p:nvSpPr>
        <p:spPr bwMode="auto">
          <a:xfrm>
            <a:off x="0" y="1"/>
            <a:ext cx="3037840" cy="46156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a:latin typeface="Arial" charset="0"/>
                <a:ea typeface="+mn-ea"/>
                <a:cs typeface="+mn-cs"/>
              </a:defRPr>
            </a:lvl1pPr>
          </a:lstStyle>
          <a:p>
            <a:pPr>
              <a:defRPr/>
            </a:pPr>
            <a:endParaRPr lang="en-US">
              <a:latin typeface="Calibri"/>
            </a:endParaRPr>
          </a:p>
        </p:txBody>
      </p:sp>
      <p:sp>
        <p:nvSpPr>
          <p:cNvPr id="92163" name="Rectangle 3"/>
          <p:cNvSpPr>
            <a:spLocks noGrp="1" noChangeArrowheads="1"/>
          </p:cNvSpPr>
          <p:nvPr>
            <p:ph type="dt" sz="quarter" idx="1"/>
          </p:nvPr>
        </p:nvSpPr>
        <p:spPr bwMode="auto">
          <a:xfrm>
            <a:off x="3970938" y="1"/>
            <a:ext cx="3037840" cy="46156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a:latin typeface="Arial" charset="0"/>
                <a:ea typeface="+mn-ea"/>
                <a:cs typeface="+mn-cs"/>
              </a:defRPr>
            </a:lvl1pPr>
          </a:lstStyle>
          <a:p>
            <a:pPr>
              <a:defRPr/>
            </a:pPr>
            <a:endParaRPr lang="en-US">
              <a:latin typeface="Calibri"/>
            </a:endParaRPr>
          </a:p>
        </p:txBody>
      </p:sp>
      <p:sp>
        <p:nvSpPr>
          <p:cNvPr id="92164" name="Rectangle 4"/>
          <p:cNvSpPr>
            <a:spLocks noGrp="1" noChangeArrowheads="1"/>
          </p:cNvSpPr>
          <p:nvPr>
            <p:ph type="ftr" sz="quarter" idx="2"/>
          </p:nvPr>
        </p:nvSpPr>
        <p:spPr bwMode="auto">
          <a:xfrm>
            <a:off x="0" y="8772914"/>
            <a:ext cx="3037840" cy="461563"/>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a:latin typeface="Arial" charset="0"/>
                <a:ea typeface="+mn-ea"/>
                <a:cs typeface="+mn-cs"/>
              </a:defRPr>
            </a:lvl1pPr>
          </a:lstStyle>
          <a:p>
            <a:pPr>
              <a:defRPr/>
            </a:pPr>
            <a:endParaRPr lang="en-US">
              <a:latin typeface="Calibri"/>
            </a:endParaRPr>
          </a:p>
        </p:txBody>
      </p:sp>
      <p:sp>
        <p:nvSpPr>
          <p:cNvPr id="92165" name="Rectangle 5"/>
          <p:cNvSpPr>
            <a:spLocks noGrp="1" noChangeArrowheads="1"/>
          </p:cNvSpPr>
          <p:nvPr>
            <p:ph type="sldNum" sz="quarter" idx="3"/>
          </p:nvPr>
        </p:nvSpPr>
        <p:spPr bwMode="auto">
          <a:xfrm>
            <a:off x="3970938" y="8772914"/>
            <a:ext cx="3037840" cy="461563"/>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a:lvl1pPr>
          </a:lstStyle>
          <a:p>
            <a:fld id="{FF7350CD-6B49-5A4F-9EAA-2CC2E3C37102}" type="slidenum">
              <a:rPr lang="en-US">
                <a:latin typeface="Calibri"/>
              </a:rPr>
              <a:pPr/>
              <a:t>‹#›</a:t>
            </a:fld>
            <a:endParaRPr lang="en-US">
              <a:latin typeface="Calibri"/>
            </a:endParaRPr>
          </a:p>
        </p:txBody>
      </p:sp>
    </p:spTree>
    <p:extLst>
      <p:ext uri="{BB962C8B-B14F-4D97-AF65-F5344CB8AC3E}">
        <p14:creationId xmlns:p14="http://schemas.microsoft.com/office/powerpoint/2010/main" val="186685619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1"/>
            <a:ext cx="3037840" cy="46156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a:latin typeface="Calibri"/>
                <a:ea typeface="+mn-ea"/>
                <a:cs typeface="+mn-cs"/>
              </a:defRPr>
            </a:lvl1pPr>
          </a:lstStyle>
          <a:p>
            <a:pPr>
              <a:defRPr/>
            </a:pPr>
            <a:endParaRPr lang="en-US"/>
          </a:p>
        </p:txBody>
      </p:sp>
      <p:sp>
        <p:nvSpPr>
          <p:cNvPr id="4099" name="Rectangle 3"/>
          <p:cNvSpPr>
            <a:spLocks noGrp="1" noChangeArrowheads="1"/>
          </p:cNvSpPr>
          <p:nvPr>
            <p:ph type="dt" idx="1"/>
          </p:nvPr>
        </p:nvSpPr>
        <p:spPr bwMode="auto">
          <a:xfrm>
            <a:off x="3970938" y="1"/>
            <a:ext cx="3037840" cy="46156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a:latin typeface="Calibri"/>
                <a:ea typeface="+mn-ea"/>
                <a:cs typeface="+mn-cs"/>
              </a:defRPr>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95388" y="692150"/>
            <a:ext cx="4619625" cy="3465513"/>
          </a:xfrm>
          <a:prstGeom prst="rect">
            <a:avLst/>
          </a:prstGeom>
          <a:noFill/>
          <a:ln w="9525">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Lst>
        </p:spPr>
      </p:sp>
      <p:sp>
        <p:nvSpPr>
          <p:cNvPr id="4101" name="Rectangle 5"/>
          <p:cNvSpPr>
            <a:spLocks noGrp="1" noChangeArrowheads="1"/>
          </p:cNvSpPr>
          <p:nvPr>
            <p:ph type="body" sz="quarter" idx="3"/>
          </p:nvPr>
        </p:nvSpPr>
        <p:spPr bwMode="auto">
          <a:xfrm>
            <a:off x="701040" y="4387257"/>
            <a:ext cx="5608320" cy="415567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2914"/>
            <a:ext cx="3037840" cy="461563"/>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a:latin typeface="Calibri"/>
                <a:ea typeface="+mn-ea"/>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0938" y="8772914"/>
            <a:ext cx="3037840" cy="461563"/>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a:latin typeface="Calibri"/>
              </a:defRPr>
            </a:lvl1pPr>
          </a:lstStyle>
          <a:p>
            <a:fld id="{30032AB1-FFC3-E443-8017-82889125E548}" type="slidenum">
              <a:rPr lang="en-US"/>
              <a:pPr/>
              <a:t>‹#›</a:t>
            </a:fld>
            <a:endParaRPr lang="en-US"/>
          </a:p>
        </p:txBody>
      </p:sp>
    </p:spTree>
    <p:extLst>
      <p:ext uri="{BB962C8B-B14F-4D97-AF65-F5344CB8AC3E}">
        <p14:creationId xmlns:p14="http://schemas.microsoft.com/office/powerpoint/2010/main" val="1521644317"/>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Calibri"/>
        <a:ea typeface="ＭＳ Ｐゴシック" pitchFamily="-105" charset="-128"/>
        <a:cs typeface="ＭＳ Ｐゴシック" pitchFamily="-105" charset="-128"/>
      </a:defRPr>
    </a:lvl1pPr>
    <a:lvl2pPr marL="457200" algn="l" rtl="0" eaLnBrk="0" fontAlgn="base" hangingPunct="0">
      <a:spcBef>
        <a:spcPct val="30000"/>
      </a:spcBef>
      <a:spcAft>
        <a:spcPct val="0"/>
      </a:spcAft>
      <a:defRPr sz="1200" kern="1200">
        <a:solidFill>
          <a:schemeClr val="tx1"/>
        </a:solidFill>
        <a:latin typeface="Calibri"/>
        <a:ea typeface="ＭＳ Ｐゴシック" pitchFamily="-105" charset="-128"/>
        <a:cs typeface="+mn-cs"/>
      </a:defRPr>
    </a:lvl2pPr>
    <a:lvl3pPr marL="914400" algn="l" rtl="0" eaLnBrk="0" fontAlgn="base" hangingPunct="0">
      <a:spcBef>
        <a:spcPct val="30000"/>
      </a:spcBef>
      <a:spcAft>
        <a:spcPct val="0"/>
      </a:spcAft>
      <a:defRPr sz="1200" kern="1200">
        <a:solidFill>
          <a:schemeClr val="tx1"/>
        </a:solidFill>
        <a:latin typeface="Calibri"/>
        <a:ea typeface="ＭＳ Ｐゴシック" pitchFamily="-105" charset="-128"/>
        <a:cs typeface="+mn-cs"/>
      </a:defRPr>
    </a:lvl3pPr>
    <a:lvl4pPr marL="1371600" algn="l" rtl="0" eaLnBrk="0" fontAlgn="base" hangingPunct="0">
      <a:spcBef>
        <a:spcPct val="30000"/>
      </a:spcBef>
      <a:spcAft>
        <a:spcPct val="0"/>
      </a:spcAft>
      <a:defRPr sz="1200" kern="1200">
        <a:solidFill>
          <a:schemeClr val="tx1"/>
        </a:solidFill>
        <a:latin typeface="Calibri"/>
        <a:ea typeface="ＭＳ Ｐゴシック" pitchFamily="-105" charset="-128"/>
        <a:cs typeface="+mn-cs"/>
      </a:defRPr>
    </a:lvl4pPr>
    <a:lvl5pPr marL="1828800" algn="l" rtl="0" eaLnBrk="0" fontAlgn="base" hangingPunct="0">
      <a:spcBef>
        <a:spcPct val="30000"/>
      </a:spcBef>
      <a:spcAft>
        <a:spcPct val="0"/>
      </a:spcAft>
      <a:defRPr sz="1200" kern="1200">
        <a:solidFill>
          <a:schemeClr val="tx1"/>
        </a:solidFill>
        <a:latin typeface="Calibri"/>
        <a:ea typeface="ＭＳ Ｐゴシック" pitchFamily="-105"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E3741A60-B995-6C4F-BF47-8BAFF753B637}" type="slidenum">
              <a:rPr lang="en-US">
                <a:latin typeface="Calibri"/>
              </a:rPr>
              <a:pPr eaLnBrk="1" hangingPunct="1"/>
              <a:t>4</a:t>
            </a:fld>
            <a:endParaRPr lang="en-US">
              <a:latin typeface="Calibri"/>
            </a:endParaRPr>
          </a:p>
        </p:txBody>
      </p:sp>
      <p:sp>
        <p:nvSpPr>
          <p:cNvPr id="55299" name="Rectangle 2"/>
          <p:cNvSpPr>
            <a:spLocks noGrp="1" noRot="1" noChangeAspect="1" noChangeArrowheads="1" noTextEdit="1"/>
          </p:cNvSpPr>
          <p:nvPr>
            <p:ph type="sldImg"/>
          </p:nvPr>
        </p:nvSpPr>
        <p:spPr>
          <a:xfrm>
            <a:off x="1195388" y="692150"/>
            <a:ext cx="4619625" cy="3465513"/>
          </a:xfrm>
          <a:ln/>
        </p:spPr>
      </p:sp>
      <p:sp>
        <p:nvSpPr>
          <p:cNvPr id="55300"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523893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989F0D60-79DF-6944-A560-EFB8617FEB13}" type="slidenum">
              <a:rPr lang="en-US">
                <a:latin typeface="Calibri"/>
              </a:rPr>
              <a:pPr eaLnBrk="1" hangingPunct="1"/>
              <a:t>5</a:t>
            </a:fld>
            <a:endParaRPr lang="en-US">
              <a:latin typeface="Calibri"/>
            </a:endParaRPr>
          </a:p>
        </p:txBody>
      </p:sp>
      <p:sp>
        <p:nvSpPr>
          <p:cNvPr id="5632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56324"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lIns="90068" tIns="45034" rIns="90068" bIns="45034"/>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181038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0E343292-F5ED-3B44-8219-E846DF00A561}" type="slidenum">
              <a:rPr lang="en-US">
                <a:latin typeface="Calibri"/>
              </a:rPr>
              <a:pPr eaLnBrk="1" hangingPunct="1"/>
              <a:t>6</a:t>
            </a:fld>
            <a:endParaRPr lang="en-US">
              <a:latin typeface="Calibri"/>
            </a:endParaRPr>
          </a:p>
        </p:txBody>
      </p:sp>
      <p:sp>
        <p:nvSpPr>
          <p:cNvPr id="59395" name="Rectangle 2"/>
          <p:cNvSpPr>
            <a:spLocks noGrp="1" noRot="1" noChangeAspect="1" noChangeArrowheads="1" noTextEdit="1"/>
          </p:cNvSpPr>
          <p:nvPr>
            <p:ph type="sldImg"/>
          </p:nvPr>
        </p:nvSpPr>
        <p:spPr>
          <a:xfrm>
            <a:off x="1195388" y="692150"/>
            <a:ext cx="4619625" cy="3465513"/>
          </a:xfrm>
          <a:ln/>
        </p:spPr>
      </p:sp>
      <p:sp>
        <p:nvSpPr>
          <p:cNvPr id="59396"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9873847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51EFF7F9-7B6B-4F43-AFCF-D8294176C21A}" type="slidenum">
              <a:rPr lang="en-US">
                <a:latin typeface="Calibri"/>
              </a:rPr>
              <a:pPr eaLnBrk="1" hangingPunct="1"/>
              <a:t>8</a:t>
            </a:fld>
            <a:endParaRPr lang="en-US">
              <a:latin typeface="Calibri"/>
            </a:endParaRPr>
          </a:p>
        </p:txBody>
      </p:sp>
      <p:sp>
        <p:nvSpPr>
          <p:cNvPr id="6041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0420"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lIns="90068" tIns="45034" rIns="90068" bIns="45034"/>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3698402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DCEC25BF-8C24-6D4A-A602-9C9338D77023}" type="slidenum">
              <a:rPr lang="en-US">
                <a:latin typeface="Calibri"/>
              </a:rPr>
              <a:pPr eaLnBrk="1" hangingPunct="1"/>
              <a:t>9</a:t>
            </a:fld>
            <a:endParaRPr lang="en-US">
              <a:latin typeface="Calibri"/>
            </a:endParaRPr>
          </a:p>
        </p:txBody>
      </p:sp>
      <p:sp>
        <p:nvSpPr>
          <p:cNvPr id="65539" name="Rectangle 2"/>
          <p:cNvSpPr>
            <a:spLocks noGrp="1" noRot="1" noChangeAspect="1" noChangeArrowheads="1" noTextEdit="1"/>
          </p:cNvSpPr>
          <p:nvPr>
            <p:ph type="sldImg"/>
          </p:nvPr>
        </p:nvSpPr>
        <p:spPr>
          <a:xfrm>
            <a:off x="1195388" y="692150"/>
            <a:ext cx="4619625" cy="3465513"/>
          </a:xfrm>
          <a:ln/>
        </p:spPr>
      </p:sp>
      <p:sp>
        <p:nvSpPr>
          <p:cNvPr id="65540"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936136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3645E7B8-58BC-8E4F-B578-9131200B0CBF}" type="slidenum">
              <a:rPr lang="en-US">
                <a:latin typeface="Calibri"/>
              </a:rPr>
              <a:pPr eaLnBrk="1" hangingPunct="1"/>
              <a:t>11</a:t>
            </a:fld>
            <a:endParaRPr lang="en-US">
              <a:latin typeface="Calibri"/>
            </a:endParaRPr>
          </a:p>
        </p:txBody>
      </p:sp>
      <p:sp>
        <p:nvSpPr>
          <p:cNvPr id="6656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6564"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1864366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25C58E06-BE19-5D48-9620-9847FA167F21}" type="slidenum">
              <a:rPr lang="en-US">
                <a:latin typeface="Calibri"/>
              </a:rPr>
              <a:pPr eaLnBrk="1" hangingPunct="1"/>
              <a:t>12</a:t>
            </a:fld>
            <a:endParaRPr lang="en-US">
              <a:latin typeface="Calibri"/>
            </a:endParaRPr>
          </a:p>
        </p:txBody>
      </p:sp>
      <p:sp>
        <p:nvSpPr>
          <p:cNvPr id="67587"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7588"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0552822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A409F318-8E76-094C-A19D-529C9042E3B5}" type="slidenum">
              <a:rPr lang="en-US">
                <a:latin typeface="Calibri"/>
              </a:rPr>
              <a:pPr eaLnBrk="1" hangingPunct="1"/>
              <a:t>13</a:t>
            </a:fld>
            <a:endParaRPr lang="en-US">
              <a:latin typeface="Calibri"/>
            </a:endParaRPr>
          </a:p>
        </p:txBody>
      </p:sp>
      <p:sp>
        <p:nvSpPr>
          <p:cNvPr id="68611"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8612"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609150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494AB431-5DA8-134E-8C7C-6F8EB50BBBC2}" type="slidenum">
              <a:rPr lang="en-US">
                <a:latin typeface="Calibri"/>
              </a:rPr>
              <a:pPr eaLnBrk="1" hangingPunct="1"/>
              <a:t>14</a:t>
            </a:fld>
            <a:endParaRPr lang="en-US">
              <a:latin typeface="Calibri"/>
            </a:endParaRPr>
          </a:p>
        </p:txBody>
      </p:sp>
      <p:sp>
        <p:nvSpPr>
          <p:cNvPr id="69635"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9636"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5962226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1F9C18A9-9E5C-E347-B7F4-120F4EDCA2F9}" type="slidenum">
              <a:rPr lang="en-US">
                <a:latin typeface="Calibri"/>
              </a:rPr>
              <a:pPr eaLnBrk="1" hangingPunct="1"/>
              <a:t>15</a:t>
            </a:fld>
            <a:endParaRPr lang="en-US">
              <a:latin typeface="Calibri"/>
            </a:endParaRPr>
          </a:p>
        </p:txBody>
      </p:sp>
      <p:sp>
        <p:nvSpPr>
          <p:cNvPr id="7065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70660"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5864648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007D3FB6-12AC-3F4E-8F05-EC2DC75791AB}" type="slidenum">
              <a:rPr lang="en-US">
                <a:latin typeface="Calibri"/>
              </a:rPr>
              <a:pPr eaLnBrk="1" hangingPunct="1"/>
              <a:t>17</a:t>
            </a:fld>
            <a:endParaRPr lang="en-US">
              <a:latin typeface="Calibri"/>
            </a:endParaRPr>
          </a:p>
        </p:txBody>
      </p:sp>
      <p:sp>
        <p:nvSpPr>
          <p:cNvPr id="72707"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72708"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2579166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DC885C3A-BE76-7543-B0DF-21A4EE67BA20}" type="slidenum">
              <a:rPr lang="en-US">
                <a:latin typeface="Calibri"/>
              </a:rPr>
              <a:pPr eaLnBrk="1" hangingPunct="1"/>
              <a:t>18</a:t>
            </a:fld>
            <a:endParaRPr lang="en-US">
              <a:latin typeface="Calibri"/>
            </a:endParaRPr>
          </a:p>
        </p:txBody>
      </p:sp>
      <p:sp>
        <p:nvSpPr>
          <p:cNvPr id="73731"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73732"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9759642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95008D88-DCC0-CC4A-97F1-1068028739AE}" type="slidenum">
              <a:rPr lang="en-US">
                <a:latin typeface="Calibri"/>
              </a:rPr>
              <a:pPr eaLnBrk="1" hangingPunct="1"/>
              <a:t>22</a:t>
            </a:fld>
            <a:endParaRPr lang="en-US">
              <a:latin typeface="Calibri"/>
            </a:endParaRPr>
          </a:p>
        </p:txBody>
      </p:sp>
      <p:sp>
        <p:nvSpPr>
          <p:cNvPr id="77827" name="Rectangle 1026"/>
          <p:cNvSpPr>
            <a:spLocks noGrp="1" noRot="1" noChangeAspect="1" noChangeArrowheads="1" noTextEdit="1"/>
          </p:cNvSpPr>
          <p:nvPr>
            <p:ph type="sldImg"/>
          </p:nvPr>
        </p:nvSpPr>
        <p:spPr>
          <a:xfrm>
            <a:off x="1195388" y="692150"/>
            <a:ext cx="4619625" cy="3465513"/>
          </a:xfrm>
          <a:solidFill>
            <a:srgbClr val="FFFFFF"/>
          </a:solidFill>
          <a:ln/>
        </p:spPr>
      </p:sp>
      <p:sp>
        <p:nvSpPr>
          <p:cNvPr id="77828" name="Rectangle 1027"/>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0810603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032AB1-FFC3-E443-8017-82889125E548}" type="slidenum">
              <a:rPr lang="en-US" smtClean="0"/>
              <a:pPr/>
              <a:t>24</a:t>
            </a:fld>
            <a:endParaRPr lang="en-US"/>
          </a:p>
        </p:txBody>
      </p:sp>
    </p:spTree>
    <p:extLst>
      <p:ext uri="{BB962C8B-B14F-4D97-AF65-F5344CB8AC3E}">
        <p14:creationId xmlns:p14="http://schemas.microsoft.com/office/powerpoint/2010/main" val="4991503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C50F2692-02B3-4043-BF27-3C1B5FBEB84C}" type="slidenum">
              <a:rPr lang="en-US">
                <a:latin typeface="Calibri"/>
              </a:rPr>
              <a:pPr eaLnBrk="1" hangingPunct="1"/>
              <a:t>25</a:t>
            </a:fld>
            <a:endParaRPr lang="en-US">
              <a:latin typeface="Calibri"/>
            </a:endParaRPr>
          </a:p>
        </p:txBody>
      </p:sp>
      <p:sp>
        <p:nvSpPr>
          <p:cNvPr id="79875"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79876"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3156479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88E6CA9F-8F9B-3343-94A0-4DE20009479E}" type="slidenum">
              <a:rPr lang="en-US">
                <a:latin typeface="Calibri"/>
              </a:rPr>
              <a:pPr eaLnBrk="1" hangingPunct="1"/>
              <a:t>26</a:t>
            </a:fld>
            <a:endParaRPr lang="en-US">
              <a:latin typeface="Calibri"/>
            </a:endParaRPr>
          </a:p>
        </p:txBody>
      </p:sp>
      <p:sp>
        <p:nvSpPr>
          <p:cNvPr id="8089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0900"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0126609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9C05720A-39AD-6F46-9B51-B113785DFB43}" type="slidenum">
              <a:rPr lang="en-US">
                <a:latin typeface="Calibri"/>
              </a:rPr>
              <a:pPr eaLnBrk="1" hangingPunct="1"/>
              <a:t>27</a:t>
            </a:fld>
            <a:endParaRPr lang="en-US">
              <a:latin typeface="Calibri"/>
            </a:endParaRPr>
          </a:p>
        </p:txBody>
      </p:sp>
      <p:sp>
        <p:nvSpPr>
          <p:cNvPr id="8192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1924"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773938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A4628526-B3B1-9043-B9C1-18923219381B}" type="slidenum">
              <a:rPr lang="en-US">
                <a:latin typeface="Calibri"/>
              </a:rPr>
              <a:pPr eaLnBrk="1" hangingPunct="1"/>
              <a:t>28</a:t>
            </a:fld>
            <a:endParaRPr lang="en-US">
              <a:latin typeface="Calibri"/>
            </a:endParaRPr>
          </a:p>
        </p:txBody>
      </p:sp>
      <p:sp>
        <p:nvSpPr>
          <p:cNvPr id="84995"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4996"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1607559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02A65F55-FE16-A849-821F-001F81C14407}" type="slidenum">
              <a:rPr lang="en-US">
                <a:latin typeface="Calibri"/>
              </a:rPr>
              <a:pPr eaLnBrk="1" hangingPunct="1"/>
              <a:t>30</a:t>
            </a:fld>
            <a:endParaRPr lang="en-US">
              <a:latin typeface="Calibri"/>
            </a:endParaRPr>
          </a:p>
        </p:txBody>
      </p:sp>
      <p:sp>
        <p:nvSpPr>
          <p:cNvPr id="8601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6020"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0832476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A481282D-64C0-2245-8DD3-4A5F57596F8B}" type="slidenum">
              <a:rPr lang="en-US">
                <a:latin typeface="Calibri"/>
              </a:rPr>
              <a:pPr eaLnBrk="1" hangingPunct="1"/>
              <a:t>32</a:t>
            </a:fld>
            <a:endParaRPr lang="en-US">
              <a:latin typeface="Calibri"/>
            </a:endParaRPr>
          </a:p>
        </p:txBody>
      </p:sp>
      <p:sp>
        <p:nvSpPr>
          <p:cNvPr id="8704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7044"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1924730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19D241A3-D828-2A48-8047-1F6887C03172}" type="slidenum">
              <a:rPr lang="en-US">
                <a:latin typeface="Calibri"/>
              </a:rPr>
              <a:pPr eaLnBrk="1" hangingPunct="1"/>
              <a:t>33</a:t>
            </a:fld>
            <a:endParaRPr lang="en-US">
              <a:latin typeface="Calibri"/>
            </a:endParaRPr>
          </a:p>
        </p:txBody>
      </p:sp>
      <p:sp>
        <p:nvSpPr>
          <p:cNvPr id="88067"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8068"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4056917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FCADA755-A916-0A41-B329-C7427FB541AA}" type="slidenum">
              <a:rPr lang="en-US">
                <a:latin typeface="Calibri"/>
              </a:rPr>
              <a:pPr eaLnBrk="1" hangingPunct="1"/>
              <a:t>34</a:t>
            </a:fld>
            <a:endParaRPr lang="en-US">
              <a:latin typeface="Calibri"/>
            </a:endParaRPr>
          </a:p>
        </p:txBody>
      </p:sp>
      <p:sp>
        <p:nvSpPr>
          <p:cNvPr id="89091"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9092"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99422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17D99ADF-A0E5-EF4D-B0F8-3CE8A4AD6EA7}" type="slidenum">
              <a:rPr lang="en-US">
                <a:latin typeface="Calibri"/>
              </a:rPr>
              <a:pPr eaLnBrk="1" hangingPunct="1"/>
              <a:t>37</a:t>
            </a:fld>
            <a:endParaRPr lang="en-US">
              <a:latin typeface="Calibri"/>
            </a:endParaRPr>
          </a:p>
        </p:txBody>
      </p:sp>
      <p:sp>
        <p:nvSpPr>
          <p:cNvPr id="90115"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90116"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4507980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F02F9C31-3670-8A48-9C64-3AAACE27F4B7}" type="slidenum">
              <a:rPr lang="en-US">
                <a:latin typeface="Calibri"/>
              </a:rPr>
              <a:pPr eaLnBrk="1" hangingPunct="1"/>
              <a:t>38</a:t>
            </a:fld>
            <a:endParaRPr lang="en-US">
              <a:latin typeface="Calibri"/>
            </a:endParaRPr>
          </a:p>
        </p:txBody>
      </p:sp>
      <p:sp>
        <p:nvSpPr>
          <p:cNvPr id="9113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91140"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401667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8AA8532B-6E97-A649-AAC1-7349D529F698}" type="slidenum">
              <a:rPr lang="en-US">
                <a:latin typeface="Calibri"/>
              </a:rPr>
              <a:pPr eaLnBrk="1" hangingPunct="1"/>
              <a:t>39</a:t>
            </a:fld>
            <a:endParaRPr lang="en-US">
              <a:latin typeface="Calibri"/>
            </a:endParaRPr>
          </a:p>
        </p:txBody>
      </p:sp>
      <p:sp>
        <p:nvSpPr>
          <p:cNvPr id="9216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92164"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lIns="90060" tIns="45030" rIns="90060" bIns="45030"/>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3614163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4245CBDA-5C92-4745-9024-02AC5322BE97}" type="slidenum">
              <a:rPr lang="en-US">
                <a:latin typeface="Calibri"/>
              </a:rPr>
              <a:pPr eaLnBrk="1" hangingPunct="1"/>
              <a:t>40</a:t>
            </a:fld>
            <a:endParaRPr lang="en-US">
              <a:latin typeface="Calibri"/>
            </a:endParaRPr>
          </a:p>
        </p:txBody>
      </p:sp>
      <p:sp>
        <p:nvSpPr>
          <p:cNvPr id="93187"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93188"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034592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6"/>
            <a:ext cx="2895600" cy="288925"/>
          </a:xfrm>
        </p:spPr>
        <p:txBody>
          <a:bodyPr/>
          <a:lstStyle>
            <a:lvl1pPr>
              <a:defRPr smtClean="0"/>
            </a:lvl1pPr>
          </a:lstStyle>
          <a:p>
            <a:pPr>
              <a:defRPr/>
            </a:pPr>
            <a:r>
              <a:rPr lang="en-US" dirty="0"/>
              <a:t>Varying Rates of Return</a:t>
            </a:r>
          </a:p>
        </p:txBody>
      </p:sp>
    </p:spTree>
    <p:extLst>
      <p:ext uri="{BB962C8B-B14F-4D97-AF65-F5344CB8AC3E}">
        <p14:creationId xmlns:p14="http://schemas.microsoft.com/office/powerpoint/2010/main" val="1198352510"/>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5"/>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165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8"/>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Varying Rates of Return</a:t>
            </a:r>
            <a:endParaRPr lang="en-US" dirty="0"/>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2481422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9" name="Content Placeholder 10"/>
          <p:cNvSpPr>
            <a:spLocks noGrp="1"/>
          </p:cNvSpPr>
          <p:nvPr>
            <p:ph sz="quarter" idx="16"/>
          </p:nvPr>
        </p:nvSpPr>
        <p:spPr>
          <a:xfrm>
            <a:off x="3810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46482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Varying Rates of Return</a:t>
            </a:r>
          </a:p>
        </p:txBody>
      </p:sp>
      <p:sp>
        <p:nvSpPr>
          <p:cNvPr id="2" name="TextBox 1"/>
          <p:cNvSpPr txBox="1"/>
          <p:nvPr userDrawn="1"/>
        </p:nvSpPr>
        <p:spPr>
          <a:xfrm>
            <a:off x="2061031" y="537029"/>
            <a:ext cx="184731" cy="300082"/>
          </a:xfrm>
          <a:prstGeom prst="rect">
            <a:avLst/>
          </a:prstGeom>
          <a:noFill/>
        </p:spPr>
        <p:txBody>
          <a:bodyPr wrap="none" rtlCol="0">
            <a:spAutoFit/>
          </a:bodyPr>
          <a:lstStyle/>
          <a:p>
            <a:endParaRPr lang="en-US" sz="1350" dirty="0"/>
          </a:p>
        </p:txBody>
      </p:sp>
    </p:spTree>
    <p:extLst>
      <p:ext uri="{BB962C8B-B14F-4D97-AF65-F5344CB8AC3E}">
        <p14:creationId xmlns:p14="http://schemas.microsoft.com/office/powerpoint/2010/main" val="1722918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124905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8795864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9968582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Varying Rates of Return</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5"/>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Tree>
    <p:extLst>
      <p:ext uri="{BB962C8B-B14F-4D97-AF65-F5344CB8AC3E}">
        <p14:creationId xmlns:p14="http://schemas.microsoft.com/office/powerpoint/2010/main" val="4353534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9160753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495375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5"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p:cNvSpPr/>
          <p:nvPr userDrawn="1"/>
        </p:nvSpPr>
        <p:spPr bwMode="auto">
          <a:xfrm rot="10800000">
            <a:off x="4070504" y="3778179"/>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650504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600"/>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2241628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600"/>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4102706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Varying Rates of Return</a:t>
            </a:r>
            <a:endParaRPr lang="en-US" dirty="0"/>
          </a:p>
        </p:txBody>
      </p:sp>
    </p:spTree>
    <p:extLst>
      <p:ext uri="{BB962C8B-B14F-4D97-AF65-F5344CB8AC3E}">
        <p14:creationId xmlns:p14="http://schemas.microsoft.com/office/powerpoint/2010/main" val="18311325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4544471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7339382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7"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7"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7"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2"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5"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1"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3"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2"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40"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7"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8062171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0919936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4"/>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6" name="Line 115"/>
          <p:cNvSpPr>
            <a:spLocks noChangeShapeType="1"/>
          </p:cNvSpPr>
          <p:nvPr userDrawn="1"/>
        </p:nvSpPr>
        <p:spPr bwMode="gray">
          <a:xfrm>
            <a:off x="2286000" y="3632204"/>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7" name="Line 118"/>
          <p:cNvSpPr>
            <a:spLocks noChangeShapeType="1"/>
          </p:cNvSpPr>
          <p:nvPr/>
        </p:nvSpPr>
        <p:spPr bwMode="gray">
          <a:xfrm>
            <a:off x="6753225" y="3632204"/>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grpSp>
        <p:nvGrpSpPr>
          <p:cNvPr id="18" name="Group 123"/>
          <p:cNvGrpSpPr>
            <a:grpSpLocks/>
          </p:cNvGrpSpPr>
          <p:nvPr userDrawn="1"/>
        </p:nvGrpSpPr>
        <p:grpSpPr bwMode="auto">
          <a:xfrm>
            <a:off x="458790"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66" name="Line 125"/>
          <p:cNvSpPr>
            <a:spLocks noChangeShapeType="1"/>
          </p:cNvSpPr>
          <p:nvPr userDrawn="1"/>
        </p:nvSpPr>
        <p:spPr bwMode="gray">
          <a:xfrm>
            <a:off x="3429000" y="3651254"/>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1">
              <a:solidFill>
                <a:srgbClr val="4D4D4D"/>
              </a:solidFill>
              <a:latin typeface="Arial" charset="0"/>
            </a:endParaRPr>
          </a:p>
        </p:txBody>
      </p:sp>
      <p:grpSp>
        <p:nvGrpSpPr>
          <p:cNvPr id="72" name="Group 123"/>
          <p:cNvGrpSpPr>
            <a:grpSpLocks/>
          </p:cNvGrpSpPr>
          <p:nvPr userDrawn="1"/>
        </p:nvGrpSpPr>
        <p:grpSpPr bwMode="auto">
          <a:xfrm>
            <a:off x="611190" y="3460754"/>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2952784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2"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2"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2"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2"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2"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2"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2"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2"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8"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8"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6124655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9238586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3769179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7" y="1911354"/>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2" name="Freeform 4"/>
          <p:cNvSpPr>
            <a:spLocks/>
          </p:cNvSpPr>
          <p:nvPr userDrawn="1"/>
        </p:nvSpPr>
        <p:spPr bwMode="auto">
          <a:xfrm>
            <a:off x="2552701" y="1911354"/>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3" name="Freeform 4"/>
          <p:cNvSpPr>
            <a:spLocks/>
          </p:cNvSpPr>
          <p:nvPr userDrawn="1"/>
        </p:nvSpPr>
        <p:spPr bwMode="auto">
          <a:xfrm>
            <a:off x="4648202" y="1911354"/>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4" name="Freeform 4"/>
          <p:cNvSpPr>
            <a:spLocks/>
          </p:cNvSpPr>
          <p:nvPr userDrawn="1"/>
        </p:nvSpPr>
        <p:spPr bwMode="auto">
          <a:xfrm>
            <a:off x="6770690" y="1911354"/>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4729878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8"/>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80" y="1447808"/>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6667201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58645838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a:latin typeface="Arial"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3075722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76152422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50343185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0133304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18319121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p:cNvSpPr>
            <a:spLocks noChangeArrowheads="1"/>
          </p:cNvSpPr>
          <p:nvPr userDrawn="1"/>
        </p:nvSpPr>
        <p:spPr bwMode="auto">
          <a:xfrm rot="5400000">
            <a:off x="754064"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p:cNvSpPr>
            <a:spLocks noChangeArrowheads="1"/>
          </p:cNvSpPr>
          <p:nvPr userDrawn="1"/>
        </p:nvSpPr>
        <p:spPr bwMode="auto">
          <a:xfrm rot="5400000">
            <a:off x="2266952"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p:cNvSpPr>
            <a:spLocks noChangeArrowheads="1"/>
          </p:cNvSpPr>
          <p:nvPr userDrawn="1"/>
        </p:nvSpPr>
        <p:spPr bwMode="auto">
          <a:xfrm rot="5400000">
            <a:off x="3781427"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2328943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00385131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577729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74875576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40" y="1981204"/>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17" name="Freeform 13"/>
          <p:cNvSpPr>
            <a:spLocks/>
          </p:cNvSpPr>
          <p:nvPr userDrawn="1"/>
        </p:nvSpPr>
        <p:spPr bwMode="auto">
          <a:xfrm>
            <a:off x="457202" y="1982792"/>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1" name="Freeform 14"/>
          <p:cNvSpPr>
            <a:spLocks/>
          </p:cNvSpPr>
          <p:nvPr userDrawn="1"/>
        </p:nvSpPr>
        <p:spPr bwMode="auto">
          <a:xfrm>
            <a:off x="5684840" y="1981204"/>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8" name="Text Placeholder 12"/>
          <p:cNvSpPr>
            <a:spLocks noGrp="1"/>
          </p:cNvSpPr>
          <p:nvPr>
            <p:ph type="body" sz="quarter" idx="16"/>
          </p:nvPr>
        </p:nvSpPr>
        <p:spPr bwMode="gray">
          <a:xfrm>
            <a:off x="5680887"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8"/>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4"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2"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71019563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40"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6853532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7"/>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4" y="149701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4" y="298544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4" y="447386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4" y="149701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4" y="298544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4" y="447386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4" y="149701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4" y="298544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4" y="447386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83957414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9"/>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7" y="3590929"/>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7"/>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7"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8"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4"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59821488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8" name="Parallelogram 7"/>
          <p:cNvSpPr/>
          <p:nvPr userDrawn="1"/>
        </p:nvSpPr>
        <p:spPr bwMode="auto">
          <a:xfrm>
            <a:off x="712789" y="5300667"/>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4" name="Parallelogram 13"/>
          <p:cNvSpPr/>
          <p:nvPr userDrawn="1"/>
        </p:nvSpPr>
        <p:spPr bwMode="auto">
          <a:xfrm>
            <a:off x="712789" y="4129092"/>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6"/>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8"/>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6035876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7"/>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2"/>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6"/>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6"/>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6" y="1290646"/>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6"/>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915996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5"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1"/>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sp>
        <p:nvSpPr>
          <p:cNvPr id="61" name="Rectangle 31"/>
          <p:cNvSpPr>
            <a:spLocks noChangeArrowheads="1"/>
          </p:cNvSpPr>
          <p:nvPr userDrawn="1"/>
        </p:nvSpPr>
        <p:spPr bwMode="auto">
          <a:xfrm>
            <a:off x="468315"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3"/>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91"/>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27370561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4"/>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5" y="1566867"/>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512765"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2" y="1468442"/>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a:p>
        </p:txBody>
      </p:sp>
      <p:cxnSp>
        <p:nvCxnSpPr>
          <p:cNvPr id="100" name="Straight Connector 42"/>
          <p:cNvCxnSpPr>
            <a:cxnSpLocks noChangeShapeType="1"/>
          </p:cNvCxnSpPr>
          <p:nvPr userDrawn="1"/>
        </p:nvCxnSpPr>
        <p:spPr bwMode="auto">
          <a:xfrm>
            <a:off x="1546227"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5"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7"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5"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1"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1"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1"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1"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1"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1"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1"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1"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1"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75337769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90"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9"/>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8"/>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10979287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2"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2"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2"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4"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4"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4"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4"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2"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44256022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1"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11549515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3"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6128705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17728790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3" name="TextBox 13"/>
          <p:cNvSpPr txBox="1">
            <a:spLocks noChangeArrowheads="1"/>
          </p:cNvSpPr>
          <p:nvPr userDrawn="1"/>
        </p:nvSpPr>
        <p:spPr bwMode="auto">
          <a:xfrm>
            <a:off x="2066925" y="1108079"/>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5505450" y="1108079"/>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34991058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8"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6" y="1589237"/>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3"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70"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8" y="1589237"/>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5"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5" y="1589237"/>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7" y="1589237"/>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3"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3" y="1589237"/>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6" y="3927190"/>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70"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8" y="3927190"/>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5"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5" y="3927190"/>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7" y="3927190"/>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3"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3" y="3962404"/>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85637645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PARTNERS</a:t>
            </a:r>
          </a:p>
        </p:txBody>
      </p:sp>
      <p:sp>
        <p:nvSpPr>
          <p:cNvPr id="11" name="Line 22"/>
          <p:cNvSpPr>
            <a:spLocks noChangeShapeType="1"/>
          </p:cNvSpPr>
          <p:nvPr/>
        </p:nvSpPr>
        <p:spPr bwMode="auto">
          <a:xfrm>
            <a:off x="438152"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ASSOCIATES</a:t>
            </a:r>
          </a:p>
        </p:txBody>
      </p:sp>
      <p:sp>
        <p:nvSpPr>
          <p:cNvPr id="13" name="Line 24"/>
          <p:cNvSpPr>
            <a:spLocks noChangeShapeType="1"/>
          </p:cNvSpPr>
          <p:nvPr/>
        </p:nvSpPr>
        <p:spPr bwMode="auto">
          <a:xfrm>
            <a:off x="438152"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208662678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10278612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46225198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3006287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30755048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90054446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Varying Rates of Return</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112639776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457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Varying Rates of Return</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180513509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chart">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Chart Placeholder 2"/>
          <p:cNvSpPr>
            <a:spLocks noGrp="1"/>
          </p:cNvSpPr>
          <p:nvPr>
            <p:ph type="chart" idx="1"/>
          </p:nvPr>
        </p:nvSpPr>
        <p:spPr>
          <a:xfrm>
            <a:off x="457200" y="1371601"/>
            <a:ext cx="8229600" cy="4754563"/>
          </a:xfrm>
          <a:prstGeom prst="rect">
            <a:avLst/>
          </a:prstGeom>
        </p:spPr>
        <p:txBody>
          <a:bodyPr/>
          <a:lstStyle/>
          <a:p>
            <a:pPr lvl="0"/>
            <a:endParaRPr lang="en-US" noProof="0"/>
          </a:p>
        </p:txBody>
      </p:sp>
      <p:sp>
        <p:nvSpPr>
          <p:cNvPr id="4" name="Rectangle 4"/>
          <p:cNvSpPr>
            <a:spLocks noGrp="1" noChangeArrowheads="1"/>
          </p:cNvSpPr>
          <p:nvPr>
            <p:ph type="ftr" sz="quarter" idx="10"/>
          </p:nvPr>
        </p:nvSpPr>
        <p:spPr/>
        <p:txBody>
          <a:bodyPr/>
          <a:lstStyle>
            <a:lvl1pPr>
              <a:defRPr/>
            </a:lvl1pPr>
          </a:lstStyle>
          <a:p>
            <a:r>
              <a:rPr lang="en-US"/>
              <a:t>Varying Rates of Return</a:t>
            </a:r>
            <a:endParaRPr lang="en-US" dirty="0"/>
          </a:p>
        </p:txBody>
      </p:sp>
      <p:sp>
        <p:nvSpPr>
          <p:cNvPr id="5" name="Rectangle 5"/>
          <p:cNvSpPr>
            <a:spLocks noGrp="1" noChangeArrowheads="1"/>
          </p:cNvSpPr>
          <p:nvPr>
            <p:ph type="sldNum" sz="quarter" idx="11"/>
          </p:nvPr>
        </p:nvSpPr>
        <p:spPr/>
        <p:txBody>
          <a:bodyPr/>
          <a:lstStyle>
            <a:lvl1pPr>
              <a:defRPr sz="900">
                <a:latin typeface="Calibri"/>
              </a:defRPr>
            </a:lvl1pPr>
          </a:lstStyle>
          <a:p>
            <a:fld id="{D73BDDF0-D611-5747-98E9-44F7AB039170}" type="slidenum">
              <a:rPr lang="en-US"/>
              <a:pPr/>
              <a:t>‹#›</a:t>
            </a:fld>
            <a:endParaRPr lang="en-US"/>
          </a:p>
        </p:txBody>
      </p:sp>
    </p:spTree>
    <p:extLst>
      <p:ext uri="{BB962C8B-B14F-4D97-AF65-F5344CB8AC3E}">
        <p14:creationId xmlns:p14="http://schemas.microsoft.com/office/powerpoint/2010/main" val="92949253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457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371600"/>
            <a:ext cx="4038600" cy="23002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24290"/>
            <a:ext cx="4038600" cy="23018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p:cNvSpPr>
            <a:spLocks noGrp="1" noChangeArrowheads="1"/>
          </p:cNvSpPr>
          <p:nvPr>
            <p:ph type="ftr" sz="quarter" idx="10"/>
          </p:nvPr>
        </p:nvSpPr>
        <p:spPr/>
        <p:txBody>
          <a:bodyPr/>
          <a:lstStyle>
            <a:lvl1pPr>
              <a:defRPr/>
            </a:lvl1pPr>
          </a:lstStyle>
          <a:p>
            <a:r>
              <a:rPr lang="en-US"/>
              <a:t>Varying Rates of Return</a:t>
            </a:r>
            <a:endParaRPr lang="en-US" dirty="0"/>
          </a:p>
        </p:txBody>
      </p:sp>
      <p:sp>
        <p:nvSpPr>
          <p:cNvPr id="7" name="Rectangle 5"/>
          <p:cNvSpPr>
            <a:spLocks noGrp="1" noChangeArrowheads="1"/>
          </p:cNvSpPr>
          <p:nvPr>
            <p:ph type="sldNum" sz="quarter" idx="11"/>
          </p:nvPr>
        </p:nvSpPr>
        <p:spPr/>
        <p:txBody>
          <a:bodyPr/>
          <a:lstStyle>
            <a:lvl1pPr>
              <a:defRPr sz="900">
                <a:latin typeface="Calibri"/>
              </a:defRPr>
            </a:lvl1pPr>
          </a:lstStyle>
          <a:p>
            <a:fld id="{B964C707-BAA9-614C-A59F-B1F1B822DCE9}" type="slidenum">
              <a:rPr lang="en-US"/>
              <a:pPr/>
              <a:t>‹#›</a:t>
            </a:fld>
            <a:endParaRPr lang="en-US"/>
          </a:p>
        </p:txBody>
      </p:sp>
    </p:spTree>
    <p:extLst>
      <p:ext uri="{BB962C8B-B14F-4D97-AF65-F5344CB8AC3E}">
        <p14:creationId xmlns:p14="http://schemas.microsoft.com/office/powerpoint/2010/main" val="118503788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 name="Slide Number Placeholder 9"/>
          <p:cNvSpPr>
            <a:spLocks noGrp="1"/>
          </p:cNvSpPr>
          <p:nvPr>
            <p:ph type="sldNum" sz="quarter" idx="4"/>
          </p:nvPr>
        </p:nvSpPr>
        <p:spPr>
          <a:xfrm>
            <a:off x="8610600" y="6436637"/>
            <a:ext cx="457200" cy="365125"/>
          </a:xfrm>
          <a:prstGeom prst="rect">
            <a:avLst/>
          </a:prstGeom>
        </p:spPr>
        <p:txBody>
          <a:bodyPr vert="horz" wrap="square" lIns="91440" tIns="45720" rIns="91440" bIns="45720" numCol="1" anchor="ctr" anchorCtr="0" compatLnSpc="1">
            <a:prstTxWarp prst="textNoShape">
              <a:avLst/>
            </a:prstTxWarp>
          </a:bodyPr>
          <a:lstStyle>
            <a:lvl1pPr>
              <a:defRPr sz="700" b="1">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90"/>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Varying Rates of Return</a:t>
            </a:r>
          </a:p>
        </p:txBody>
      </p:sp>
      <p:sp>
        <p:nvSpPr>
          <p:cNvPr id="9" name="Footer Placeholder 3"/>
          <p:cNvSpPr txBox="1">
            <a:spLocks/>
          </p:cNvSpPr>
          <p:nvPr userDrawn="1"/>
        </p:nvSpPr>
        <p:spPr>
          <a:xfrm>
            <a:off x="72409" y="6423031"/>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1" dirty="0">
                <a:latin typeface="+mn-lt"/>
              </a:rPr>
              <a:t>CF_Ch5_YTM_26</a:t>
            </a:r>
          </a:p>
        </p:txBody>
      </p:sp>
    </p:spTree>
    <p:extLst>
      <p:ext uri="{BB962C8B-B14F-4D97-AF65-F5344CB8AC3E}">
        <p14:creationId xmlns:p14="http://schemas.microsoft.com/office/powerpoint/2010/main" val="1419976983"/>
      </p:ext>
    </p:extLst>
  </p:cSld>
  <p:clrMap bg1="lt1" tx1="dk1" bg2="lt2" tx2="dk2" accent1="accent1" accent2="accent2" accent3="accent3" accent4="accent4" accent5="accent5" accent6="accent6" hlink="hlink" folHlink="folHlink"/>
  <p:sldLayoutIdLst>
    <p:sldLayoutId id="2147483730" r:id="rId1"/>
    <p:sldLayoutId id="2147483731" r:id="rId2"/>
    <p:sldLayoutId id="2147483732" r:id="rId3"/>
    <p:sldLayoutId id="2147483733" r:id="rId4"/>
    <p:sldLayoutId id="2147483734" r:id="rId5"/>
    <p:sldLayoutId id="2147483735" r:id="rId6"/>
    <p:sldLayoutId id="2147483736" r:id="rId7"/>
    <p:sldLayoutId id="2147483737" r:id="rId8"/>
    <p:sldLayoutId id="2147483738" r:id="rId9"/>
    <p:sldLayoutId id="2147483739" r:id="rId10"/>
    <p:sldLayoutId id="2147483740" r:id="rId11"/>
    <p:sldLayoutId id="2147483741" r:id="rId12"/>
    <p:sldLayoutId id="2147483742" r:id="rId13"/>
    <p:sldLayoutId id="2147483743" r:id="rId14"/>
    <p:sldLayoutId id="2147483744" r:id="rId15"/>
    <p:sldLayoutId id="2147483745" r:id="rId16"/>
    <p:sldLayoutId id="2147483746" r:id="rId17"/>
    <p:sldLayoutId id="2147483747" r:id="rId18"/>
    <p:sldLayoutId id="2147483748" r:id="rId19"/>
    <p:sldLayoutId id="2147483749" r:id="rId20"/>
    <p:sldLayoutId id="2147483750" r:id="rId21"/>
    <p:sldLayoutId id="2147483751" r:id="rId22"/>
    <p:sldLayoutId id="2147483752" r:id="rId23"/>
    <p:sldLayoutId id="2147483753" r:id="rId24"/>
    <p:sldLayoutId id="2147483754" r:id="rId25"/>
    <p:sldLayoutId id="2147483755" r:id="rId26"/>
    <p:sldLayoutId id="2147483756" r:id="rId27"/>
    <p:sldLayoutId id="2147483757" r:id="rId28"/>
    <p:sldLayoutId id="2147483758" r:id="rId29"/>
    <p:sldLayoutId id="2147483759" r:id="rId30"/>
    <p:sldLayoutId id="2147483760" r:id="rId31"/>
    <p:sldLayoutId id="2147483761" r:id="rId32"/>
    <p:sldLayoutId id="2147483762" r:id="rId33"/>
    <p:sldLayoutId id="2147483763" r:id="rId34"/>
    <p:sldLayoutId id="2147483764" r:id="rId35"/>
    <p:sldLayoutId id="2147483765" r:id="rId36"/>
    <p:sldLayoutId id="2147483766" r:id="rId37"/>
    <p:sldLayoutId id="2147483767" r:id="rId38"/>
    <p:sldLayoutId id="2147483768" r:id="rId39"/>
    <p:sldLayoutId id="2147483769" r:id="rId40"/>
    <p:sldLayoutId id="2147483770" r:id="rId41"/>
    <p:sldLayoutId id="2147483771" r:id="rId42"/>
    <p:sldLayoutId id="2147483772" r:id="rId43"/>
    <p:sldLayoutId id="2147483773" r:id="rId44"/>
    <p:sldLayoutId id="2147483774" r:id="rId45"/>
    <p:sldLayoutId id="2147483775" r:id="rId46"/>
    <p:sldLayoutId id="2147483776" r:id="rId47"/>
    <p:sldLayoutId id="2147483777" r:id="rId48"/>
    <p:sldLayoutId id="2147483778" r:id="rId49"/>
    <p:sldLayoutId id="2147483779" r:id="rId50"/>
    <p:sldLayoutId id="2147483780" r:id="rId51"/>
    <p:sldLayoutId id="2147483781" r:id="rId52"/>
    <p:sldLayoutId id="2147483782" r:id="rId53"/>
    <p:sldLayoutId id="2147483783" r:id="rId54"/>
    <p:sldLayoutId id="2147483784" r:id="rId55"/>
    <p:sldLayoutId id="2147483785" r:id="rId56"/>
    <p:sldLayoutId id="2147483786" r:id="rId57"/>
    <p:sldLayoutId id="2147483787"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emf"/><Relationship Id="rId4" Type="http://schemas.openxmlformats.org/officeDocument/2006/relationships/oleObject" Target="../embeddings/oleObject1.bin"/></Relationships>
</file>

<file path=ppt/slides/_rels/slide5.xml.rels><?xml version="1.0" encoding="UTF-8" standalone="yes"?>
<Relationships xmlns="http://schemas.openxmlformats.org/package/2006/relationships"><Relationship Id="rId3" Type="http://schemas.openxmlformats.org/officeDocument/2006/relationships/hyperlink" Target="http://www.bls.gov/cpi"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emf"/><Relationship Id="rId5" Type="http://schemas.openxmlformats.org/officeDocument/2006/relationships/oleObject" Target="../embeddings/oleObject2.bin"/><Relationship Id="rId4" Type="http://schemas.openxmlformats.org/officeDocument/2006/relationships/hyperlink" Target="https://data.bls.gov/cgi-bin/cpicalc.pl"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fred.stlouisfed.org/graph/?g=1YhM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hyperlink" Target="https://fred.stlouisfed.org/graph/?g=1YhMD" TargetMode="Externa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9.emf"/><Relationship Id="rId3" Type="http://schemas.openxmlformats.org/officeDocument/2006/relationships/oleObject" Target="../embeddings/oleObject3.bin"/><Relationship Id="rId7" Type="http://schemas.openxmlformats.org/officeDocument/2006/relationships/oleObject" Target="../embeddings/oleObject5.bin"/><Relationship Id="rId12" Type="http://schemas.openxmlformats.org/officeDocument/2006/relationships/image" Target="../media/image11.emf"/><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emf"/><Relationship Id="rId11" Type="http://schemas.openxmlformats.org/officeDocument/2006/relationships/oleObject" Target="../embeddings/oleObject7.bin"/><Relationship Id="rId5" Type="http://schemas.openxmlformats.org/officeDocument/2006/relationships/oleObject" Target="../embeddings/oleObject4.bin"/><Relationship Id="rId10" Type="http://schemas.openxmlformats.org/officeDocument/2006/relationships/image" Target="../media/image10.emf"/><Relationship Id="rId4" Type="http://schemas.openxmlformats.org/officeDocument/2006/relationships/image" Target="../media/image7.emf"/><Relationship Id="rId9" Type="http://schemas.openxmlformats.org/officeDocument/2006/relationships/oleObject" Target="../embeddings/oleObject6.bin"/></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14.xml.rels><?xml version="1.0" encoding="UTF-8" standalone="yes"?>
<Relationships xmlns="http://schemas.openxmlformats.org/package/2006/relationships"><Relationship Id="rId8" Type="http://schemas.openxmlformats.org/officeDocument/2006/relationships/image" Target="../media/image15.emf"/><Relationship Id="rId13" Type="http://schemas.openxmlformats.org/officeDocument/2006/relationships/oleObject" Target="../embeddings/oleObject14.bin"/><Relationship Id="rId18" Type="http://schemas.openxmlformats.org/officeDocument/2006/relationships/image" Target="../media/image20.emf"/><Relationship Id="rId3" Type="http://schemas.openxmlformats.org/officeDocument/2006/relationships/oleObject" Target="../embeddings/oleObject9.bin"/><Relationship Id="rId21" Type="http://schemas.openxmlformats.org/officeDocument/2006/relationships/oleObject" Target="../embeddings/oleObject18.bin"/><Relationship Id="rId7" Type="http://schemas.openxmlformats.org/officeDocument/2006/relationships/oleObject" Target="../embeddings/oleObject11.bin"/><Relationship Id="rId12" Type="http://schemas.openxmlformats.org/officeDocument/2006/relationships/image" Target="../media/image17.emf"/><Relationship Id="rId17" Type="http://schemas.openxmlformats.org/officeDocument/2006/relationships/oleObject" Target="../embeddings/oleObject16.bin"/><Relationship Id="rId2" Type="http://schemas.openxmlformats.org/officeDocument/2006/relationships/notesSlide" Target="../notesSlides/notesSlide9.xml"/><Relationship Id="rId16" Type="http://schemas.openxmlformats.org/officeDocument/2006/relationships/image" Target="../media/image19.emf"/><Relationship Id="rId20" Type="http://schemas.openxmlformats.org/officeDocument/2006/relationships/image" Target="../media/image21.emf"/><Relationship Id="rId1" Type="http://schemas.openxmlformats.org/officeDocument/2006/relationships/slideLayout" Target="../slideLayouts/slideLayout2.xml"/><Relationship Id="rId6" Type="http://schemas.openxmlformats.org/officeDocument/2006/relationships/image" Target="../media/image14.emf"/><Relationship Id="rId11" Type="http://schemas.openxmlformats.org/officeDocument/2006/relationships/oleObject" Target="../embeddings/oleObject13.bin"/><Relationship Id="rId24" Type="http://schemas.openxmlformats.org/officeDocument/2006/relationships/image" Target="../media/image23.emf"/><Relationship Id="rId5" Type="http://schemas.openxmlformats.org/officeDocument/2006/relationships/oleObject" Target="../embeddings/oleObject10.bin"/><Relationship Id="rId15" Type="http://schemas.openxmlformats.org/officeDocument/2006/relationships/oleObject" Target="../embeddings/oleObject15.bin"/><Relationship Id="rId23" Type="http://schemas.openxmlformats.org/officeDocument/2006/relationships/oleObject" Target="../embeddings/oleObject19.bin"/><Relationship Id="rId10" Type="http://schemas.openxmlformats.org/officeDocument/2006/relationships/image" Target="../media/image16.emf"/><Relationship Id="rId19" Type="http://schemas.openxmlformats.org/officeDocument/2006/relationships/oleObject" Target="../embeddings/oleObject17.bin"/><Relationship Id="rId4" Type="http://schemas.openxmlformats.org/officeDocument/2006/relationships/image" Target="../media/image13.emf"/><Relationship Id="rId9" Type="http://schemas.openxmlformats.org/officeDocument/2006/relationships/oleObject" Target="../embeddings/oleObject12.bin"/><Relationship Id="rId14" Type="http://schemas.openxmlformats.org/officeDocument/2006/relationships/image" Target="../media/image18.emf"/><Relationship Id="rId22" Type="http://schemas.openxmlformats.org/officeDocument/2006/relationships/image" Target="../media/image22.emf"/></Relationships>
</file>

<file path=ppt/slides/_rels/slide15.xml.rels><?xml version="1.0" encoding="UTF-8" standalone="yes"?>
<Relationships xmlns="http://schemas.openxmlformats.org/package/2006/relationships"><Relationship Id="rId13" Type="http://schemas.openxmlformats.org/officeDocument/2006/relationships/oleObject" Target="../embeddings/oleObject25.bin"/><Relationship Id="rId18" Type="http://schemas.openxmlformats.org/officeDocument/2006/relationships/image" Target="../media/image31.emf"/><Relationship Id="rId26" Type="http://schemas.openxmlformats.org/officeDocument/2006/relationships/image" Target="../media/image35.emf"/><Relationship Id="rId39" Type="http://schemas.openxmlformats.org/officeDocument/2006/relationships/oleObject" Target="../embeddings/oleObject38.bin"/><Relationship Id="rId21" Type="http://schemas.openxmlformats.org/officeDocument/2006/relationships/oleObject" Target="../embeddings/oleObject29.bin"/><Relationship Id="rId34" Type="http://schemas.openxmlformats.org/officeDocument/2006/relationships/image" Target="../media/image39.emf"/><Relationship Id="rId42" Type="http://schemas.openxmlformats.org/officeDocument/2006/relationships/image" Target="../media/image43.emf"/><Relationship Id="rId7" Type="http://schemas.openxmlformats.org/officeDocument/2006/relationships/oleObject" Target="../embeddings/oleObject22.bin"/><Relationship Id="rId2" Type="http://schemas.openxmlformats.org/officeDocument/2006/relationships/notesSlide" Target="../notesSlides/notesSlide10.xml"/><Relationship Id="rId16" Type="http://schemas.openxmlformats.org/officeDocument/2006/relationships/image" Target="../media/image30.emf"/><Relationship Id="rId20" Type="http://schemas.openxmlformats.org/officeDocument/2006/relationships/image" Target="../media/image32.emf"/><Relationship Id="rId29" Type="http://schemas.openxmlformats.org/officeDocument/2006/relationships/oleObject" Target="../embeddings/oleObject33.bin"/><Relationship Id="rId41" Type="http://schemas.openxmlformats.org/officeDocument/2006/relationships/oleObject" Target="../embeddings/oleObject39.bin"/><Relationship Id="rId1" Type="http://schemas.openxmlformats.org/officeDocument/2006/relationships/slideLayout" Target="../slideLayouts/slideLayout2.xml"/><Relationship Id="rId6" Type="http://schemas.openxmlformats.org/officeDocument/2006/relationships/image" Target="../media/image25.emf"/><Relationship Id="rId11" Type="http://schemas.openxmlformats.org/officeDocument/2006/relationships/oleObject" Target="../embeddings/oleObject24.bin"/><Relationship Id="rId24" Type="http://schemas.openxmlformats.org/officeDocument/2006/relationships/image" Target="../media/image34.emf"/><Relationship Id="rId32" Type="http://schemas.openxmlformats.org/officeDocument/2006/relationships/image" Target="../media/image38.emf"/><Relationship Id="rId37" Type="http://schemas.openxmlformats.org/officeDocument/2006/relationships/oleObject" Target="../embeddings/oleObject37.bin"/><Relationship Id="rId40" Type="http://schemas.openxmlformats.org/officeDocument/2006/relationships/image" Target="../media/image42.emf"/><Relationship Id="rId5" Type="http://schemas.openxmlformats.org/officeDocument/2006/relationships/oleObject" Target="../embeddings/oleObject21.bin"/><Relationship Id="rId15" Type="http://schemas.openxmlformats.org/officeDocument/2006/relationships/oleObject" Target="../embeddings/oleObject26.bin"/><Relationship Id="rId23" Type="http://schemas.openxmlformats.org/officeDocument/2006/relationships/oleObject" Target="../embeddings/oleObject30.bin"/><Relationship Id="rId28" Type="http://schemas.openxmlformats.org/officeDocument/2006/relationships/image" Target="../media/image36.emf"/><Relationship Id="rId36" Type="http://schemas.openxmlformats.org/officeDocument/2006/relationships/image" Target="../media/image40.emf"/><Relationship Id="rId10" Type="http://schemas.openxmlformats.org/officeDocument/2006/relationships/image" Target="../media/image27.emf"/><Relationship Id="rId19" Type="http://schemas.openxmlformats.org/officeDocument/2006/relationships/oleObject" Target="../embeddings/oleObject28.bin"/><Relationship Id="rId31" Type="http://schemas.openxmlformats.org/officeDocument/2006/relationships/oleObject" Target="../embeddings/oleObject34.bin"/><Relationship Id="rId44" Type="http://schemas.openxmlformats.org/officeDocument/2006/relationships/image" Target="../media/image44.emf"/><Relationship Id="rId4" Type="http://schemas.openxmlformats.org/officeDocument/2006/relationships/image" Target="../media/image24.emf"/><Relationship Id="rId9" Type="http://schemas.openxmlformats.org/officeDocument/2006/relationships/oleObject" Target="../embeddings/oleObject23.bin"/><Relationship Id="rId14" Type="http://schemas.openxmlformats.org/officeDocument/2006/relationships/image" Target="../media/image29.emf"/><Relationship Id="rId22" Type="http://schemas.openxmlformats.org/officeDocument/2006/relationships/image" Target="../media/image33.emf"/><Relationship Id="rId27" Type="http://schemas.openxmlformats.org/officeDocument/2006/relationships/oleObject" Target="../embeddings/oleObject32.bin"/><Relationship Id="rId30" Type="http://schemas.openxmlformats.org/officeDocument/2006/relationships/image" Target="../media/image37.emf"/><Relationship Id="rId35" Type="http://schemas.openxmlformats.org/officeDocument/2006/relationships/oleObject" Target="../embeddings/oleObject36.bin"/><Relationship Id="rId43" Type="http://schemas.openxmlformats.org/officeDocument/2006/relationships/oleObject" Target="../embeddings/oleObject40.bin"/><Relationship Id="rId8" Type="http://schemas.openxmlformats.org/officeDocument/2006/relationships/image" Target="../media/image26.emf"/><Relationship Id="rId3" Type="http://schemas.openxmlformats.org/officeDocument/2006/relationships/oleObject" Target="../embeddings/oleObject20.bin"/><Relationship Id="rId12" Type="http://schemas.openxmlformats.org/officeDocument/2006/relationships/image" Target="../media/image28.emf"/><Relationship Id="rId17" Type="http://schemas.openxmlformats.org/officeDocument/2006/relationships/oleObject" Target="../embeddings/oleObject27.bin"/><Relationship Id="rId25" Type="http://schemas.openxmlformats.org/officeDocument/2006/relationships/oleObject" Target="../embeddings/oleObject31.bin"/><Relationship Id="rId33" Type="http://schemas.openxmlformats.org/officeDocument/2006/relationships/oleObject" Target="../embeddings/oleObject35.bin"/><Relationship Id="rId38" Type="http://schemas.openxmlformats.org/officeDocument/2006/relationships/image" Target="../media/image41.emf"/></Relationships>
</file>

<file path=ppt/slides/_rels/slide16.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48.emf"/><Relationship Id="rId13" Type="http://schemas.openxmlformats.org/officeDocument/2006/relationships/oleObject" Target="../embeddings/oleObject46.bin"/><Relationship Id="rId18" Type="http://schemas.openxmlformats.org/officeDocument/2006/relationships/image" Target="../media/image53.emf"/><Relationship Id="rId3" Type="http://schemas.openxmlformats.org/officeDocument/2006/relationships/oleObject" Target="../embeddings/oleObject41.bin"/><Relationship Id="rId21" Type="http://schemas.openxmlformats.org/officeDocument/2006/relationships/oleObject" Target="../embeddings/oleObject50.bin"/><Relationship Id="rId7" Type="http://schemas.openxmlformats.org/officeDocument/2006/relationships/oleObject" Target="../embeddings/oleObject43.bin"/><Relationship Id="rId12" Type="http://schemas.openxmlformats.org/officeDocument/2006/relationships/image" Target="../media/image50.emf"/><Relationship Id="rId17" Type="http://schemas.openxmlformats.org/officeDocument/2006/relationships/oleObject" Target="../embeddings/oleObject48.bin"/><Relationship Id="rId2" Type="http://schemas.openxmlformats.org/officeDocument/2006/relationships/notesSlide" Target="../notesSlides/notesSlide11.xml"/><Relationship Id="rId16" Type="http://schemas.openxmlformats.org/officeDocument/2006/relationships/image" Target="../media/image52.emf"/><Relationship Id="rId20" Type="http://schemas.openxmlformats.org/officeDocument/2006/relationships/image" Target="../media/image54.emf"/><Relationship Id="rId1" Type="http://schemas.openxmlformats.org/officeDocument/2006/relationships/slideLayout" Target="../slideLayouts/slideLayout2.xml"/><Relationship Id="rId6" Type="http://schemas.openxmlformats.org/officeDocument/2006/relationships/image" Target="../media/image47.emf"/><Relationship Id="rId11" Type="http://schemas.openxmlformats.org/officeDocument/2006/relationships/oleObject" Target="../embeddings/oleObject45.bin"/><Relationship Id="rId24" Type="http://schemas.openxmlformats.org/officeDocument/2006/relationships/image" Target="../media/image56.wmf"/><Relationship Id="rId5" Type="http://schemas.openxmlformats.org/officeDocument/2006/relationships/oleObject" Target="../embeddings/oleObject42.bin"/><Relationship Id="rId15" Type="http://schemas.openxmlformats.org/officeDocument/2006/relationships/oleObject" Target="../embeddings/oleObject47.bin"/><Relationship Id="rId23" Type="http://schemas.openxmlformats.org/officeDocument/2006/relationships/oleObject" Target="../embeddings/oleObject51.bin"/><Relationship Id="rId10" Type="http://schemas.openxmlformats.org/officeDocument/2006/relationships/image" Target="../media/image49.emf"/><Relationship Id="rId19" Type="http://schemas.openxmlformats.org/officeDocument/2006/relationships/oleObject" Target="../embeddings/oleObject49.bin"/><Relationship Id="rId4" Type="http://schemas.openxmlformats.org/officeDocument/2006/relationships/image" Target="../media/image46.emf"/><Relationship Id="rId9" Type="http://schemas.openxmlformats.org/officeDocument/2006/relationships/oleObject" Target="../embeddings/oleObject44.bin"/><Relationship Id="rId14" Type="http://schemas.openxmlformats.org/officeDocument/2006/relationships/image" Target="../media/image51.emf"/><Relationship Id="rId22" Type="http://schemas.openxmlformats.org/officeDocument/2006/relationships/image" Target="../media/image55.emf"/></Relationships>
</file>

<file path=ppt/slides/_rels/slide18.xml.rels><?xml version="1.0" encoding="UTF-8" standalone="yes"?>
<Relationships xmlns="http://schemas.openxmlformats.org/package/2006/relationships"><Relationship Id="rId8" Type="http://schemas.openxmlformats.org/officeDocument/2006/relationships/image" Target="../media/image59.emf"/><Relationship Id="rId13" Type="http://schemas.openxmlformats.org/officeDocument/2006/relationships/oleObject" Target="../embeddings/oleObject57.bin"/><Relationship Id="rId3" Type="http://schemas.openxmlformats.org/officeDocument/2006/relationships/oleObject" Target="../embeddings/oleObject52.bin"/><Relationship Id="rId7" Type="http://schemas.openxmlformats.org/officeDocument/2006/relationships/oleObject" Target="../embeddings/oleObject54.bin"/><Relationship Id="rId12" Type="http://schemas.openxmlformats.org/officeDocument/2006/relationships/image" Target="../media/image61.emf"/><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8.emf"/><Relationship Id="rId11" Type="http://schemas.openxmlformats.org/officeDocument/2006/relationships/oleObject" Target="../embeddings/oleObject56.bin"/><Relationship Id="rId5" Type="http://schemas.openxmlformats.org/officeDocument/2006/relationships/oleObject" Target="../embeddings/oleObject53.bin"/><Relationship Id="rId10" Type="http://schemas.openxmlformats.org/officeDocument/2006/relationships/image" Target="../media/image60.emf"/><Relationship Id="rId4" Type="http://schemas.openxmlformats.org/officeDocument/2006/relationships/image" Target="../media/image57.emf"/><Relationship Id="rId9" Type="http://schemas.openxmlformats.org/officeDocument/2006/relationships/oleObject" Target="../embeddings/oleObject55.bin"/><Relationship Id="rId14" Type="http://schemas.openxmlformats.org/officeDocument/2006/relationships/image" Target="../media/image62.emf"/></Relationships>
</file>

<file path=ppt/slides/_rels/slide19.xml.rels><?xml version="1.0" encoding="UTF-8" standalone="yes"?>
<Relationships xmlns="http://schemas.openxmlformats.org/package/2006/relationships"><Relationship Id="rId3" Type="http://schemas.openxmlformats.org/officeDocument/2006/relationships/image" Target="../media/image63.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4.emf"/><Relationship Id="rId2" Type="http://schemas.openxmlformats.org/officeDocument/2006/relationships/oleObject" Target="../embeddings/oleObject58.bin"/><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5.wmf"/><Relationship Id="rId2" Type="http://schemas.openxmlformats.org/officeDocument/2006/relationships/oleObject" Target="../embeddings/oleObject59.bin"/><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68.emf"/><Relationship Id="rId3" Type="http://schemas.openxmlformats.org/officeDocument/2006/relationships/oleObject" Target="../embeddings/oleObject60.bin"/><Relationship Id="rId7" Type="http://schemas.openxmlformats.org/officeDocument/2006/relationships/oleObject" Target="../embeddings/oleObject62.bin"/><Relationship Id="rId12" Type="http://schemas.openxmlformats.org/officeDocument/2006/relationships/image" Target="../media/image70.wmf"/><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67.emf"/><Relationship Id="rId11" Type="http://schemas.openxmlformats.org/officeDocument/2006/relationships/oleObject" Target="../embeddings/oleObject64.bin"/><Relationship Id="rId5" Type="http://schemas.openxmlformats.org/officeDocument/2006/relationships/oleObject" Target="../embeddings/oleObject61.bin"/><Relationship Id="rId10" Type="http://schemas.openxmlformats.org/officeDocument/2006/relationships/image" Target="../media/image69.emf"/><Relationship Id="rId4" Type="http://schemas.openxmlformats.org/officeDocument/2006/relationships/image" Target="../media/image66.emf"/><Relationship Id="rId9" Type="http://schemas.openxmlformats.org/officeDocument/2006/relationships/oleObject" Target="../embeddings/oleObject63.bin"/></Relationships>
</file>

<file path=ppt/slides/_rels/slide2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5" Type="http://schemas.openxmlformats.org/officeDocument/2006/relationships/image" Target="../media/image74.png"/><Relationship Id="rId4" Type="http://schemas.openxmlformats.org/officeDocument/2006/relationships/image" Target="../media/image73.png"/></Relationships>
</file>

<file path=ppt/slides/_rels/slide24.xml.rels><?xml version="1.0" encoding="UTF-8" standalone="yes"?>
<Relationships xmlns="http://schemas.openxmlformats.org/package/2006/relationships"><Relationship Id="rId3" Type="http://schemas.openxmlformats.org/officeDocument/2006/relationships/hyperlink" Target="https://fred.stlouisfed.org/graph/?g=1YhRt"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5.jpg"/></Relationships>
</file>

<file path=ppt/slides/_rels/slide25.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6.emf"/></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77.emf"/></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80.emf"/></Relationships>
</file>

<file path=ppt/slides/_rels/slide33.xml.rels><?xml version="1.0" encoding="UTF-8" standalone="yes"?>
<Relationships xmlns="http://schemas.openxmlformats.org/package/2006/relationships"><Relationship Id="rId8" Type="http://schemas.openxmlformats.org/officeDocument/2006/relationships/image" Target="../media/image83.emf"/><Relationship Id="rId3" Type="http://schemas.openxmlformats.org/officeDocument/2006/relationships/oleObject" Target="../embeddings/oleObject68.bin"/><Relationship Id="rId7" Type="http://schemas.openxmlformats.org/officeDocument/2006/relationships/package" Target="../embeddings/Microsoft_Excel_Worksheet3.xlsx"/><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82.emf"/><Relationship Id="rId5" Type="http://schemas.openxmlformats.org/officeDocument/2006/relationships/package" Target="../embeddings/Microsoft_Excel_Worksheet2.xlsx"/><Relationship Id="rId4" Type="http://schemas.openxmlformats.org/officeDocument/2006/relationships/image" Target="../media/image81.emf"/></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openxmlformats.org/officeDocument/2006/relationships/image" Target="../media/image78.png"/><Relationship Id="rId1" Type="http://schemas.openxmlformats.org/officeDocument/2006/relationships/slideLayout" Target="../slideLayouts/slideLayout2.xml"/><Relationship Id="rId4" Type="http://schemas.openxmlformats.org/officeDocument/2006/relationships/image" Target="../media/image84.emf"/></Relationships>
</file>

<file path=ppt/slides/_rels/slide3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8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D6B908C-B5CB-4D61-9AAA-0E6FA8ADABD9}"/>
              </a:ext>
            </a:extLst>
          </p:cNvPr>
          <p:cNvSpPr>
            <a:spLocks noGrp="1"/>
          </p:cNvSpPr>
          <p:nvPr>
            <p:ph type="sldNum" sz="quarter" idx="10"/>
          </p:nvPr>
        </p:nvSpPr>
        <p:spPr/>
        <p:txBody>
          <a:bodyPr/>
          <a:lstStyle/>
          <a:p>
            <a:fld id="{395527EB-3756-C241-BFD3-DBB1E111190F}" type="slidenum">
              <a:rPr lang="en-US" altLang="en-US" smtClean="0"/>
              <a:pPr/>
              <a:t>1</a:t>
            </a:fld>
            <a:endParaRPr lang="en-US" altLang="en-US"/>
          </a:p>
        </p:txBody>
      </p:sp>
      <p:sp>
        <p:nvSpPr>
          <p:cNvPr id="4" name="Footer Placeholder 3">
            <a:extLst>
              <a:ext uri="{FF2B5EF4-FFF2-40B4-BE49-F238E27FC236}">
                <a16:creationId xmlns:a16="http://schemas.microsoft.com/office/drawing/2014/main" id="{5F26835F-3425-4D22-A3BF-7A8DB7F9F478}"/>
              </a:ext>
            </a:extLst>
          </p:cNvPr>
          <p:cNvSpPr>
            <a:spLocks noGrp="1"/>
          </p:cNvSpPr>
          <p:nvPr>
            <p:ph type="ftr" sz="quarter" idx="11"/>
          </p:nvPr>
        </p:nvSpPr>
        <p:spPr/>
        <p:txBody>
          <a:bodyPr/>
          <a:lstStyle/>
          <a:p>
            <a:pPr>
              <a:defRPr/>
            </a:pPr>
            <a:r>
              <a:rPr lang="en-US" dirty="0"/>
              <a:t>Varying Rates of Return</a:t>
            </a:r>
          </a:p>
        </p:txBody>
      </p:sp>
      <p:sp>
        <p:nvSpPr>
          <p:cNvPr id="6" name="Rectangle 5">
            <a:extLst>
              <a:ext uri="{FF2B5EF4-FFF2-40B4-BE49-F238E27FC236}">
                <a16:creationId xmlns:a16="http://schemas.microsoft.com/office/drawing/2014/main" id="{E9ED9786-58D6-4467-A340-9C08B3251F1F}"/>
              </a:ext>
            </a:extLst>
          </p:cNvPr>
          <p:cNvSpPr/>
          <p:nvPr/>
        </p:nvSpPr>
        <p:spPr>
          <a:xfrm>
            <a:off x="641839" y="2111043"/>
            <a:ext cx="8088922" cy="3416320"/>
          </a:xfrm>
          <a:prstGeom prst="rect">
            <a:avLst/>
          </a:prstGeom>
        </p:spPr>
        <p:txBody>
          <a:bodyPr wrap="square">
            <a:spAutoFit/>
          </a:bodyPr>
          <a:lstStyle/>
          <a:p>
            <a:pPr algn="ctr"/>
            <a:r>
              <a:rPr lang="en-US" sz="3600" b="1" dirty="0"/>
              <a:t>Corporate Finance</a:t>
            </a:r>
          </a:p>
          <a:p>
            <a:pPr algn="ctr"/>
            <a:r>
              <a:rPr lang="en-US" sz="2700" b="1" dirty="0"/>
              <a:t>Time Varying Rates of Return and the Yield Curve</a:t>
            </a:r>
          </a:p>
          <a:p>
            <a:pPr algn="ctr"/>
            <a:endParaRPr lang="en-US" sz="2700" b="1" dirty="0"/>
          </a:p>
          <a:p>
            <a:pPr algn="ctr"/>
            <a:endParaRPr lang="en-US" sz="2700" b="1" dirty="0"/>
          </a:p>
          <a:p>
            <a:pPr algn="ctr"/>
            <a:endParaRPr lang="en-US" b="1" dirty="0">
              <a:ea typeface="ＭＳ Ｐゴシック" charset="0"/>
              <a:cs typeface="ＭＳ Ｐゴシック" charset="0"/>
            </a:endParaRPr>
          </a:p>
          <a:p>
            <a:pPr algn="ctr"/>
            <a:endParaRPr lang="en-US" b="1" dirty="0"/>
          </a:p>
          <a:p>
            <a:pPr algn="ctr">
              <a:buNone/>
            </a:pPr>
            <a:r>
              <a:rPr lang="en-US" b="1" dirty="0"/>
              <a:t>Fall 2026</a:t>
            </a:r>
          </a:p>
          <a:p>
            <a:pPr algn="ctr"/>
            <a:r>
              <a:rPr lang="en-US" b="1" dirty="0"/>
              <a:t>Prof. Jeffrey Colón</a:t>
            </a:r>
            <a:endParaRPr lang="en-US" dirty="0"/>
          </a:p>
        </p:txBody>
      </p:sp>
    </p:spTree>
    <p:extLst>
      <p:ext uri="{BB962C8B-B14F-4D97-AF65-F5344CB8AC3E}">
        <p14:creationId xmlns:p14="http://schemas.microsoft.com/office/powerpoint/2010/main" val="3622871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ED5172D-7173-9F0E-6ED4-C08A77F2672C}"/>
              </a:ext>
            </a:extLst>
          </p:cNvPr>
          <p:cNvSpPr>
            <a:spLocks noGrp="1"/>
          </p:cNvSpPr>
          <p:nvPr>
            <p:ph idx="1"/>
          </p:nvPr>
        </p:nvSpPr>
        <p:spPr/>
        <p:txBody>
          <a:bodyPr/>
          <a:lstStyle/>
          <a:p>
            <a:r>
              <a:rPr lang="en-US" dirty="0"/>
              <a:t>Rates of returns (HPRs, averaged returns, annualized returns)</a:t>
            </a:r>
          </a:p>
          <a:p>
            <a:r>
              <a:rPr lang="en-US" dirty="0"/>
              <a:t>Inflation (nominal and real rates)</a:t>
            </a:r>
          </a:p>
          <a:p>
            <a:r>
              <a:rPr lang="en-US" dirty="0"/>
              <a:t>Treasuries</a:t>
            </a:r>
          </a:p>
          <a:p>
            <a:pPr lvl="1"/>
            <a:r>
              <a:rPr lang="en-US" dirty="0"/>
              <a:t>Coupon</a:t>
            </a:r>
          </a:p>
          <a:p>
            <a:pPr lvl="1"/>
            <a:r>
              <a:rPr lang="en-US" dirty="0"/>
              <a:t>Zero-coupon</a:t>
            </a:r>
          </a:p>
          <a:p>
            <a:pPr lvl="1"/>
            <a:r>
              <a:rPr lang="en-US" dirty="0"/>
              <a:t>Yield Curve</a:t>
            </a:r>
          </a:p>
          <a:p>
            <a:pPr lvl="2"/>
            <a:r>
              <a:rPr lang="en-US" dirty="0"/>
              <a:t>Spot Rates</a:t>
            </a:r>
          </a:p>
          <a:p>
            <a:pPr lvl="2"/>
            <a:r>
              <a:rPr lang="en-US" dirty="0"/>
              <a:t>Forward Rates</a:t>
            </a:r>
          </a:p>
          <a:p>
            <a:r>
              <a:rPr lang="en-US" dirty="0"/>
              <a:t>Interest Rate Risk and Bond Values</a:t>
            </a:r>
          </a:p>
          <a:p>
            <a:pPr lvl="1"/>
            <a:r>
              <a:rPr lang="en-US" dirty="0"/>
              <a:t>Modified duration</a:t>
            </a:r>
          </a:p>
          <a:p>
            <a:pPr lvl="1"/>
            <a:r>
              <a:rPr lang="en-US" dirty="0"/>
              <a:t>Convexity</a:t>
            </a:r>
          </a:p>
          <a:p>
            <a:r>
              <a:rPr lang="en-US" dirty="0"/>
              <a:t>TIPS</a:t>
            </a:r>
          </a:p>
        </p:txBody>
      </p:sp>
      <p:sp>
        <p:nvSpPr>
          <p:cNvPr id="3" name="Title 2">
            <a:extLst>
              <a:ext uri="{FF2B5EF4-FFF2-40B4-BE49-F238E27FC236}">
                <a16:creationId xmlns:a16="http://schemas.microsoft.com/office/drawing/2014/main" id="{529556F4-F152-0470-1B60-2CBF98E9042C}"/>
              </a:ext>
            </a:extLst>
          </p:cNvPr>
          <p:cNvSpPr>
            <a:spLocks noGrp="1"/>
          </p:cNvSpPr>
          <p:nvPr>
            <p:ph type="title"/>
          </p:nvPr>
        </p:nvSpPr>
        <p:spPr/>
        <p:txBody>
          <a:bodyPr/>
          <a:lstStyle/>
          <a:p>
            <a:r>
              <a:rPr lang="en-US" dirty="0"/>
              <a:t>Overview</a:t>
            </a:r>
          </a:p>
        </p:txBody>
      </p:sp>
      <p:sp>
        <p:nvSpPr>
          <p:cNvPr id="4" name="Slide Number Placeholder 3">
            <a:extLst>
              <a:ext uri="{FF2B5EF4-FFF2-40B4-BE49-F238E27FC236}">
                <a16:creationId xmlns:a16="http://schemas.microsoft.com/office/drawing/2014/main" id="{C75AE0E3-9D77-DDDE-C591-C58D8B53667C}"/>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5" name="Footer Placeholder 4">
            <a:extLst>
              <a:ext uri="{FF2B5EF4-FFF2-40B4-BE49-F238E27FC236}">
                <a16:creationId xmlns:a16="http://schemas.microsoft.com/office/drawing/2014/main" id="{E2CCD363-4FAB-426D-F4C6-373396A14A3F}"/>
              </a:ext>
            </a:extLst>
          </p:cNvPr>
          <p:cNvSpPr>
            <a:spLocks noGrp="1"/>
          </p:cNvSpPr>
          <p:nvPr>
            <p:ph type="ftr" sz="quarter" idx="11"/>
          </p:nvPr>
        </p:nvSpPr>
        <p:spPr/>
        <p:txBody>
          <a:bodyPr/>
          <a:lstStyle/>
          <a:p>
            <a:pPr>
              <a:defRPr/>
            </a:pPr>
            <a:r>
              <a:rPr lang="en-US" dirty="0"/>
              <a:t>Varying Rates of Return</a:t>
            </a:r>
          </a:p>
        </p:txBody>
      </p:sp>
    </p:spTree>
    <p:extLst>
      <p:ext uri="{BB962C8B-B14F-4D97-AF65-F5344CB8AC3E}">
        <p14:creationId xmlns:p14="http://schemas.microsoft.com/office/powerpoint/2010/main" val="4156993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algn="l"/>
            <a:r>
              <a:rPr lang="en-US" b="1" dirty="0"/>
              <a:t>Different</a:t>
            </a:r>
          </a:p>
          <a:p>
            <a:pPr lvl="1" algn="l"/>
            <a:r>
              <a:rPr lang="en-US" dirty="0"/>
              <a:t>Rates of return for each period are not necessarily equal (</a:t>
            </a:r>
            <a:r>
              <a:rPr lang="en-US" i="1" dirty="0"/>
              <a:t>Term Structure of Interest Rates</a:t>
            </a:r>
            <a:r>
              <a:rPr lang="en-US" dirty="0"/>
              <a:t>)</a:t>
            </a:r>
          </a:p>
          <a:p>
            <a:pPr lvl="1" algn="l"/>
            <a:r>
              <a:rPr lang="en-US" dirty="0"/>
              <a:t>$1 buys less in the future than it does today (</a:t>
            </a:r>
            <a:r>
              <a:rPr lang="en-US" i="1" dirty="0"/>
              <a:t>Inflation</a:t>
            </a:r>
            <a:r>
              <a:rPr lang="en-US" dirty="0"/>
              <a:t> and negative rates)</a:t>
            </a:r>
          </a:p>
          <a:p>
            <a:pPr lvl="1" algn="l"/>
            <a:endParaRPr lang="en-US" dirty="0"/>
          </a:p>
          <a:p>
            <a:pPr lvl="1" algn="l"/>
            <a:endParaRPr lang="en-US" dirty="0"/>
          </a:p>
          <a:p>
            <a:pPr algn="l"/>
            <a:r>
              <a:rPr lang="en-US" b="1" dirty="0"/>
              <a:t>Same</a:t>
            </a:r>
          </a:p>
          <a:p>
            <a:pPr lvl="1" algn="l"/>
            <a:r>
              <a:rPr lang="en-US" dirty="0"/>
              <a:t>No differences in opinion</a:t>
            </a:r>
          </a:p>
          <a:p>
            <a:pPr lvl="1" algn="l"/>
            <a:r>
              <a:rPr lang="en-US" dirty="0"/>
              <a:t> No taxes</a:t>
            </a:r>
          </a:p>
          <a:p>
            <a:pPr lvl="1" algn="l"/>
            <a:r>
              <a:rPr lang="en-US" dirty="0"/>
              <a:t>No transaction costs.</a:t>
            </a:r>
          </a:p>
          <a:p>
            <a:pPr lvl="1" algn="l"/>
            <a:r>
              <a:rPr lang="en-US" dirty="0"/>
              <a:t>No big sellers/buyers</a:t>
            </a:r>
          </a:p>
          <a:p>
            <a:pPr lvl="1" algn="l"/>
            <a:endParaRPr lang="en-US" dirty="0"/>
          </a:p>
          <a:p>
            <a:pPr marL="0" indent="0" algn="l">
              <a:buNone/>
            </a:pPr>
            <a:endParaRPr lang="en-US" dirty="0"/>
          </a:p>
        </p:txBody>
      </p:sp>
      <p:sp>
        <p:nvSpPr>
          <p:cNvPr id="3" name="Title 2"/>
          <p:cNvSpPr>
            <a:spLocks noGrp="1"/>
          </p:cNvSpPr>
          <p:nvPr>
            <p:ph type="title"/>
          </p:nvPr>
        </p:nvSpPr>
        <p:spPr/>
        <p:txBody>
          <a:bodyPr/>
          <a:lstStyle/>
          <a:p>
            <a:r>
              <a:rPr lang="en-US" dirty="0"/>
              <a:t>Time Varying Rates of Return &amp; the Yield Curve</a:t>
            </a:r>
          </a:p>
        </p:txBody>
      </p:sp>
      <p:sp>
        <p:nvSpPr>
          <p:cNvPr id="5" name="Footer Placeholder 4"/>
          <p:cNvSpPr>
            <a:spLocks noGrp="1"/>
          </p:cNvSpPr>
          <p:nvPr>
            <p:ph type="ftr" sz="quarter" idx="11"/>
          </p:nvPr>
        </p:nvSpPr>
        <p:spPr/>
        <p:txBody>
          <a:bodyPr/>
          <a:lstStyle/>
          <a:p>
            <a:pPr>
              <a:defRPr/>
            </a:pPr>
            <a:r>
              <a:rPr lang="en-US" dirty="0"/>
              <a:t>Varying Rates of Return</a:t>
            </a:r>
          </a:p>
        </p:txBody>
      </p:sp>
      <p:sp>
        <p:nvSpPr>
          <p:cNvPr id="6" name="Slide Number Placeholder 5">
            <a:extLst>
              <a:ext uri="{FF2B5EF4-FFF2-40B4-BE49-F238E27FC236}">
                <a16:creationId xmlns:a16="http://schemas.microsoft.com/office/drawing/2014/main" id="{34C95C84-326F-3D44-BAAC-3335081722AC}"/>
              </a:ext>
            </a:extLst>
          </p:cNvPr>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Tree>
    <p:extLst>
      <p:ext uri="{BB962C8B-B14F-4D97-AF65-F5344CB8AC3E}">
        <p14:creationId xmlns:p14="http://schemas.microsoft.com/office/powerpoint/2010/main" val="1420547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97635" name="Rectangle 1027"/>
              <p:cNvSpPr>
                <a:spLocks noGrp="1" noChangeArrowheads="1"/>
              </p:cNvSpPr>
              <p:nvPr>
                <p:ph idx="1"/>
              </p:nvPr>
            </p:nvSpPr>
            <p:spPr/>
            <p:txBody>
              <a:bodyPr>
                <a:normAutofit fontScale="92500" lnSpcReduction="10000"/>
              </a:bodyPr>
              <a:lstStyle/>
              <a:p>
                <a:pPr marL="228600" indent="-228600"/>
                <a:r>
                  <a:rPr lang="en-US" dirty="0">
                    <a:ea typeface="ＭＳ Ｐゴシック" charset="0"/>
                    <a:cs typeface="ＭＳ Ｐゴシック" charset="0"/>
                  </a:rPr>
                  <a:t>A fund manager earns the following returns:</a:t>
                </a:r>
              </a:p>
              <a:p>
                <a:pPr marL="228600" indent="-228600"/>
                <a:endParaRPr lang="en-US" sz="3600" baseline="-25000" dirty="0">
                  <a:ea typeface="ＭＳ Ｐゴシック" charset="0"/>
                  <a:cs typeface="ＭＳ Ｐゴシック" charset="0"/>
                </a:endParaRPr>
              </a:p>
              <a:p>
                <a:pPr marL="228600" indent="-228600"/>
                <a:endParaRPr lang="en-US" sz="3600" baseline="-25000" dirty="0">
                  <a:ea typeface="ＭＳ Ｐゴシック" charset="0"/>
                  <a:cs typeface="ＭＳ Ｐゴシック" charset="0"/>
                </a:endParaRPr>
              </a:p>
              <a:p>
                <a:pPr marL="228600" indent="-228600"/>
                <a:endParaRPr lang="en-US" sz="3600" baseline="-25000" dirty="0">
                  <a:ea typeface="ＭＳ Ｐゴシック" charset="0"/>
                  <a:cs typeface="ＭＳ Ｐゴシック" charset="0"/>
                </a:endParaRPr>
              </a:p>
              <a:p>
                <a:pPr marL="0" indent="0">
                  <a:lnSpc>
                    <a:spcPct val="120000"/>
                  </a:lnSpc>
                  <a:buNone/>
                </a:pPr>
                <a:endParaRPr lang="en-US" dirty="0">
                  <a:ea typeface="ＭＳ Ｐゴシック" charset="0"/>
                  <a:cs typeface="ＭＳ Ｐゴシック" charset="0"/>
                </a:endParaRPr>
              </a:p>
              <a:p>
                <a:pPr marL="228600" indent="-228600"/>
                <a:r>
                  <a:rPr lang="en-US" dirty="0">
                    <a:ea typeface="ＭＳ Ｐゴシック" charset="0"/>
                    <a:cs typeface="ＭＳ Ｐゴシック" charset="0"/>
                  </a:rPr>
                  <a:t>What’s the manager’s average </a:t>
                </a:r>
                <a:r>
                  <a:rPr lang="en-US" dirty="0" err="1">
                    <a:ea typeface="ＭＳ Ｐゴシック" charset="0"/>
                    <a:cs typeface="ＭＳ Ｐゴシック" charset="0"/>
                  </a:rPr>
                  <a:t>RoR</a:t>
                </a:r>
                <a:r>
                  <a:rPr lang="en-US" dirty="0">
                    <a:ea typeface="ＭＳ Ｐゴシック" charset="0"/>
                    <a:cs typeface="ＭＳ Ｐゴシック" charset="0"/>
                  </a:rPr>
                  <a:t>?</a:t>
                </a:r>
              </a:p>
              <a:p>
                <a:pPr marL="228600" indent="-228600"/>
                <a:endParaRPr lang="en-US" dirty="0">
                  <a:ea typeface="ＭＳ Ｐゴシック" charset="0"/>
                  <a:cs typeface="ＭＳ Ｐゴシック" charset="0"/>
                </a:endParaRPr>
              </a:p>
              <a:p>
                <a:pPr marL="228600" indent="-228600"/>
                <a:r>
                  <a:rPr lang="en-US" dirty="0">
                    <a:ea typeface="ＭＳ Ｐゴシック" charset="0"/>
                    <a:cs typeface="ＭＳ Ｐゴシック" charset="0"/>
                  </a:rPr>
                  <a:t>Calculate the holding period return (r</a:t>
                </a:r>
                <a:r>
                  <a:rPr lang="en-US" baseline="-25000" dirty="0">
                    <a:ea typeface="ＭＳ Ｐゴシック" charset="0"/>
                    <a:cs typeface="ＭＳ Ｐゴシック" charset="0"/>
                  </a:rPr>
                  <a:t>0,3</a:t>
                </a:r>
                <a:r>
                  <a:rPr lang="en-US" dirty="0">
                    <a:ea typeface="ＭＳ Ｐゴシック" charset="0"/>
                    <a:cs typeface="ＭＳ Ｐゴシック" charset="0"/>
                  </a:rPr>
                  <a:t>) and the 3-year annualized ROR, or</a:t>
                </a:r>
              </a:p>
              <a:p>
                <a:pPr marL="571500" lvl="1" indent="-228600"/>
                <a:r>
                  <a:rPr lang="en-US" b="1" dirty="0">
                    <a:ea typeface="ＭＳ Ｐゴシック" charset="0"/>
                  </a:rPr>
                  <a:t>HPR</a:t>
                </a:r>
                <a:r>
                  <a:rPr lang="en-US" dirty="0">
                    <a:ea typeface="ＭＳ Ｐゴシック" charset="0"/>
                  </a:rPr>
                  <a:t> = ?</a:t>
                </a:r>
                <a:endParaRPr lang="en-US" sz="2400" dirty="0">
                  <a:ea typeface="ＭＳ Ｐゴシック" charset="0"/>
                </a:endParaRPr>
              </a:p>
              <a:p>
                <a:pPr marL="571500" lvl="1" indent="-228600"/>
                <a:r>
                  <a:rPr lang="en-US" b="1" dirty="0">
                    <a:ea typeface="ＭＳ Ｐゴシック" charset="0"/>
                  </a:rPr>
                  <a:t>Annualized </a:t>
                </a:r>
                <a:r>
                  <a:rPr lang="en-US" b="1" dirty="0" err="1">
                    <a:ea typeface="ＭＳ Ｐゴシック" charset="0"/>
                  </a:rPr>
                  <a:t>RoR</a:t>
                </a:r>
                <a:r>
                  <a:rPr lang="en-US" b="1" dirty="0">
                    <a:ea typeface="ＭＳ Ｐゴシック" charset="0"/>
                  </a:rPr>
                  <a:t>/Compound Annual Growth Rate (CAGR) = ?</a:t>
                </a:r>
              </a:p>
              <a:p>
                <a:pPr marL="400050" indent="-228600"/>
                <a:endParaRPr lang="en-US" dirty="0">
                  <a:ea typeface="ＭＳ Ｐゴシック" charset="0"/>
                  <a:cs typeface="ＭＳ Ｐゴシック" charset="0"/>
                </a:endParaRPr>
              </a:p>
              <a:p>
                <a:pPr marL="400050" indent="-228600"/>
                <a:r>
                  <a:rPr lang="en-US" dirty="0">
                    <a:ea typeface="ＭＳ Ｐゴシック" charset="0"/>
                    <a:cs typeface="ＭＳ Ｐゴシック" charset="0"/>
                  </a:rPr>
                  <a:t>Unless annual </a:t>
                </a:r>
                <a:r>
                  <a:rPr lang="en-US" dirty="0" err="1">
                    <a:ea typeface="ＭＳ Ｐゴシック" charset="0"/>
                    <a:cs typeface="ＭＳ Ｐゴシック" charset="0"/>
                  </a:rPr>
                  <a:t>RoRs</a:t>
                </a:r>
                <a:r>
                  <a:rPr lang="en-US" dirty="0">
                    <a:ea typeface="ＭＳ Ｐゴシック" charset="0"/>
                    <a:cs typeface="ＭＳ Ｐゴシック" charset="0"/>
                  </a:rPr>
                  <a:t> are equal, </a:t>
                </a:r>
                <a:r>
                  <a:rPr lang="en-US" i="1" dirty="0">
                    <a:ea typeface="ＭＳ Ｐゴシック" charset="0"/>
                    <a:cs typeface="ＭＳ Ｐゴシック" charset="0"/>
                  </a:rPr>
                  <a:t>arithmetic annual returns </a:t>
                </a:r>
                <a:r>
                  <a:rPr lang="en-US" dirty="0">
                    <a:ea typeface="ＭＳ Ｐゴシック" charset="0"/>
                    <a:cs typeface="ＭＳ Ｐゴシック" charset="0"/>
                  </a:rPr>
                  <a:t>are </a:t>
                </a:r>
                <a:r>
                  <a:rPr lang="en-US" b="1" dirty="0">
                    <a:ea typeface="ＭＳ Ｐゴシック" charset="0"/>
                    <a:cs typeface="ＭＳ Ｐゴシック" charset="0"/>
                  </a:rPr>
                  <a:t>always </a:t>
                </a:r>
                <a:r>
                  <a:rPr lang="en-US" dirty="0">
                    <a:ea typeface="ＭＳ Ｐゴシック" charset="0"/>
                    <a:cs typeface="ＭＳ Ｐゴシック" charset="0"/>
                  </a:rPr>
                  <a:t>greater than </a:t>
                </a:r>
                <a:r>
                  <a:rPr lang="en-US" i="1" dirty="0">
                    <a:ea typeface="ＭＳ Ｐゴシック" charset="0"/>
                    <a:cs typeface="ＭＳ Ｐゴシック" charset="0"/>
                  </a:rPr>
                  <a:t>geometric annual returns</a:t>
                </a:r>
              </a:p>
              <a:p>
                <a:pPr marL="571500" lvl="1" indent="-228600"/>
                <a:r>
                  <a:rPr lang="en-US" sz="2200" dirty="0" err="1">
                    <a:ea typeface="ＭＳ Ｐゴシック" charset="0"/>
                    <a:cs typeface="ＭＳ Ｐゴシック" charset="0"/>
                  </a:rPr>
                  <a:t>r</a:t>
                </a:r>
                <a:r>
                  <a:rPr lang="en-US" sz="2200" baseline="-25000" dirty="0" err="1">
                    <a:ea typeface="ＭＳ Ｐゴシック" charset="0"/>
                    <a:cs typeface="ＭＳ Ｐゴシック" charset="0"/>
                  </a:rPr>
                  <a:t>geo</a:t>
                </a:r>
                <a:r>
                  <a:rPr lang="en-US" sz="2200" dirty="0">
                    <a:ea typeface="ＭＳ Ｐゴシック" charset="0"/>
                    <a:cs typeface="ＭＳ Ｐゴシック" charset="0"/>
                  </a:rPr>
                  <a:t> ≅ </a:t>
                </a:r>
                <a:r>
                  <a:rPr lang="en-US" sz="2200" dirty="0" err="1">
                    <a:ea typeface="ＭＳ Ｐゴシック" charset="0"/>
                    <a:cs typeface="ＭＳ Ｐゴシック" charset="0"/>
                  </a:rPr>
                  <a:t>r</a:t>
                </a:r>
                <a:r>
                  <a:rPr lang="en-US" sz="2200" baseline="-25000" dirty="0" err="1">
                    <a:ea typeface="ＭＳ Ｐゴシック" charset="0"/>
                    <a:cs typeface="ＭＳ Ｐゴシック" charset="0"/>
                  </a:rPr>
                  <a:t>arith</a:t>
                </a:r>
                <a:r>
                  <a:rPr lang="en-US" sz="2200" dirty="0">
                    <a:ea typeface="ＭＳ Ｐゴシック" charset="0"/>
                    <a:cs typeface="ＭＳ Ｐゴシック" charset="0"/>
                  </a:rPr>
                  <a:t> - </a:t>
                </a:r>
                <a14:m>
                  <m:oMath xmlns:m="http://schemas.openxmlformats.org/officeDocument/2006/math">
                    <m:f>
                      <m:fPr>
                        <m:ctrlPr>
                          <a:rPr lang="en-US" sz="2200" i="1">
                            <a:latin typeface="Cambria Math" panose="02040503050406030204" pitchFamily="18" charset="0"/>
                            <a:ea typeface="ＭＳ Ｐゴシック" charset="0"/>
                          </a:rPr>
                        </m:ctrlPr>
                      </m:fPr>
                      <m:num>
                        <m:r>
                          <a:rPr lang="en-US" sz="2200" i="1">
                            <a:latin typeface="Cambria Math" panose="02040503050406030204" pitchFamily="18" charset="0"/>
                            <a:ea typeface="ＭＳ Ｐゴシック" charset="0"/>
                          </a:rPr>
                          <m:t>𝜎</m:t>
                        </m:r>
                        <m:r>
                          <a:rPr lang="en-US" sz="2200" i="1" baseline="30000">
                            <a:latin typeface="Cambria Math" panose="02040503050406030204" pitchFamily="18" charset="0"/>
                            <a:ea typeface="ＭＳ Ｐゴシック" charset="0"/>
                          </a:rPr>
                          <m:t>2</m:t>
                        </m:r>
                      </m:num>
                      <m:den>
                        <m:r>
                          <a:rPr lang="en-US" sz="2200" i="1">
                            <a:latin typeface="Cambria Math" panose="02040503050406030204" pitchFamily="18" charset="0"/>
                            <a:ea typeface="ＭＳ Ｐゴシック" charset="0"/>
                          </a:rPr>
                          <m:t>2</m:t>
                        </m:r>
                      </m:den>
                    </m:f>
                  </m:oMath>
                </a14:m>
                <a:r>
                  <a:rPr lang="en-US" dirty="0">
                    <a:ea typeface="ＭＳ Ｐゴシック" charset="0"/>
                    <a:cs typeface="ＭＳ Ｐゴシック" charset="0"/>
                  </a:rPr>
                  <a:t>, with the last term referred to as </a:t>
                </a:r>
                <a:r>
                  <a:rPr lang="en-US" i="1" dirty="0">
                    <a:ea typeface="ＭＳ Ｐゴシック" charset="0"/>
                    <a:cs typeface="ＭＳ Ｐゴシック" charset="0"/>
                  </a:rPr>
                  <a:t>volatility drag </a:t>
                </a:r>
                <a:r>
                  <a:rPr lang="en-US" dirty="0">
                    <a:ea typeface="ＭＳ Ｐゴシック" charset="0"/>
                    <a:cs typeface="ＭＳ Ｐゴシック" charset="0"/>
                  </a:rPr>
                  <a:t>of returns  </a:t>
                </a:r>
              </a:p>
              <a:p>
                <a:pPr marL="571500" lvl="1" indent="-228600"/>
                <a:endParaRPr lang="en-US" i="1" dirty="0">
                  <a:ea typeface="ＭＳ Ｐゴシック" charset="0"/>
                  <a:cs typeface="ＭＳ Ｐゴシック" charset="0"/>
                </a:endParaRPr>
              </a:p>
              <a:p>
                <a:pPr marL="400050" indent="-228600">
                  <a:lnSpc>
                    <a:spcPct val="150000"/>
                  </a:lnSpc>
                </a:pPr>
                <a:endParaRPr lang="en-US" b="1" dirty="0">
                  <a:ea typeface="ＭＳ Ｐゴシック" charset="0"/>
                </a:endParaRPr>
              </a:p>
            </p:txBody>
          </p:sp>
        </mc:Choice>
        <mc:Fallback>
          <p:sp>
            <p:nvSpPr>
              <p:cNvPr id="197635" name="Rectangle 1027"/>
              <p:cNvSpPr>
                <a:spLocks noGrp="1" noRot="1" noChangeAspect="1" noMove="1" noResize="1" noEditPoints="1" noAdjustHandles="1" noChangeArrowheads="1" noChangeShapeType="1" noTextEdit="1"/>
              </p:cNvSpPr>
              <p:nvPr>
                <p:ph idx="1"/>
              </p:nvPr>
            </p:nvSpPr>
            <p:spPr>
              <a:blipFill>
                <a:blip r:embed="rId3"/>
                <a:stretch>
                  <a:fillRect t="-1310" r="-900"/>
                </a:stretch>
              </a:blipFill>
            </p:spPr>
            <p:txBody>
              <a:bodyPr/>
              <a:lstStyle/>
              <a:p>
                <a:r>
                  <a:rPr lang="en-US">
                    <a:noFill/>
                  </a:rPr>
                  <a:t> </a:t>
                </a:r>
              </a:p>
            </p:txBody>
          </p:sp>
        </mc:Fallback>
      </mc:AlternateContent>
      <p:sp>
        <p:nvSpPr>
          <p:cNvPr id="197634" name="Rectangle 1026"/>
          <p:cNvSpPr>
            <a:spLocks noGrp="1" noChangeArrowheads="1"/>
          </p:cNvSpPr>
          <p:nvPr>
            <p:ph type="title"/>
          </p:nvPr>
        </p:nvSpPr>
        <p:spPr/>
        <p:txBody>
          <a:bodyPr/>
          <a:lstStyle/>
          <a:p>
            <a:pPr eaLnBrk="1" hangingPunct="1"/>
            <a:r>
              <a:rPr lang="en-US" b="1" dirty="0">
                <a:ea typeface="ＭＳ Ｐゴシック" charset="0"/>
                <a:cs typeface="ＭＳ Ｐゴシック" charset="0"/>
              </a:rPr>
              <a:t>Annualized Rates of Return</a:t>
            </a:r>
            <a:endParaRPr lang="en-US" dirty="0">
              <a:ea typeface="ＭＳ Ｐゴシック" charset="0"/>
              <a:cs typeface="ＭＳ Ｐゴシック" charset="0"/>
            </a:endParaRPr>
          </a:p>
        </p:txBody>
      </p:sp>
      <p:sp>
        <p:nvSpPr>
          <p:cNvPr id="2076" name="Footer Placeholder 7"/>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197678" name="Group 1070"/>
          <p:cNvGraphicFramePr>
            <a:graphicFrameLocks noGrp="1"/>
          </p:cNvGraphicFramePr>
          <p:nvPr>
            <p:extLst>
              <p:ext uri="{D42A27DB-BD31-4B8C-83A1-F6EECF244321}">
                <p14:modId xmlns:p14="http://schemas.microsoft.com/office/powerpoint/2010/main" val="2326502741"/>
              </p:ext>
            </p:extLst>
          </p:nvPr>
        </p:nvGraphicFramePr>
        <p:xfrm>
          <a:off x="838200" y="1066800"/>
          <a:ext cx="6705600" cy="1341248"/>
        </p:xfrm>
        <a:graphic>
          <a:graphicData uri="http://schemas.openxmlformats.org/drawingml/2006/table">
            <a:tbl>
              <a:tblPr/>
              <a:tblGrid>
                <a:gridCol w="2235200">
                  <a:extLst>
                    <a:ext uri="{9D8B030D-6E8A-4147-A177-3AD203B41FA5}">
                      <a16:colId xmlns:a16="http://schemas.microsoft.com/office/drawing/2014/main" val="20000"/>
                    </a:ext>
                  </a:extLst>
                </a:gridCol>
                <a:gridCol w="2235200">
                  <a:extLst>
                    <a:ext uri="{9D8B030D-6E8A-4147-A177-3AD203B41FA5}">
                      <a16:colId xmlns:a16="http://schemas.microsoft.com/office/drawing/2014/main" val="20001"/>
                    </a:ext>
                  </a:extLst>
                </a:gridCol>
                <a:gridCol w="2235200">
                  <a:extLst>
                    <a:ext uri="{9D8B030D-6E8A-4147-A177-3AD203B41FA5}">
                      <a16:colId xmlns:a16="http://schemas.microsoft.com/office/drawing/2014/main" val="20002"/>
                    </a:ext>
                  </a:extLst>
                </a:gridCol>
              </a:tblGrid>
              <a:tr h="2758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1" i="0" u="none" strike="noStrike" cap="none" normalizeH="0" baseline="0" dirty="0">
                          <a:ln>
                            <a:noFill/>
                          </a:ln>
                          <a:solidFill>
                            <a:srgbClr val="000000"/>
                          </a:solidFill>
                          <a:effectLst/>
                          <a:latin typeface="Calibri"/>
                          <a:ea typeface="ＭＳ Ｐゴシック" charset="-128"/>
                        </a:rPr>
                        <a:t>Year</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1" i="0" u="none" strike="noStrike" cap="none" normalizeH="0" baseline="0">
                          <a:ln>
                            <a:noFill/>
                          </a:ln>
                          <a:solidFill>
                            <a:schemeClr val="tx1"/>
                          </a:solidFill>
                          <a:effectLst/>
                          <a:latin typeface="Calibri"/>
                          <a:ea typeface="ＭＳ Ｐゴシック" charset="-128"/>
                        </a:rPr>
                        <a:t>Rate</a:t>
                      </a: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1" i="0" u="none" strike="noStrike" cap="none" normalizeH="0" baseline="0" dirty="0">
                          <a:ln>
                            <a:noFill/>
                          </a:ln>
                          <a:solidFill>
                            <a:srgbClr val="000000"/>
                          </a:solidFill>
                          <a:effectLst/>
                          <a:latin typeface="Calibri"/>
                          <a:ea typeface="ＭＳ Ｐゴシック" charset="-128"/>
                        </a:rPr>
                        <a:t>Rate</a:t>
                      </a:r>
                      <a:endParaRPr kumimoji="0" lang="en-US" sz="1600" b="1"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758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1 </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chemeClr val="tx1"/>
                          </a:solidFill>
                          <a:effectLst/>
                          <a:latin typeface="Calibri"/>
                          <a:ea typeface="ＭＳ Ｐゴシック" charset="-128"/>
                        </a:rPr>
                        <a:t> r</a:t>
                      </a:r>
                      <a:r>
                        <a:rPr kumimoji="0" lang="en-US" sz="1600" b="0" i="0" u="none" strike="noStrike" cap="none" normalizeH="0" baseline="-25000" dirty="0">
                          <a:ln>
                            <a:noFill/>
                          </a:ln>
                          <a:solidFill>
                            <a:schemeClr val="tx1"/>
                          </a:solidFill>
                          <a:effectLst/>
                          <a:latin typeface="Calibri"/>
                          <a:ea typeface="ＭＳ Ｐゴシック" charset="-128"/>
                        </a:rPr>
                        <a:t>0,1</a:t>
                      </a:r>
                    </a:p>
                  </a:txBody>
                  <a:tcPr marT="45736" marB="4573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100%</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758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a:ln>
                            <a:noFill/>
                          </a:ln>
                          <a:solidFill>
                            <a:srgbClr val="000000"/>
                          </a:solidFill>
                          <a:effectLst/>
                          <a:latin typeface="Calibri"/>
                          <a:ea typeface="ＭＳ Ｐゴシック" charset="-128"/>
                        </a:rPr>
                        <a:t>2 </a:t>
                      </a:r>
                      <a:endParaRPr kumimoji="0" lang="en-US" sz="1600" b="0" i="0" u="none" strike="noStrike" cap="none" normalizeH="0" baseline="0">
                        <a:ln>
                          <a:noFill/>
                        </a:ln>
                        <a:solidFill>
                          <a:schemeClr val="tx1"/>
                        </a:solidFill>
                        <a:effectLst/>
                        <a:latin typeface="Calibri"/>
                        <a:ea typeface="ＭＳ Ｐゴシック" charset="-128"/>
                      </a:endParaRPr>
                    </a:p>
                  </a:txBody>
                  <a:tcPr marT="45736" marB="4573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chemeClr val="tx1"/>
                          </a:solidFill>
                          <a:effectLst/>
                          <a:latin typeface="Calibri"/>
                          <a:ea typeface="ＭＳ Ｐゴシック" charset="-128"/>
                        </a:rPr>
                        <a:t>r</a:t>
                      </a:r>
                      <a:r>
                        <a:rPr kumimoji="0" lang="en-US" sz="1600" b="0" i="0" u="none" strike="noStrike" cap="none" normalizeH="0" baseline="-25000" dirty="0">
                          <a:ln>
                            <a:noFill/>
                          </a:ln>
                          <a:solidFill>
                            <a:schemeClr val="tx1"/>
                          </a:solidFill>
                          <a:effectLst/>
                          <a:latin typeface="Calibri"/>
                          <a:ea typeface="ＭＳ Ｐゴシック" charset="-128"/>
                        </a:rPr>
                        <a:t>1,2</a:t>
                      </a:r>
                    </a:p>
                  </a:txBody>
                  <a:tcPr marT="45736" marB="4573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&lt;50%&gt;</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758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3 </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chemeClr val="tx1"/>
                          </a:solidFill>
                          <a:effectLst/>
                          <a:latin typeface="Calibri"/>
                          <a:ea typeface="ＭＳ Ｐゴシック" charset="-128"/>
                        </a:rPr>
                        <a:t>r</a:t>
                      </a:r>
                      <a:r>
                        <a:rPr kumimoji="0" lang="en-US" sz="1600" b="0" i="0" u="none" strike="noStrike" cap="none" normalizeH="0" baseline="-25000" dirty="0">
                          <a:ln>
                            <a:noFill/>
                          </a:ln>
                          <a:solidFill>
                            <a:schemeClr val="tx1"/>
                          </a:solidFill>
                          <a:effectLst/>
                          <a:latin typeface="Calibri"/>
                          <a:ea typeface="ＭＳ Ｐゴシック" charset="-128"/>
                        </a:rPr>
                        <a:t>2,3</a:t>
                      </a:r>
                    </a:p>
                  </a:txBody>
                  <a:tcPr marT="45736" marB="4573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&lt;2%&gt;</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graphicFrame>
        <p:nvGraphicFramePr>
          <p:cNvPr id="259072" name="Object 1024"/>
          <p:cNvGraphicFramePr>
            <a:graphicFrameLocks noChangeAspect="1"/>
          </p:cNvGraphicFramePr>
          <p:nvPr>
            <p:extLst>
              <p:ext uri="{D42A27DB-BD31-4B8C-83A1-F6EECF244321}">
                <p14:modId xmlns:p14="http://schemas.microsoft.com/office/powerpoint/2010/main" val="2703896701"/>
              </p:ext>
            </p:extLst>
          </p:nvPr>
        </p:nvGraphicFramePr>
        <p:xfrm>
          <a:off x="1600200" y="3505200"/>
          <a:ext cx="533400" cy="457200"/>
        </p:xfrm>
        <a:graphic>
          <a:graphicData uri="http://schemas.openxmlformats.org/presentationml/2006/ole">
            <mc:AlternateContent xmlns:mc="http://schemas.openxmlformats.org/markup-compatibility/2006">
              <mc:Choice xmlns:v="urn:schemas-microsoft-com:vml" Requires="v">
                <p:oleObj name="Equation" r:id="rId4" imgW="118800" imgH="191880" progId="Equation.3">
                  <p:embed/>
                </p:oleObj>
              </mc:Choice>
              <mc:Fallback>
                <p:oleObj name="Equation" r:id="rId4" imgW="118800" imgH="191880" progId="Equation.3">
                  <p:embed/>
                  <p:pic>
                    <p:nvPicPr>
                      <p:cNvPr id="259072" name="Object 102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00200" y="3505200"/>
                        <a:ext cx="5334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Slide Number Placeholder 1">
            <a:extLst>
              <a:ext uri="{FF2B5EF4-FFF2-40B4-BE49-F238E27FC236}">
                <a16:creationId xmlns:a16="http://schemas.microsoft.com/office/drawing/2014/main" id="{A0582CBB-4A51-8E4F-9EA6-8A7DB27DD0C0}"/>
              </a:ext>
            </a:extLst>
          </p:cNvPr>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9763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9763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1976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9763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97635">
                                            <p:txEl>
                                              <p:pRg st="7" end="7"/>
                                            </p:txEl>
                                          </p:spTgt>
                                        </p:tgtEl>
                                        <p:attrNameLst>
                                          <p:attrName>style.visibility</p:attrName>
                                        </p:attrNameLst>
                                      </p:cBhvr>
                                      <p:to>
                                        <p:strVal val="visible"/>
                                      </p:to>
                                    </p:set>
                                  </p:childTnLst>
                                </p:cTn>
                              </p:par>
                            </p:childTnLst>
                          </p:cTn>
                        </p:par>
                        <p:par>
                          <p:cTn id="23" fill="hold">
                            <p:stCondLst>
                              <p:cond delay="500"/>
                            </p:stCondLst>
                            <p:childTnLst>
                              <p:par>
                                <p:cTn id="24" presetID="1" presetClass="entr" presetSubtype="0" fill="hold" nodeType="afterEffect">
                                  <p:stCondLst>
                                    <p:cond delay="0"/>
                                  </p:stCondLst>
                                  <p:childTnLst>
                                    <p:set>
                                      <p:cBhvr>
                                        <p:cTn id="25" dur="1" fill="hold">
                                          <p:stCondLst>
                                            <p:cond delay="499"/>
                                          </p:stCondLst>
                                        </p:cTn>
                                        <p:tgtEl>
                                          <p:spTgt spid="25907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499"/>
                                          </p:stCondLst>
                                        </p:cTn>
                                        <p:tgtEl>
                                          <p:spTgt spid="197635">
                                            <p:txEl>
                                              <p:pRg st="8" end="8"/>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499"/>
                                          </p:stCondLst>
                                        </p:cTn>
                                        <p:tgtEl>
                                          <p:spTgt spid="197635">
                                            <p:txEl>
                                              <p:pRg st="9" end="9"/>
                                            </p:txEl>
                                          </p:spTgt>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499"/>
                                          </p:stCondLst>
                                        </p:cTn>
                                        <p:tgtEl>
                                          <p:spTgt spid="197635">
                                            <p:txEl>
                                              <p:pRg st="11" end="11"/>
                                            </p:txEl>
                                          </p:spTgt>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499"/>
                                          </p:stCondLst>
                                        </p:cTn>
                                        <p:tgtEl>
                                          <p:spTgt spid="19763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7635" grpId="0" uiExpand="1" build="p" autoUpdateAnimBg="0"/>
      <p:bldP spid="197634"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Rectangle 3"/>
          <p:cNvSpPr>
            <a:spLocks noGrp="1" noChangeArrowheads="1"/>
          </p:cNvSpPr>
          <p:nvPr>
            <p:ph idx="1"/>
          </p:nvPr>
        </p:nvSpPr>
        <p:spPr>
          <a:xfrm>
            <a:off x="304800" y="533400"/>
            <a:ext cx="8537448" cy="5812064"/>
          </a:xfrm>
        </p:spPr>
        <p:txBody>
          <a:bodyPr/>
          <a:lstStyle/>
          <a:p>
            <a:pPr eaLnBrk="1" hangingPunct="1"/>
            <a:r>
              <a:rPr lang="en-US" sz="2800" dirty="0">
                <a:ea typeface="ＭＳ Ｐゴシック" charset="0"/>
                <a:cs typeface="ＭＳ Ｐゴシック" charset="0"/>
              </a:rPr>
              <a:t>Inflation: Loss of purchasing power caused by price increases.</a:t>
            </a:r>
          </a:p>
          <a:p>
            <a:pPr eaLnBrk="1" hangingPunct="1"/>
            <a:r>
              <a:rPr lang="en-US" sz="2800" dirty="0">
                <a:ea typeface="ＭＳ Ｐゴシック" charset="0"/>
                <a:cs typeface="ＭＳ Ｐゴシック" charset="0"/>
              </a:rPr>
              <a:t>Inflation generally measured by the </a:t>
            </a:r>
            <a:r>
              <a:rPr lang="en-US" sz="2800" i="1" dirty="0">
                <a:ea typeface="ＭＳ Ｐゴシック" charset="0"/>
                <a:cs typeface="ＭＳ Ｐゴシック" charset="0"/>
              </a:rPr>
              <a:t>CPI</a:t>
            </a:r>
          </a:p>
          <a:p>
            <a:pPr lvl="1"/>
            <a:r>
              <a:rPr lang="en-US" dirty="0">
                <a:ea typeface="ＭＳ Ｐゴシック" charset="0"/>
                <a:cs typeface="ＭＳ Ｐゴシック" charset="0"/>
                <a:hlinkClick r:id="rId3"/>
              </a:rPr>
              <a:t>bls.gov/cpi</a:t>
            </a:r>
            <a:r>
              <a:rPr lang="en-US" dirty="0">
                <a:ea typeface="ＭＳ Ｐゴシック" charset="0"/>
                <a:cs typeface="ＭＳ Ｐゴシック" charset="0"/>
              </a:rPr>
              <a:t> </a:t>
            </a:r>
          </a:p>
          <a:p>
            <a:pPr lvl="1"/>
            <a:r>
              <a:rPr lang="en-US" sz="2400" dirty="0">
                <a:ea typeface="ＭＳ Ｐゴシック" charset="0"/>
              </a:rPr>
              <a:t>Base Rate 1983 = 100; Current 2026</a:t>
            </a:r>
            <a:r>
              <a:rPr lang="en-US" sz="2400" baseline="-25000" dirty="0">
                <a:ea typeface="ＭＳ Ｐゴシック" charset="0"/>
              </a:rPr>
              <a:t>July</a:t>
            </a:r>
            <a:r>
              <a:rPr lang="en-US" sz="2400" dirty="0">
                <a:ea typeface="ＭＳ Ｐゴシック" charset="0"/>
              </a:rPr>
              <a:t> = 323.048</a:t>
            </a:r>
          </a:p>
          <a:p>
            <a:pPr lvl="1"/>
            <a:r>
              <a:rPr lang="en-US" sz="2400" dirty="0">
                <a:ea typeface="ＭＳ Ｐゴシック" charset="0"/>
              </a:rPr>
              <a:t>CPI</a:t>
            </a:r>
            <a:r>
              <a:rPr lang="en-US" sz="2400" b="1" baseline="-25000" dirty="0">
                <a:ea typeface="ＭＳ Ｐゴシック" charset="0"/>
              </a:rPr>
              <a:t>(July/25)</a:t>
            </a:r>
            <a:r>
              <a:rPr lang="en-US" sz="2400" dirty="0">
                <a:ea typeface="ＭＳ Ｐゴシック" charset="0"/>
              </a:rPr>
              <a:t> = 333.918 and CPI</a:t>
            </a:r>
            <a:r>
              <a:rPr lang="en-US" sz="2400" b="1" baseline="-25000" dirty="0">
                <a:ea typeface="ＭＳ Ｐゴシック" charset="0"/>
              </a:rPr>
              <a:t>(July/25)</a:t>
            </a:r>
            <a:r>
              <a:rPr lang="en-US" sz="2400" dirty="0">
                <a:ea typeface="ＭＳ Ｐゴシック" charset="0"/>
              </a:rPr>
              <a:t>  = 323.048</a:t>
            </a:r>
          </a:p>
          <a:p>
            <a:pPr lvl="1"/>
            <a:r>
              <a:rPr lang="en-US" sz="2400" dirty="0">
                <a:ea typeface="ＭＳ Ｐゴシック" charset="0"/>
              </a:rPr>
              <a:t>Inflation Rate</a:t>
            </a:r>
            <a:r>
              <a:rPr lang="en-US" sz="2400" baseline="-25000" dirty="0">
                <a:ea typeface="ＭＳ Ｐゴシック" charset="0"/>
              </a:rPr>
              <a:t>(July-July)</a:t>
            </a:r>
            <a:r>
              <a:rPr lang="en-US" sz="2400" dirty="0">
                <a:ea typeface="ＭＳ Ｐゴシック" charset="0"/>
              </a:rPr>
              <a:t>:  (333.918 – 323.048) / 323.048 = 3.4%</a:t>
            </a:r>
          </a:p>
          <a:p>
            <a:pPr lvl="1"/>
            <a:endParaRPr lang="en-US" sz="2400" dirty="0">
              <a:ea typeface="ＭＳ Ｐゴシック" charset="0"/>
            </a:endParaRPr>
          </a:p>
          <a:p>
            <a:pPr lvl="1"/>
            <a:r>
              <a:rPr lang="en-US" sz="2400" dirty="0">
                <a:ea typeface="ＭＳ Ｐゴシック" charset="0"/>
              </a:rPr>
              <a:t> </a:t>
            </a:r>
            <a:endParaRPr lang="en-US" sz="3200" dirty="0">
              <a:ea typeface="ＭＳ Ｐゴシック" charset="0"/>
            </a:endParaRPr>
          </a:p>
          <a:p>
            <a:pPr lvl="1"/>
            <a:endParaRPr lang="en-US" dirty="0">
              <a:ea typeface="ＭＳ Ｐゴシック" charset="0"/>
              <a:cs typeface="ＭＳ Ｐゴシック" charset="0"/>
            </a:endParaRPr>
          </a:p>
          <a:p>
            <a:pPr eaLnBrk="1" hangingPunct="1"/>
            <a:r>
              <a:rPr lang="en-US" sz="2800" dirty="0">
                <a:ea typeface="ＭＳ Ｐゴシック" charset="0"/>
                <a:cs typeface="ＭＳ Ｐゴシック" charset="0"/>
              </a:rPr>
              <a:t>If </a:t>
            </a:r>
            <a:r>
              <a:rPr lang="en-US" sz="2800" b="1" i="1" dirty="0">
                <a:ea typeface="ＭＳ Ｐゴシック" charset="0"/>
                <a:cs typeface="ＭＳ Ｐゴシック" charset="0"/>
              </a:rPr>
              <a:t>R</a:t>
            </a:r>
            <a:r>
              <a:rPr lang="en-US" sz="2800" b="1" i="1" baseline="-25000" dirty="0">
                <a:ea typeface="ＭＳ Ｐゴシック" charset="0"/>
                <a:cs typeface="ＭＳ Ｐゴシック" charset="0"/>
              </a:rPr>
              <a:t>INF</a:t>
            </a:r>
            <a:r>
              <a:rPr lang="en-US" sz="2800" dirty="0">
                <a:ea typeface="ＭＳ Ｐゴシック" charset="0"/>
                <a:cs typeface="ＭＳ Ｐゴシック" charset="0"/>
              </a:rPr>
              <a:t> is 3.4% for 2026, $100 in </a:t>
            </a:r>
            <a:r>
              <a:rPr lang="en-US" sz="2800" i="1" dirty="0">
                <a:ea typeface="ＭＳ Ｐゴシック" charset="0"/>
                <a:cs typeface="ＭＳ Ｐゴシック" charset="0"/>
              </a:rPr>
              <a:t>2026</a:t>
            </a:r>
            <a:r>
              <a:rPr lang="en-US" sz="2800" dirty="0">
                <a:ea typeface="ＭＳ Ｐゴシック" charset="0"/>
                <a:cs typeface="ＭＳ Ｐゴシック" charset="0"/>
              </a:rPr>
              <a:t> is worth in </a:t>
            </a:r>
            <a:r>
              <a:rPr lang="en-US" sz="2800" i="1" dirty="0">
                <a:ea typeface="ＭＳ Ｐゴシック" charset="0"/>
                <a:cs typeface="ＭＳ Ｐゴシック" charset="0"/>
              </a:rPr>
              <a:t>2025</a:t>
            </a:r>
            <a:r>
              <a:rPr lang="en-US" sz="2800" dirty="0">
                <a:ea typeface="ＭＳ Ｐゴシック" charset="0"/>
                <a:cs typeface="ＭＳ Ｐゴシック" charset="0"/>
              </a:rPr>
              <a:t>: $100/1.034 = $96.7</a:t>
            </a:r>
          </a:p>
          <a:p>
            <a:pPr lvl="1"/>
            <a:r>
              <a:rPr lang="en-US" sz="2400" dirty="0">
                <a:hlinkClick r:id="rId4"/>
              </a:rPr>
              <a:t>https://data.bls.gov/cgi-bin/cpicalc.pl</a:t>
            </a:r>
            <a:r>
              <a:rPr lang="en-US" sz="2400" dirty="0"/>
              <a:t> (CPI calculator)</a:t>
            </a:r>
            <a:endParaRPr lang="en-US" sz="2400" dirty="0">
              <a:ea typeface="ＭＳ Ｐゴシック" charset="0"/>
              <a:cs typeface="ＭＳ Ｐゴシック" charset="0"/>
            </a:endParaRPr>
          </a:p>
          <a:p>
            <a:pPr lvl="1"/>
            <a:endParaRPr lang="en-US" sz="2400" dirty="0">
              <a:ea typeface="ＭＳ Ｐゴシック" charset="0"/>
              <a:cs typeface="ＭＳ Ｐゴシック" charset="0"/>
            </a:endParaRPr>
          </a:p>
        </p:txBody>
      </p:sp>
      <p:sp>
        <p:nvSpPr>
          <p:cNvPr id="4100" name="Rectangle 2"/>
          <p:cNvSpPr>
            <a:spLocks noGrp="1" noChangeArrowheads="1"/>
          </p:cNvSpPr>
          <p:nvPr>
            <p:ph type="title"/>
          </p:nvPr>
        </p:nvSpPr>
        <p:spPr/>
        <p:txBody>
          <a:bodyPr/>
          <a:lstStyle/>
          <a:p>
            <a:pPr eaLnBrk="1" hangingPunct="1"/>
            <a:r>
              <a:rPr lang="en-US" sz="2000" dirty="0">
                <a:latin typeface="+mn-lt"/>
                <a:ea typeface="ＭＳ Ｐゴシック" charset="0"/>
                <a:cs typeface="ＭＳ Ｐゴシック" charset="0"/>
              </a:rPr>
              <a:t>Inflation</a:t>
            </a:r>
            <a:endParaRPr lang="en-US" sz="1050" dirty="0">
              <a:latin typeface="+mn-lt"/>
              <a:ea typeface="ＭＳ Ｐゴシック" charset="0"/>
              <a:cs typeface="ＭＳ Ｐゴシック" charset="0"/>
            </a:endParaRPr>
          </a:p>
        </p:txBody>
      </p:sp>
      <p:sp>
        <p:nvSpPr>
          <p:cNvPr id="4102" name="Footer Placeholder 6"/>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147460" name="Object 4"/>
          <p:cNvGraphicFramePr>
            <a:graphicFrameLocks noChangeAspect="1"/>
          </p:cNvGraphicFramePr>
          <p:nvPr>
            <p:extLst>
              <p:ext uri="{D42A27DB-BD31-4B8C-83A1-F6EECF244321}">
                <p14:modId xmlns:p14="http://schemas.microsoft.com/office/powerpoint/2010/main" val="137432559"/>
              </p:ext>
            </p:extLst>
          </p:nvPr>
        </p:nvGraphicFramePr>
        <p:xfrm>
          <a:off x="914400" y="4114800"/>
          <a:ext cx="2057400" cy="590724"/>
        </p:xfrm>
        <a:graphic>
          <a:graphicData uri="http://schemas.openxmlformats.org/presentationml/2006/ole">
            <mc:AlternateContent xmlns:mc="http://schemas.openxmlformats.org/markup-compatibility/2006">
              <mc:Choice xmlns:v="urn:schemas-microsoft-com:vml" Requires="v">
                <p:oleObj name="Equation" r:id="rId5" imgW="950760" imgH="393120" progId="Equation.3">
                  <p:embed/>
                </p:oleObj>
              </mc:Choice>
              <mc:Fallback>
                <p:oleObj name="Equation" r:id="rId5" imgW="950760" imgH="393120" progId="Equation.3">
                  <p:embed/>
                  <p:pic>
                    <p:nvPicPr>
                      <p:cNvPr id="147460"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14400" y="4114800"/>
                        <a:ext cx="2057400" cy="590724"/>
                      </a:xfrm>
                      <a:prstGeom prst="rect">
                        <a:avLst/>
                      </a:prstGeom>
                      <a:noFill/>
                      <a:ln>
                        <a:noFill/>
                      </a:ln>
                      <a:effectLst/>
                    </p:spPr>
                  </p:pic>
                </p:oleObj>
              </mc:Fallback>
            </mc:AlternateContent>
          </a:graphicData>
        </a:graphic>
      </p:graphicFrame>
      <p:sp>
        <p:nvSpPr>
          <p:cNvPr id="2" name="Slide Number Placeholder 1">
            <a:extLst>
              <a:ext uri="{FF2B5EF4-FFF2-40B4-BE49-F238E27FC236}">
                <a16:creationId xmlns:a16="http://schemas.microsoft.com/office/drawing/2014/main" id="{A5690C40-C009-9A4A-8D98-880690834ED0}"/>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745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745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745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745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7459">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7459">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7459">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7460"/>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7459">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745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7459"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1026"/>
          <p:cNvSpPr>
            <a:spLocks noGrp="1" noChangeArrowheads="1"/>
          </p:cNvSpPr>
          <p:nvPr>
            <p:ph type="title"/>
          </p:nvPr>
        </p:nvSpPr>
        <p:spPr/>
        <p:txBody>
          <a:bodyPr/>
          <a:lstStyle/>
          <a:p>
            <a:pPr eaLnBrk="1" hangingPunct="1"/>
            <a:r>
              <a:rPr lang="en-US" b="1" dirty="0">
                <a:ea typeface="ＭＳ Ｐゴシック" charset="0"/>
                <a:cs typeface="ＭＳ Ｐゴシック" charset="0"/>
              </a:rPr>
              <a:t>4-Week T-Bill &amp; CPI</a:t>
            </a:r>
          </a:p>
        </p:txBody>
      </p:sp>
      <p:sp>
        <p:nvSpPr>
          <p:cNvPr id="29703" name="Footer Placeholder 7"/>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9699" name="AutoShape 1032" descr="Fred Graph"/>
          <p:cNvSpPr>
            <a:spLocks noChangeAspect="1" noChangeArrowheads="1"/>
          </p:cNvSpPr>
          <p:nvPr/>
        </p:nvSpPr>
        <p:spPr bwMode="auto">
          <a:xfrm>
            <a:off x="5257800" y="3629025"/>
            <a:ext cx="6000750" cy="36004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atin typeface="Calibri"/>
            </a:endParaRPr>
          </a:p>
        </p:txBody>
      </p:sp>
      <p:sp>
        <p:nvSpPr>
          <p:cNvPr id="29700" name="AutoShape 1034" descr="Fred Graph"/>
          <p:cNvSpPr>
            <a:spLocks noChangeAspect="1" noChangeArrowheads="1"/>
          </p:cNvSpPr>
          <p:nvPr/>
        </p:nvSpPr>
        <p:spPr bwMode="auto">
          <a:xfrm>
            <a:off x="4914900" y="4295775"/>
            <a:ext cx="6000750" cy="36004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atin typeface="Calibri"/>
            </a:endParaRPr>
          </a:p>
        </p:txBody>
      </p:sp>
      <p:sp>
        <p:nvSpPr>
          <p:cNvPr id="3" name="Slide Number Placeholder 2">
            <a:extLst>
              <a:ext uri="{FF2B5EF4-FFF2-40B4-BE49-F238E27FC236}">
                <a16:creationId xmlns:a16="http://schemas.microsoft.com/office/drawing/2014/main" id="{F7A2A675-BB77-D34B-A87B-06093C9131E4}"/>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pic>
        <p:nvPicPr>
          <p:cNvPr id="2" name="FRED Graph Chart" descr="FRED Graph">
            <a:hlinkClick r:id="rId3" tooltip="View this chart in your browser. "/>
            <a:extLst>
              <a:ext uri="{FF2B5EF4-FFF2-40B4-BE49-F238E27FC236}">
                <a16:creationId xmlns:a16="http://schemas.microsoft.com/office/drawing/2014/main" id="{1A7C00C1-5A9C-9A93-6128-4EA6088D55F6}"/>
              </a:ext>
            </a:extLst>
          </p:cNvPr>
          <p:cNvPicPr>
            <a:picLocks noChangeAspect="1"/>
          </p:cNvPicPr>
          <p:nvPr/>
        </p:nvPicPr>
        <p:blipFill>
          <a:blip r:embed="rId4"/>
          <a:stretch>
            <a:fillRect/>
          </a:stretch>
        </p:blipFill>
        <p:spPr>
          <a:xfrm>
            <a:off x="476250" y="762000"/>
            <a:ext cx="8191500" cy="54102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F5FFE96-1F74-B9EF-4E7C-2C0940477E37}"/>
              </a:ext>
            </a:extLst>
          </p:cNvPr>
          <p:cNvSpPr>
            <a:spLocks noGrp="1"/>
          </p:cNvSpPr>
          <p:nvPr>
            <p:ph type="title"/>
          </p:nvPr>
        </p:nvSpPr>
        <p:spPr/>
        <p:txBody>
          <a:bodyPr/>
          <a:lstStyle/>
          <a:p>
            <a:r>
              <a:rPr lang="en-US" dirty="0"/>
              <a:t>CPI: Index Change 36 Years and 12-Month Inflation</a:t>
            </a:r>
          </a:p>
        </p:txBody>
      </p:sp>
      <p:sp>
        <p:nvSpPr>
          <p:cNvPr id="4" name="Slide Number Placeholder 3">
            <a:extLst>
              <a:ext uri="{FF2B5EF4-FFF2-40B4-BE49-F238E27FC236}">
                <a16:creationId xmlns:a16="http://schemas.microsoft.com/office/drawing/2014/main" id="{57A44280-2F44-01B8-612A-935AF4D80ABE}"/>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A5577FE5-1CC1-87F2-1524-873101CE21CD}"/>
              </a:ext>
            </a:extLst>
          </p:cNvPr>
          <p:cNvSpPr>
            <a:spLocks noGrp="1"/>
          </p:cNvSpPr>
          <p:nvPr>
            <p:ph type="ftr" sz="quarter" idx="11"/>
          </p:nvPr>
        </p:nvSpPr>
        <p:spPr/>
        <p:txBody>
          <a:bodyPr/>
          <a:lstStyle/>
          <a:p>
            <a:pPr>
              <a:defRPr/>
            </a:pPr>
            <a:r>
              <a:rPr lang="en-US"/>
              <a:t>Varying Rates of Return</a:t>
            </a:r>
            <a:endParaRPr lang="en-US" dirty="0"/>
          </a:p>
        </p:txBody>
      </p:sp>
      <p:pic>
        <p:nvPicPr>
          <p:cNvPr id="6" name="FRED Graph Chart" descr="FRED Graph">
            <a:hlinkClick r:id="rId2" tooltip="View this chart in your browser. "/>
            <a:extLst>
              <a:ext uri="{FF2B5EF4-FFF2-40B4-BE49-F238E27FC236}">
                <a16:creationId xmlns:a16="http://schemas.microsoft.com/office/drawing/2014/main" id="{8973F028-42B4-599F-5083-6D08FCCAC793}"/>
              </a:ext>
            </a:extLst>
          </p:cNvPr>
          <p:cNvPicPr>
            <a:picLocks noChangeAspect="1"/>
          </p:cNvPicPr>
          <p:nvPr/>
        </p:nvPicPr>
        <p:blipFill>
          <a:blip r:embed="rId3"/>
          <a:stretch>
            <a:fillRect/>
          </a:stretch>
        </p:blipFill>
        <p:spPr>
          <a:xfrm>
            <a:off x="384048" y="609796"/>
            <a:ext cx="8458200" cy="2974975"/>
          </a:xfrm>
          <a:prstGeom prst="rect">
            <a:avLst/>
          </a:prstGeom>
        </p:spPr>
      </p:pic>
      <p:pic>
        <p:nvPicPr>
          <p:cNvPr id="8" name="Picture 7">
            <a:extLst>
              <a:ext uri="{FF2B5EF4-FFF2-40B4-BE49-F238E27FC236}">
                <a16:creationId xmlns:a16="http://schemas.microsoft.com/office/drawing/2014/main" id="{4CE0BB31-BA54-6604-82C4-F3D74CB0EC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6465" y="3657600"/>
            <a:ext cx="8475783" cy="2616636"/>
          </a:xfrm>
          <a:prstGeom prst="rect">
            <a:avLst/>
          </a:prstGeom>
        </p:spPr>
      </p:pic>
    </p:spTree>
    <p:extLst>
      <p:ext uri="{BB962C8B-B14F-4D97-AF65-F5344CB8AC3E}">
        <p14:creationId xmlns:p14="http://schemas.microsoft.com/office/powerpoint/2010/main" val="21578367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5" name="Rectangle 1027"/>
          <p:cNvSpPr>
            <a:spLocks noGrp="1" noChangeArrowheads="1"/>
          </p:cNvSpPr>
          <p:nvPr>
            <p:ph idx="1"/>
          </p:nvPr>
        </p:nvSpPr>
        <p:spPr/>
        <p:txBody>
          <a:bodyPr>
            <a:normAutofit fontScale="92500" lnSpcReduction="10000"/>
          </a:bodyPr>
          <a:lstStyle/>
          <a:p>
            <a:pPr eaLnBrk="1" hangingPunct="1"/>
            <a:r>
              <a:rPr lang="en-US" b="1" u="sng" dirty="0">
                <a:ea typeface="ＭＳ Ｐゴシック" charset="0"/>
                <a:cs typeface="ＭＳ Ｐゴシック" charset="0"/>
              </a:rPr>
              <a:t>Nominal Interest Rate</a:t>
            </a:r>
          </a:p>
          <a:p>
            <a:pPr lvl="1" eaLnBrk="1" hangingPunct="1"/>
            <a:r>
              <a:rPr lang="en-US" dirty="0">
                <a:ea typeface="ＭＳ Ｐゴシック" charset="0"/>
              </a:rPr>
              <a:t>The stated, quoted, or promised interest rate</a:t>
            </a:r>
          </a:p>
          <a:p>
            <a:pPr lvl="1" eaLnBrk="1" hangingPunct="1"/>
            <a:r>
              <a:rPr lang="en-US" dirty="0">
                <a:ea typeface="ＭＳ Ｐゴシック" charset="0"/>
              </a:rPr>
              <a:t>Bank promises to pay you $110 in one year if you purchase a CD for $100.  </a:t>
            </a:r>
          </a:p>
          <a:p>
            <a:pPr lvl="2"/>
            <a:r>
              <a:rPr lang="en-US" b="1" i="1" dirty="0">
                <a:ea typeface="ＭＳ Ｐゴシック" charset="0"/>
              </a:rPr>
              <a:t>R</a:t>
            </a:r>
            <a:r>
              <a:rPr lang="en-US" b="1" i="1" baseline="-25000" dirty="0">
                <a:ea typeface="ＭＳ Ｐゴシック" charset="0"/>
              </a:rPr>
              <a:t>NOM</a:t>
            </a:r>
            <a:r>
              <a:rPr lang="en-US" dirty="0">
                <a:ea typeface="ＭＳ Ｐゴシック" charset="0"/>
              </a:rPr>
              <a:t> is 10%:  (110 – 100) / 100</a:t>
            </a:r>
          </a:p>
          <a:p>
            <a:pPr marL="0" indent="0" eaLnBrk="1" hangingPunct="1">
              <a:buNone/>
            </a:pPr>
            <a:endParaRPr lang="en-US" u="sng" dirty="0">
              <a:ea typeface="ＭＳ Ｐゴシック" charset="0"/>
              <a:cs typeface="ＭＳ Ｐゴシック" charset="0"/>
            </a:endParaRPr>
          </a:p>
          <a:p>
            <a:pPr eaLnBrk="1" hangingPunct="1"/>
            <a:r>
              <a:rPr lang="en-US" b="1" u="sng" dirty="0">
                <a:ea typeface="ＭＳ Ｐゴシック" charset="0"/>
                <a:cs typeface="ＭＳ Ｐゴシック" charset="0"/>
              </a:rPr>
              <a:t>Real Interest Rate</a:t>
            </a:r>
          </a:p>
          <a:p>
            <a:pPr lvl="1" eaLnBrk="1" hangingPunct="1"/>
            <a:r>
              <a:rPr lang="en-US" b="1" i="1" dirty="0">
                <a:ea typeface="ＭＳ Ｐゴシック" charset="0"/>
              </a:rPr>
              <a:t>R</a:t>
            </a:r>
            <a:r>
              <a:rPr lang="en-US" b="1" i="1" baseline="-25000" dirty="0">
                <a:ea typeface="ＭＳ Ｐゴシック" charset="0"/>
              </a:rPr>
              <a:t>REAL</a:t>
            </a:r>
            <a:r>
              <a:rPr lang="en-US" dirty="0">
                <a:ea typeface="ＭＳ Ｐゴシック" charset="0"/>
              </a:rPr>
              <a:t> is the increase </a:t>
            </a:r>
            <a:r>
              <a:rPr lang="en-US" i="1" dirty="0">
                <a:ea typeface="ＭＳ Ｐゴシック" charset="0"/>
              </a:rPr>
              <a:t>in purchasing power</a:t>
            </a:r>
            <a:r>
              <a:rPr lang="en-US" dirty="0">
                <a:ea typeface="ＭＳ Ｐゴシック" charset="0"/>
              </a:rPr>
              <a:t> (</a:t>
            </a:r>
            <a:r>
              <a:rPr lang="en-US" b="1" u="sng" dirty="0">
                <a:ea typeface="ＭＳ Ｐゴシック" charset="0"/>
              </a:rPr>
              <a:t>after inflation</a:t>
            </a:r>
            <a:r>
              <a:rPr lang="en-US" dirty="0">
                <a:ea typeface="ＭＳ Ｐゴシック" charset="0"/>
              </a:rPr>
              <a:t>) from an investment</a:t>
            </a:r>
          </a:p>
          <a:p>
            <a:endParaRPr lang="en-US" b="1" i="1" dirty="0">
              <a:ea typeface="ＭＳ Ｐゴシック" charset="0"/>
              <a:cs typeface="ＭＳ Ｐゴシック" charset="0"/>
            </a:endParaRPr>
          </a:p>
          <a:p>
            <a:r>
              <a:rPr lang="en-US" b="1" i="1" dirty="0">
                <a:ea typeface="ＭＳ Ｐゴシック" charset="0"/>
                <a:cs typeface="ＭＳ Ｐゴシック" charset="0"/>
              </a:rPr>
              <a:t>R</a:t>
            </a:r>
            <a:r>
              <a:rPr lang="en-US" b="1" i="1" baseline="-25000" dirty="0">
                <a:ea typeface="ＭＳ Ｐゴシック" charset="0"/>
                <a:cs typeface="ＭＳ Ｐゴシック" charset="0"/>
              </a:rPr>
              <a:t>f</a:t>
            </a:r>
            <a:r>
              <a:rPr lang="en-US" dirty="0">
                <a:ea typeface="ＭＳ Ｐゴシック" charset="0"/>
                <a:cs typeface="ＭＳ Ｐゴシック" charset="0"/>
              </a:rPr>
              <a:t> is 6%, and the CPI is 300 today.  Assume that the CPI will be 309 next year (a 3% increase).  If you invest $100 at </a:t>
            </a:r>
            <a:r>
              <a:rPr lang="en-US" b="1" i="1" dirty="0">
                <a:ea typeface="ＭＳ Ｐゴシック" charset="0"/>
                <a:cs typeface="ＭＳ Ｐゴシック" charset="0"/>
              </a:rPr>
              <a:t>R</a:t>
            </a:r>
            <a:r>
              <a:rPr lang="en-US" b="1" i="1" baseline="-25000" dirty="0">
                <a:ea typeface="ＭＳ Ｐゴシック" charset="0"/>
                <a:cs typeface="ＭＳ Ｐゴシック" charset="0"/>
              </a:rPr>
              <a:t>f</a:t>
            </a:r>
            <a:r>
              <a:rPr lang="en-US" dirty="0">
                <a:ea typeface="ＭＳ Ｐゴシック" charset="0"/>
                <a:cs typeface="ＭＳ Ｐゴシック" charset="0"/>
              </a:rPr>
              <a:t>, what are the </a:t>
            </a:r>
            <a:r>
              <a:rPr lang="en-US" b="1" dirty="0">
                <a:ea typeface="ＭＳ Ｐゴシック" charset="0"/>
                <a:cs typeface="ＭＳ Ｐゴシック" charset="0"/>
              </a:rPr>
              <a:t>nominal</a:t>
            </a:r>
            <a:r>
              <a:rPr lang="en-US" dirty="0">
                <a:ea typeface="ＭＳ Ｐゴシック" charset="0"/>
                <a:cs typeface="ＭＳ Ｐゴシック" charset="0"/>
              </a:rPr>
              <a:t> and </a:t>
            </a:r>
            <a:r>
              <a:rPr lang="en-US" b="1" dirty="0">
                <a:ea typeface="ＭＳ Ｐゴシック" charset="0"/>
                <a:cs typeface="ＭＳ Ｐゴシック" charset="0"/>
              </a:rPr>
              <a:t>real</a:t>
            </a:r>
            <a:r>
              <a:rPr lang="en-US" dirty="0">
                <a:ea typeface="ＭＳ Ｐゴシック" charset="0"/>
                <a:cs typeface="ＭＳ Ｐゴシック" charset="0"/>
              </a:rPr>
              <a:t> rates of return on this investment?</a:t>
            </a:r>
          </a:p>
          <a:p>
            <a:pPr lvl="1"/>
            <a:r>
              <a:rPr lang="en-US" b="1" i="1" dirty="0">
                <a:ea typeface="ＭＳ Ｐゴシック" charset="0"/>
                <a:cs typeface="ＭＳ Ｐゴシック" charset="0"/>
              </a:rPr>
              <a:t>R</a:t>
            </a:r>
            <a:r>
              <a:rPr lang="en-US" b="1" i="1" baseline="-25000" dirty="0">
                <a:ea typeface="ＭＳ Ｐゴシック" charset="0"/>
                <a:cs typeface="ＭＳ Ｐゴシック" charset="0"/>
              </a:rPr>
              <a:t>NOM:</a:t>
            </a:r>
            <a:r>
              <a:rPr lang="en-US" b="1" i="1" dirty="0">
                <a:ea typeface="ＭＳ Ｐゴシック" charset="0"/>
                <a:cs typeface="ＭＳ Ｐゴシック" charset="0"/>
              </a:rPr>
              <a:t> </a:t>
            </a:r>
            <a:r>
              <a:rPr lang="en-US" b="1" dirty="0">
                <a:ea typeface="ＭＳ Ｐゴシック" charset="0"/>
                <a:cs typeface="ＭＳ Ｐゴシック" charset="0"/>
              </a:rPr>
              <a:t>?</a:t>
            </a:r>
          </a:p>
          <a:p>
            <a:pPr lvl="1"/>
            <a:r>
              <a:rPr lang="en-US" b="1" i="1" dirty="0">
                <a:ea typeface="ＭＳ Ｐゴシック" charset="0"/>
                <a:cs typeface="ＭＳ Ｐゴシック" charset="0"/>
              </a:rPr>
              <a:t>R</a:t>
            </a:r>
            <a:r>
              <a:rPr lang="en-US" b="1" i="1" baseline="-25000" dirty="0">
                <a:ea typeface="ＭＳ Ｐゴシック" charset="0"/>
                <a:cs typeface="ＭＳ Ｐゴシック" charset="0"/>
              </a:rPr>
              <a:t>REAL</a:t>
            </a:r>
            <a:r>
              <a:rPr lang="en-US" dirty="0">
                <a:ea typeface="ＭＳ Ｐゴシック" charset="0"/>
                <a:cs typeface="ＭＳ Ｐゴシック" charset="0"/>
              </a:rPr>
              <a:t>: </a:t>
            </a:r>
            <a:r>
              <a:rPr lang="en-US" b="1" dirty="0">
                <a:ea typeface="ＭＳ Ｐゴシック" charset="0"/>
                <a:cs typeface="ＭＳ Ｐゴシック" charset="0"/>
              </a:rPr>
              <a:t>?</a:t>
            </a:r>
          </a:p>
          <a:p>
            <a:pPr marL="285750" indent="-285750"/>
            <a:endParaRPr lang="en-US" dirty="0">
              <a:ea typeface="ＭＳ Ｐゴシック" charset="0"/>
              <a:cs typeface="ＭＳ Ｐゴシック" charset="0"/>
            </a:endParaRPr>
          </a:p>
          <a:p>
            <a:pPr marL="285750" indent="-285750"/>
            <a:r>
              <a:rPr lang="en-US" dirty="0">
                <a:ea typeface="ＭＳ Ｐゴシック" charset="0"/>
                <a:cs typeface="ＭＳ Ｐゴシック" charset="0"/>
              </a:rPr>
              <a:t>For small interest and inflation rates</a:t>
            </a:r>
          </a:p>
          <a:p>
            <a:pPr lvl="1"/>
            <a:r>
              <a:rPr lang="en-US" b="1" i="1" dirty="0">
                <a:ea typeface="ＭＳ Ｐゴシック" charset="0"/>
              </a:rPr>
              <a:t> R</a:t>
            </a:r>
            <a:r>
              <a:rPr lang="en-US" b="1" i="1" baseline="-25000" dirty="0">
                <a:ea typeface="ＭＳ Ｐゴシック" charset="0"/>
              </a:rPr>
              <a:t>REAL</a:t>
            </a:r>
            <a:r>
              <a:rPr lang="en-US" b="1" i="1" dirty="0">
                <a:ea typeface="ＭＳ Ｐゴシック" charset="0"/>
              </a:rPr>
              <a:t> ≈ R</a:t>
            </a:r>
            <a:r>
              <a:rPr lang="en-US" b="1" i="1" baseline="-25000" dirty="0">
                <a:ea typeface="ＭＳ Ｐゴシック" charset="0"/>
              </a:rPr>
              <a:t>NOM </a:t>
            </a:r>
            <a:r>
              <a:rPr lang="en-US" b="1" i="1" dirty="0">
                <a:ea typeface="ＭＳ Ｐゴシック" charset="0"/>
              </a:rPr>
              <a:t>- R</a:t>
            </a:r>
            <a:r>
              <a:rPr lang="en-US" b="1" i="1" baseline="-25000" dirty="0">
                <a:ea typeface="ＭＳ Ｐゴシック" charset="0"/>
              </a:rPr>
              <a:t>INF</a:t>
            </a:r>
            <a:endParaRPr lang="en-US" dirty="0">
              <a:ea typeface="ＭＳ Ｐゴシック" charset="0"/>
              <a:cs typeface="ＭＳ Ｐゴシック" charset="0"/>
            </a:endParaRPr>
          </a:p>
        </p:txBody>
      </p:sp>
      <p:sp>
        <p:nvSpPr>
          <p:cNvPr id="151554" name="Rectangle 1026"/>
          <p:cNvSpPr>
            <a:spLocks noGrp="1" noChangeArrowheads="1"/>
          </p:cNvSpPr>
          <p:nvPr>
            <p:ph type="title"/>
          </p:nvPr>
        </p:nvSpPr>
        <p:spPr/>
        <p:txBody>
          <a:bodyPr/>
          <a:lstStyle/>
          <a:p>
            <a:pPr eaLnBrk="1" hangingPunct="1"/>
            <a:r>
              <a:rPr lang="en-US" b="1" dirty="0">
                <a:ea typeface="ＭＳ Ｐゴシック" charset="0"/>
                <a:cs typeface="ＭＳ Ｐゴシック" charset="0"/>
              </a:rPr>
              <a:t>Real and Nominal Interest Rates</a:t>
            </a:r>
            <a:endParaRPr lang="en-US" dirty="0">
              <a:ea typeface="ＭＳ Ｐゴシック" charset="0"/>
              <a:cs typeface="ＭＳ Ｐゴシック" charset="0"/>
            </a:endParaRPr>
          </a:p>
        </p:txBody>
      </p:sp>
      <p:sp>
        <p:nvSpPr>
          <p:cNvPr id="30725" name="Footer Placeholder 5"/>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 name="Slide Number Placeholder 1">
            <a:extLst>
              <a:ext uri="{FF2B5EF4-FFF2-40B4-BE49-F238E27FC236}">
                <a16:creationId xmlns:a16="http://schemas.microsoft.com/office/drawing/2014/main" id="{37970CA7-7EC3-F44B-9DC6-EC5AF17CCDF0}"/>
              </a:ext>
            </a:extLst>
          </p:cNvPr>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155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155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1555">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1555">
                                            <p:txEl>
                                              <p:pRg st="2" end="2"/>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1555">
                                            <p:txEl>
                                              <p:pRg st="3" end="3"/>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51555">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155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1555">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1555">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1555">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1555">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5155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555" grpId="0" uiExpand="1" build="p"/>
      <p:bldP spid="15155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1027"/>
          <p:cNvSpPr>
            <a:spLocks noGrp="1" noChangeArrowheads="1"/>
          </p:cNvSpPr>
          <p:nvPr>
            <p:ph idx="1"/>
          </p:nvPr>
        </p:nvSpPr>
        <p:spPr/>
        <p:txBody>
          <a:bodyPr/>
          <a:lstStyle/>
          <a:p>
            <a:pPr marL="228600" indent="-228600" algn="ctr">
              <a:buNone/>
            </a:pPr>
            <a:r>
              <a:rPr lang="en-US" b="1" i="1" u="sng" dirty="0">
                <a:ea typeface="ＭＳ Ｐゴシック" charset="0"/>
                <a:cs typeface="ＭＳ Ｐゴシック" charset="0"/>
              </a:rPr>
              <a:t>McCormick &amp; </a:t>
            </a:r>
            <a:r>
              <a:rPr lang="en-US" b="1" i="1" u="sng" dirty="0" err="1">
                <a:ea typeface="ＭＳ Ｐゴシック" charset="0"/>
                <a:cs typeface="ＭＳ Ｐゴシック" charset="0"/>
              </a:rPr>
              <a:t>Schmicks</a:t>
            </a:r>
            <a:r>
              <a:rPr lang="en-US" b="1" i="1" u="sng" dirty="0">
                <a:ea typeface="ＭＳ Ｐゴシック" charset="0"/>
                <a:cs typeface="ＭＳ Ｐゴシック" charset="0"/>
              </a:rPr>
              <a:t> Seafood Restaurants Inc.</a:t>
            </a:r>
          </a:p>
          <a:p>
            <a:pPr marL="228600" indent="-228600">
              <a:buNone/>
            </a:pPr>
            <a:r>
              <a:rPr lang="en-US" sz="2000" i="1" dirty="0">
                <a:ea typeface="ＭＳ Ｐゴシック" charset="0"/>
                <a:cs typeface="ＭＳ Ｐゴシック" charset="0"/>
              </a:rPr>
              <a:t>Base Rent</a:t>
            </a:r>
            <a:r>
              <a:rPr lang="en-US" sz="2000" dirty="0">
                <a:ea typeface="ＭＳ Ｐゴシック" charset="0"/>
                <a:cs typeface="ＭＳ Ｐゴシック" charset="0"/>
              </a:rPr>
              <a:t>. Lessee covenants and agrees to pay to Lessor rentals for the leased Premises in the amount of $10,080.00 for each and every month during the term of the Lease on or before the first day of each month</a:t>
            </a:r>
          </a:p>
          <a:p>
            <a:pPr marL="228600" indent="-228600">
              <a:buNone/>
            </a:pPr>
            <a:endParaRPr lang="en-US" sz="2000" i="1" dirty="0">
              <a:ea typeface="ＭＳ Ｐゴシック" charset="0"/>
              <a:cs typeface="ＭＳ Ｐゴシック" charset="0"/>
            </a:endParaRPr>
          </a:p>
          <a:p>
            <a:pPr marL="228600" indent="-228600">
              <a:buNone/>
            </a:pPr>
            <a:r>
              <a:rPr lang="en-US" sz="2000" i="1" dirty="0">
                <a:ea typeface="ＭＳ Ｐゴシック" charset="0"/>
                <a:cs typeface="ＭＳ Ｐゴシック" charset="0"/>
              </a:rPr>
              <a:t>Rent for First Renewal Term</a:t>
            </a:r>
            <a:r>
              <a:rPr lang="en-US" sz="2000" dirty="0">
                <a:ea typeface="ＭＳ Ｐゴシック" charset="0"/>
                <a:cs typeface="ＭＳ Ｐゴシック" charset="0"/>
              </a:rPr>
              <a:t>.  The Base Rent for the first year of the First Renewal Term shall equal the dollar amount specified above increased by the percentage change in the Consumer Price Index comparing the Consumer Price Index figure for the calendar month immediately preceding the commencement of the Original Term and the Consumer Price Index for the calendar month preceding the commencement of the first lease year of the First Renewal Term; provided, however, that such fraction shall </a:t>
            </a:r>
            <a:r>
              <a:rPr lang="en-US" sz="2000" u="sng" dirty="0">
                <a:ea typeface="ＭＳ Ｐゴシック" charset="0"/>
                <a:cs typeface="ＭＳ Ｐゴシック" charset="0"/>
              </a:rPr>
              <a:t>not in any event result in a decrease in Base Rent</a:t>
            </a:r>
            <a:r>
              <a:rPr lang="en-US" sz="2000" dirty="0">
                <a:ea typeface="ＭＳ Ｐゴシック" charset="0"/>
                <a:cs typeface="ＭＳ Ｐゴシック" charset="0"/>
              </a:rPr>
              <a:t>. The Consumer Price Index shall mean the </a:t>
            </a:r>
            <a:r>
              <a:rPr lang="ja-JP" altLang="en-US" sz="2000" dirty="0">
                <a:ea typeface="ＭＳ Ｐゴシック" charset="0"/>
                <a:cs typeface="ＭＳ Ｐゴシック" charset="0"/>
              </a:rPr>
              <a:t>“</a:t>
            </a:r>
            <a:r>
              <a:rPr lang="en-US" sz="2000" i="1" dirty="0">
                <a:ea typeface="ＭＳ Ｐゴシック" charset="0"/>
                <a:cs typeface="ＭＳ Ｐゴシック" charset="0"/>
              </a:rPr>
              <a:t>All Urban Consumers--All Items--U.S. city average (1982-1984=100)</a:t>
            </a:r>
            <a:r>
              <a:rPr lang="en-US" sz="2000" dirty="0">
                <a:ea typeface="ＭＳ Ｐゴシック" charset="0"/>
                <a:cs typeface="ＭＳ Ｐゴシック" charset="0"/>
              </a:rPr>
              <a:t> published by the United States Department of Labor</a:t>
            </a:r>
          </a:p>
        </p:txBody>
      </p:sp>
      <p:sp>
        <p:nvSpPr>
          <p:cNvPr id="33795" name="Rectangle 1026"/>
          <p:cNvSpPr>
            <a:spLocks noGrp="1" noChangeArrowheads="1"/>
          </p:cNvSpPr>
          <p:nvPr>
            <p:ph type="title"/>
          </p:nvPr>
        </p:nvSpPr>
        <p:spPr/>
        <p:txBody>
          <a:bodyPr/>
          <a:lstStyle/>
          <a:p>
            <a:pPr eaLnBrk="1" hangingPunct="1"/>
            <a:r>
              <a:rPr lang="en-US" b="1" dirty="0">
                <a:ea typeface="ＭＳ Ｐゴシック" charset="0"/>
                <a:cs typeface="ＭＳ Ｐゴシック" charset="0"/>
              </a:rPr>
              <a:t>Legal Application: Rental Inflation Escalation Clause Example</a:t>
            </a:r>
            <a:endParaRPr lang="en-US" dirty="0">
              <a:ea typeface="ＭＳ Ｐゴシック" charset="0"/>
              <a:cs typeface="ＭＳ Ｐゴシック" charset="0"/>
            </a:endParaRPr>
          </a:p>
        </p:txBody>
      </p:sp>
      <p:sp>
        <p:nvSpPr>
          <p:cNvPr id="33797" name="Footer Placeholder 5"/>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 name="Slide Number Placeholder 1">
            <a:extLst>
              <a:ext uri="{FF2B5EF4-FFF2-40B4-BE49-F238E27FC236}">
                <a16:creationId xmlns:a16="http://schemas.microsoft.com/office/drawing/2014/main" id="{1A450D98-DA83-2C47-BF49-13E38B38D0A5}"/>
              </a:ext>
            </a:extLst>
          </p:cNvPr>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a:extLst>
              <a:ext uri="{FF2B5EF4-FFF2-40B4-BE49-F238E27FC236}">
                <a16:creationId xmlns:a16="http://schemas.microsoft.com/office/drawing/2014/main" id="{5C3420AB-FFBA-6687-B11B-803F225D8EBE}"/>
              </a:ext>
            </a:extLst>
          </p:cNvPr>
          <p:cNvGraphicFramePr>
            <a:graphicFrameLocks noGrp="1"/>
          </p:cNvGraphicFramePr>
          <p:nvPr>
            <p:ph idx="1"/>
            <p:extLst>
              <p:ext uri="{D42A27DB-BD31-4B8C-83A1-F6EECF244321}">
                <p14:modId xmlns:p14="http://schemas.microsoft.com/office/powerpoint/2010/main" val="591355783"/>
              </p:ext>
            </p:extLst>
          </p:nvPr>
        </p:nvGraphicFramePr>
        <p:xfrm>
          <a:off x="384175" y="533400"/>
          <a:ext cx="8458200" cy="5595463"/>
        </p:xfrm>
        <a:graphic>
          <a:graphicData uri="http://schemas.openxmlformats.org/drawingml/2006/table">
            <a:tbl>
              <a:tblPr firstRow="1" bandRow="1">
                <a:tableStyleId>{0E3FDE45-AF77-4B5C-9715-49D594BDF05E}</a:tableStyleId>
              </a:tblPr>
              <a:tblGrid>
                <a:gridCol w="2114550">
                  <a:extLst>
                    <a:ext uri="{9D8B030D-6E8A-4147-A177-3AD203B41FA5}">
                      <a16:colId xmlns:a16="http://schemas.microsoft.com/office/drawing/2014/main" val="363592733"/>
                    </a:ext>
                  </a:extLst>
                </a:gridCol>
                <a:gridCol w="2114550">
                  <a:extLst>
                    <a:ext uri="{9D8B030D-6E8A-4147-A177-3AD203B41FA5}">
                      <a16:colId xmlns:a16="http://schemas.microsoft.com/office/drawing/2014/main" val="3907999139"/>
                    </a:ext>
                  </a:extLst>
                </a:gridCol>
                <a:gridCol w="2114550">
                  <a:extLst>
                    <a:ext uri="{9D8B030D-6E8A-4147-A177-3AD203B41FA5}">
                      <a16:colId xmlns:a16="http://schemas.microsoft.com/office/drawing/2014/main" val="743228971"/>
                    </a:ext>
                  </a:extLst>
                </a:gridCol>
                <a:gridCol w="2114550">
                  <a:extLst>
                    <a:ext uri="{9D8B030D-6E8A-4147-A177-3AD203B41FA5}">
                      <a16:colId xmlns:a16="http://schemas.microsoft.com/office/drawing/2014/main" val="373318483"/>
                    </a:ext>
                  </a:extLst>
                </a:gridCol>
              </a:tblGrid>
              <a:tr h="688183">
                <a:tc>
                  <a:txBody>
                    <a:bodyPr/>
                    <a:lstStyle/>
                    <a:p>
                      <a:pPr marL="0" indent="0" algn="ctr">
                        <a:buNone/>
                      </a:pPr>
                      <a:r>
                        <a:rPr lang="en-US" sz="1400" b="1" dirty="0">
                          <a:solidFill>
                            <a:schemeClr val="tx1"/>
                          </a:solidFill>
                        </a:rPr>
                        <a:t>Mechanism</a:t>
                      </a:r>
                      <a:endParaRPr lang="en-US" sz="1400" dirty="0">
                        <a:solidFill>
                          <a:schemeClr val="tx1"/>
                        </a:solidFill>
                        <a:latin typeface="Calibri" charset="0"/>
                        <a:ea typeface="Calibri" charset="0"/>
                        <a:cs typeface="Calibri" charset="0"/>
                      </a:endParaRPr>
                    </a:p>
                  </a:txBody>
                  <a:tcPr marL="50800" marR="50800" marT="38100" marB="38100" anchor="ctr">
                    <a:solidFill>
                      <a:schemeClr val="accent3">
                        <a:lumMod val="10000"/>
                        <a:lumOff val="90000"/>
                      </a:schemeClr>
                    </a:solidFill>
                  </a:tcPr>
                </a:tc>
                <a:tc>
                  <a:txBody>
                    <a:bodyPr/>
                    <a:lstStyle/>
                    <a:p>
                      <a:pPr marL="0" indent="0" algn="ctr">
                        <a:buNone/>
                      </a:pPr>
                      <a:r>
                        <a:rPr lang="en-US" sz="1400" b="1" kern="1200" dirty="0">
                          <a:solidFill>
                            <a:schemeClr val="tx1"/>
                          </a:solidFill>
                          <a:latin typeface="+mn-lt"/>
                          <a:ea typeface="+mn-ea"/>
                          <a:cs typeface="+mn-cs"/>
                        </a:rPr>
                        <a:t>How It Works</a:t>
                      </a:r>
                    </a:p>
                  </a:txBody>
                  <a:tcPr marL="50800" marR="50800" marT="38100" marB="38100" anchor="ctr">
                    <a:solidFill>
                      <a:schemeClr val="accent3">
                        <a:lumMod val="10000"/>
                        <a:lumOff val="90000"/>
                      </a:schemeClr>
                    </a:solidFill>
                  </a:tcPr>
                </a:tc>
                <a:tc>
                  <a:txBody>
                    <a:bodyPr/>
                    <a:lstStyle/>
                    <a:p>
                      <a:pPr marL="0" indent="0" algn="ctr">
                        <a:buNone/>
                      </a:pPr>
                      <a:r>
                        <a:rPr lang="en-US" sz="1400" b="1" kern="1200" dirty="0">
                          <a:solidFill>
                            <a:schemeClr val="tx1"/>
                          </a:solidFill>
                          <a:latin typeface="+mn-lt"/>
                          <a:ea typeface="+mn-ea"/>
                          <a:cs typeface="+mn-cs"/>
                        </a:rPr>
                        <a:t>Cap / Floor</a:t>
                      </a:r>
                    </a:p>
                  </a:txBody>
                  <a:tcPr marL="50800" marR="50800" marT="38100" marB="38100" anchor="ctr">
                    <a:solidFill>
                      <a:schemeClr val="accent3">
                        <a:lumMod val="10000"/>
                        <a:lumOff val="90000"/>
                      </a:schemeClr>
                    </a:solidFill>
                  </a:tcPr>
                </a:tc>
                <a:tc>
                  <a:txBody>
                    <a:bodyPr/>
                    <a:lstStyle/>
                    <a:p>
                      <a:pPr marL="0" indent="0" algn="ctr">
                        <a:buNone/>
                      </a:pPr>
                      <a:r>
                        <a:rPr lang="en-US" sz="1400" b="1" kern="1200" dirty="0">
                          <a:solidFill>
                            <a:schemeClr val="tx1"/>
                          </a:solidFill>
                          <a:latin typeface="+mn-lt"/>
                          <a:ea typeface="+mn-ea"/>
                          <a:cs typeface="+mn-cs"/>
                        </a:rPr>
                        <a:t>Common Industries</a:t>
                      </a:r>
                    </a:p>
                  </a:txBody>
                  <a:tcPr marL="50800" marR="50800" marT="38100" marB="38100" anchor="ctr">
                    <a:solidFill>
                      <a:schemeClr val="accent3">
                        <a:lumMod val="10000"/>
                        <a:lumOff val="90000"/>
                      </a:schemeClr>
                    </a:solidFill>
                  </a:tcPr>
                </a:tc>
                <a:extLst>
                  <a:ext uri="{0D108BD9-81ED-4DB2-BD59-A6C34878D82A}">
                    <a16:rowId xmlns:a16="http://schemas.microsoft.com/office/drawing/2014/main" val="2642938547"/>
                  </a:ext>
                </a:extLst>
              </a:tr>
              <a:tr h="688183">
                <a:tc>
                  <a:txBody>
                    <a:bodyPr/>
                    <a:lstStyle/>
                    <a:p>
                      <a:pPr marL="0" indent="0" algn="ctr">
                        <a:buNone/>
                      </a:pPr>
                      <a:r>
                        <a:rPr lang="en-US" sz="1400" b="1" dirty="0">
                          <a:solidFill>
                            <a:srgbClr val="1F1D1A"/>
                          </a:solidFill>
                        </a:rPr>
                        <a:t>Fixed annual escalator</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Rent or price increases by a set percentage (e.g., 2–3%) each year</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The fixed rate itself functions as both the cap and the floor: increase is the same regardless of actual inflation</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Real estate, telecom towers, entertainment venues</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1954930680"/>
                  </a:ext>
                </a:extLst>
              </a:tr>
              <a:tr h="875870">
                <a:tc>
                  <a:txBody>
                    <a:bodyPr/>
                    <a:lstStyle/>
                    <a:p>
                      <a:pPr marL="0" indent="0" algn="ctr">
                        <a:buNone/>
                      </a:pPr>
                      <a:r>
                        <a:rPr lang="en-US" sz="1400" b="1" dirty="0">
                          <a:solidFill>
                            <a:srgbClr val="1F1D1A"/>
                          </a:solidFill>
                        </a:rPr>
                        <a:t>CPI-linked adjustment</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Price adjusts annually by the change in CPI-U or a similar index</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Often subject to a floor (e.g., 0–1% minimum increase) and a cap (e.g., 3–5% maximum increase) to protect both parties against deflation and runaway inflation</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Energy PPAs, long-term supply agreements, government-adjacent contracts</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442971289"/>
                  </a:ext>
                </a:extLst>
              </a:tr>
              <a:tr h="875870">
                <a:tc>
                  <a:txBody>
                    <a:bodyPr/>
                    <a:lstStyle/>
                    <a:p>
                      <a:pPr marL="0" indent="0" algn="ctr">
                        <a:buNone/>
                      </a:pPr>
                      <a:r>
                        <a:rPr lang="en-US" sz="1400" b="1" dirty="0">
                          <a:solidFill>
                            <a:srgbClr val="1F1D1A"/>
                          </a:solidFill>
                        </a:rPr>
                        <a:t>Cost pass-through</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Landlord passes through actual increases in operating costs (taxes, insurance, maintenance) to tenants</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Tenants may negotiate an annual cap on controllable operating expense increases (e.g., 5% per year) or a base-year stop; typically no floor: if costs decline, the pass-through decreases</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Commercial office and retail leases</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2321266579"/>
                  </a:ext>
                </a:extLst>
              </a:tr>
              <a:tr h="1063556">
                <a:tc>
                  <a:txBody>
                    <a:bodyPr/>
                    <a:lstStyle/>
                    <a:p>
                      <a:pPr marL="0" indent="0" algn="ctr">
                        <a:buNone/>
                      </a:pPr>
                      <a:r>
                        <a:rPr lang="en-US" sz="1400" b="1" dirty="0">
                          <a:solidFill>
                            <a:srgbClr val="1F1D1A"/>
                          </a:solidFill>
                        </a:rPr>
                        <a:t>Index-based commodity adjustment</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Contract price adjusts based on a commodity-specific index (e.g., BLS Producer Price Index)</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May impose a maximum percentage cap on annual upward adjustments and may include a minimum threshold below which no adjustment is made; some clauses allow both upward and downward movement with no explicit cap</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Equipment supply, construction, manufacturing</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1879101526"/>
                  </a:ext>
                </a:extLst>
              </a:tr>
              <a:tr h="688183">
                <a:tc>
                  <a:txBody>
                    <a:bodyPr/>
                    <a:lstStyle/>
                    <a:p>
                      <a:pPr marL="0" indent="0" algn="ctr">
                        <a:buNone/>
                      </a:pPr>
                      <a:r>
                        <a:rPr lang="en-US" sz="1400" b="1" dirty="0">
                          <a:solidFill>
                            <a:srgbClr val="1F1D1A"/>
                          </a:solidFill>
                        </a:rPr>
                        <a:t>Periodic market reset</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Rent or price is reset to market rates at defined intervals or renewal periods</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May include a floor equal to the prior rent (i.e., rent cannot decrease at renewal) or a collar (e.g., ±10% of current rent)</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Telecom tower leases, office leases</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1905306223"/>
                  </a:ext>
                </a:extLst>
              </a:tr>
            </a:tbl>
          </a:graphicData>
        </a:graphic>
      </p:graphicFrame>
      <p:sp>
        <p:nvSpPr>
          <p:cNvPr id="3" name="Title 2">
            <a:extLst>
              <a:ext uri="{FF2B5EF4-FFF2-40B4-BE49-F238E27FC236}">
                <a16:creationId xmlns:a16="http://schemas.microsoft.com/office/drawing/2014/main" id="{B5DBB4A9-A335-C0A8-D6E2-EA488CC8811C}"/>
              </a:ext>
            </a:extLst>
          </p:cNvPr>
          <p:cNvSpPr>
            <a:spLocks noGrp="1"/>
          </p:cNvSpPr>
          <p:nvPr>
            <p:ph type="title"/>
          </p:nvPr>
        </p:nvSpPr>
        <p:spPr/>
        <p:txBody>
          <a:bodyPr/>
          <a:lstStyle/>
          <a:p>
            <a:r>
              <a:rPr lang="en-US" dirty="0"/>
              <a:t>Legal Application: Escalation Clauses</a:t>
            </a:r>
          </a:p>
        </p:txBody>
      </p:sp>
      <p:sp>
        <p:nvSpPr>
          <p:cNvPr id="4" name="Slide Number Placeholder 3">
            <a:extLst>
              <a:ext uri="{FF2B5EF4-FFF2-40B4-BE49-F238E27FC236}">
                <a16:creationId xmlns:a16="http://schemas.microsoft.com/office/drawing/2014/main" id="{6360CD48-83F8-D332-EBE8-157FA1E9FA13}"/>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5" name="Footer Placeholder 4">
            <a:extLst>
              <a:ext uri="{FF2B5EF4-FFF2-40B4-BE49-F238E27FC236}">
                <a16:creationId xmlns:a16="http://schemas.microsoft.com/office/drawing/2014/main" id="{98BDB6C5-851D-88F7-73D1-021A611D13B1}"/>
              </a:ext>
            </a:extLst>
          </p:cNvPr>
          <p:cNvSpPr>
            <a:spLocks noGrp="1"/>
          </p:cNvSpPr>
          <p:nvPr>
            <p:ph type="ftr" sz="quarter" idx="11"/>
          </p:nvPr>
        </p:nvSpPr>
        <p:spPr/>
        <p:txBody>
          <a:bodyPr/>
          <a:lstStyle/>
          <a:p>
            <a:pPr>
              <a:defRPr/>
            </a:pPr>
            <a:r>
              <a:rPr lang="en-US"/>
              <a:t>Varying Rates of Return</a:t>
            </a:r>
            <a:endParaRPr lang="en-US" dirty="0"/>
          </a:p>
        </p:txBody>
      </p:sp>
    </p:spTree>
    <p:extLst>
      <p:ext uri="{BB962C8B-B14F-4D97-AF65-F5344CB8AC3E}">
        <p14:creationId xmlns:p14="http://schemas.microsoft.com/office/powerpoint/2010/main" val="25712606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p:txBody>
          <a:bodyPr/>
          <a:lstStyle/>
          <a:p>
            <a:pPr marL="342900" indent="-342900"/>
            <a:r>
              <a:rPr lang="en-US" dirty="0">
                <a:ea typeface="ＭＳ Ｐゴシック" charset="0"/>
                <a:cs typeface="ＭＳ Ｐゴシック" charset="0"/>
              </a:rPr>
              <a:t>A bond is a legally binding agreement between a borrower and a lender:</a:t>
            </a:r>
          </a:p>
          <a:p>
            <a:pPr marL="742950" lvl="1" indent="-285750"/>
            <a:r>
              <a:rPr lang="en-US" dirty="0">
                <a:ea typeface="ＭＳ Ｐゴシック" charset="0"/>
              </a:rPr>
              <a:t>Specifies the principal amount of the loan.</a:t>
            </a:r>
          </a:p>
          <a:p>
            <a:pPr marL="742950" lvl="1" indent="-285750"/>
            <a:r>
              <a:rPr lang="en-US" dirty="0">
                <a:ea typeface="ＭＳ Ｐゴシック" charset="0"/>
              </a:rPr>
              <a:t>Specifies the size and timing of the cash flows:</a:t>
            </a:r>
          </a:p>
          <a:p>
            <a:pPr marL="1143000" lvl="2" indent="-228600"/>
            <a:r>
              <a:rPr lang="en-US" dirty="0">
                <a:ea typeface="ＭＳ Ｐゴシック" charset="0"/>
              </a:rPr>
              <a:t>   In dollar terms (fixed-rate borrowing), or </a:t>
            </a:r>
          </a:p>
          <a:p>
            <a:pPr marL="1143000" lvl="2" indent="-228600"/>
            <a:r>
              <a:rPr lang="en-US" dirty="0">
                <a:ea typeface="ＭＳ Ｐゴシック" charset="0"/>
              </a:rPr>
              <a:t>   As a formula (adjustable-rate borrowing, e.g., SOFR +2% </a:t>
            </a:r>
            <a:r>
              <a:rPr lang="en-US" strike="sngStrike" dirty="0">
                <a:ea typeface="ＭＳ Ｐゴシック" charset="0"/>
              </a:rPr>
              <a:t>LIBOR</a:t>
            </a:r>
            <a:r>
              <a:rPr lang="en-US" dirty="0">
                <a:ea typeface="ＭＳ Ｐゴシック" charset="0"/>
              </a:rPr>
              <a:t>)</a:t>
            </a:r>
          </a:p>
          <a:p>
            <a:pPr marL="342900" indent="-342900"/>
            <a:r>
              <a:rPr lang="en-US" b="1" u="sng" dirty="0">
                <a:ea typeface="ＭＳ Ｐゴシック" charset="0"/>
                <a:cs typeface="ＭＳ Ｐゴシック" charset="0"/>
              </a:rPr>
              <a:t>Treasuries</a:t>
            </a:r>
            <a:r>
              <a:rPr lang="en-US" dirty="0">
                <a:ea typeface="ＭＳ Ｐゴシック" charset="0"/>
                <a:cs typeface="ＭＳ Ｐゴシック" charset="0"/>
              </a:rPr>
              <a:t>:  </a:t>
            </a:r>
          </a:p>
          <a:p>
            <a:pPr marL="742950" lvl="1" indent="-285750"/>
            <a:r>
              <a:rPr lang="en-US" dirty="0">
                <a:ea typeface="ＭＳ Ｐゴシック" charset="0"/>
              </a:rPr>
              <a:t>Bills:  	Term of 13-52 weeks and no coupon</a:t>
            </a:r>
          </a:p>
          <a:p>
            <a:pPr marL="742950" lvl="1" indent="-285750"/>
            <a:r>
              <a:rPr lang="en-US" dirty="0">
                <a:ea typeface="ＭＳ Ｐゴシック" charset="0"/>
              </a:rPr>
              <a:t>Notes:  	Term of 1-10 years and semi-annual coupon</a:t>
            </a:r>
          </a:p>
          <a:p>
            <a:pPr marL="742950" lvl="1" indent="-285750"/>
            <a:r>
              <a:rPr lang="en-US" dirty="0">
                <a:ea typeface="ＭＳ Ｐゴシック" charset="0"/>
              </a:rPr>
              <a:t>Bonds: 	Term of 10-30 years and semi-annual coupon</a:t>
            </a:r>
          </a:p>
          <a:p>
            <a:pPr marL="742950" lvl="1" indent="-285750"/>
            <a:endParaRPr lang="en-US" dirty="0">
              <a:ea typeface="ＭＳ Ｐゴシック" charset="0"/>
            </a:endParaRPr>
          </a:p>
          <a:p>
            <a:pPr marL="342900" indent="-342900"/>
            <a:r>
              <a:rPr lang="en-US" b="1" u="sng" dirty="0">
                <a:ea typeface="ＭＳ Ｐゴシック" charset="0"/>
                <a:cs typeface="ＭＳ Ｐゴシック" charset="0"/>
              </a:rPr>
              <a:t>Price Quotes:  </a:t>
            </a:r>
            <a:r>
              <a:rPr lang="en-US" dirty="0">
                <a:ea typeface="ＭＳ Ｐゴシック" charset="0"/>
              </a:rPr>
              <a:t>100:01 [% of face + n/32], sometimes</a:t>
            </a:r>
          </a:p>
          <a:p>
            <a:pPr marL="342900" indent="-342900"/>
            <a:endParaRPr lang="en-US" b="1" u="sng" dirty="0">
              <a:ea typeface="ＭＳ Ｐゴシック" charset="0"/>
              <a:cs typeface="ＭＳ Ｐゴシック" charset="0"/>
            </a:endParaRPr>
          </a:p>
          <a:p>
            <a:pPr marL="342900" indent="-342900"/>
            <a:r>
              <a:rPr lang="en-US" b="1" u="sng" dirty="0">
                <a:ea typeface="ＭＳ Ｐゴシック" charset="0"/>
                <a:cs typeface="ＭＳ Ｐゴシック" charset="0"/>
              </a:rPr>
              <a:t>Basis Point</a:t>
            </a:r>
            <a:r>
              <a:rPr lang="en-US" dirty="0">
                <a:ea typeface="ＭＳ Ｐゴシック" charset="0"/>
                <a:cs typeface="ＭＳ Ｐゴシック" charset="0"/>
              </a:rPr>
              <a:t>:  1% of 1%, or .0001:  100 bps = 1%</a:t>
            </a:r>
          </a:p>
        </p:txBody>
      </p:sp>
      <p:sp>
        <p:nvSpPr>
          <p:cNvPr id="34819"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Bond Definition</a:t>
            </a:r>
            <a:endParaRPr lang="en-US">
              <a:ea typeface="ＭＳ Ｐゴシック" charset="0"/>
              <a:cs typeface="ＭＳ Ｐゴシック" charset="0"/>
            </a:endParaRPr>
          </a:p>
        </p:txBody>
      </p:sp>
      <p:sp>
        <p:nvSpPr>
          <p:cNvPr id="34821" name="Footer Placeholder 5"/>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 name="Slide Number Placeholder 1">
            <a:extLst>
              <a:ext uri="{FF2B5EF4-FFF2-40B4-BE49-F238E27FC236}">
                <a16:creationId xmlns:a16="http://schemas.microsoft.com/office/drawing/2014/main" id="{C7F4B97F-1380-8947-8C26-E0D5D9C84092}"/>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84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1843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1843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1843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499"/>
                                          </p:stCondLst>
                                        </p:cTn>
                                        <p:tgtEl>
                                          <p:spTgt spid="18435">
                                            <p:txEl>
                                              <p:pRg st="4" end="4"/>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843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1843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1843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499"/>
                                          </p:stCondLst>
                                        </p:cTn>
                                        <p:tgtEl>
                                          <p:spTgt spid="18435">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499"/>
                                          </p:stCondLst>
                                        </p:cTn>
                                        <p:tgtEl>
                                          <p:spTgt spid="18435">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499"/>
                                          </p:stCondLst>
                                        </p:cTn>
                                        <p:tgtEl>
                                          <p:spTgt spid="1843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35" grpId="0" build="p" autoUpdateAnimBg="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3"/>
          <p:cNvSpPr>
            <a:spLocks noGrp="1" noChangeArrowheads="1"/>
          </p:cNvSpPr>
          <p:nvPr>
            <p:ph idx="1"/>
          </p:nvPr>
        </p:nvSpPr>
        <p:spPr/>
        <p:txBody>
          <a:bodyPr/>
          <a:lstStyle/>
          <a:p>
            <a:pPr marL="342900" indent="-342900"/>
            <a:r>
              <a:rPr lang="en-US" sz="2800" dirty="0">
                <a:ea typeface="ＭＳ Ｐゴシック" charset="0"/>
                <a:cs typeface="ＭＳ Ｐゴシック" charset="0"/>
              </a:rPr>
              <a:t>U.S. government bond listed as 6-3/8 of December 2018.</a:t>
            </a:r>
          </a:p>
          <a:p>
            <a:pPr marL="742950" lvl="1" indent="-285750"/>
            <a:r>
              <a:rPr lang="en-US" sz="2400" dirty="0">
                <a:ea typeface="ＭＳ Ｐゴシック" charset="0"/>
              </a:rPr>
              <a:t>The</a:t>
            </a:r>
            <a:r>
              <a:rPr lang="en-US" sz="2400" b="1" dirty="0">
                <a:ea typeface="ＭＳ Ｐゴシック" charset="0"/>
              </a:rPr>
              <a:t> </a:t>
            </a:r>
            <a:r>
              <a:rPr lang="en-US" sz="2400" b="1" i="1" u="sng" dirty="0">
                <a:ea typeface="ＭＳ Ｐゴシック" charset="0"/>
              </a:rPr>
              <a:t>Par</a:t>
            </a:r>
            <a:r>
              <a:rPr lang="en-US" sz="2400" i="1" dirty="0">
                <a:ea typeface="ＭＳ Ｐゴシック" charset="0"/>
              </a:rPr>
              <a:t> or </a:t>
            </a:r>
            <a:r>
              <a:rPr lang="en-US" sz="2400" b="1" i="1" u="sng" dirty="0">
                <a:ea typeface="ＭＳ Ｐゴシック" charset="0"/>
              </a:rPr>
              <a:t>Face</a:t>
            </a:r>
            <a:r>
              <a:rPr lang="en-US" sz="2400" i="1" dirty="0">
                <a:ea typeface="ＭＳ Ｐゴシック" charset="0"/>
              </a:rPr>
              <a:t> Value</a:t>
            </a:r>
            <a:r>
              <a:rPr lang="en-US" sz="2400" dirty="0">
                <a:ea typeface="ＭＳ Ｐゴシック" charset="0"/>
              </a:rPr>
              <a:t> of the bond is $1,000.</a:t>
            </a:r>
          </a:p>
          <a:p>
            <a:pPr marL="742950" lvl="1" indent="-285750"/>
            <a:r>
              <a:rPr lang="en-US" sz="2400" b="1" i="1" u="sng" dirty="0">
                <a:ea typeface="ＭＳ Ｐゴシック" charset="0"/>
              </a:rPr>
              <a:t>Coupon payments</a:t>
            </a:r>
            <a:r>
              <a:rPr lang="en-US" sz="2400" dirty="0">
                <a:ea typeface="ＭＳ Ｐゴシック" charset="0"/>
              </a:rPr>
              <a:t> are made semi-annually (June 30 and December 31 for this particular bond).</a:t>
            </a:r>
          </a:p>
          <a:p>
            <a:pPr marL="742950" lvl="1" indent="-285750"/>
            <a:r>
              <a:rPr lang="en-US" sz="2400" dirty="0">
                <a:ea typeface="ＭＳ Ｐゴシック" charset="0"/>
              </a:rPr>
              <a:t>Since the </a:t>
            </a:r>
            <a:r>
              <a:rPr lang="en-US" sz="2400" b="1" i="1" dirty="0">
                <a:ea typeface="ＭＳ Ｐゴシック" charset="0"/>
              </a:rPr>
              <a:t>coupon rate</a:t>
            </a:r>
            <a:r>
              <a:rPr lang="en-US" sz="2400" dirty="0">
                <a:ea typeface="ＭＳ Ｐゴシック" charset="0"/>
              </a:rPr>
              <a:t> is 6 3/8, the s.a. payment is $31.875.</a:t>
            </a:r>
          </a:p>
          <a:p>
            <a:pPr marL="742950" lvl="1" indent="-285750"/>
            <a:r>
              <a:rPr lang="en-US" sz="2400" dirty="0">
                <a:ea typeface="ＭＳ Ｐゴシック" charset="0"/>
              </a:rPr>
              <a:t>On January 1, 2019, the size and timing of cash flows are:</a:t>
            </a:r>
          </a:p>
          <a:p>
            <a:pPr marL="342900" indent="-342900"/>
            <a:endParaRPr lang="en-US" dirty="0">
              <a:ea typeface="ＭＳ Ｐゴシック" charset="0"/>
              <a:cs typeface="ＭＳ Ｐゴシック" charset="0"/>
            </a:endParaRPr>
          </a:p>
        </p:txBody>
      </p:sp>
      <p:sp>
        <p:nvSpPr>
          <p:cNvPr id="8205"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Example of a U.S. Bond</a:t>
            </a:r>
            <a:endParaRPr lang="en-US">
              <a:ea typeface="ＭＳ Ｐゴシック" charset="0"/>
              <a:cs typeface="ＭＳ Ｐゴシック" charset="0"/>
            </a:endParaRPr>
          </a:p>
        </p:txBody>
      </p:sp>
      <p:sp>
        <p:nvSpPr>
          <p:cNvPr id="8214" name="Footer Placeholder 29"/>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8207" name="Text Box 4"/>
          <p:cNvSpPr txBox="1">
            <a:spLocks noChangeArrowheads="1"/>
          </p:cNvSpPr>
          <p:nvPr/>
        </p:nvSpPr>
        <p:spPr bwMode="auto">
          <a:xfrm>
            <a:off x="5659438" y="5181600"/>
            <a:ext cx="274320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grpSp>
        <p:nvGrpSpPr>
          <p:cNvPr id="2" name="Group 5"/>
          <p:cNvGrpSpPr>
            <a:grpSpLocks/>
          </p:cNvGrpSpPr>
          <p:nvPr/>
        </p:nvGrpSpPr>
        <p:grpSpPr bwMode="auto">
          <a:xfrm>
            <a:off x="1257300" y="4900616"/>
            <a:ext cx="6629400" cy="282576"/>
            <a:chOff x="816" y="3312"/>
            <a:chExt cx="4176" cy="178"/>
          </a:xfrm>
        </p:grpSpPr>
        <p:sp>
          <p:nvSpPr>
            <p:cNvPr id="8220" name="Line 6"/>
            <p:cNvSpPr>
              <a:spLocks noChangeShapeType="1"/>
            </p:cNvSpPr>
            <p:nvPr/>
          </p:nvSpPr>
          <p:spPr bwMode="auto">
            <a:xfrm>
              <a:off x="816" y="3401"/>
              <a:ext cx="1968"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8221" name="Line 7"/>
            <p:cNvSpPr>
              <a:spLocks noChangeShapeType="1"/>
            </p:cNvSpPr>
            <p:nvPr/>
          </p:nvSpPr>
          <p:spPr bwMode="auto">
            <a:xfrm>
              <a:off x="3312" y="3401"/>
              <a:ext cx="1680"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8203" name="Object 1033"/>
            <p:cNvGraphicFramePr>
              <a:graphicFrameLocks noChangeAspect="1"/>
            </p:cNvGraphicFramePr>
            <p:nvPr>
              <p:extLst>
                <p:ext uri="{D42A27DB-BD31-4B8C-83A1-F6EECF244321}">
                  <p14:modId xmlns:p14="http://schemas.microsoft.com/office/powerpoint/2010/main" val="4006726560"/>
                </p:ext>
              </p:extLst>
            </p:nvPr>
          </p:nvGraphicFramePr>
          <p:xfrm>
            <a:off x="2918" y="3312"/>
            <a:ext cx="280" cy="178"/>
          </p:xfrm>
          <a:graphic>
            <a:graphicData uri="http://schemas.openxmlformats.org/presentationml/2006/ole">
              <mc:AlternateContent xmlns:mc="http://schemas.openxmlformats.org/markup-compatibility/2006">
                <mc:Choice xmlns:v="urn:schemas-microsoft-com:vml" Requires="v">
                  <p:oleObj name="Equation" r:id="rId3" imgW="164520" imgH="91080" progId="Equation.3">
                    <p:embed/>
                  </p:oleObj>
                </mc:Choice>
                <mc:Fallback>
                  <p:oleObj name="Equation" r:id="rId3" imgW="164520" imgH="91080" progId="Equation.3">
                    <p:embed/>
                    <p:pic>
                      <p:nvPicPr>
                        <p:cNvPr id="8203" name="Object 103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8" y="3312"/>
                          <a:ext cx="280" cy="178"/>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sp>
        <p:nvSpPr>
          <p:cNvPr id="8219" name="Line 10"/>
          <p:cNvSpPr>
            <a:spLocks noChangeShapeType="1"/>
          </p:cNvSpPr>
          <p:nvPr/>
        </p:nvSpPr>
        <p:spPr bwMode="auto">
          <a:xfrm>
            <a:off x="1219200" y="4800602"/>
            <a:ext cx="0" cy="45720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nvGrpSpPr>
          <p:cNvPr id="4" name="Group 12"/>
          <p:cNvGrpSpPr>
            <a:grpSpLocks/>
          </p:cNvGrpSpPr>
          <p:nvPr/>
        </p:nvGrpSpPr>
        <p:grpSpPr bwMode="auto">
          <a:xfrm>
            <a:off x="1752600" y="4267201"/>
            <a:ext cx="1239838" cy="976313"/>
            <a:chOff x="1152" y="2937"/>
            <a:chExt cx="781" cy="615"/>
          </a:xfrm>
        </p:grpSpPr>
        <p:graphicFrame>
          <p:nvGraphicFramePr>
            <p:cNvPr id="8200" name="Object 1030"/>
            <p:cNvGraphicFramePr>
              <a:graphicFrameLocks noChangeAspect="1"/>
            </p:cNvGraphicFramePr>
            <p:nvPr/>
          </p:nvGraphicFramePr>
          <p:xfrm>
            <a:off x="1152" y="2937"/>
            <a:ext cx="781" cy="260"/>
          </p:xfrm>
          <a:graphic>
            <a:graphicData uri="http://schemas.openxmlformats.org/presentationml/2006/ole">
              <mc:AlternateContent xmlns:mc="http://schemas.openxmlformats.org/markup-compatibility/2006">
                <mc:Choice xmlns:v="urn:schemas-microsoft-com:vml" Requires="v">
                  <p:oleObj name="Equation" r:id="rId5" imgW="520920" imgH="164520" progId="Equation.3">
                    <p:embed/>
                  </p:oleObj>
                </mc:Choice>
                <mc:Fallback>
                  <p:oleObj name="Equation" r:id="rId5" imgW="520920" imgH="164520" progId="Equation.3">
                    <p:embed/>
                    <p:pic>
                      <p:nvPicPr>
                        <p:cNvPr id="8200" name="Object 103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52" y="2937"/>
                          <a:ext cx="781"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8218" name="Line 14"/>
            <p:cNvSpPr>
              <a:spLocks noChangeShapeType="1"/>
            </p:cNvSpPr>
            <p:nvPr/>
          </p:nvSpPr>
          <p:spPr bwMode="auto">
            <a:xfrm>
              <a:off x="1542" y="3264"/>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grpSp>
        <p:nvGrpSpPr>
          <p:cNvPr id="5" name="Group 16"/>
          <p:cNvGrpSpPr>
            <a:grpSpLocks/>
          </p:cNvGrpSpPr>
          <p:nvPr/>
        </p:nvGrpSpPr>
        <p:grpSpPr bwMode="auto">
          <a:xfrm>
            <a:off x="3373440" y="4267200"/>
            <a:ext cx="1241425" cy="987425"/>
            <a:chOff x="2129" y="2930"/>
            <a:chExt cx="782" cy="622"/>
          </a:xfrm>
        </p:grpSpPr>
        <p:graphicFrame>
          <p:nvGraphicFramePr>
            <p:cNvPr id="8198" name="Object 1028"/>
            <p:cNvGraphicFramePr>
              <a:graphicFrameLocks noChangeAspect="1"/>
            </p:cNvGraphicFramePr>
            <p:nvPr/>
          </p:nvGraphicFramePr>
          <p:xfrm>
            <a:off x="2129" y="2930"/>
            <a:ext cx="782" cy="259"/>
          </p:xfrm>
          <a:graphic>
            <a:graphicData uri="http://schemas.openxmlformats.org/presentationml/2006/ole">
              <mc:AlternateContent xmlns:mc="http://schemas.openxmlformats.org/markup-compatibility/2006">
                <mc:Choice xmlns:v="urn:schemas-microsoft-com:vml" Requires="v">
                  <p:oleObj name="Equation" r:id="rId7" imgW="520920" imgH="164520" progId="Equation.3">
                    <p:embed/>
                  </p:oleObj>
                </mc:Choice>
                <mc:Fallback>
                  <p:oleObj name="Equation" r:id="rId7" imgW="520920" imgH="164520" progId="Equation.3">
                    <p:embed/>
                    <p:pic>
                      <p:nvPicPr>
                        <p:cNvPr id="8198" name="Object 102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129" y="2930"/>
                          <a:ext cx="782"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8217" name="Line 18"/>
            <p:cNvSpPr>
              <a:spLocks noChangeShapeType="1"/>
            </p:cNvSpPr>
            <p:nvPr/>
          </p:nvSpPr>
          <p:spPr bwMode="auto">
            <a:xfrm>
              <a:off x="2520" y="3264"/>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grpSp>
        <p:nvGrpSpPr>
          <p:cNvPr id="6" name="Group 20"/>
          <p:cNvGrpSpPr>
            <a:grpSpLocks/>
          </p:cNvGrpSpPr>
          <p:nvPr/>
        </p:nvGrpSpPr>
        <p:grpSpPr bwMode="auto">
          <a:xfrm>
            <a:off x="5257800" y="4267202"/>
            <a:ext cx="1239838" cy="990600"/>
            <a:chOff x="3347" y="2928"/>
            <a:chExt cx="781" cy="624"/>
          </a:xfrm>
        </p:grpSpPr>
        <p:graphicFrame>
          <p:nvGraphicFramePr>
            <p:cNvPr id="8196" name="Object 1026"/>
            <p:cNvGraphicFramePr>
              <a:graphicFrameLocks noChangeAspect="1"/>
            </p:cNvGraphicFramePr>
            <p:nvPr/>
          </p:nvGraphicFramePr>
          <p:xfrm>
            <a:off x="3347" y="2928"/>
            <a:ext cx="781" cy="260"/>
          </p:xfrm>
          <a:graphic>
            <a:graphicData uri="http://schemas.openxmlformats.org/presentationml/2006/ole">
              <mc:AlternateContent xmlns:mc="http://schemas.openxmlformats.org/markup-compatibility/2006">
                <mc:Choice xmlns:v="urn:schemas-microsoft-com:vml" Requires="v">
                  <p:oleObj name="Equation" r:id="rId9" imgW="520920" imgH="164520" progId="Equation.3">
                    <p:embed/>
                  </p:oleObj>
                </mc:Choice>
                <mc:Fallback>
                  <p:oleObj name="Equation" r:id="rId9" imgW="520920" imgH="164520" progId="Equation.3">
                    <p:embed/>
                    <p:pic>
                      <p:nvPicPr>
                        <p:cNvPr id="8196" name="Object 1026"/>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347" y="2928"/>
                          <a:ext cx="781"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8216" name="Line 22"/>
            <p:cNvSpPr>
              <a:spLocks noChangeShapeType="1"/>
            </p:cNvSpPr>
            <p:nvPr/>
          </p:nvSpPr>
          <p:spPr bwMode="auto">
            <a:xfrm>
              <a:off x="3738" y="3264"/>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grpSp>
        <p:nvGrpSpPr>
          <p:cNvPr id="7" name="Group 24"/>
          <p:cNvGrpSpPr>
            <a:grpSpLocks/>
          </p:cNvGrpSpPr>
          <p:nvPr/>
        </p:nvGrpSpPr>
        <p:grpSpPr bwMode="auto">
          <a:xfrm>
            <a:off x="7053265" y="4286252"/>
            <a:ext cx="1654175" cy="971550"/>
            <a:chOff x="4478" y="2940"/>
            <a:chExt cx="1042" cy="612"/>
          </a:xfrm>
        </p:grpSpPr>
        <p:graphicFrame>
          <p:nvGraphicFramePr>
            <p:cNvPr id="8194" name="Object 1024"/>
            <p:cNvGraphicFramePr>
              <a:graphicFrameLocks noChangeAspect="1"/>
            </p:cNvGraphicFramePr>
            <p:nvPr/>
          </p:nvGraphicFramePr>
          <p:xfrm>
            <a:off x="4478" y="2940"/>
            <a:ext cx="1042" cy="296"/>
          </p:xfrm>
          <a:graphic>
            <a:graphicData uri="http://schemas.openxmlformats.org/presentationml/2006/ole">
              <mc:AlternateContent xmlns:mc="http://schemas.openxmlformats.org/markup-compatibility/2006">
                <mc:Choice xmlns:v="urn:schemas-microsoft-com:vml" Requires="v">
                  <p:oleObj name="Equation" r:id="rId11" imgW="694800" imgH="191880" progId="Equation.3">
                    <p:embed/>
                  </p:oleObj>
                </mc:Choice>
                <mc:Fallback>
                  <p:oleObj name="Equation" r:id="rId11" imgW="694800" imgH="191880" progId="Equation.3">
                    <p:embed/>
                    <p:pic>
                      <p:nvPicPr>
                        <p:cNvPr id="8194" name="Object 1024"/>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478" y="2940"/>
                          <a:ext cx="1042" cy="2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8215" name="Line 26"/>
            <p:cNvSpPr>
              <a:spLocks noChangeShapeType="1"/>
            </p:cNvSpPr>
            <p:nvPr/>
          </p:nvSpPr>
          <p:spPr bwMode="auto">
            <a:xfrm>
              <a:off x="4992" y="3264"/>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sp>
        <p:nvSpPr>
          <p:cNvPr id="8" name="Slide Number Placeholder 7">
            <a:extLst>
              <a:ext uri="{FF2B5EF4-FFF2-40B4-BE49-F238E27FC236}">
                <a16:creationId xmlns:a16="http://schemas.microsoft.com/office/drawing/2014/main" id="{41938379-FC11-474B-99BD-E47D08E66CFB}"/>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30" name="TextBox 29">
            <a:extLst>
              <a:ext uri="{FF2B5EF4-FFF2-40B4-BE49-F238E27FC236}">
                <a16:creationId xmlns:a16="http://schemas.microsoft.com/office/drawing/2014/main" id="{3177A6DE-2EA9-BB4B-8CFC-56A7E167AF67}"/>
              </a:ext>
            </a:extLst>
          </p:cNvPr>
          <p:cNvSpPr txBox="1"/>
          <p:nvPr/>
        </p:nvSpPr>
        <p:spPr>
          <a:xfrm>
            <a:off x="1894671" y="5269687"/>
            <a:ext cx="954107" cy="369332"/>
          </a:xfrm>
          <a:prstGeom prst="rect">
            <a:avLst/>
          </a:prstGeom>
          <a:noFill/>
        </p:spPr>
        <p:txBody>
          <a:bodyPr wrap="none" rtlCol="0">
            <a:spAutoFit/>
          </a:bodyPr>
          <a:lstStyle/>
          <a:p>
            <a:r>
              <a:rPr lang="en-US" dirty="0"/>
              <a:t>6/30/19</a:t>
            </a:r>
          </a:p>
        </p:txBody>
      </p:sp>
      <p:sp>
        <p:nvSpPr>
          <p:cNvPr id="31" name="TextBox 30">
            <a:extLst>
              <a:ext uri="{FF2B5EF4-FFF2-40B4-BE49-F238E27FC236}">
                <a16:creationId xmlns:a16="http://schemas.microsoft.com/office/drawing/2014/main" id="{FAD35A2F-4115-E140-ABC5-C21C30F3627A}"/>
              </a:ext>
            </a:extLst>
          </p:cNvPr>
          <p:cNvSpPr txBox="1"/>
          <p:nvPr/>
        </p:nvSpPr>
        <p:spPr>
          <a:xfrm>
            <a:off x="3366632" y="5284029"/>
            <a:ext cx="1082348" cy="369332"/>
          </a:xfrm>
          <a:prstGeom prst="rect">
            <a:avLst/>
          </a:prstGeom>
          <a:noFill/>
        </p:spPr>
        <p:txBody>
          <a:bodyPr wrap="none" rtlCol="0">
            <a:spAutoFit/>
          </a:bodyPr>
          <a:lstStyle/>
          <a:p>
            <a:r>
              <a:rPr lang="en-US" dirty="0"/>
              <a:t>12/31/19</a:t>
            </a:r>
          </a:p>
        </p:txBody>
      </p:sp>
      <p:sp>
        <p:nvSpPr>
          <p:cNvPr id="32" name="TextBox 31">
            <a:extLst>
              <a:ext uri="{FF2B5EF4-FFF2-40B4-BE49-F238E27FC236}">
                <a16:creationId xmlns:a16="http://schemas.microsoft.com/office/drawing/2014/main" id="{92C7B346-C6A7-C546-B063-41B3E0B0C073}"/>
              </a:ext>
            </a:extLst>
          </p:cNvPr>
          <p:cNvSpPr txBox="1"/>
          <p:nvPr/>
        </p:nvSpPr>
        <p:spPr>
          <a:xfrm>
            <a:off x="7110916" y="5314873"/>
            <a:ext cx="1082348" cy="369332"/>
          </a:xfrm>
          <a:prstGeom prst="rect">
            <a:avLst/>
          </a:prstGeom>
          <a:noFill/>
        </p:spPr>
        <p:txBody>
          <a:bodyPr wrap="none" rtlCol="0">
            <a:spAutoFit/>
          </a:bodyPr>
          <a:lstStyle/>
          <a:p>
            <a:r>
              <a:rPr lang="en-US" dirty="0"/>
              <a:t>12/31/24</a:t>
            </a:r>
          </a:p>
        </p:txBody>
      </p:sp>
      <p:sp>
        <p:nvSpPr>
          <p:cNvPr id="33" name="TextBox 32">
            <a:extLst>
              <a:ext uri="{FF2B5EF4-FFF2-40B4-BE49-F238E27FC236}">
                <a16:creationId xmlns:a16="http://schemas.microsoft.com/office/drawing/2014/main" id="{7F67BEAE-4A03-0742-990F-B90F859E3A4A}"/>
              </a:ext>
            </a:extLst>
          </p:cNvPr>
          <p:cNvSpPr txBox="1"/>
          <p:nvPr/>
        </p:nvSpPr>
        <p:spPr>
          <a:xfrm>
            <a:off x="5377256" y="5332290"/>
            <a:ext cx="954107" cy="369332"/>
          </a:xfrm>
          <a:prstGeom prst="rect">
            <a:avLst/>
          </a:prstGeom>
          <a:noFill/>
        </p:spPr>
        <p:txBody>
          <a:bodyPr wrap="none" rtlCol="0">
            <a:spAutoFit/>
          </a:bodyPr>
          <a:lstStyle/>
          <a:p>
            <a:r>
              <a:rPr lang="en-US" dirty="0"/>
              <a:t>6/30/24</a:t>
            </a:r>
          </a:p>
        </p:txBody>
      </p:sp>
      <p:sp>
        <p:nvSpPr>
          <p:cNvPr id="34" name="TextBox 33">
            <a:extLst>
              <a:ext uri="{FF2B5EF4-FFF2-40B4-BE49-F238E27FC236}">
                <a16:creationId xmlns:a16="http://schemas.microsoft.com/office/drawing/2014/main" id="{793F8439-D17D-D94E-8FE8-9BD5A587A2AA}"/>
              </a:ext>
            </a:extLst>
          </p:cNvPr>
          <p:cNvSpPr txBox="1"/>
          <p:nvPr/>
        </p:nvSpPr>
        <p:spPr>
          <a:xfrm>
            <a:off x="741362" y="5267113"/>
            <a:ext cx="825867" cy="369332"/>
          </a:xfrm>
          <a:prstGeom prst="rect">
            <a:avLst/>
          </a:prstGeom>
          <a:noFill/>
        </p:spPr>
        <p:txBody>
          <a:bodyPr wrap="none" rtlCol="0">
            <a:spAutoFit/>
          </a:bodyPr>
          <a:lstStyle/>
          <a:p>
            <a:r>
              <a:rPr lang="en-US" dirty="0"/>
              <a:t>1/1/19</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48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48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48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21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22" presetClass="entr" presetSubtype="8"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wipe(left)">
                                      <p:cBhvr>
                                        <p:cTn id="23" dur="500"/>
                                        <p:tgtEl>
                                          <p:spTgt spid="2"/>
                                        </p:tgtEl>
                                      </p:cBhvr>
                                    </p:animEffect>
                                  </p:childTnLst>
                                </p:cTn>
                              </p:par>
                            </p:childTnLst>
                          </p:cTn>
                        </p:par>
                        <p:par>
                          <p:cTn id="24" fill="hold" nodeType="afterGroup">
                            <p:stCondLst>
                              <p:cond delay="500"/>
                            </p:stCondLst>
                            <p:childTnLst>
                              <p:par>
                                <p:cTn id="25" presetID="22" presetClass="entr" presetSubtype="4" fill="hold" nodeType="after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down)">
                                      <p:cBhvr>
                                        <p:cTn id="27" dur="500"/>
                                        <p:tgtEl>
                                          <p:spTgt spid="4"/>
                                        </p:tgtEl>
                                      </p:cBhvr>
                                    </p:animEffect>
                                  </p:childTnLst>
                                </p:cTn>
                              </p:par>
                            </p:childTnLst>
                          </p:cTn>
                        </p:par>
                        <p:par>
                          <p:cTn id="28" fill="hold" nodeType="afterGroup">
                            <p:stCondLst>
                              <p:cond delay="1000"/>
                            </p:stCondLst>
                            <p:childTnLst>
                              <p:par>
                                <p:cTn id="29" presetID="22" presetClass="entr" presetSubtype="4" fill="hold" nodeType="after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wipe(down)">
                                      <p:cBhvr>
                                        <p:cTn id="31" dur="500"/>
                                        <p:tgtEl>
                                          <p:spTgt spid="5"/>
                                        </p:tgtEl>
                                      </p:cBhvr>
                                    </p:animEffect>
                                  </p:childTnLst>
                                </p:cTn>
                              </p:par>
                            </p:childTnLst>
                          </p:cTn>
                        </p:par>
                        <p:par>
                          <p:cTn id="32" fill="hold" nodeType="afterGroup">
                            <p:stCondLst>
                              <p:cond delay="1500"/>
                            </p:stCondLst>
                            <p:childTnLst>
                              <p:par>
                                <p:cTn id="33" presetID="22" presetClass="entr" presetSubtype="4" fill="hold" nodeType="after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wipe(down)">
                                      <p:cBhvr>
                                        <p:cTn id="35" dur="500"/>
                                        <p:tgtEl>
                                          <p:spTgt spid="6"/>
                                        </p:tgtEl>
                                      </p:cBhvr>
                                    </p:animEffect>
                                  </p:childTnLst>
                                </p:cTn>
                              </p:par>
                            </p:childTnLst>
                          </p:cTn>
                        </p:par>
                        <p:par>
                          <p:cTn id="36" fill="hold" nodeType="afterGroup">
                            <p:stCondLst>
                              <p:cond delay="2000"/>
                            </p:stCondLst>
                            <p:childTnLst>
                              <p:par>
                                <p:cTn id="37" presetID="22" presetClass="entr" presetSubtype="4" fill="hold" nodeType="after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wipe(down)">
                                      <p:cBhvr>
                                        <p:cTn id="39" dur="500"/>
                                        <p:tgtEl>
                                          <p:spTgt spid="7"/>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34"/>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3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33"/>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9"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uiExpand="1" build="p"/>
      <p:bldP spid="8219" grpId="0" animBg="1"/>
      <p:bldP spid="30" grpId="0"/>
      <p:bldP spid="31" grpId="0"/>
      <p:bldP spid="32" grpId="0"/>
      <p:bldP spid="33" grpId="0"/>
      <p:bldP spid="34" grpId="0"/>
    </p:bldLst>
  </p:timing>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1" name="Rectangle 3"/>
          <p:cNvSpPr>
            <a:spLocks noGrp="1" noChangeArrowheads="1"/>
          </p:cNvSpPr>
          <p:nvPr>
            <p:ph idx="1"/>
          </p:nvPr>
        </p:nvSpPr>
        <p:spPr/>
        <p:txBody>
          <a:bodyPr/>
          <a:lstStyle/>
          <a:p>
            <a:pPr eaLnBrk="1" hangingPunct="1"/>
            <a:r>
              <a:rPr lang="en-US" sz="2800" dirty="0">
                <a:ea typeface="ＭＳ Ｐゴシック" charset="0"/>
                <a:cs typeface="ＭＳ Ｐゴシック" charset="0"/>
              </a:rPr>
              <a:t>Value = PV of </a:t>
            </a:r>
            <a:r>
              <a:rPr lang="en-US" sz="2800" i="1" dirty="0">
                <a:ea typeface="ＭＳ Ｐゴシック" charset="0"/>
                <a:cs typeface="ＭＳ Ｐゴシック" charset="0"/>
              </a:rPr>
              <a:t>E</a:t>
            </a:r>
            <a:r>
              <a:rPr lang="en-US" sz="2800" dirty="0">
                <a:ea typeface="ＭＳ Ｐゴシック" charset="0"/>
                <a:cs typeface="ＭＳ Ｐゴシック" charset="0"/>
              </a:rPr>
              <a:t>(CFs) = Price </a:t>
            </a:r>
          </a:p>
          <a:p>
            <a:pPr eaLnBrk="1" hangingPunct="1"/>
            <a:r>
              <a:rPr lang="en-US" sz="2800" dirty="0">
                <a:ea typeface="ＭＳ Ｐゴシック" charset="0"/>
                <a:cs typeface="ＭＳ Ｐゴシック" charset="0"/>
              </a:rPr>
              <a:t>Bond valuation:  </a:t>
            </a:r>
          </a:p>
          <a:p>
            <a:pPr lvl="1" eaLnBrk="1" hangingPunct="1"/>
            <a:r>
              <a:rPr lang="en-US" sz="2400" dirty="0">
                <a:ea typeface="ＭＳ Ｐゴシック" charset="0"/>
              </a:rPr>
              <a:t>Estimate the size and timing of future cash flows</a:t>
            </a:r>
          </a:p>
          <a:p>
            <a:pPr lvl="1" eaLnBrk="1" hangingPunct="1"/>
            <a:r>
              <a:rPr lang="en-US" sz="2400" dirty="0">
                <a:ea typeface="ＭＳ Ｐゴシック" charset="0"/>
              </a:rPr>
              <a:t>Discount future cash flows at an appropriate, risk-adjusted rate</a:t>
            </a:r>
          </a:p>
          <a:p>
            <a:pPr eaLnBrk="1" hangingPunct="1"/>
            <a:r>
              <a:rPr lang="en-US" sz="2800" dirty="0">
                <a:ea typeface="ＭＳ Ｐゴシック" charset="0"/>
                <a:cs typeface="ＭＳ Ｐゴシック" charset="0"/>
              </a:rPr>
              <a:t>If the </a:t>
            </a:r>
            <a:r>
              <a:rPr lang="en-US" sz="2800" i="1" dirty="0">
                <a:ea typeface="ＭＳ Ｐゴシック" charset="0"/>
                <a:cs typeface="ＭＳ Ｐゴシック" charset="0"/>
              </a:rPr>
              <a:t>price</a:t>
            </a:r>
            <a:r>
              <a:rPr lang="en-US" sz="2800" dirty="0">
                <a:ea typeface="ＭＳ Ｐゴシック" charset="0"/>
                <a:cs typeface="ＭＳ Ｐゴシック" charset="0"/>
              </a:rPr>
              <a:t> and </a:t>
            </a:r>
            <a:r>
              <a:rPr lang="en-US" sz="2800" i="1" dirty="0">
                <a:ea typeface="ＭＳ Ｐゴシック" charset="0"/>
                <a:cs typeface="ＭＳ Ｐゴシック" charset="0"/>
              </a:rPr>
              <a:t>cash flows</a:t>
            </a:r>
            <a:r>
              <a:rPr lang="en-US" sz="2800" dirty="0">
                <a:ea typeface="ＭＳ Ｐゴシック" charset="0"/>
                <a:cs typeface="ＭＳ Ｐゴシック" charset="0"/>
              </a:rPr>
              <a:t> of a bond are known, the </a:t>
            </a:r>
            <a:r>
              <a:rPr lang="en-US" sz="2800" b="1" i="1" dirty="0">
                <a:ea typeface="ＭＳ Ｐゴシック" charset="0"/>
                <a:cs typeface="ＭＳ Ｐゴシック" charset="0"/>
              </a:rPr>
              <a:t>yield to maturity (</a:t>
            </a:r>
            <a:r>
              <a:rPr lang="en-US" sz="2800" b="1" i="1" dirty="0" err="1">
                <a:ea typeface="ＭＳ Ｐゴシック" charset="0"/>
                <a:cs typeface="ＭＳ Ｐゴシック" charset="0"/>
              </a:rPr>
              <a:t>YTM</a:t>
            </a:r>
            <a:r>
              <a:rPr lang="en-US" sz="2800" b="1" i="1" dirty="0">
                <a:ea typeface="ＭＳ Ｐゴシック" charset="0"/>
                <a:cs typeface="ＭＳ Ｐゴシック" charset="0"/>
              </a:rPr>
              <a:t>)</a:t>
            </a:r>
            <a:r>
              <a:rPr lang="en-US" sz="2800" dirty="0">
                <a:ea typeface="ＭＳ Ｐゴシック" charset="0"/>
                <a:cs typeface="ＭＳ Ｐゴシック" charset="0"/>
              </a:rPr>
              <a:t> is the </a:t>
            </a:r>
            <a:r>
              <a:rPr lang="en-US" sz="2800" b="1" dirty="0">
                <a:ea typeface="ＭＳ Ｐゴシック" charset="0"/>
                <a:cs typeface="ＭＳ Ｐゴシック" charset="0"/>
              </a:rPr>
              <a:t>single</a:t>
            </a:r>
            <a:r>
              <a:rPr lang="en-US" sz="2800" dirty="0">
                <a:ea typeface="ＭＳ Ｐゴシック" charset="0"/>
                <a:cs typeface="ＭＳ Ｐゴシック" charset="0"/>
              </a:rPr>
              <a:t> discount rate that makes the sum of the PVs of the cash flows equal to the price. (</a:t>
            </a:r>
            <a:r>
              <a:rPr lang="en-US" sz="2800" b="1" dirty="0" err="1">
                <a:ea typeface="ＭＳ Ｐゴシック" charset="0"/>
                <a:cs typeface="ＭＳ Ｐゴシック" charset="0"/>
              </a:rPr>
              <a:t>YTM</a:t>
            </a:r>
            <a:r>
              <a:rPr lang="en-US" sz="2800" b="1" dirty="0">
                <a:ea typeface="ＭＳ Ｐゴシック" charset="0"/>
                <a:cs typeface="ＭＳ Ｐゴシック" charset="0"/>
              </a:rPr>
              <a:t> = IRR</a:t>
            </a:r>
            <a:r>
              <a:rPr lang="en-US" sz="2800" dirty="0">
                <a:ea typeface="ＭＳ Ｐゴシック" charset="0"/>
                <a:cs typeface="ＭＳ Ｐゴシック" charset="0"/>
              </a:rPr>
              <a:t>)</a:t>
            </a:r>
          </a:p>
          <a:p>
            <a:pPr eaLnBrk="1" hangingPunct="1">
              <a:buFontTx/>
              <a:buNone/>
            </a:pPr>
            <a:endParaRPr lang="en-US" dirty="0">
              <a:ea typeface="ＭＳ Ｐゴシック" charset="0"/>
              <a:cs typeface="ＭＳ Ｐゴシック" charset="0"/>
            </a:endParaRPr>
          </a:p>
        </p:txBody>
      </p:sp>
      <p:sp>
        <p:nvSpPr>
          <p:cNvPr id="9220" name="Rectangle 2"/>
          <p:cNvSpPr>
            <a:spLocks noGrp="1" noChangeArrowheads="1"/>
          </p:cNvSpPr>
          <p:nvPr>
            <p:ph type="title"/>
          </p:nvPr>
        </p:nvSpPr>
        <p:spPr/>
        <p:txBody>
          <a:bodyPr/>
          <a:lstStyle/>
          <a:p>
            <a:pPr eaLnBrk="1" hangingPunct="1"/>
            <a:r>
              <a:rPr lang="en-US" b="1" dirty="0">
                <a:ea typeface="ＭＳ Ｐゴシック" charset="0"/>
                <a:cs typeface="ＭＳ Ｐゴシック" charset="0"/>
              </a:rPr>
              <a:t>Bond Valuation</a:t>
            </a:r>
            <a:endParaRPr lang="en-US" dirty="0">
              <a:ea typeface="ＭＳ Ｐゴシック" charset="0"/>
              <a:cs typeface="ＭＳ Ｐゴシック" charset="0"/>
            </a:endParaRPr>
          </a:p>
        </p:txBody>
      </p:sp>
      <p:sp>
        <p:nvSpPr>
          <p:cNvPr id="9222" name="Footer Placeholder 6"/>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9218" name="Object 4"/>
          <p:cNvGraphicFramePr>
            <a:graphicFrameLocks noChangeAspect="1"/>
          </p:cNvGraphicFramePr>
          <p:nvPr>
            <p:extLst>
              <p:ext uri="{D42A27DB-BD31-4B8C-83A1-F6EECF244321}">
                <p14:modId xmlns:p14="http://schemas.microsoft.com/office/powerpoint/2010/main" val="1293056527"/>
              </p:ext>
            </p:extLst>
          </p:nvPr>
        </p:nvGraphicFramePr>
        <p:xfrm>
          <a:off x="1447800" y="4800600"/>
          <a:ext cx="5029200" cy="811213"/>
        </p:xfrm>
        <a:graphic>
          <a:graphicData uri="http://schemas.openxmlformats.org/presentationml/2006/ole">
            <mc:AlternateContent xmlns:mc="http://schemas.openxmlformats.org/markup-compatibility/2006">
              <mc:Choice xmlns:v="urn:schemas-microsoft-com:vml" Requires="v">
                <p:oleObj name="Equation" r:id="rId3" imgW="2577847" imgH="418893" progId="Equation.3">
                  <p:embed/>
                </p:oleObj>
              </mc:Choice>
              <mc:Fallback>
                <p:oleObj name="Equation" r:id="rId3" imgW="2577847" imgH="418893" progId="Equation.3">
                  <p:embed/>
                  <p:pic>
                    <p:nvPicPr>
                      <p:cNvPr id="9218"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00" y="4800600"/>
                        <a:ext cx="5029200" cy="811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2" name="Slide Number Placeholder 1">
            <a:extLst>
              <a:ext uri="{FF2B5EF4-FFF2-40B4-BE49-F238E27FC236}">
                <a16:creationId xmlns:a16="http://schemas.microsoft.com/office/drawing/2014/main" id="{7813AAB8-3F00-054B-AB70-23A1D16B713C}"/>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253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2253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2253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499"/>
                                          </p:stCondLst>
                                        </p:cTn>
                                        <p:tgtEl>
                                          <p:spTgt spid="22531">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22531">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92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1" grpId="0" build="p" autoUpdateAnimBg="0"/>
    </p:bldLst>
  </p:timing>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9" name="Rectangle 3"/>
          <p:cNvSpPr>
            <a:spLocks noGrp="1" noChangeArrowheads="1"/>
          </p:cNvSpPr>
          <p:nvPr>
            <p:ph idx="1"/>
          </p:nvPr>
        </p:nvSpPr>
        <p:spPr/>
        <p:txBody>
          <a:bodyPr/>
          <a:lstStyle/>
          <a:p>
            <a:pPr marL="342900" indent="-342900">
              <a:lnSpc>
                <a:spcPct val="90000"/>
              </a:lnSpc>
            </a:pPr>
            <a:r>
              <a:rPr lang="en-US" sz="2800" dirty="0">
                <a:ea typeface="ＭＳ Ｐゴシック" charset="0"/>
                <a:cs typeface="ＭＳ Ｐゴシック" charset="0"/>
              </a:rPr>
              <a:t>Information needed to value a zero-coupon bond:</a:t>
            </a:r>
          </a:p>
          <a:p>
            <a:pPr marL="742950" lvl="1" indent="-285750">
              <a:lnSpc>
                <a:spcPct val="90000"/>
              </a:lnSpc>
            </a:pPr>
            <a:r>
              <a:rPr lang="en-US" sz="2400" dirty="0">
                <a:ea typeface="ＭＳ Ｐゴシック" charset="0"/>
              </a:rPr>
              <a:t>Time to maturity (</a:t>
            </a:r>
            <a:r>
              <a:rPr lang="en-US" sz="2400" i="1" dirty="0">
                <a:ea typeface="ＭＳ Ｐゴシック" charset="0"/>
              </a:rPr>
              <a:t>T</a:t>
            </a:r>
            <a:r>
              <a:rPr lang="en-US" sz="2400" dirty="0">
                <a:ea typeface="ＭＳ Ｐゴシック" charset="0"/>
              </a:rPr>
              <a:t>) = Maturity date – Today’s date</a:t>
            </a:r>
          </a:p>
          <a:p>
            <a:pPr marL="742950" lvl="1" indent="-285750">
              <a:lnSpc>
                <a:spcPct val="90000"/>
              </a:lnSpc>
            </a:pPr>
            <a:r>
              <a:rPr lang="en-US" sz="2400" dirty="0">
                <a:ea typeface="ＭＳ Ｐゴシック" charset="0"/>
              </a:rPr>
              <a:t>Face value (</a:t>
            </a:r>
            <a:r>
              <a:rPr lang="en-US" sz="2400" i="1" dirty="0">
                <a:ea typeface="ＭＳ Ｐゴシック" charset="0"/>
              </a:rPr>
              <a:t>F</a:t>
            </a:r>
            <a:r>
              <a:rPr lang="en-US" sz="2400" dirty="0">
                <a:ea typeface="ＭＳ Ｐゴシック" charset="0"/>
              </a:rPr>
              <a:t>)</a:t>
            </a:r>
          </a:p>
          <a:p>
            <a:pPr marL="742950" lvl="1" indent="-285750">
              <a:lnSpc>
                <a:spcPct val="90000"/>
              </a:lnSpc>
            </a:pPr>
            <a:r>
              <a:rPr lang="en-US" sz="2400" dirty="0">
                <a:ea typeface="ＭＳ Ｐゴシック" charset="0"/>
              </a:rPr>
              <a:t>Discount rate (</a:t>
            </a:r>
            <a:r>
              <a:rPr lang="en-US" sz="2400" i="1" dirty="0">
                <a:ea typeface="ＭＳ Ｐゴシック" charset="0"/>
              </a:rPr>
              <a:t>r</a:t>
            </a:r>
            <a:r>
              <a:rPr lang="en-US" sz="2400" dirty="0">
                <a:ea typeface="ＭＳ Ｐゴシック" charset="0"/>
              </a:rPr>
              <a:t>)</a:t>
            </a:r>
          </a:p>
          <a:p>
            <a:pPr marL="742950" lvl="1" indent="-285750">
              <a:lnSpc>
                <a:spcPct val="90000"/>
              </a:lnSpc>
            </a:pPr>
            <a:endParaRPr lang="en-US" sz="2400" dirty="0">
              <a:ea typeface="ＭＳ Ｐゴシック" charset="0"/>
            </a:endParaRPr>
          </a:p>
          <a:p>
            <a:pPr marL="571500" indent="-285750">
              <a:lnSpc>
                <a:spcPct val="90000"/>
              </a:lnSpc>
            </a:pPr>
            <a:endParaRPr lang="en-US" sz="2800" dirty="0">
              <a:ea typeface="ＭＳ Ｐゴシック" charset="0"/>
            </a:endParaRPr>
          </a:p>
          <a:p>
            <a:pPr marL="571500" indent="-285750">
              <a:lnSpc>
                <a:spcPct val="90000"/>
              </a:lnSpc>
            </a:pPr>
            <a:endParaRPr lang="en-US" sz="2800" dirty="0">
              <a:ea typeface="ＭＳ Ｐゴシック" charset="0"/>
            </a:endParaRPr>
          </a:p>
          <a:p>
            <a:pPr marL="571500" indent="-285750">
              <a:lnSpc>
                <a:spcPct val="90000"/>
              </a:lnSpc>
            </a:pPr>
            <a:endParaRPr lang="en-US" sz="2800" dirty="0">
              <a:ea typeface="ＭＳ Ｐゴシック" charset="0"/>
            </a:endParaRPr>
          </a:p>
          <a:p>
            <a:pPr marL="571500" indent="-285750">
              <a:lnSpc>
                <a:spcPct val="90000"/>
              </a:lnSpc>
            </a:pPr>
            <a:r>
              <a:rPr lang="en-US" sz="2800" dirty="0">
                <a:latin typeface="Times New Roman" charset="0"/>
              </a:rPr>
              <a:t>Present value of a pure discount bond at time 0:</a:t>
            </a:r>
          </a:p>
          <a:p>
            <a:pPr marL="571500" indent="-285750">
              <a:lnSpc>
                <a:spcPct val="90000"/>
              </a:lnSpc>
            </a:pPr>
            <a:endParaRPr lang="en-US" sz="2800" dirty="0">
              <a:ea typeface="ＭＳ Ｐゴシック" charset="0"/>
            </a:endParaRPr>
          </a:p>
          <a:p>
            <a:pPr marL="342900" indent="-342900">
              <a:lnSpc>
                <a:spcPct val="90000"/>
              </a:lnSpc>
              <a:buNone/>
            </a:pPr>
            <a:endParaRPr lang="en-US" sz="1800" dirty="0">
              <a:ea typeface="ＭＳ Ｐゴシック" charset="0"/>
              <a:cs typeface="ＭＳ Ｐゴシック" charset="0"/>
            </a:endParaRPr>
          </a:p>
        </p:txBody>
      </p:sp>
      <p:sp>
        <p:nvSpPr>
          <p:cNvPr id="10254"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Zero Coupon Bond</a:t>
            </a:r>
            <a:endParaRPr lang="en-US">
              <a:ea typeface="ＭＳ Ｐゴシック" charset="0"/>
              <a:cs typeface="ＭＳ Ｐゴシック" charset="0"/>
            </a:endParaRPr>
          </a:p>
        </p:txBody>
      </p:sp>
      <p:sp>
        <p:nvSpPr>
          <p:cNvPr id="10258" name="Footer Placeholder 27"/>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4581" name="Rectangle 5"/>
          <p:cNvSpPr>
            <a:spLocks noChangeArrowheads="1"/>
          </p:cNvSpPr>
          <p:nvPr/>
        </p:nvSpPr>
        <p:spPr bwMode="auto">
          <a:xfrm>
            <a:off x="471488" y="4393443"/>
            <a:ext cx="800100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90488" tIns="44450" rIns="90488" bIns="44450"/>
          <a:lstStyle/>
          <a:p>
            <a:pPr marL="342900" indent="-342900" eaLnBrk="0" hangingPunct="0">
              <a:lnSpc>
                <a:spcPct val="90000"/>
              </a:lnSpc>
              <a:spcBef>
                <a:spcPct val="20000"/>
              </a:spcBef>
              <a:buSzPct val="90000"/>
              <a:buFont typeface="Symbol" charset="0"/>
              <a:buChar char="·"/>
            </a:pPr>
            <a:endParaRPr lang="en-US" sz="2900" dirty="0">
              <a:latin typeface="Times New Roman" charset="0"/>
            </a:endParaRPr>
          </a:p>
        </p:txBody>
      </p:sp>
      <p:grpSp>
        <p:nvGrpSpPr>
          <p:cNvPr id="2" name="Group 6"/>
          <p:cNvGrpSpPr>
            <a:grpSpLocks/>
          </p:cNvGrpSpPr>
          <p:nvPr/>
        </p:nvGrpSpPr>
        <p:grpSpPr bwMode="auto">
          <a:xfrm>
            <a:off x="762002" y="2546320"/>
            <a:ext cx="7313613" cy="1425575"/>
            <a:chOff x="721" y="1920"/>
            <a:chExt cx="4607" cy="898"/>
          </a:xfrm>
        </p:grpSpPr>
        <p:sp>
          <p:nvSpPr>
            <p:cNvPr id="10259" name="Text Box 7"/>
            <p:cNvSpPr txBox="1">
              <a:spLocks noChangeArrowheads="1"/>
            </p:cNvSpPr>
            <p:nvPr/>
          </p:nvSpPr>
          <p:spPr bwMode="auto">
            <a:xfrm>
              <a:off x="3600" y="2496"/>
              <a:ext cx="172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sp>
          <p:nvSpPr>
            <p:cNvPr id="10260" name="Line 8"/>
            <p:cNvSpPr>
              <a:spLocks noChangeShapeType="1"/>
            </p:cNvSpPr>
            <p:nvPr/>
          </p:nvSpPr>
          <p:spPr bwMode="auto">
            <a:xfrm>
              <a:off x="816" y="2393"/>
              <a:ext cx="1968"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0261" name="Line 9"/>
            <p:cNvSpPr>
              <a:spLocks noChangeShapeType="1"/>
            </p:cNvSpPr>
            <p:nvPr/>
          </p:nvSpPr>
          <p:spPr bwMode="auto">
            <a:xfrm>
              <a:off x="3312" y="2393"/>
              <a:ext cx="1680"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0243" name="Object 1025"/>
            <p:cNvGraphicFramePr>
              <a:graphicFrameLocks noChangeAspect="1"/>
            </p:cNvGraphicFramePr>
            <p:nvPr>
              <p:extLst>
                <p:ext uri="{D42A27DB-BD31-4B8C-83A1-F6EECF244321}">
                  <p14:modId xmlns:p14="http://schemas.microsoft.com/office/powerpoint/2010/main" val="2195686366"/>
                </p:ext>
              </p:extLst>
            </p:nvPr>
          </p:nvGraphicFramePr>
          <p:xfrm>
            <a:off x="2918" y="2304"/>
            <a:ext cx="280" cy="178"/>
          </p:xfrm>
          <a:graphic>
            <a:graphicData uri="http://schemas.openxmlformats.org/presentationml/2006/ole">
              <mc:AlternateContent xmlns:mc="http://schemas.openxmlformats.org/markup-compatibility/2006">
                <mc:Choice xmlns:v="urn:schemas-microsoft-com:vml" Requires="v">
                  <p:oleObj name="Equation" r:id="rId3" imgW="164520" imgH="91080" progId="Equation.3">
                    <p:embed/>
                  </p:oleObj>
                </mc:Choice>
                <mc:Fallback>
                  <p:oleObj name="Equation" r:id="rId3" imgW="164520" imgH="91080" progId="Equation.3">
                    <p:embed/>
                    <p:pic>
                      <p:nvPicPr>
                        <p:cNvPr id="10243" name="Object 102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8" y="2304"/>
                          <a:ext cx="280" cy="178"/>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2" name="Line 11"/>
            <p:cNvSpPr>
              <a:spLocks noChangeShapeType="1"/>
            </p:cNvSpPr>
            <p:nvPr/>
          </p:nvSpPr>
          <p:spPr bwMode="auto">
            <a:xfrm>
              <a:off x="816"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0244" name="Object 1026"/>
            <p:cNvGraphicFramePr>
              <a:graphicFrameLocks noChangeAspect="1"/>
            </p:cNvGraphicFramePr>
            <p:nvPr/>
          </p:nvGraphicFramePr>
          <p:xfrm>
            <a:off x="721" y="2618"/>
            <a:ext cx="142" cy="200"/>
          </p:xfrm>
          <a:graphic>
            <a:graphicData uri="http://schemas.openxmlformats.org/presentationml/2006/ole">
              <mc:AlternateContent xmlns:mc="http://schemas.openxmlformats.org/markup-compatibility/2006">
                <mc:Choice xmlns:v="urn:schemas-microsoft-com:vml" Requires="v">
                  <p:oleObj name="Equation" r:id="rId5" imgW="118800" imgH="164520" progId="Equation.3">
                    <p:embed/>
                  </p:oleObj>
                </mc:Choice>
                <mc:Fallback>
                  <p:oleObj name="Equation" r:id="rId5" imgW="118800" imgH="164520" progId="Equation.3">
                    <p:embed/>
                    <p:pic>
                      <p:nvPicPr>
                        <p:cNvPr id="10244" name="Object 102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1" y="2618"/>
                          <a:ext cx="142"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0245" name="Object 1027"/>
            <p:cNvGraphicFramePr>
              <a:graphicFrameLocks noChangeAspect="1"/>
            </p:cNvGraphicFramePr>
            <p:nvPr/>
          </p:nvGraphicFramePr>
          <p:xfrm>
            <a:off x="1403" y="1929"/>
            <a:ext cx="279" cy="260"/>
          </p:xfrm>
          <a:graphic>
            <a:graphicData uri="http://schemas.openxmlformats.org/presentationml/2006/ole">
              <mc:AlternateContent xmlns:mc="http://schemas.openxmlformats.org/markup-compatibility/2006">
                <mc:Choice xmlns:v="urn:schemas-microsoft-com:vml" Requires="v">
                  <p:oleObj name="Equation" r:id="rId7" imgW="182520" imgH="164520" progId="Equation.3">
                    <p:embed/>
                  </p:oleObj>
                </mc:Choice>
                <mc:Fallback>
                  <p:oleObj name="Equation" r:id="rId7" imgW="182520" imgH="164520" progId="Equation.3">
                    <p:embed/>
                    <p:pic>
                      <p:nvPicPr>
                        <p:cNvPr id="10245" name="Object 102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03" y="1929"/>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3" name="Line 14"/>
            <p:cNvSpPr>
              <a:spLocks noChangeShapeType="1"/>
            </p:cNvSpPr>
            <p:nvPr/>
          </p:nvSpPr>
          <p:spPr bwMode="auto">
            <a:xfrm>
              <a:off x="1542"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0246" name="Object 1028"/>
            <p:cNvGraphicFramePr>
              <a:graphicFrameLocks noChangeAspect="1"/>
            </p:cNvGraphicFramePr>
            <p:nvPr/>
          </p:nvGraphicFramePr>
          <p:xfrm>
            <a:off x="1493" y="2625"/>
            <a:ext cx="100" cy="186"/>
          </p:xfrm>
          <a:graphic>
            <a:graphicData uri="http://schemas.openxmlformats.org/presentationml/2006/ole">
              <mc:AlternateContent xmlns:mc="http://schemas.openxmlformats.org/markup-compatibility/2006">
                <mc:Choice xmlns:v="urn:schemas-microsoft-com:vml" Requires="v">
                  <p:oleObj name="Equation" r:id="rId9" imgW="73080" imgH="155160" progId="Equation.3">
                    <p:embed/>
                  </p:oleObj>
                </mc:Choice>
                <mc:Fallback>
                  <p:oleObj name="Equation" r:id="rId9" imgW="73080" imgH="155160" progId="Equation.3">
                    <p:embed/>
                    <p:pic>
                      <p:nvPicPr>
                        <p:cNvPr id="10246" name="Object 102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93" y="2625"/>
                          <a:ext cx="100"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0247" name="Object 1029"/>
            <p:cNvGraphicFramePr>
              <a:graphicFrameLocks noChangeAspect="1"/>
            </p:cNvGraphicFramePr>
            <p:nvPr/>
          </p:nvGraphicFramePr>
          <p:xfrm>
            <a:off x="2380" y="1922"/>
            <a:ext cx="280" cy="259"/>
          </p:xfrm>
          <a:graphic>
            <a:graphicData uri="http://schemas.openxmlformats.org/presentationml/2006/ole">
              <mc:AlternateContent xmlns:mc="http://schemas.openxmlformats.org/markup-compatibility/2006">
                <mc:Choice xmlns:v="urn:schemas-microsoft-com:vml" Requires="v">
                  <p:oleObj name="Equation" r:id="rId11" imgW="182520" imgH="164520" progId="Equation.3">
                    <p:embed/>
                  </p:oleObj>
                </mc:Choice>
                <mc:Fallback>
                  <p:oleObj name="Equation" r:id="rId11" imgW="182520" imgH="164520" progId="Equation.3">
                    <p:embed/>
                    <p:pic>
                      <p:nvPicPr>
                        <p:cNvPr id="10247" name="Object 102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380" y="1922"/>
                          <a:ext cx="280"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4" name="Line 17"/>
            <p:cNvSpPr>
              <a:spLocks noChangeShapeType="1"/>
            </p:cNvSpPr>
            <p:nvPr/>
          </p:nvSpPr>
          <p:spPr bwMode="auto">
            <a:xfrm>
              <a:off x="2520"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0248" name="Object 1030"/>
            <p:cNvGraphicFramePr>
              <a:graphicFrameLocks noChangeAspect="1"/>
            </p:cNvGraphicFramePr>
            <p:nvPr/>
          </p:nvGraphicFramePr>
          <p:xfrm>
            <a:off x="2445" y="2614"/>
            <a:ext cx="150" cy="196"/>
          </p:xfrm>
          <a:graphic>
            <a:graphicData uri="http://schemas.openxmlformats.org/presentationml/2006/ole">
              <mc:AlternateContent xmlns:mc="http://schemas.openxmlformats.org/markup-compatibility/2006">
                <mc:Choice xmlns:v="urn:schemas-microsoft-com:vml" Requires="v">
                  <p:oleObj name="Equation" r:id="rId13" imgW="118800" imgH="155160" progId="Equation.3">
                    <p:embed/>
                  </p:oleObj>
                </mc:Choice>
                <mc:Fallback>
                  <p:oleObj name="Equation" r:id="rId13" imgW="118800" imgH="155160" progId="Equation.3">
                    <p:embed/>
                    <p:pic>
                      <p:nvPicPr>
                        <p:cNvPr id="10248" name="Object 103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445" y="2614"/>
                          <a:ext cx="150"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0249" name="Object 1031"/>
            <p:cNvGraphicFramePr>
              <a:graphicFrameLocks noChangeAspect="1"/>
            </p:cNvGraphicFramePr>
            <p:nvPr/>
          </p:nvGraphicFramePr>
          <p:xfrm>
            <a:off x="3598" y="1920"/>
            <a:ext cx="279" cy="260"/>
          </p:xfrm>
          <a:graphic>
            <a:graphicData uri="http://schemas.openxmlformats.org/presentationml/2006/ole">
              <mc:AlternateContent xmlns:mc="http://schemas.openxmlformats.org/markup-compatibility/2006">
                <mc:Choice xmlns:v="urn:schemas-microsoft-com:vml" Requires="v">
                  <p:oleObj name="Equation" r:id="rId15" imgW="182520" imgH="164520" progId="Equation.3">
                    <p:embed/>
                  </p:oleObj>
                </mc:Choice>
                <mc:Fallback>
                  <p:oleObj name="Equation" r:id="rId15" imgW="182520" imgH="164520" progId="Equation.3">
                    <p:embed/>
                    <p:pic>
                      <p:nvPicPr>
                        <p:cNvPr id="10249" name="Object 1031"/>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598" y="1920"/>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5" name="Line 20"/>
            <p:cNvSpPr>
              <a:spLocks noChangeShapeType="1"/>
            </p:cNvSpPr>
            <p:nvPr/>
          </p:nvSpPr>
          <p:spPr bwMode="auto">
            <a:xfrm>
              <a:off x="3738"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0250" name="Object 1032"/>
            <p:cNvGraphicFramePr>
              <a:graphicFrameLocks noChangeAspect="1"/>
            </p:cNvGraphicFramePr>
            <p:nvPr/>
          </p:nvGraphicFramePr>
          <p:xfrm>
            <a:off x="3559" y="2625"/>
            <a:ext cx="357" cy="186"/>
          </p:xfrm>
          <a:graphic>
            <a:graphicData uri="http://schemas.openxmlformats.org/presentationml/2006/ole">
              <mc:AlternateContent xmlns:mc="http://schemas.openxmlformats.org/markup-compatibility/2006">
                <mc:Choice xmlns:v="urn:schemas-microsoft-com:vml" Requires="v">
                  <p:oleObj name="Equation" r:id="rId17" imgW="301680" imgH="155160" progId="Equation.3">
                    <p:embed/>
                  </p:oleObj>
                </mc:Choice>
                <mc:Fallback>
                  <p:oleObj name="Equation" r:id="rId17" imgW="301680" imgH="155160" progId="Equation.3">
                    <p:embed/>
                    <p:pic>
                      <p:nvPicPr>
                        <p:cNvPr id="10250" name="Object 1032"/>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3559" y="2625"/>
                          <a:ext cx="357"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nvGrpSpPr>
            <p:cNvPr id="10266" name="Group 22"/>
            <p:cNvGrpSpPr>
              <a:grpSpLocks/>
            </p:cNvGrpSpPr>
            <p:nvPr/>
          </p:nvGrpSpPr>
          <p:grpSpPr bwMode="auto">
            <a:xfrm>
              <a:off x="4822" y="1950"/>
              <a:ext cx="354" cy="860"/>
              <a:chOff x="4822" y="1950"/>
              <a:chExt cx="354" cy="860"/>
            </a:xfrm>
          </p:grpSpPr>
          <p:graphicFrame>
            <p:nvGraphicFramePr>
              <p:cNvPr id="10251" name="Object 1033"/>
              <p:cNvGraphicFramePr>
                <a:graphicFrameLocks noChangeAspect="1"/>
              </p:cNvGraphicFramePr>
              <p:nvPr/>
            </p:nvGraphicFramePr>
            <p:xfrm>
              <a:off x="4822" y="1950"/>
              <a:ext cx="354" cy="259"/>
            </p:xfrm>
            <a:graphic>
              <a:graphicData uri="http://schemas.openxmlformats.org/presentationml/2006/ole">
                <mc:AlternateContent xmlns:mc="http://schemas.openxmlformats.org/markup-compatibility/2006">
                  <mc:Choice xmlns:v="urn:schemas-microsoft-com:vml" Requires="v">
                    <p:oleObj name="Equation" r:id="rId19" imgW="228240" imgH="164520" progId="Equation.3">
                      <p:embed/>
                    </p:oleObj>
                  </mc:Choice>
                  <mc:Fallback>
                    <p:oleObj name="Equation" r:id="rId19" imgW="228240" imgH="164520" progId="Equation.3">
                      <p:embed/>
                      <p:pic>
                        <p:nvPicPr>
                          <p:cNvPr id="10251" name="Object 1033"/>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4822" y="1950"/>
                            <a:ext cx="354"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7" name="Line 24"/>
              <p:cNvSpPr>
                <a:spLocks noChangeShapeType="1"/>
              </p:cNvSpPr>
              <p:nvPr/>
            </p:nvSpPr>
            <p:spPr bwMode="auto">
              <a:xfrm>
                <a:off x="4992"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0252" name="Object 1034"/>
              <p:cNvGraphicFramePr>
                <a:graphicFrameLocks noChangeAspect="1"/>
              </p:cNvGraphicFramePr>
              <p:nvPr/>
            </p:nvGraphicFramePr>
            <p:xfrm>
              <a:off x="4909" y="2614"/>
              <a:ext cx="166" cy="196"/>
            </p:xfrm>
            <a:graphic>
              <a:graphicData uri="http://schemas.openxmlformats.org/presentationml/2006/ole">
                <mc:AlternateContent xmlns:mc="http://schemas.openxmlformats.org/markup-compatibility/2006">
                  <mc:Choice xmlns:v="urn:schemas-microsoft-com:vml" Requires="v">
                    <p:oleObj name="Equation" r:id="rId21" imgW="127800" imgH="155160" progId="Equation.3">
                      <p:embed/>
                    </p:oleObj>
                  </mc:Choice>
                  <mc:Fallback>
                    <p:oleObj name="Equation" r:id="rId21" imgW="127800" imgH="155160" progId="Equation.3">
                      <p:embed/>
                      <p:pic>
                        <p:nvPicPr>
                          <p:cNvPr id="10252" name="Object 1034"/>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4909" y="2614"/>
                            <a:ext cx="166"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grpSp>
      <p:graphicFrame>
        <p:nvGraphicFramePr>
          <p:cNvPr id="10242" name="Object 1024"/>
          <p:cNvGraphicFramePr>
            <a:graphicFrameLocks noChangeAspect="1"/>
          </p:cNvGraphicFramePr>
          <p:nvPr>
            <p:extLst>
              <p:ext uri="{D42A27DB-BD31-4B8C-83A1-F6EECF244321}">
                <p14:modId xmlns:p14="http://schemas.microsoft.com/office/powerpoint/2010/main" val="863942823"/>
              </p:ext>
            </p:extLst>
          </p:nvPr>
        </p:nvGraphicFramePr>
        <p:xfrm>
          <a:off x="836613" y="4798951"/>
          <a:ext cx="7239000" cy="828675"/>
        </p:xfrm>
        <a:graphic>
          <a:graphicData uri="http://schemas.openxmlformats.org/presentationml/2006/ole">
            <mc:AlternateContent xmlns:mc="http://schemas.openxmlformats.org/markup-compatibility/2006">
              <mc:Choice xmlns:v="urn:schemas-microsoft-com:vml" Requires="v">
                <p:oleObj name="Equation" r:id="rId23" imgW="3199680" imgH="411120" progId="Equation.3">
                  <p:embed/>
                </p:oleObj>
              </mc:Choice>
              <mc:Fallback>
                <p:oleObj name="Equation" r:id="rId23" imgW="3199680" imgH="411120" progId="Equation.3">
                  <p:embed/>
                  <p:pic>
                    <p:nvPicPr>
                      <p:cNvPr id="10242" name="Object 1024"/>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836613" y="4798951"/>
                        <a:ext cx="7239000" cy="82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3" name="Slide Number Placeholder 2">
            <a:extLst>
              <a:ext uri="{FF2B5EF4-FFF2-40B4-BE49-F238E27FC236}">
                <a16:creationId xmlns:a16="http://schemas.microsoft.com/office/drawing/2014/main" id="{159D6E15-CA9B-5F47-AA40-59C5A140E788}"/>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457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2457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2457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2457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24579">
                                            <p:txEl>
                                              <p:pRg st="8" end="8"/>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4581">
                                            <p:txEl>
                                              <p:pRg st="0" end="0"/>
                                            </p:txEl>
                                          </p:spTgt>
                                        </p:tgtEl>
                                        <p:attrNameLst>
                                          <p:attrName>style.visibility</p:attrName>
                                        </p:attrNameLst>
                                      </p:cBhvr>
                                      <p:to>
                                        <p:strVal val="visible"/>
                                      </p:to>
                                    </p:set>
                                    <p:anim calcmode="lin" valueType="num">
                                      <p:cBhvr additive="base">
                                        <p:cTn id="26" dur="500" fill="hold"/>
                                        <p:tgtEl>
                                          <p:spTgt spid="24581">
                                            <p:txEl>
                                              <p:pRg st="0" end="0"/>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2458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8" fill="hold" nodeType="clickPar">
                      <p:stCondLst>
                        <p:cond delay="indefinite"/>
                      </p:stCondLst>
                      <p:childTnLst>
                        <p:par>
                          <p:cTn id="29" fill="hold" nodeType="withGroup">
                            <p:stCondLst>
                              <p:cond delay="0"/>
                            </p:stCondLst>
                            <p:childTnLst>
                              <p:par>
                                <p:cTn id="30" presetID="1" presetClass="entr" presetSubtype="0" fill="hold" nodeType="clickEffect">
                                  <p:stCondLst>
                                    <p:cond delay="0"/>
                                  </p:stCondLst>
                                  <p:childTnLst>
                                    <p:set>
                                      <p:cBhvr>
                                        <p:cTn id="31" dur="1" fill="hold">
                                          <p:stCondLst>
                                            <p:cond delay="0"/>
                                          </p:stCondLst>
                                        </p:cTn>
                                        <p:tgtEl>
                                          <p:spTgt spid="102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9" grpId="0" uiExpand="1" build="p" autoUpdateAnimBg="0"/>
      <p:bldP spid="24581" grpId="0" build="p" autoUpdateAnimBg="0"/>
    </p:bld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627" name="Rectangle 3"/>
          <p:cNvSpPr>
            <a:spLocks noGrp="1" noChangeArrowheads="1"/>
          </p:cNvSpPr>
          <p:nvPr>
            <p:ph idx="1"/>
          </p:nvPr>
        </p:nvSpPr>
        <p:spPr/>
        <p:txBody>
          <a:bodyPr/>
          <a:lstStyle/>
          <a:p>
            <a:pPr eaLnBrk="1" hangingPunct="1"/>
            <a:r>
              <a:rPr lang="en-US">
                <a:ea typeface="ＭＳ Ｐゴシック" charset="0"/>
                <a:cs typeface="ＭＳ Ｐゴシック" charset="0"/>
              </a:rPr>
              <a:t>Find the value of a 30-year, zero-coupon bond with a $1,000 par value and a YTM of 6%.</a:t>
            </a:r>
          </a:p>
          <a:p>
            <a:pPr eaLnBrk="1" hangingPunct="1">
              <a:buFontTx/>
              <a:buNone/>
            </a:pPr>
            <a:endParaRPr lang="en-US">
              <a:ea typeface="ＭＳ Ｐゴシック" charset="0"/>
              <a:cs typeface="ＭＳ Ｐゴシック" charset="0"/>
            </a:endParaRPr>
          </a:p>
        </p:txBody>
      </p:sp>
      <p:sp>
        <p:nvSpPr>
          <p:cNvPr id="11288" name="Rectangle 2"/>
          <p:cNvSpPr>
            <a:spLocks noGrp="1" noChangeArrowheads="1"/>
          </p:cNvSpPr>
          <p:nvPr>
            <p:ph type="title"/>
          </p:nvPr>
        </p:nvSpPr>
        <p:spPr/>
        <p:txBody>
          <a:bodyPr/>
          <a:lstStyle/>
          <a:p>
            <a:pPr eaLnBrk="1" hangingPunct="1"/>
            <a:r>
              <a:rPr lang="en-US" b="1" dirty="0">
                <a:ea typeface="ＭＳ Ｐゴシック" charset="0"/>
                <a:cs typeface="ＭＳ Ｐゴシック" charset="0"/>
              </a:rPr>
              <a:t>Zero Coupon Bond Example</a:t>
            </a:r>
            <a:endParaRPr lang="en-US" dirty="0">
              <a:ea typeface="ＭＳ Ｐゴシック" charset="0"/>
              <a:cs typeface="ＭＳ Ｐゴシック" charset="0"/>
            </a:endParaRPr>
          </a:p>
        </p:txBody>
      </p:sp>
      <p:sp>
        <p:nvSpPr>
          <p:cNvPr id="11291" name="Footer Placeholder 43"/>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pSp>
        <p:nvGrpSpPr>
          <p:cNvPr id="2" name="Group 5"/>
          <p:cNvGrpSpPr>
            <a:grpSpLocks/>
          </p:cNvGrpSpPr>
          <p:nvPr/>
        </p:nvGrpSpPr>
        <p:grpSpPr bwMode="auto">
          <a:xfrm>
            <a:off x="1066800" y="2590800"/>
            <a:ext cx="7410450" cy="1524000"/>
            <a:chOff x="721" y="1920"/>
            <a:chExt cx="4619" cy="898"/>
          </a:xfrm>
        </p:grpSpPr>
        <p:grpSp>
          <p:nvGrpSpPr>
            <p:cNvPr id="11292" name="Group 6"/>
            <p:cNvGrpSpPr>
              <a:grpSpLocks/>
            </p:cNvGrpSpPr>
            <p:nvPr/>
          </p:nvGrpSpPr>
          <p:grpSpPr bwMode="auto">
            <a:xfrm>
              <a:off x="5224" y="2195"/>
              <a:ext cx="116" cy="272"/>
              <a:chOff x="-261878" y="842"/>
              <a:chExt cx="534412" cy="16286"/>
            </a:xfrm>
          </p:grpSpPr>
          <p:sp>
            <p:nvSpPr>
              <p:cNvPr id="11300" name="Text Box 7"/>
              <p:cNvSpPr txBox="1">
                <a:spLocks noChangeArrowheads="1"/>
              </p:cNvSpPr>
              <p:nvPr/>
            </p:nvSpPr>
            <p:spPr bwMode="auto">
              <a:xfrm>
                <a:off x="-261878" y="842"/>
                <a:ext cx="534412" cy="162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sp>
            <p:nvSpPr>
              <p:cNvPr id="11301" name="Line 8"/>
              <p:cNvSpPr>
                <a:spLocks noChangeShapeType="1"/>
              </p:cNvSpPr>
              <p:nvPr/>
            </p:nvSpPr>
            <p:spPr bwMode="auto">
              <a:xfrm>
                <a:off x="816" y="2393"/>
                <a:ext cx="1968"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1302" name="Line 9"/>
              <p:cNvSpPr>
                <a:spLocks noChangeShapeType="1"/>
              </p:cNvSpPr>
              <p:nvPr/>
            </p:nvSpPr>
            <p:spPr bwMode="auto">
              <a:xfrm>
                <a:off x="3312" y="2393"/>
                <a:ext cx="1680"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77" name="Object 10"/>
              <p:cNvGraphicFramePr>
                <a:graphicFrameLocks noChangeAspect="1"/>
              </p:cNvGraphicFramePr>
              <p:nvPr/>
            </p:nvGraphicFramePr>
            <p:xfrm>
              <a:off x="2928" y="2337"/>
              <a:ext cx="260" cy="111"/>
            </p:xfrm>
            <a:graphic>
              <a:graphicData uri="http://schemas.openxmlformats.org/presentationml/2006/ole">
                <mc:AlternateContent xmlns:mc="http://schemas.openxmlformats.org/markup-compatibility/2006">
                  <mc:Choice xmlns:v="urn:schemas-microsoft-com:vml" Requires="v">
                    <p:oleObj name="Equation" r:id="rId3" imgW="164520" imgH="63720" progId="Equation.3">
                      <p:embed/>
                    </p:oleObj>
                  </mc:Choice>
                  <mc:Fallback>
                    <p:oleObj name="Equation" r:id="rId3" imgW="164520" imgH="63720" progId="Equation.3">
                      <p:embed/>
                      <p:pic>
                        <p:nvPicPr>
                          <p:cNvPr id="11277"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28" y="2337"/>
                            <a:ext cx="260" cy="111"/>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3" name="Line 11"/>
              <p:cNvSpPr>
                <a:spLocks noChangeShapeType="1"/>
              </p:cNvSpPr>
              <p:nvPr/>
            </p:nvSpPr>
            <p:spPr bwMode="auto">
              <a:xfrm>
                <a:off x="816"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78" name="Object 12"/>
              <p:cNvGraphicFramePr>
                <a:graphicFrameLocks noChangeAspect="1"/>
              </p:cNvGraphicFramePr>
              <p:nvPr/>
            </p:nvGraphicFramePr>
            <p:xfrm>
              <a:off x="721" y="2618"/>
              <a:ext cx="142" cy="200"/>
            </p:xfrm>
            <a:graphic>
              <a:graphicData uri="http://schemas.openxmlformats.org/presentationml/2006/ole">
                <mc:AlternateContent xmlns:mc="http://schemas.openxmlformats.org/markup-compatibility/2006">
                  <mc:Choice xmlns:v="urn:schemas-microsoft-com:vml" Requires="v">
                    <p:oleObj name="Equation" r:id="rId5" imgW="118800" imgH="164520" progId="Equation.3">
                      <p:embed/>
                    </p:oleObj>
                  </mc:Choice>
                  <mc:Fallback>
                    <p:oleObj name="Equation" r:id="rId5" imgW="118800" imgH="164520" progId="Equation.3">
                      <p:embed/>
                      <p:pic>
                        <p:nvPicPr>
                          <p:cNvPr id="11278" name="Object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1" y="2618"/>
                            <a:ext cx="142"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79" name="Object 13"/>
              <p:cNvGraphicFramePr>
                <a:graphicFrameLocks noChangeAspect="1"/>
              </p:cNvGraphicFramePr>
              <p:nvPr/>
            </p:nvGraphicFramePr>
            <p:xfrm>
              <a:off x="1403" y="1929"/>
              <a:ext cx="279" cy="260"/>
            </p:xfrm>
            <a:graphic>
              <a:graphicData uri="http://schemas.openxmlformats.org/presentationml/2006/ole">
                <mc:AlternateContent xmlns:mc="http://schemas.openxmlformats.org/markup-compatibility/2006">
                  <mc:Choice xmlns:v="urn:schemas-microsoft-com:vml" Requires="v">
                    <p:oleObj name="Equation" r:id="rId7" imgW="182520" imgH="164520" progId="Equation.3">
                      <p:embed/>
                    </p:oleObj>
                  </mc:Choice>
                  <mc:Fallback>
                    <p:oleObj name="Equation" r:id="rId7" imgW="182520" imgH="164520" progId="Equation.3">
                      <p:embed/>
                      <p:pic>
                        <p:nvPicPr>
                          <p:cNvPr id="11279" name="Object 1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03" y="1929"/>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4" name="Line 14"/>
              <p:cNvSpPr>
                <a:spLocks noChangeShapeType="1"/>
              </p:cNvSpPr>
              <p:nvPr/>
            </p:nvSpPr>
            <p:spPr bwMode="auto">
              <a:xfrm>
                <a:off x="1542"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80" name="Object 15"/>
              <p:cNvGraphicFramePr>
                <a:graphicFrameLocks noChangeAspect="1"/>
              </p:cNvGraphicFramePr>
              <p:nvPr/>
            </p:nvGraphicFramePr>
            <p:xfrm>
              <a:off x="1493" y="2625"/>
              <a:ext cx="100" cy="186"/>
            </p:xfrm>
            <a:graphic>
              <a:graphicData uri="http://schemas.openxmlformats.org/presentationml/2006/ole">
                <mc:AlternateContent xmlns:mc="http://schemas.openxmlformats.org/markup-compatibility/2006">
                  <mc:Choice xmlns:v="urn:schemas-microsoft-com:vml" Requires="v">
                    <p:oleObj name="Equation" r:id="rId9" imgW="73080" imgH="155160" progId="Equation.3">
                      <p:embed/>
                    </p:oleObj>
                  </mc:Choice>
                  <mc:Fallback>
                    <p:oleObj name="Equation" r:id="rId9" imgW="73080" imgH="155160" progId="Equation.3">
                      <p:embed/>
                      <p:pic>
                        <p:nvPicPr>
                          <p:cNvPr id="11280" name="Object 15"/>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93" y="2625"/>
                            <a:ext cx="100"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81" name="Object 16"/>
              <p:cNvGraphicFramePr>
                <a:graphicFrameLocks noChangeAspect="1"/>
              </p:cNvGraphicFramePr>
              <p:nvPr/>
            </p:nvGraphicFramePr>
            <p:xfrm>
              <a:off x="2380" y="1922"/>
              <a:ext cx="280" cy="259"/>
            </p:xfrm>
            <a:graphic>
              <a:graphicData uri="http://schemas.openxmlformats.org/presentationml/2006/ole">
                <mc:AlternateContent xmlns:mc="http://schemas.openxmlformats.org/markup-compatibility/2006">
                  <mc:Choice xmlns:v="urn:schemas-microsoft-com:vml" Requires="v">
                    <p:oleObj name="Equation" r:id="rId11" imgW="182520" imgH="164520" progId="Equation.3">
                      <p:embed/>
                    </p:oleObj>
                  </mc:Choice>
                  <mc:Fallback>
                    <p:oleObj name="Equation" r:id="rId11" imgW="182520" imgH="164520" progId="Equation.3">
                      <p:embed/>
                      <p:pic>
                        <p:nvPicPr>
                          <p:cNvPr id="11281" name="Object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380" y="1922"/>
                            <a:ext cx="280"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5" name="Line 17"/>
              <p:cNvSpPr>
                <a:spLocks noChangeShapeType="1"/>
              </p:cNvSpPr>
              <p:nvPr/>
            </p:nvSpPr>
            <p:spPr bwMode="auto">
              <a:xfrm>
                <a:off x="2520"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82" name="Object 18"/>
              <p:cNvGraphicFramePr>
                <a:graphicFrameLocks noChangeAspect="1"/>
              </p:cNvGraphicFramePr>
              <p:nvPr/>
            </p:nvGraphicFramePr>
            <p:xfrm>
              <a:off x="2445" y="2614"/>
              <a:ext cx="150" cy="196"/>
            </p:xfrm>
            <a:graphic>
              <a:graphicData uri="http://schemas.openxmlformats.org/presentationml/2006/ole">
                <mc:AlternateContent xmlns:mc="http://schemas.openxmlformats.org/markup-compatibility/2006">
                  <mc:Choice xmlns:v="urn:schemas-microsoft-com:vml" Requires="v">
                    <p:oleObj name="Equation" r:id="rId13" imgW="118800" imgH="155160" progId="Equation.3">
                      <p:embed/>
                    </p:oleObj>
                  </mc:Choice>
                  <mc:Fallback>
                    <p:oleObj name="Equation" r:id="rId13" imgW="118800" imgH="155160" progId="Equation.3">
                      <p:embed/>
                      <p:pic>
                        <p:nvPicPr>
                          <p:cNvPr id="11282" name="Object 18"/>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445" y="2614"/>
                            <a:ext cx="150"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83" name="Object 19"/>
              <p:cNvGraphicFramePr>
                <a:graphicFrameLocks noChangeAspect="1"/>
              </p:cNvGraphicFramePr>
              <p:nvPr/>
            </p:nvGraphicFramePr>
            <p:xfrm>
              <a:off x="3598" y="1920"/>
              <a:ext cx="279" cy="260"/>
            </p:xfrm>
            <a:graphic>
              <a:graphicData uri="http://schemas.openxmlformats.org/presentationml/2006/ole">
                <mc:AlternateContent xmlns:mc="http://schemas.openxmlformats.org/markup-compatibility/2006">
                  <mc:Choice xmlns:v="urn:schemas-microsoft-com:vml" Requires="v">
                    <p:oleObj name="Equation" r:id="rId15" imgW="182520" imgH="164520" progId="Equation.3">
                      <p:embed/>
                    </p:oleObj>
                  </mc:Choice>
                  <mc:Fallback>
                    <p:oleObj name="Equation" r:id="rId15" imgW="182520" imgH="164520" progId="Equation.3">
                      <p:embed/>
                      <p:pic>
                        <p:nvPicPr>
                          <p:cNvPr id="11283" name="Object 19"/>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598" y="1920"/>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6" name="Line 20"/>
              <p:cNvSpPr>
                <a:spLocks noChangeShapeType="1"/>
              </p:cNvSpPr>
              <p:nvPr/>
            </p:nvSpPr>
            <p:spPr bwMode="auto">
              <a:xfrm>
                <a:off x="3738"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84" name="Object 21"/>
              <p:cNvGraphicFramePr>
                <a:graphicFrameLocks noChangeAspect="1"/>
              </p:cNvGraphicFramePr>
              <p:nvPr/>
            </p:nvGraphicFramePr>
            <p:xfrm>
              <a:off x="3559" y="2625"/>
              <a:ext cx="357" cy="186"/>
            </p:xfrm>
            <a:graphic>
              <a:graphicData uri="http://schemas.openxmlformats.org/presentationml/2006/ole">
                <mc:AlternateContent xmlns:mc="http://schemas.openxmlformats.org/markup-compatibility/2006">
                  <mc:Choice xmlns:v="urn:schemas-microsoft-com:vml" Requires="v">
                    <p:oleObj name="Equation" r:id="rId17" imgW="191880" imgH="164520" progId="Equation.3">
                      <p:embed/>
                    </p:oleObj>
                  </mc:Choice>
                  <mc:Fallback>
                    <p:oleObj name="Equation" r:id="rId17" imgW="191880" imgH="164520" progId="Equation.3">
                      <p:embed/>
                      <p:pic>
                        <p:nvPicPr>
                          <p:cNvPr id="11284" name="Object 21"/>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3559" y="2625"/>
                            <a:ext cx="357"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85" name="Object 22"/>
              <p:cNvGraphicFramePr>
                <a:graphicFrameLocks noChangeAspect="1"/>
              </p:cNvGraphicFramePr>
              <p:nvPr/>
            </p:nvGraphicFramePr>
            <p:xfrm>
              <a:off x="4822" y="1950"/>
              <a:ext cx="354" cy="259"/>
            </p:xfrm>
            <a:graphic>
              <a:graphicData uri="http://schemas.openxmlformats.org/presentationml/2006/ole">
                <mc:AlternateContent xmlns:mc="http://schemas.openxmlformats.org/markup-compatibility/2006">
                  <mc:Choice xmlns:v="urn:schemas-microsoft-com:vml" Requires="v">
                    <p:oleObj name="Equation" r:id="rId19" imgW="429480" imgH="191880" progId="Equation.3">
                      <p:embed/>
                    </p:oleObj>
                  </mc:Choice>
                  <mc:Fallback>
                    <p:oleObj name="Equation" r:id="rId19" imgW="429480" imgH="191880" progId="Equation.3">
                      <p:embed/>
                      <p:pic>
                        <p:nvPicPr>
                          <p:cNvPr id="11285" name="Object 22"/>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4822" y="1950"/>
                            <a:ext cx="354"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7" name="Line 23"/>
              <p:cNvSpPr>
                <a:spLocks noChangeShapeType="1"/>
              </p:cNvSpPr>
              <p:nvPr/>
            </p:nvSpPr>
            <p:spPr bwMode="auto">
              <a:xfrm>
                <a:off x="4992"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86" name="Object 24"/>
              <p:cNvGraphicFramePr>
                <a:graphicFrameLocks noChangeAspect="1"/>
              </p:cNvGraphicFramePr>
              <p:nvPr/>
            </p:nvGraphicFramePr>
            <p:xfrm>
              <a:off x="4909" y="2614"/>
              <a:ext cx="166" cy="196"/>
            </p:xfrm>
            <a:graphic>
              <a:graphicData uri="http://schemas.openxmlformats.org/presentationml/2006/ole">
                <mc:AlternateContent xmlns:mc="http://schemas.openxmlformats.org/markup-compatibility/2006">
                  <mc:Choice xmlns:v="urn:schemas-microsoft-com:vml" Requires="v">
                    <p:oleObj name="Equation" r:id="rId21" imgW="182520" imgH="164520" progId="Equation.3">
                      <p:embed/>
                    </p:oleObj>
                  </mc:Choice>
                  <mc:Fallback>
                    <p:oleObj name="Equation" r:id="rId21" imgW="182520" imgH="164520" progId="Equation.3">
                      <p:embed/>
                      <p:pic>
                        <p:nvPicPr>
                          <p:cNvPr id="11286" name="Object 24"/>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4909" y="2614"/>
                            <a:ext cx="166"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sp>
          <p:nvSpPr>
            <p:cNvPr id="11293" name="Line 25"/>
            <p:cNvSpPr>
              <a:spLocks noChangeShapeType="1"/>
            </p:cNvSpPr>
            <p:nvPr/>
          </p:nvSpPr>
          <p:spPr bwMode="auto">
            <a:xfrm>
              <a:off x="816" y="2393"/>
              <a:ext cx="1968"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1294" name="Line 26"/>
            <p:cNvSpPr>
              <a:spLocks noChangeShapeType="1"/>
            </p:cNvSpPr>
            <p:nvPr/>
          </p:nvSpPr>
          <p:spPr bwMode="auto">
            <a:xfrm>
              <a:off x="3312" y="2393"/>
              <a:ext cx="1680"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67" name="Object 27"/>
            <p:cNvGraphicFramePr>
              <a:graphicFrameLocks noChangeAspect="1"/>
            </p:cNvGraphicFramePr>
            <p:nvPr>
              <p:extLst>
                <p:ext uri="{D42A27DB-BD31-4B8C-83A1-F6EECF244321}">
                  <p14:modId xmlns:p14="http://schemas.microsoft.com/office/powerpoint/2010/main" val="1951808810"/>
                </p:ext>
              </p:extLst>
            </p:nvPr>
          </p:nvGraphicFramePr>
          <p:xfrm>
            <a:off x="2918" y="2304"/>
            <a:ext cx="280" cy="177"/>
          </p:xfrm>
          <a:graphic>
            <a:graphicData uri="http://schemas.openxmlformats.org/presentationml/2006/ole">
              <mc:AlternateContent xmlns:mc="http://schemas.openxmlformats.org/markup-compatibility/2006">
                <mc:Choice xmlns:v="urn:schemas-microsoft-com:vml" Requires="v">
                  <p:oleObj name="Equation" r:id="rId23" imgW="164520" imgH="91080" progId="Equation.3">
                    <p:embed/>
                  </p:oleObj>
                </mc:Choice>
                <mc:Fallback>
                  <p:oleObj name="Equation" r:id="rId23" imgW="164520" imgH="91080" progId="Equation.3">
                    <p:embed/>
                    <p:pic>
                      <p:nvPicPr>
                        <p:cNvPr id="11267" name="Object 27"/>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2918" y="2304"/>
                          <a:ext cx="280" cy="177"/>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5" name="Line 28"/>
            <p:cNvSpPr>
              <a:spLocks noChangeShapeType="1"/>
            </p:cNvSpPr>
            <p:nvPr/>
          </p:nvSpPr>
          <p:spPr bwMode="auto">
            <a:xfrm>
              <a:off x="816"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68" name="Object 29"/>
            <p:cNvGraphicFramePr>
              <a:graphicFrameLocks noChangeAspect="1"/>
            </p:cNvGraphicFramePr>
            <p:nvPr/>
          </p:nvGraphicFramePr>
          <p:xfrm>
            <a:off x="721" y="2618"/>
            <a:ext cx="142" cy="200"/>
          </p:xfrm>
          <a:graphic>
            <a:graphicData uri="http://schemas.openxmlformats.org/presentationml/2006/ole">
              <mc:AlternateContent xmlns:mc="http://schemas.openxmlformats.org/markup-compatibility/2006">
                <mc:Choice xmlns:v="urn:schemas-microsoft-com:vml" Requires="v">
                  <p:oleObj name="Equation" r:id="rId25" imgW="118800" imgH="164520" progId="Equation.3">
                    <p:embed/>
                  </p:oleObj>
                </mc:Choice>
                <mc:Fallback>
                  <p:oleObj name="Equation" r:id="rId25" imgW="118800" imgH="164520" progId="Equation.3">
                    <p:embed/>
                    <p:pic>
                      <p:nvPicPr>
                        <p:cNvPr id="11268" name="Object 29"/>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721" y="2618"/>
                          <a:ext cx="142"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69" name="Object 30"/>
            <p:cNvGraphicFramePr>
              <a:graphicFrameLocks noChangeAspect="1"/>
            </p:cNvGraphicFramePr>
            <p:nvPr/>
          </p:nvGraphicFramePr>
          <p:xfrm>
            <a:off x="1403" y="1929"/>
            <a:ext cx="279" cy="260"/>
          </p:xfrm>
          <a:graphic>
            <a:graphicData uri="http://schemas.openxmlformats.org/presentationml/2006/ole">
              <mc:AlternateContent xmlns:mc="http://schemas.openxmlformats.org/markup-compatibility/2006">
                <mc:Choice xmlns:v="urn:schemas-microsoft-com:vml" Requires="v">
                  <p:oleObj name="Equation" r:id="rId27" imgW="182520" imgH="164520" progId="Equation.3">
                    <p:embed/>
                  </p:oleObj>
                </mc:Choice>
                <mc:Fallback>
                  <p:oleObj name="Equation" r:id="rId27" imgW="182520" imgH="164520" progId="Equation.3">
                    <p:embed/>
                    <p:pic>
                      <p:nvPicPr>
                        <p:cNvPr id="11269" name="Object 30"/>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1403" y="1929"/>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6" name="Line 31"/>
            <p:cNvSpPr>
              <a:spLocks noChangeShapeType="1"/>
            </p:cNvSpPr>
            <p:nvPr/>
          </p:nvSpPr>
          <p:spPr bwMode="auto">
            <a:xfrm>
              <a:off x="1542"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70" name="Object 32"/>
            <p:cNvGraphicFramePr>
              <a:graphicFrameLocks noChangeAspect="1"/>
            </p:cNvGraphicFramePr>
            <p:nvPr/>
          </p:nvGraphicFramePr>
          <p:xfrm>
            <a:off x="1493" y="2625"/>
            <a:ext cx="100" cy="186"/>
          </p:xfrm>
          <a:graphic>
            <a:graphicData uri="http://schemas.openxmlformats.org/presentationml/2006/ole">
              <mc:AlternateContent xmlns:mc="http://schemas.openxmlformats.org/markup-compatibility/2006">
                <mc:Choice xmlns:v="urn:schemas-microsoft-com:vml" Requires="v">
                  <p:oleObj name="Equation" r:id="rId29" imgW="73080" imgH="155160" progId="Equation.3">
                    <p:embed/>
                  </p:oleObj>
                </mc:Choice>
                <mc:Fallback>
                  <p:oleObj name="Equation" r:id="rId29" imgW="73080" imgH="155160" progId="Equation.3">
                    <p:embed/>
                    <p:pic>
                      <p:nvPicPr>
                        <p:cNvPr id="11270" name="Object 32"/>
                        <p:cNvPicPr>
                          <a:picLocks noChangeAspect="1" noChangeArrowheads="1"/>
                        </p:cNvPicPr>
                        <p:nvPr/>
                      </p:nvPicPr>
                      <p:blipFill>
                        <a:blip r:embed="rId30">
                          <a:extLst>
                            <a:ext uri="{28A0092B-C50C-407E-A947-70E740481C1C}">
                              <a14:useLocalDpi xmlns:a14="http://schemas.microsoft.com/office/drawing/2010/main" val="0"/>
                            </a:ext>
                          </a:extLst>
                        </a:blip>
                        <a:srcRect/>
                        <a:stretch>
                          <a:fillRect/>
                        </a:stretch>
                      </p:blipFill>
                      <p:spPr bwMode="auto">
                        <a:xfrm>
                          <a:off x="1493" y="2625"/>
                          <a:ext cx="100"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71" name="Object 33"/>
            <p:cNvGraphicFramePr>
              <a:graphicFrameLocks noChangeAspect="1"/>
            </p:cNvGraphicFramePr>
            <p:nvPr/>
          </p:nvGraphicFramePr>
          <p:xfrm>
            <a:off x="2380" y="1922"/>
            <a:ext cx="280" cy="259"/>
          </p:xfrm>
          <a:graphic>
            <a:graphicData uri="http://schemas.openxmlformats.org/presentationml/2006/ole">
              <mc:AlternateContent xmlns:mc="http://schemas.openxmlformats.org/markup-compatibility/2006">
                <mc:Choice xmlns:v="urn:schemas-microsoft-com:vml" Requires="v">
                  <p:oleObj name="Equation" r:id="rId31" imgW="182520" imgH="164520" progId="Equation.3">
                    <p:embed/>
                  </p:oleObj>
                </mc:Choice>
                <mc:Fallback>
                  <p:oleObj name="Equation" r:id="rId31" imgW="182520" imgH="164520" progId="Equation.3">
                    <p:embed/>
                    <p:pic>
                      <p:nvPicPr>
                        <p:cNvPr id="11271" name="Object 33"/>
                        <p:cNvPicPr>
                          <a:picLocks noChangeAspect="1" noChangeArrowheads="1"/>
                        </p:cNvPicPr>
                        <p:nvPr/>
                      </p:nvPicPr>
                      <p:blipFill>
                        <a:blip r:embed="rId32">
                          <a:extLst>
                            <a:ext uri="{28A0092B-C50C-407E-A947-70E740481C1C}">
                              <a14:useLocalDpi xmlns:a14="http://schemas.microsoft.com/office/drawing/2010/main" val="0"/>
                            </a:ext>
                          </a:extLst>
                        </a:blip>
                        <a:srcRect/>
                        <a:stretch>
                          <a:fillRect/>
                        </a:stretch>
                      </p:blipFill>
                      <p:spPr bwMode="auto">
                        <a:xfrm>
                          <a:off x="2380" y="1922"/>
                          <a:ext cx="280"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7" name="Line 34"/>
            <p:cNvSpPr>
              <a:spLocks noChangeShapeType="1"/>
            </p:cNvSpPr>
            <p:nvPr/>
          </p:nvSpPr>
          <p:spPr bwMode="auto">
            <a:xfrm>
              <a:off x="2520"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72" name="Object 35"/>
            <p:cNvGraphicFramePr>
              <a:graphicFrameLocks noChangeAspect="1"/>
            </p:cNvGraphicFramePr>
            <p:nvPr/>
          </p:nvGraphicFramePr>
          <p:xfrm>
            <a:off x="2445" y="2614"/>
            <a:ext cx="150" cy="196"/>
          </p:xfrm>
          <a:graphic>
            <a:graphicData uri="http://schemas.openxmlformats.org/presentationml/2006/ole">
              <mc:AlternateContent xmlns:mc="http://schemas.openxmlformats.org/markup-compatibility/2006">
                <mc:Choice xmlns:v="urn:schemas-microsoft-com:vml" Requires="v">
                  <p:oleObj name="Equation" r:id="rId33" imgW="118800" imgH="155160" progId="Equation.3">
                    <p:embed/>
                  </p:oleObj>
                </mc:Choice>
                <mc:Fallback>
                  <p:oleObj name="Equation" r:id="rId33" imgW="118800" imgH="155160" progId="Equation.3">
                    <p:embed/>
                    <p:pic>
                      <p:nvPicPr>
                        <p:cNvPr id="11272" name="Object 35"/>
                        <p:cNvPicPr>
                          <a:picLocks noChangeAspect="1" noChangeArrowheads="1"/>
                        </p:cNvPicPr>
                        <p:nvPr/>
                      </p:nvPicPr>
                      <p:blipFill>
                        <a:blip r:embed="rId34">
                          <a:extLst>
                            <a:ext uri="{28A0092B-C50C-407E-A947-70E740481C1C}">
                              <a14:useLocalDpi xmlns:a14="http://schemas.microsoft.com/office/drawing/2010/main" val="0"/>
                            </a:ext>
                          </a:extLst>
                        </a:blip>
                        <a:srcRect/>
                        <a:stretch>
                          <a:fillRect/>
                        </a:stretch>
                      </p:blipFill>
                      <p:spPr bwMode="auto">
                        <a:xfrm>
                          <a:off x="2445" y="2614"/>
                          <a:ext cx="150"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73" name="Object 36"/>
            <p:cNvGraphicFramePr>
              <a:graphicFrameLocks noChangeAspect="1"/>
            </p:cNvGraphicFramePr>
            <p:nvPr/>
          </p:nvGraphicFramePr>
          <p:xfrm>
            <a:off x="3598" y="1920"/>
            <a:ext cx="279" cy="260"/>
          </p:xfrm>
          <a:graphic>
            <a:graphicData uri="http://schemas.openxmlformats.org/presentationml/2006/ole">
              <mc:AlternateContent xmlns:mc="http://schemas.openxmlformats.org/markup-compatibility/2006">
                <mc:Choice xmlns:v="urn:schemas-microsoft-com:vml" Requires="v">
                  <p:oleObj name="Equation" r:id="rId35" imgW="182520" imgH="164520" progId="Equation.3">
                    <p:embed/>
                  </p:oleObj>
                </mc:Choice>
                <mc:Fallback>
                  <p:oleObj name="Equation" r:id="rId35" imgW="182520" imgH="164520" progId="Equation.3">
                    <p:embed/>
                    <p:pic>
                      <p:nvPicPr>
                        <p:cNvPr id="11273" name="Object 36"/>
                        <p:cNvPicPr>
                          <a:picLocks noChangeAspect="1" noChangeArrowheads="1"/>
                        </p:cNvPicPr>
                        <p:nvPr/>
                      </p:nvPicPr>
                      <p:blipFill>
                        <a:blip r:embed="rId36">
                          <a:extLst>
                            <a:ext uri="{28A0092B-C50C-407E-A947-70E740481C1C}">
                              <a14:useLocalDpi xmlns:a14="http://schemas.microsoft.com/office/drawing/2010/main" val="0"/>
                            </a:ext>
                          </a:extLst>
                        </a:blip>
                        <a:srcRect/>
                        <a:stretch>
                          <a:fillRect/>
                        </a:stretch>
                      </p:blipFill>
                      <p:spPr bwMode="auto">
                        <a:xfrm>
                          <a:off x="3598" y="1920"/>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8" name="Line 37"/>
            <p:cNvSpPr>
              <a:spLocks noChangeShapeType="1"/>
            </p:cNvSpPr>
            <p:nvPr/>
          </p:nvSpPr>
          <p:spPr bwMode="auto">
            <a:xfrm>
              <a:off x="3738"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74" name="Object 38"/>
            <p:cNvGraphicFramePr>
              <a:graphicFrameLocks noChangeAspect="1"/>
            </p:cNvGraphicFramePr>
            <p:nvPr/>
          </p:nvGraphicFramePr>
          <p:xfrm>
            <a:off x="3623" y="2618"/>
            <a:ext cx="228" cy="200"/>
          </p:xfrm>
          <a:graphic>
            <a:graphicData uri="http://schemas.openxmlformats.org/presentationml/2006/ole">
              <mc:AlternateContent xmlns:mc="http://schemas.openxmlformats.org/markup-compatibility/2006">
                <mc:Choice xmlns:v="urn:schemas-microsoft-com:vml" Requires="v">
                  <p:oleObj name="Equation" r:id="rId37" imgW="191880" imgH="164520" progId="Equation.3">
                    <p:embed/>
                  </p:oleObj>
                </mc:Choice>
                <mc:Fallback>
                  <p:oleObj name="Equation" r:id="rId37" imgW="191880" imgH="164520" progId="Equation.3">
                    <p:embed/>
                    <p:pic>
                      <p:nvPicPr>
                        <p:cNvPr id="11274" name="Object 38"/>
                        <p:cNvPicPr>
                          <a:picLocks noChangeAspect="1" noChangeArrowheads="1"/>
                        </p:cNvPicPr>
                        <p:nvPr/>
                      </p:nvPicPr>
                      <p:blipFill>
                        <a:blip r:embed="rId38">
                          <a:extLst>
                            <a:ext uri="{28A0092B-C50C-407E-A947-70E740481C1C}">
                              <a14:useLocalDpi xmlns:a14="http://schemas.microsoft.com/office/drawing/2010/main" val="0"/>
                            </a:ext>
                          </a:extLst>
                        </a:blip>
                        <a:srcRect/>
                        <a:stretch>
                          <a:fillRect/>
                        </a:stretch>
                      </p:blipFill>
                      <p:spPr bwMode="auto">
                        <a:xfrm>
                          <a:off x="3623" y="2618"/>
                          <a:ext cx="228"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75" name="Object 39"/>
            <p:cNvGraphicFramePr>
              <a:graphicFrameLocks noChangeAspect="1"/>
            </p:cNvGraphicFramePr>
            <p:nvPr/>
          </p:nvGraphicFramePr>
          <p:xfrm>
            <a:off x="4673" y="1932"/>
            <a:ext cx="652" cy="296"/>
          </p:xfrm>
          <a:graphic>
            <a:graphicData uri="http://schemas.openxmlformats.org/presentationml/2006/ole">
              <mc:AlternateContent xmlns:mc="http://schemas.openxmlformats.org/markup-compatibility/2006">
                <mc:Choice xmlns:v="urn:schemas-microsoft-com:vml" Requires="v">
                  <p:oleObj name="Equation" r:id="rId39" imgW="429480" imgH="191880" progId="Equation.3">
                    <p:embed/>
                  </p:oleObj>
                </mc:Choice>
                <mc:Fallback>
                  <p:oleObj name="Equation" r:id="rId39" imgW="429480" imgH="191880" progId="Equation.3">
                    <p:embed/>
                    <p:pic>
                      <p:nvPicPr>
                        <p:cNvPr id="11275" name="Object 39"/>
                        <p:cNvPicPr>
                          <a:picLocks noChangeAspect="1" noChangeArrowheads="1"/>
                        </p:cNvPicPr>
                        <p:nvPr/>
                      </p:nvPicPr>
                      <p:blipFill>
                        <a:blip r:embed="rId40">
                          <a:extLst>
                            <a:ext uri="{28A0092B-C50C-407E-A947-70E740481C1C}">
                              <a14:useLocalDpi xmlns:a14="http://schemas.microsoft.com/office/drawing/2010/main" val="0"/>
                            </a:ext>
                          </a:extLst>
                        </a:blip>
                        <a:srcRect/>
                        <a:stretch>
                          <a:fillRect/>
                        </a:stretch>
                      </p:blipFill>
                      <p:spPr bwMode="auto">
                        <a:xfrm>
                          <a:off x="4673" y="1932"/>
                          <a:ext cx="652" cy="2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9" name="Line 40"/>
            <p:cNvSpPr>
              <a:spLocks noChangeShapeType="1"/>
            </p:cNvSpPr>
            <p:nvPr/>
          </p:nvSpPr>
          <p:spPr bwMode="auto">
            <a:xfrm>
              <a:off x="4992"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1276" name="Object 41"/>
            <p:cNvGraphicFramePr>
              <a:graphicFrameLocks noChangeAspect="1"/>
            </p:cNvGraphicFramePr>
            <p:nvPr/>
          </p:nvGraphicFramePr>
          <p:xfrm>
            <a:off x="4879" y="2607"/>
            <a:ext cx="226" cy="211"/>
          </p:xfrm>
          <a:graphic>
            <a:graphicData uri="http://schemas.openxmlformats.org/presentationml/2006/ole">
              <mc:AlternateContent xmlns:mc="http://schemas.openxmlformats.org/markup-compatibility/2006">
                <mc:Choice xmlns:v="urn:schemas-microsoft-com:vml" Requires="v">
                  <p:oleObj name="Equation" r:id="rId41" imgW="182520" imgH="164520" progId="Equation.3">
                    <p:embed/>
                  </p:oleObj>
                </mc:Choice>
                <mc:Fallback>
                  <p:oleObj name="Equation" r:id="rId41" imgW="182520" imgH="164520" progId="Equation.3">
                    <p:embed/>
                    <p:pic>
                      <p:nvPicPr>
                        <p:cNvPr id="11276" name="Object 41"/>
                        <p:cNvPicPr>
                          <a:picLocks noChangeAspect="1" noChangeArrowheads="1"/>
                        </p:cNvPicPr>
                        <p:nvPr/>
                      </p:nvPicPr>
                      <p:blipFill>
                        <a:blip r:embed="rId42">
                          <a:extLst>
                            <a:ext uri="{28A0092B-C50C-407E-A947-70E740481C1C}">
                              <a14:useLocalDpi xmlns:a14="http://schemas.microsoft.com/office/drawing/2010/main" val="0"/>
                            </a:ext>
                          </a:extLst>
                        </a:blip>
                        <a:srcRect/>
                        <a:stretch>
                          <a:fillRect/>
                        </a:stretch>
                      </p:blipFill>
                      <p:spPr bwMode="auto">
                        <a:xfrm>
                          <a:off x="4879" y="2607"/>
                          <a:ext cx="226" cy="211"/>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graphicFrame>
        <p:nvGraphicFramePr>
          <p:cNvPr id="11266" name="Object 42"/>
          <p:cNvGraphicFramePr>
            <a:graphicFrameLocks noChangeAspect="1"/>
          </p:cNvGraphicFramePr>
          <p:nvPr/>
        </p:nvGraphicFramePr>
        <p:xfrm>
          <a:off x="1143000" y="4724400"/>
          <a:ext cx="7086600" cy="990600"/>
        </p:xfrm>
        <a:graphic>
          <a:graphicData uri="http://schemas.openxmlformats.org/presentationml/2006/ole">
            <mc:AlternateContent xmlns:mc="http://schemas.openxmlformats.org/markup-compatibility/2006">
              <mc:Choice xmlns:v="urn:schemas-microsoft-com:vml" Requires="v">
                <p:oleObj name="Equation" r:id="rId43" imgW="2340360" imgH="383760" progId="Equation.3">
                  <p:embed/>
                </p:oleObj>
              </mc:Choice>
              <mc:Fallback>
                <p:oleObj name="Equation" r:id="rId43" imgW="2340360" imgH="383760" progId="Equation.3">
                  <p:embed/>
                  <p:pic>
                    <p:nvPicPr>
                      <p:cNvPr id="11266" name="Object 42"/>
                      <p:cNvPicPr>
                        <a:picLocks noChangeAspect="1" noChangeArrowheads="1"/>
                      </p:cNvPicPr>
                      <p:nvPr/>
                    </p:nvPicPr>
                    <p:blipFill>
                      <a:blip r:embed="rId44">
                        <a:extLst>
                          <a:ext uri="{28A0092B-C50C-407E-A947-70E740481C1C}">
                            <a14:useLocalDpi xmlns:a14="http://schemas.microsoft.com/office/drawing/2010/main" val="0"/>
                          </a:ext>
                        </a:extLst>
                      </a:blip>
                      <a:srcRect/>
                      <a:stretch>
                        <a:fillRect/>
                      </a:stretch>
                    </p:blipFill>
                    <p:spPr bwMode="auto">
                      <a:xfrm>
                        <a:off x="1143000" y="4724400"/>
                        <a:ext cx="7086600" cy="9906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3" name="Slide Number Placeholder 2">
            <a:extLst>
              <a:ext uri="{FF2B5EF4-FFF2-40B4-BE49-F238E27FC236}">
                <a16:creationId xmlns:a16="http://schemas.microsoft.com/office/drawing/2014/main" id="{9CDA8C83-CFBB-EB4C-89DB-47DE5C10C343}"/>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6627">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2" presetClass="entr" presetSubtype="8"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left)">
                                      <p:cBhvr>
                                        <p:cTn id="11" dur="500"/>
                                        <p:tgtEl>
                                          <p:spTgt spid="2"/>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1" presetClass="entr" presetSubtype="0" fill="hold" nodeType="clickEffect">
                                  <p:stCondLst>
                                    <p:cond delay="0"/>
                                  </p:stCondLst>
                                  <p:childTnLst>
                                    <p:set>
                                      <p:cBhvr>
                                        <p:cTn id="15" dur="1" fill="hold">
                                          <p:stCondLst>
                                            <p:cond delay="0"/>
                                          </p:stCondLst>
                                        </p:cTn>
                                        <p:tgtEl>
                                          <p:spTgt spid="11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27" grpId="0" build="p"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ea typeface="ＭＳ Ｐゴシック" charset="0"/>
                <a:cs typeface="ＭＳ Ｐゴシック" charset="0"/>
              </a:rPr>
              <a:t>Zero-Coupon Bond Example</a:t>
            </a:r>
            <a:endParaRPr 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graphicFrame>
        <p:nvGraphicFramePr>
          <p:cNvPr id="9" name="Object 8"/>
          <p:cNvGraphicFramePr>
            <a:graphicFrameLocks noChangeAspect="1"/>
          </p:cNvGraphicFramePr>
          <p:nvPr>
            <p:extLst>
              <p:ext uri="{D42A27DB-BD31-4B8C-83A1-F6EECF244321}">
                <p14:modId xmlns:p14="http://schemas.microsoft.com/office/powerpoint/2010/main" val="4279464655"/>
              </p:ext>
            </p:extLst>
          </p:nvPr>
        </p:nvGraphicFramePr>
        <p:xfrm>
          <a:off x="2057400" y="1447800"/>
          <a:ext cx="5486400" cy="2971800"/>
        </p:xfrm>
        <a:graphic>
          <a:graphicData uri="http://schemas.openxmlformats.org/presentationml/2006/ole">
            <mc:AlternateContent xmlns:mc="http://schemas.openxmlformats.org/markup-compatibility/2006">
              <mc:Choice xmlns:v="urn:schemas-microsoft-com:vml" Requires="v">
                <p:oleObj name="Worksheet" r:id="rId2" imgW="2286000" imgH="1562100" progId="Excel.Sheet.12">
                  <p:embed/>
                </p:oleObj>
              </mc:Choice>
              <mc:Fallback>
                <p:oleObj name="Worksheet" r:id="rId2" imgW="2286000" imgH="1562100" progId="Excel.Sheet.12">
                  <p:embed/>
                  <p:pic>
                    <p:nvPicPr>
                      <p:cNvPr id="9" name="Object 8"/>
                      <p:cNvPicPr/>
                      <p:nvPr/>
                    </p:nvPicPr>
                    <p:blipFill>
                      <a:blip r:embed="rId3"/>
                      <a:stretch>
                        <a:fillRect/>
                      </a:stretch>
                    </p:blipFill>
                    <p:spPr>
                      <a:xfrm>
                        <a:off x="2057400" y="1447800"/>
                        <a:ext cx="5486400" cy="2971800"/>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D9871C57-40AE-3243-AF37-2A7E6684A10E}"/>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Tree>
    <p:extLst>
      <p:ext uri="{BB962C8B-B14F-4D97-AF65-F5344CB8AC3E}">
        <p14:creationId xmlns:p14="http://schemas.microsoft.com/office/powerpoint/2010/main" val="1911653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3" name="Rectangle 3"/>
          <p:cNvSpPr>
            <a:spLocks noGrp="1" noChangeArrowheads="1"/>
          </p:cNvSpPr>
          <p:nvPr>
            <p:ph idx="1"/>
          </p:nvPr>
        </p:nvSpPr>
        <p:spPr/>
        <p:txBody>
          <a:bodyPr/>
          <a:lstStyle/>
          <a:p>
            <a:pPr marL="342900" indent="-342900">
              <a:lnSpc>
                <a:spcPct val="90000"/>
              </a:lnSpc>
            </a:pPr>
            <a:r>
              <a:rPr lang="en-US" dirty="0">
                <a:ea typeface="ＭＳ Ｐゴシック" charset="0"/>
                <a:cs typeface="ＭＳ Ｐゴシック" charset="0"/>
              </a:rPr>
              <a:t>Information needed to value coupon bonds:</a:t>
            </a:r>
          </a:p>
          <a:p>
            <a:pPr marL="742950" lvl="1" indent="-285750">
              <a:lnSpc>
                <a:spcPct val="90000"/>
              </a:lnSpc>
            </a:pPr>
            <a:r>
              <a:rPr lang="en-US" dirty="0">
                <a:ea typeface="ＭＳ Ｐゴシック" charset="0"/>
              </a:rPr>
              <a:t>Coupon payment dates and time to maturity (T) </a:t>
            </a:r>
          </a:p>
          <a:p>
            <a:pPr marL="742950" lvl="1" indent="-285750">
              <a:lnSpc>
                <a:spcPct val="90000"/>
              </a:lnSpc>
            </a:pPr>
            <a:r>
              <a:rPr lang="en-US" dirty="0">
                <a:ea typeface="ＭＳ Ｐゴシック" charset="0"/>
              </a:rPr>
              <a:t>Coupon payment (C) per period and Face value (F) </a:t>
            </a:r>
          </a:p>
          <a:p>
            <a:pPr marL="742950" lvl="1" indent="-285750">
              <a:lnSpc>
                <a:spcPct val="90000"/>
              </a:lnSpc>
            </a:pPr>
            <a:r>
              <a:rPr lang="en-US" dirty="0">
                <a:solidFill>
                  <a:schemeClr val="accent2"/>
                </a:solidFill>
                <a:ea typeface="ＭＳ Ｐゴシック" charset="0"/>
              </a:rPr>
              <a:t>Appropriate Discount rate</a:t>
            </a:r>
          </a:p>
          <a:p>
            <a:pPr marL="742950" lvl="1" indent="-285750">
              <a:lnSpc>
                <a:spcPct val="90000"/>
              </a:lnSpc>
            </a:pPr>
            <a:endParaRPr lang="en-US" dirty="0">
              <a:solidFill>
                <a:schemeClr val="accent2"/>
              </a:solidFill>
              <a:ea typeface="ＭＳ Ｐゴシック" charset="0"/>
            </a:endParaRPr>
          </a:p>
          <a:p>
            <a:pPr marL="742950" lvl="1" indent="-285750">
              <a:lnSpc>
                <a:spcPct val="90000"/>
              </a:lnSpc>
            </a:pPr>
            <a:endParaRPr lang="en-US" dirty="0">
              <a:solidFill>
                <a:schemeClr val="accent2"/>
              </a:solidFill>
              <a:ea typeface="ＭＳ Ｐゴシック" charset="0"/>
            </a:endParaRPr>
          </a:p>
          <a:p>
            <a:pPr marL="742950" lvl="1" indent="-285750">
              <a:lnSpc>
                <a:spcPct val="90000"/>
              </a:lnSpc>
            </a:pPr>
            <a:endParaRPr lang="en-US" dirty="0">
              <a:solidFill>
                <a:schemeClr val="accent2"/>
              </a:solidFill>
              <a:ea typeface="ＭＳ Ｐゴシック" charset="0"/>
            </a:endParaRPr>
          </a:p>
          <a:p>
            <a:pPr marL="571500" indent="-285750">
              <a:lnSpc>
                <a:spcPct val="90000"/>
              </a:lnSpc>
            </a:pPr>
            <a:endParaRPr lang="en-US" dirty="0">
              <a:solidFill>
                <a:schemeClr val="accent2"/>
              </a:solidFill>
              <a:ea typeface="ＭＳ Ｐゴシック" charset="0"/>
            </a:endParaRPr>
          </a:p>
          <a:p>
            <a:pPr marL="571500" indent="-285750">
              <a:lnSpc>
                <a:spcPct val="90000"/>
              </a:lnSpc>
            </a:pPr>
            <a:endParaRPr lang="en-US" dirty="0">
              <a:solidFill>
                <a:schemeClr val="accent2"/>
              </a:solidFill>
              <a:ea typeface="ＭＳ Ｐゴシック" charset="0"/>
            </a:endParaRPr>
          </a:p>
          <a:p>
            <a:pPr marL="571500" indent="-285750">
              <a:lnSpc>
                <a:spcPct val="90000"/>
              </a:lnSpc>
            </a:pPr>
            <a:endParaRPr lang="en-US" b="1" dirty="0">
              <a:solidFill>
                <a:schemeClr val="accent2"/>
              </a:solidFill>
              <a:latin typeface="Times New Roman" charset="0"/>
              <a:ea typeface="ＭＳ Ｐゴシック" charset="0"/>
            </a:endParaRPr>
          </a:p>
          <a:p>
            <a:pPr marL="349250" indent="-341313">
              <a:lnSpc>
                <a:spcPct val="90000"/>
              </a:lnSpc>
            </a:pPr>
            <a:r>
              <a:rPr lang="en-US" b="1" dirty="0">
                <a:solidFill>
                  <a:srgbClr val="010004"/>
                </a:solidFill>
                <a:latin typeface="Times New Roman" charset="0"/>
              </a:rPr>
              <a:t>P = PV of coupon bond= PV of coupons + PV of face value</a:t>
            </a:r>
          </a:p>
          <a:p>
            <a:pPr marL="571500" indent="-285750">
              <a:lnSpc>
                <a:spcPct val="90000"/>
              </a:lnSpc>
            </a:pPr>
            <a:endParaRPr lang="en-US" dirty="0">
              <a:solidFill>
                <a:schemeClr val="accent2"/>
              </a:solidFill>
              <a:ea typeface="ＭＳ Ｐゴシック" charset="0"/>
            </a:endParaRPr>
          </a:p>
        </p:txBody>
      </p:sp>
      <p:sp>
        <p:nvSpPr>
          <p:cNvPr id="12302"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Coupon Bonds</a:t>
            </a:r>
            <a:endParaRPr lang="en-US">
              <a:ea typeface="ＭＳ Ｐゴシック" charset="0"/>
              <a:cs typeface="ＭＳ Ｐゴシック" charset="0"/>
            </a:endParaRPr>
          </a:p>
        </p:txBody>
      </p:sp>
      <p:sp>
        <p:nvSpPr>
          <p:cNvPr id="12306" name="Footer Placeholder 26"/>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pSp>
        <p:nvGrpSpPr>
          <p:cNvPr id="2" name="Group 6"/>
          <p:cNvGrpSpPr>
            <a:grpSpLocks/>
          </p:cNvGrpSpPr>
          <p:nvPr/>
        </p:nvGrpSpPr>
        <p:grpSpPr bwMode="auto">
          <a:xfrm>
            <a:off x="685800" y="2209802"/>
            <a:ext cx="7427912" cy="1425575"/>
            <a:chOff x="721" y="1920"/>
            <a:chExt cx="4679" cy="898"/>
          </a:xfrm>
        </p:grpSpPr>
        <p:sp>
          <p:nvSpPr>
            <p:cNvPr id="12307" name="Text Box 7"/>
            <p:cNvSpPr txBox="1">
              <a:spLocks noChangeArrowheads="1"/>
            </p:cNvSpPr>
            <p:nvPr/>
          </p:nvSpPr>
          <p:spPr bwMode="auto">
            <a:xfrm>
              <a:off x="3600" y="2496"/>
              <a:ext cx="172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sp>
          <p:nvSpPr>
            <p:cNvPr id="12308" name="Line 8"/>
            <p:cNvSpPr>
              <a:spLocks noChangeShapeType="1"/>
            </p:cNvSpPr>
            <p:nvPr/>
          </p:nvSpPr>
          <p:spPr bwMode="auto">
            <a:xfrm>
              <a:off x="816" y="2393"/>
              <a:ext cx="1968"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2309" name="Line 9"/>
            <p:cNvSpPr>
              <a:spLocks noChangeShapeType="1"/>
            </p:cNvSpPr>
            <p:nvPr/>
          </p:nvSpPr>
          <p:spPr bwMode="auto">
            <a:xfrm>
              <a:off x="3312" y="2393"/>
              <a:ext cx="1680"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2291" name="Object 1025"/>
            <p:cNvGraphicFramePr>
              <a:graphicFrameLocks noChangeAspect="1"/>
            </p:cNvGraphicFramePr>
            <p:nvPr>
              <p:extLst>
                <p:ext uri="{D42A27DB-BD31-4B8C-83A1-F6EECF244321}">
                  <p14:modId xmlns:p14="http://schemas.microsoft.com/office/powerpoint/2010/main" val="3199956226"/>
                </p:ext>
              </p:extLst>
            </p:nvPr>
          </p:nvGraphicFramePr>
          <p:xfrm>
            <a:off x="2918" y="2304"/>
            <a:ext cx="280" cy="177"/>
          </p:xfrm>
          <a:graphic>
            <a:graphicData uri="http://schemas.openxmlformats.org/presentationml/2006/ole">
              <mc:AlternateContent xmlns:mc="http://schemas.openxmlformats.org/markup-compatibility/2006">
                <mc:Choice xmlns:v="urn:schemas-microsoft-com:vml" Requires="v">
                  <p:oleObj name="Equation" r:id="rId3" imgW="164520" imgH="91080" progId="Equation.3">
                    <p:embed/>
                  </p:oleObj>
                </mc:Choice>
                <mc:Fallback>
                  <p:oleObj name="Equation" r:id="rId3" imgW="164520" imgH="91080" progId="Equation.3">
                    <p:embed/>
                    <p:pic>
                      <p:nvPicPr>
                        <p:cNvPr id="12291" name="Object 102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8" y="2304"/>
                          <a:ext cx="280" cy="177"/>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0" name="Line 11"/>
            <p:cNvSpPr>
              <a:spLocks noChangeShapeType="1"/>
            </p:cNvSpPr>
            <p:nvPr/>
          </p:nvSpPr>
          <p:spPr bwMode="auto">
            <a:xfrm>
              <a:off x="816"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2292" name="Object 1026"/>
            <p:cNvGraphicFramePr>
              <a:graphicFrameLocks noChangeAspect="1"/>
            </p:cNvGraphicFramePr>
            <p:nvPr/>
          </p:nvGraphicFramePr>
          <p:xfrm>
            <a:off x="721" y="2618"/>
            <a:ext cx="142" cy="200"/>
          </p:xfrm>
          <a:graphic>
            <a:graphicData uri="http://schemas.openxmlformats.org/presentationml/2006/ole">
              <mc:AlternateContent xmlns:mc="http://schemas.openxmlformats.org/markup-compatibility/2006">
                <mc:Choice xmlns:v="urn:schemas-microsoft-com:vml" Requires="v">
                  <p:oleObj name="Equation" r:id="rId5" imgW="118800" imgH="164520" progId="Equation.3">
                    <p:embed/>
                  </p:oleObj>
                </mc:Choice>
                <mc:Fallback>
                  <p:oleObj name="Equation" r:id="rId5" imgW="118800" imgH="164520" progId="Equation.3">
                    <p:embed/>
                    <p:pic>
                      <p:nvPicPr>
                        <p:cNvPr id="12292" name="Object 102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1" y="2618"/>
                          <a:ext cx="142"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2293" name="Object 1027"/>
            <p:cNvGraphicFramePr>
              <a:graphicFrameLocks noChangeAspect="1"/>
            </p:cNvGraphicFramePr>
            <p:nvPr/>
          </p:nvGraphicFramePr>
          <p:xfrm>
            <a:off x="1376" y="1929"/>
            <a:ext cx="334" cy="260"/>
          </p:xfrm>
          <a:graphic>
            <a:graphicData uri="http://schemas.openxmlformats.org/presentationml/2006/ole">
              <mc:AlternateContent xmlns:mc="http://schemas.openxmlformats.org/markup-compatibility/2006">
                <mc:Choice xmlns:v="urn:schemas-microsoft-com:vml" Requires="v">
                  <p:oleObj name="Equation" r:id="rId7" imgW="219240" imgH="164520" progId="Equation.3">
                    <p:embed/>
                  </p:oleObj>
                </mc:Choice>
                <mc:Fallback>
                  <p:oleObj name="Equation" r:id="rId7" imgW="219240" imgH="164520" progId="Equation.3">
                    <p:embed/>
                    <p:pic>
                      <p:nvPicPr>
                        <p:cNvPr id="12293" name="Object 102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76" y="1929"/>
                          <a:ext cx="334"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1" name="Line 14"/>
            <p:cNvSpPr>
              <a:spLocks noChangeShapeType="1"/>
            </p:cNvSpPr>
            <p:nvPr/>
          </p:nvSpPr>
          <p:spPr bwMode="auto">
            <a:xfrm>
              <a:off x="1542"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2294" name="Object 1028"/>
            <p:cNvGraphicFramePr>
              <a:graphicFrameLocks noChangeAspect="1"/>
            </p:cNvGraphicFramePr>
            <p:nvPr/>
          </p:nvGraphicFramePr>
          <p:xfrm>
            <a:off x="1493" y="2625"/>
            <a:ext cx="100" cy="186"/>
          </p:xfrm>
          <a:graphic>
            <a:graphicData uri="http://schemas.openxmlformats.org/presentationml/2006/ole">
              <mc:AlternateContent xmlns:mc="http://schemas.openxmlformats.org/markup-compatibility/2006">
                <mc:Choice xmlns:v="urn:schemas-microsoft-com:vml" Requires="v">
                  <p:oleObj name="Equation" r:id="rId9" imgW="73080" imgH="155160" progId="Equation.3">
                    <p:embed/>
                  </p:oleObj>
                </mc:Choice>
                <mc:Fallback>
                  <p:oleObj name="Equation" r:id="rId9" imgW="73080" imgH="155160" progId="Equation.3">
                    <p:embed/>
                    <p:pic>
                      <p:nvPicPr>
                        <p:cNvPr id="12294" name="Object 102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93" y="2625"/>
                          <a:ext cx="100"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2295" name="Object 1029"/>
            <p:cNvGraphicFramePr>
              <a:graphicFrameLocks noChangeAspect="1"/>
            </p:cNvGraphicFramePr>
            <p:nvPr/>
          </p:nvGraphicFramePr>
          <p:xfrm>
            <a:off x="2352" y="1922"/>
            <a:ext cx="336" cy="259"/>
          </p:xfrm>
          <a:graphic>
            <a:graphicData uri="http://schemas.openxmlformats.org/presentationml/2006/ole">
              <mc:AlternateContent xmlns:mc="http://schemas.openxmlformats.org/markup-compatibility/2006">
                <mc:Choice xmlns:v="urn:schemas-microsoft-com:vml" Requires="v">
                  <p:oleObj name="Equation" r:id="rId11" imgW="219240" imgH="164520" progId="Equation.3">
                    <p:embed/>
                  </p:oleObj>
                </mc:Choice>
                <mc:Fallback>
                  <p:oleObj name="Equation" r:id="rId11" imgW="219240" imgH="164520" progId="Equation.3">
                    <p:embed/>
                    <p:pic>
                      <p:nvPicPr>
                        <p:cNvPr id="12295" name="Object 102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352" y="1922"/>
                          <a:ext cx="336"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2" name="Line 17"/>
            <p:cNvSpPr>
              <a:spLocks noChangeShapeType="1"/>
            </p:cNvSpPr>
            <p:nvPr/>
          </p:nvSpPr>
          <p:spPr bwMode="auto">
            <a:xfrm>
              <a:off x="2520"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2296" name="Object 1030"/>
            <p:cNvGraphicFramePr>
              <a:graphicFrameLocks noChangeAspect="1"/>
            </p:cNvGraphicFramePr>
            <p:nvPr/>
          </p:nvGraphicFramePr>
          <p:xfrm>
            <a:off x="2445" y="2614"/>
            <a:ext cx="150" cy="196"/>
          </p:xfrm>
          <a:graphic>
            <a:graphicData uri="http://schemas.openxmlformats.org/presentationml/2006/ole">
              <mc:AlternateContent xmlns:mc="http://schemas.openxmlformats.org/markup-compatibility/2006">
                <mc:Choice xmlns:v="urn:schemas-microsoft-com:vml" Requires="v">
                  <p:oleObj name="Equation" r:id="rId13" imgW="118800" imgH="155160" progId="Equation.3">
                    <p:embed/>
                  </p:oleObj>
                </mc:Choice>
                <mc:Fallback>
                  <p:oleObj name="Equation" r:id="rId13" imgW="118800" imgH="155160" progId="Equation.3">
                    <p:embed/>
                    <p:pic>
                      <p:nvPicPr>
                        <p:cNvPr id="12296" name="Object 103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445" y="2614"/>
                          <a:ext cx="150"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2297" name="Object 1031"/>
            <p:cNvGraphicFramePr>
              <a:graphicFrameLocks noChangeAspect="1"/>
            </p:cNvGraphicFramePr>
            <p:nvPr/>
          </p:nvGraphicFramePr>
          <p:xfrm>
            <a:off x="3571" y="1920"/>
            <a:ext cx="334" cy="260"/>
          </p:xfrm>
          <a:graphic>
            <a:graphicData uri="http://schemas.openxmlformats.org/presentationml/2006/ole">
              <mc:AlternateContent xmlns:mc="http://schemas.openxmlformats.org/markup-compatibility/2006">
                <mc:Choice xmlns:v="urn:schemas-microsoft-com:vml" Requires="v">
                  <p:oleObj name="Equation" r:id="rId15" imgW="219240" imgH="164520" progId="Equation.3">
                    <p:embed/>
                  </p:oleObj>
                </mc:Choice>
                <mc:Fallback>
                  <p:oleObj name="Equation" r:id="rId15" imgW="219240" imgH="164520" progId="Equation.3">
                    <p:embed/>
                    <p:pic>
                      <p:nvPicPr>
                        <p:cNvPr id="12297" name="Object 1031"/>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571" y="1920"/>
                          <a:ext cx="334"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3" name="Line 20"/>
            <p:cNvSpPr>
              <a:spLocks noChangeShapeType="1"/>
            </p:cNvSpPr>
            <p:nvPr/>
          </p:nvSpPr>
          <p:spPr bwMode="auto">
            <a:xfrm>
              <a:off x="3738"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2298" name="Object 1032"/>
            <p:cNvGraphicFramePr>
              <a:graphicFrameLocks noChangeAspect="1"/>
            </p:cNvGraphicFramePr>
            <p:nvPr/>
          </p:nvGraphicFramePr>
          <p:xfrm>
            <a:off x="3559" y="2625"/>
            <a:ext cx="357" cy="186"/>
          </p:xfrm>
          <a:graphic>
            <a:graphicData uri="http://schemas.openxmlformats.org/presentationml/2006/ole">
              <mc:AlternateContent xmlns:mc="http://schemas.openxmlformats.org/markup-compatibility/2006">
                <mc:Choice xmlns:v="urn:schemas-microsoft-com:vml" Requires="v">
                  <p:oleObj name="Equation" r:id="rId17" imgW="301680" imgH="155160" progId="Equation.3">
                    <p:embed/>
                  </p:oleObj>
                </mc:Choice>
                <mc:Fallback>
                  <p:oleObj name="Equation" r:id="rId17" imgW="301680" imgH="155160" progId="Equation.3">
                    <p:embed/>
                    <p:pic>
                      <p:nvPicPr>
                        <p:cNvPr id="12298" name="Object 1032"/>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3559" y="2625"/>
                          <a:ext cx="357"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2299" name="Object 1033"/>
            <p:cNvGraphicFramePr>
              <a:graphicFrameLocks noChangeAspect="1"/>
            </p:cNvGraphicFramePr>
            <p:nvPr/>
          </p:nvGraphicFramePr>
          <p:xfrm>
            <a:off x="4599" y="1950"/>
            <a:ext cx="801" cy="259"/>
          </p:xfrm>
          <a:graphic>
            <a:graphicData uri="http://schemas.openxmlformats.org/presentationml/2006/ole">
              <mc:AlternateContent xmlns:mc="http://schemas.openxmlformats.org/markup-compatibility/2006">
                <mc:Choice xmlns:v="urn:schemas-microsoft-com:vml" Requires="v">
                  <p:oleObj name="Equation" r:id="rId19" imgW="530280" imgH="164520" progId="Equation.3">
                    <p:embed/>
                  </p:oleObj>
                </mc:Choice>
                <mc:Fallback>
                  <p:oleObj name="Equation" r:id="rId19" imgW="530280" imgH="164520" progId="Equation.3">
                    <p:embed/>
                    <p:pic>
                      <p:nvPicPr>
                        <p:cNvPr id="12299" name="Object 1033"/>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4599" y="1950"/>
                          <a:ext cx="801"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4" name="Line 23"/>
            <p:cNvSpPr>
              <a:spLocks noChangeShapeType="1"/>
            </p:cNvSpPr>
            <p:nvPr/>
          </p:nvSpPr>
          <p:spPr bwMode="auto">
            <a:xfrm>
              <a:off x="4992" y="2256"/>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2300" name="Object 1034"/>
            <p:cNvGraphicFramePr>
              <a:graphicFrameLocks noChangeAspect="1"/>
            </p:cNvGraphicFramePr>
            <p:nvPr/>
          </p:nvGraphicFramePr>
          <p:xfrm>
            <a:off x="4909" y="2614"/>
            <a:ext cx="166" cy="196"/>
          </p:xfrm>
          <a:graphic>
            <a:graphicData uri="http://schemas.openxmlformats.org/presentationml/2006/ole">
              <mc:AlternateContent xmlns:mc="http://schemas.openxmlformats.org/markup-compatibility/2006">
                <mc:Choice xmlns:v="urn:schemas-microsoft-com:vml" Requires="v">
                  <p:oleObj name="Equation" r:id="rId21" imgW="127800" imgH="155160" progId="Equation.3">
                    <p:embed/>
                  </p:oleObj>
                </mc:Choice>
                <mc:Fallback>
                  <p:oleObj name="Equation" r:id="rId21" imgW="127800" imgH="155160" progId="Equation.3">
                    <p:embed/>
                    <p:pic>
                      <p:nvPicPr>
                        <p:cNvPr id="12300" name="Object 1034"/>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4909" y="2614"/>
                          <a:ext cx="166"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graphicFrame>
        <p:nvGraphicFramePr>
          <p:cNvPr id="12290" name="Object 1024"/>
          <p:cNvGraphicFramePr>
            <a:graphicFrameLocks noChangeAspect="1"/>
          </p:cNvGraphicFramePr>
          <p:nvPr>
            <p:extLst>
              <p:ext uri="{D42A27DB-BD31-4B8C-83A1-F6EECF244321}">
                <p14:modId xmlns:p14="http://schemas.microsoft.com/office/powerpoint/2010/main" val="990521837"/>
              </p:ext>
            </p:extLst>
          </p:nvPr>
        </p:nvGraphicFramePr>
        <p:xfrm>
          <a:off x="1760781" y="4902200"/>
          <a:ext cx="4114800" cy="725488"/>
        </p:xfrm>
        <a:graphic>
          <a:graphicData uri="http://schemas.openxmlformats.org/presentationml/2006/ole">
            <mc:AlternateContent xmlns:mc="http://schemas.openxmlformats.org/markup-compatibility/2006">
              <mc:Choice xmlns:v="urn:schemas-microsoft-com:vml" Requires="v">
                <p:oleObj name="Equation" r:id="rId23" imgW="1930216" imgH="456924" progId="Equation.3">
                  <p:embed/>
                </p:oleObj>
              </mc:Choice>
              <mc:Fallback>
                <p:oleObj name="Equation" r:id="rId23" imgW="1930216" imgH="456924" progId="Equation.3">
                  <p:embed/>
                  <p:pic>
                    <p:nvPicPr>
                      <p:cNvPr id="12290" name="Object 1024"/>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1760781" y="4902200"/>
                        <a:ext cx="4114800" cy="725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3" name="Slide Number Placeholder 2">
            <a:extLst>
              <a:ext uri="{FF2B5EF4-FFF2-40B4-BE49-F238E27FC236}">
                <a16:creationId xmlns:a16="http://schemas.microsoft.com/office/drawing/2014/main" id="{E03F65E6-D861-1344-A022-08A3A411951F}"/>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072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3072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3072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3072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30723">
                                            <p:txEl>
                                              <p:pRg st="10" end="10"/>
                                            </p:txEl>
                                          </p:spTgt>
                                        </p:tgtEl>
                                        <p:attrNameLst>
                                          <p:attrName>style.visibility</p:attrName>
                                        </p:attrNameLst>
                                      </p:cBhvr>
                                      <p:to>
                                        <p:strVal val="visible"/>
                                      </p:to>
                                    </p:set>
                                  </p:childTnLst>
                                </p:cTn>
                              </p:par>
                            </p:childTnLst>
                          </p:cTn>
                        </p:par>
                      </p:childTnLst>
                    </p:cTn>
                  </p:par>
                  <p:par>
                    <p:cTn id="22" fill="hold" nodeType="clickPar">
                      <p:stCondLst>
                        <p:cond delay="indefinite"/>
                      </p:stCondLst>
                      <p:childTnLst>
                        <p:par>
                          <p:cTn id="23" fill="hold" nodeType="withGroup">
                            <p:stCondLst>
                              <p:cond delay="0"/>
                            </p:stCondLst>
                            <p:childTnLst>
                              <p:par>
                                <p:cTn id="24" presetID="1" presetClass="entr" presetSubtype="0" fill="hold" nodeType="clickEffect">
                                  <p:stCondLst>
                                    <p:cond delay="0"/>
                                  </p:stCondLst>
                                  <p:childTnLst>
                                    <p:set>
                                      <p:cBhvr>
                                        <p:cTn id="25" dur="1" fill="hold">
                                          <p:stCondLst>
                                            <p:cond delay="0"/>
                                          </p:stCondLst>
                                        </p:cTn>
                                        <p:tgtEl>
                                          <p:spTgt spid="122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23" grpId="0" uiExpand="1" build="p"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1" name="Rectangle 3"/>
          <p:cNvSpPr>
            <a:spLocks noGrp="1" noChangeArrowheads="1"/>
          </p:cNvSpPr>
          <p:nvPr>
            <p:ph idx="1"/>
          </p:nvPr>
        </p:nvSpPr>
        <p:spPr/>
        <p:txBody>
          <a:bodyPr/>
          <a:lstStyle/>
          <a:p>
            <a:pPr eaLnBrk="1" hangingPunct="1"/>
            <a:r>
              <a:rPr lang="en-US" dirty="0">
                <a:ea typeface="ＭＳ Ｐゴシック" charset="0"/>
                <a:cs typeface="ＭＳ Ｐゴシック" charset="0"/>
              </a:rPr>
              <a:t>Find the price (as of January 1, 2019) of a 6-3/8 coupon T-Note with semi-annual payments, and a maturity date of December 31, 2024, if the </a:t>
            </a:r>
            <a:r>
              <a:rPr lang="en-US" dirty="0">
                <a:solidFill>
                  <a:schemeClr val="accent2"/>
                </a:solidFill>
                <a:ea typeface="ＭＳ Ｐゴシック" charset="0"/>
                <a:cs typeface="ＭＳ Ｐゴシック" charset="0"/>
              </a:rPr>
              <a:t>annual YTM</a:t>
            </a:r>
            <a:r>
              <a:rPr lang="en-US" dirty="0">
                <a:ea typeface="ＭＳ Ｐゴシック" charset="0"/>
                <a:cs typeface="ＭＳ Ｐゴシック" charset="0"/>
              </a:rPr>
              <a:t> is 5%.</a:t>
            </a:r>
          </a:p>
          <a:p>
            <a:pPr eaLnBrk="1" hangingPunct="1"/>
            <a:r>
              <a:rPr lang="en-US" dirty="0">
                <a:ea typeface="ＭＳ Ｐゴシック" charset="0"/>
                <a:cs typeface="ＭＳ Ｐゴシック" charset="0"/>
              </a:rPr>
              <a:t>On January 1, 2019, the size and timing of cash flows are</a:t>
            </a:r>
            <a:r>
              <a:rPr lang="en-US" b="1" dirty="0">
                <a:ea typeface="ＭＳ Ｐゴシック" charset="0"/>
                <a:cs typeface="ＭＳ Ｐゴシック" charset="0"/>
              </a:rPr>
              <a:t>:</a:t>
            </a:r>
          </a:p>
          <a:p>
            <a:pPr eaLnBrk="1" hangingPunct="1"/>
            <a:endParaRPr lang="en-US" b="1" dirty="0">
              <a:ea typeface="ＭＳ Ｐゴシック" charset="0"/>
              <a:cs typeface="ＭＳ Ｐゴシック" charset="0"/>
            </a:endParaRPr>
          </a:p>
        </p:txBody>
      </p:sp>
      <p:sp>
        <p:nvSpPr>
          <p:cNvPr id="13326"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Coupon Bond Example</a:t>
            </a:r>
            <a:endParaRPr lang="en-US">
              <a:ea typeface="ＭＳ Ｐゴシック" charset="0"/>
              <a:cs typeface="ＭＳ Ｐゴシック" charset="0"/>
            </a:endParaRPr>
          </a:p>
        </p:txBody>
      </p:sp>
      <p:sp>
        <p:nvSpPr>
          <p:cNvPr id="13335" name="Footer Placeholder 30"/>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13328" name="Text Box 4"/>
          <p:cNvSpPr txBox="1">
            <a:spLocks noChangeArrowheads="1"/>
          </p:cNvSpPr>
          <p:nvPr/>
        </p:nvSpPr>
        <p:spPr bwMode="auto">
          <a:xfrm>
            <a:off x="5410200" y="3602038"/>
            <a:ext cx="274320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grpSp>
        <p:nvGrpSpPr>
          <p:cNvPr id="2" name="Group 5"/>
          <p:cNvGrpSpPr>
            <a:grpSpLocks/>
          </p:cNvGrpSpPr>
          <p:nvPr/>
        </p:nvGrpSpPr>
        <p:grpSpPr bwMode="auto">
          <a:xfrm>
            <a:off x="990600" y="3276092"/>
            <a:ext cx="6629400" cy="258205"/>
            <a:chOff x="816" y="3312"/>
            <a:chExt cx="4176" cy="177"/>
          </a:xfrm>
        </p:grpSpPr>
        <p:sp>
          <p:nvSpPr>
            <p:cNvPr id="13341" name="Line 6"/>
            <p:cNvSpPr>
              <a:spLocks noChangeShapeType="1"/>
            </p:cNvSpPr>
            <p:nvPr/>
          </p:nvSpPr>
          <p:spPr bwMode="auto">
            <a:xfrm>
              <a:off x="816" y="3401"/>
              <a:ext cx="1968"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3342" name="Line 7"/>
            <p:cNvSpPr>
              <a:spLocks noChangeShapeType="1"/>
            </p:cNvSpPr>
            <p:nvPr/>
          </p:nvSpPr>
          <p:spPr bwMode="auto">
            <a:xfrm>
              <a:off x="3312" y="3401"/>
              <a:ext cx="1680" cy="0"/>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aphicFrame>
          <p:nvGraphicFramePr>
            <p:cNvPr id="13324" name="Object 8"/>
            <p:cNvGraphicFramePr>
              <a:graphicFrameLocks noChangeAspect="1"/>
            </p:cNvGraphicFramePr>
            <p:nvPr>
              <p:extLst>
                <p:ext uri="{D42A27DB-BD31-4B8C-83A1-F6EECF244321}">
                  <p14:modId xmlns:p14="http://schemas.microsoft.com/office/powerpoint/2010/main" val="1285725481"/>
                </p:ext>
              </p:extLst>
            </p:nvPr>
          </p:nvGraphicFramePr>
          <p:xfrm>
            <a:off x="2918" y="3312"/>
            <a:ext cx="280" cy="177"/>
          </p:xfrm>
          <a:graphic>
            <a:graphicData uri="http://schemas.openxmlformats.org/presentationml/2006/ole">
              <mc:AlternateContent xmlns:mc="http://schemas.openxmlformats.org/markup-compatibility/2006">
                <mc:Choice xmlns:v="urn:schemas-microsoft-com:vml" Requires="v">
                  <p:oleObj name="Equation" r:id="rId3" imgW="164520" imgH="91080" progId="Equation.3">
                    <p:embed/>
                  </p:oleObj>
                </mc:Choice>
                <mc:Fallback>
                  <p:oleObj name="Equation" r:id="rId3" imgW="164520" imgH="91080" progId="Equation.3">
                    <p:embed/>
                    <p:pic>
                      <p:nvPicPr>
                        <p:cNvPr id="13324"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8" y="3312"/>
                          <a:ext cx="280" cy="177"/>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sp>
        <p:nvSpPr>
          <p:cNvPr id="13340" name="Line 10"/>
          <p:cNvSpPr>
            <a:spLocks noChangeShapeType="1"/>
          </p:cNvSpPr>
          <p:nvPr/>
        </p:nvSpPr>
        <p:spPr bwMode="auto">
          <a:xfrm>
            <a:off x="990600" y="3257552"/>
            <a:ext cx="0" cy="418151"/>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nvGrpSpPr>
          <p:cNvPr id="4" name="Group 12"/>
          <p:cNvGrpSpPr>
            <a:grpSpLocks/>
          </p:cNvGrpSpPr>
          <p:nvPr/>
        </p:nvGrpSpPr>
        <p:grpSpPr bwMode="auto">
          <a:xfrm>
            <a:off x="1524000" y="2800352"/>
            <a:ext cx="1239838" cy="892849"/>
            <a:chOff x="1152" y="2937"/>
            <a:chExt cx="781" cy="615"/>
          </a:xfrm>
        </p:grpSpPr>
        <p:graphicFrame>
          <p:nvGraphicFramePr>
            <p:cNvPr id="13321" name="Object 13"/>
            <p:cNvGraphicFramePr>
              <a:graphicFrameLocks noChangeAspect="1"/>
            </p:cNvGraphicFramePr>
            <p:nvPr/>
          </p:nvGraphicFramePr>
          <p:xfrm>
            <a:off x="1152" y="2937"/>
            <a:ext cx="781" cy="260"/>
          </p:xfrm>
          <a:graphic>
            <a:graphicData uri="http://schemas.openxmlformats.org/presentationml/2006/ole">
              <mc:AlternateContent xmlns:mc="http://schemas.openxmlformats.org/markup-compatibility/2006">
                <mc:Choice xmlns:v="urn:schemas-microsoft-com:vml" Requires="v">
                  <p:oleObj name="Equation" r:id="rId5" imgW="520920" imgH="164520" progId="Equation.3">
                    <p:embed/>
                  </p:oleObj>
                </mc:Choice>
                <mc:Fallback>
                  <p:oleObj name="Equation" r:id="rId5" imgW="520920" imgH="164520" progId="Equation.3">
                    <p:embed/>
                    <p:pic>
                      <p:nvPicPr>
                        <p:cNvPr id="13321" name="Object 1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52" y="2937"/>
                          <a:ext cx="781"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3339" name="Line 14"/>
            <p:cNvSpPr>
              <a:spLocks noChangeShapeType="1"/>
            </p:cNvSpPr>
            <p:nvPr/>
          </p:nvSpPr>
          <p:spPr bwMode="auto">
            <a:xfrm>
              <a:off x="1542" y="3264"/>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grpSp>
        <p:nvGrpSpPr>
          <p:cNvPr id="5" name="Group 16"/>
          <p:cNvGrpSpPr>
            <a:grpSpLocks/>
          </p:cNvGrpSpPr>
          <p:nvPr/>
        </p:nvGrpSpPr>
        <p:grpSpPr bwMode="auto">
          <a:xfrm>
            <a:off x="3074990" y="2773364"/>
            <a:ext cx="1241425" cy="902568"/>
            <a:chOff x="2129" y="2930"/>
            <a:chExt cx="782" cy="622"/>
          </a:xfrm>
        </p:grpSpPr>
        <p:graphicFrame>
          <p:nvGraphicFramePr>
            <p:cNvPr id="13319" name="Object 17"/>
            <p:cNvGraphicFramePr>
              <a:graphicFrameLocks noChangeAspect="1"/>
            </p:cNvGraphicFramePr>
            <p:nvPr/>
          </p:nvGraphicFramePr>
          <p:xfrm>
            <a:off x="2129" y="2930"/>
            <a:ext cx="782" cy="259"/>
          </p:xfrm>
          <a:graphic>
            <a:graphicData uri="http://schemas.openxmlformats.org/presentationml/2006/ole">
              <mc:AlternateContent xmlns:mc="http://schemas.openxmlformats.org/markup-compatibility/2006">
                <mc:Choice xmlns:v="urn:schemas-microsoft-com:vml" Requires="v">
                  <p:oleObj name="Equation" r:id="rId7" imgW="520920" imgH="164520" progId="Equation.3">
                    <p:embed/>
                  </p:oleObj>
                </mc:Choice>
                <mc:Fallback>
                  <p:oleObj name="Equation" r:id="rId7" imgW="520920" imgH="164520" progId="Equation.3">
                    <p:embed/>
                    <p:pic>
                      <p:nvPicPr>
                        <p:cNvPr id="13319" name="Object 1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129" y="2930"/>
                          <a:ext cx="782"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3338" name="Line 18"/>
            <p:cNvSpPr>
              <a:spLocks noChangeShapeType="1"/>
            </p:cNvSpPr>
            <p:nvPr/>
          </p:nvSpPr>
          <p:spPr bwMode="auto">
            <a:xfrm>
              <a:off x="2520" y="3264"/>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grpSp>
        <p:nvGrpSpPr>
          <p:cNvPr id="6" name="Group 20"/>
          <p:cNvGrpSpPr>
            <a:grpSpLocks/>
          </p:cNvGrpSpPr>
          <p:nvPr/>
        </p:nvGrpSpPr>
        <p:grpSpPr bwMode="auto">
          <a:xfrm>
            <a:off x="5008565" y="2770192"/>
            <a:ext cx="1239837" cy="905660"/>
            <a:chOff x="3347" y="2928"/>
            <a:chExt cx="781" cy="624"/>
          </a:xfrm>
        </p:grpSpPr>
        <p:graphicFrame>
          <p:nvGraphicFramePr>
            <p:cNvPr id="13317" name="Object 21"/>
            <p:cNvGraphicFramePr>
              <a:graphicFrameLocks noChangeAspect="1"/>
            </p:cNvGraphicFramePr>
            <p:nvPr/>
          </p:nvGraphicFramePr>
          <p:xfrm>
            <a:off x="3347" y="2928"/>
            <a:ext cx="781" cy="260"/>
          </p:xfrm>
          <a:graphic>
            <a:graphicData uri="http://schemas.openxmlformats.org/presentationml/2006/ole">
              <mc:AlternateContent xmlns:mc="http://schemas.openxmlformats.org/markup-compatibility/2006">
                <mc:Choice xmlns:v="urn:schemas-microsoft-com:vml" Requires="v">
                  <p:oleObj name="Equation" r:id="rId9" imgW="520920" imgH="164520" progId="Equation.3">
                    <p:embed/>
                  </p:oleObj>
                </mc:Choice>
                <mc:Fallback>
                  <p:oleObj name="Equation" r:id="rId9" imgW="520920" imgH="164520" progId="Equation.3">
                    <p:embed/>
                    <p:pic>
                      <p:nvPicPr>
                        <p:cNvPr id="13317" name="Object 21"/>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347" y="2928"/>
                          <a:ext cx="781"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3337" name="Line 22"/>
            <p:cNvSpPr>
              <a:spLocks noChangeShapeType="1"/>
            </p:cNvSpPr>
            <p:nvPr/>
          </p:nvSpPr>
          <p:spPr bwMode="auto">
            <a:xfrm>
              <a:off x="3738" y="3264"/>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grpSp>
        <p:nvGrpSpPr>
          <p:cNvPr id="7" name="Group 24"/>
          <p:cNvGrpSpPr>
            <a:grpSpLocks/>
          </p:cNvGrpSpPr>
          <p:nvPr/>
        </p:nvGrpSpPr>
        <p:grpSpPr bwMode="auto">
          <a:xfrm>
            <a:off x="6804027" y="2667002"/>
            <a:ext cx="1654175" cy="971550"/>
            <a:chOff x="4478" y="2940"/>
            <a:chExt cx="1042" cy="612"/>
          </a:xfrm>
        </p:grpSpPr>
        <p:graphicFrame>
          <p:nvGraphicFramePr>
            <p:cNvPr id="13315" name="Object 25"/>
            <p:cNvGraphicFramePr>
              <a:graphicFrameLocks noChangeAspect="1"/>
            </p:cNvGraphicFramePr>
            <p:nvPr/>
          </p:nvGraphicFramePr>
          <p:xfrm>
            <a:off x="4478" y="2940"/>
            <a:ext cx="1042" cy="296"/>
          </p:xfrm>
          <a:graphic>
            <a:graphicData uri="http://schemas.openxmlformats.org/presentationml/2006/ole">
              <mc:AlternateContent xmlns:mc="http://schemas.openxmlformats.org/markup-compatibility/2006">
                <mc:Choice xmlns:v="urn:schemas-microsoft-com:vml" Requires="v">
                  <p:oleObj name="Equation" r:id="rId11" imgW="694800" imgH="191880" progId="Equation.3">
                    <p:embed/>
                  </p:oleObj>
                </mc:Choice>
                <mc:Fallback>
                  <p:oleObj name="Equation" r:id="rId11" imgW="694800" imgH="191880" progId="Equation.3">
                    <p:embed/>
                    <p:pic>
                      <p:nvPicPr>
                        <p:cNvPr id="13315" name="Object 25"/>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478" y="2940"/>
                          <a:ext cx="1042" cy="2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3336" name="Line 26"/>
            <p:cNvSpPr>
              <a:spLocks noChangeShapeType="1"/>
            </p:cNvSpPr>
            <p:nvPr/>
          </p:nvSpPr>
          <p:spPr bwMode="auto">
            <a:xfrm>
              <a:off x="4992" y="3264"/>
              <a:ext cx="0" cy="288"/>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en-US">
                <a:latin typeface="Calibri"/>
              </a:endParaRPr>
            </a:p>
          </p:txBody>
        </p:sp>
      </p:grpSp>
      <p:graphicFrame>
        <p:nvGraphicFramePr>
          <p:cNvPr id="13314" name="Object 29"/>
          <p:cNvGraphicFramePr>
            <a:graphicFrameLocks noChangeAspect="1"/>
          </p:cNvGraphicFramePr>
          <p:nvPr>
            <p:extLst>
              <p:ext uri="{D42A27DB-BD31-4B8C-83A1-F6EECF244321}">
                <p14:modId xmlns:p14="http://schemas.microsoft.com/office/powerpoint/2010/main" val="733756433"/>
              </p:ext>
            </p:extLst>
          </p:nvPr>
        </p:nvGraphicFramePr>
        <p:xfrm>
          <a:off x="952500" y="4816771"/>
          <a:ext cx="7162800" cy="838200"/>
        </p:xfrm>
        <a:graphic>
          <a:graphicData uri="http://schemas.openxmlformats.org/presentationml/2006/ole">
            <mc:AlternateContent xmlns:mc="http://schemas.openxmlformats.org/markup-compatibility/2006">
              <mc:Choice xmlns:v="urn:schemas-microsoft-com:vml" Requires="v">
                <p:oleObj name="Equation" r:id="rId13" imgW="3190680" imgH="420480" progId="Equation.3">
                  <p:embed/>
                </p:oleObj>
              </mc:Choice>
              <mc:Fallback>
                <p:oleObj name="Equation" r:id="rId13" imgW="3190680" imgH="420480" progId="Equation.3">
                  <p:embed/>
                  <p:pic>
                    <p:nvPicPr>
                      <p:cNvPr id="13314" name="Object 29"/>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2500" y="4816771"/>
                        <a:ext cx="7162800" cy="838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8" name="Slide Number Placeholder 7">
            <a:extLst>
              <a:ext uri="{FF2B5EF4-FFF2-40B4-BE49-F238E27FC236}">
                <a16:creationId xmlns:a16="http://schemas.microsoft.com/office/drawing/2014/main" id="{47FD0BAB-342D-4642-A10D-C4A061255223}"/>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9" name="TextBox 8">
            <a:extLst>
              <a:ext uri="{FF2B5EF4-FFF2-40B4-BE49-F238E27FC236}">
                <a16:creationId xmlns:a16="http://schemas.microsoft.com/office/drawing/2014/main" id="{747C7D67-1858-9D4F-9391-1C5E5F43CDD4}"/>
              </a:ext>
            </a:extLst>
          </p:cNvPr>
          <p:cNvSpPr txBox="1"/>
          <p:nvPr/>
        </p:nvSpPr>
        <p:spPr>
          <a:xfrm>
            <a:off x="1613833" y="3684338"/>
            <a:ext cx="954107" cy="369332"/>
          </a:xfrm>
          <a:prstGeom prst="rect">
            <a:avLst/>
          </a:prstGeom>
          <a:noFill/>
        </p:spPr>
        <p:txBody>
          <a:bodyPr wrap="none" rtlCol="0">
            <a:spAutoFit/>
          </a:bodyPr>
          <a:lstStyle/>
          <a:p>
            <a:r>
              <a:rPr lang="en-US" dirty="0"/>
              <a:t>6/30/19</a:t>
            </a:r>
          </a:p>
        </p:txBody>
      </p:sp>
      <p:sp>
        <p:nvSpPr>
          <p:cNvPr id="32" name="TextBox 31">
            <a:extLst>
              <a:ext uri="{FF2B5EF4-FFF2-40B4-BE49-F238E27FC236}">
                <a16:creationId xmlns:a16="http://schemas.microsoft.com/office/drawing/2014/main" id="{5CE07D4E-9F9B-2C46-8B28-2887CC4B6284}"/>
              </a:ext>
            </a:extLst>
          </p:cNvPr>
          <p:cNvSpPr txBox="1"/>
          <p:nvPr/>
        </p:nvSpPr>
        <p:spPr>
          <a:xfrm>
            <a:off x="3124200" y="3693823"/>
            <a:ext cx="1082348" cy="369332"/>
          </a:xfrm>
          <a:prstGeom prst="rect">
            <a:avLst/>
          </a:prstGeom>
          <a:noFill/>
        </p:spPr>
        <p:txBody>
          <a:bodyPr wrap="none" rtlCol="0">
            <a:spAutoFit/>
          </a:bodyPr>
          <a:lstStyle/>
          <a:p>
            <a:r>
              <a:rPr lang="en-US" dirty="0"/>
              <a:t>12/31/19</a:t>
            </a:r>
          </a:p>
        </p:txBody>
      </p:sp>
      <p:sp>
        <p:nvSpPr>
          <p:cNvPr id="33" name="TextBox 32">
            <a:extLst>
              <a:ext uri="{FF2B5EF4-FFF2-40B4-BE49-F238E27FC236}">
                <a16:creationId xmlns:a16="http://schemas.microsoft.com/office/drawing/2014/main" id="{A55AF14D-0579-D34A-98FF-9BA55F38BD25}"/>
              </a:ext>
            </a:extLst>
          </p:cNvPr>
          <p:cNvSpPr txBox="1"/>
          <p:nvPr/>
        </p:nvSpPr>
        <p:spPr>
          <a:xfrm>
            <a:off x="7048808" y="3681371"/>
            <a:ext cx="1082348" cy="369332"/>
          </a:xfrm>
          <a:prstGeom prst="rect">
            <a:avLst/>
          </a:prstGeom>
          <a:noFill/>
        </p:spPr>
        <p:txBody>
          <a:bodyPr wrap="none" rtlCol="0">
            <a:spAutoFit/>
          </a:bodyPr>
          <a:lstStyle/>
          <a:p>
            <a:r>
              <a:rPr lang="en-US" dirty="0"/>
              <a:t>12/31/24</a:t>
            </a:r>
          </a:p>
        </p:txBody>
      </p:sp>
      <p:sp>
        <p:nvSpPr>
          <p:cNvPr id="34" name="TextBox 33">
            <a:extLst>
              <a:ext uri="{FF2B5EF4-FFF2-40B4-BE49-F238E27FC236}">
                <a16:creationId xmlns:a16="http://schemas.microsoft.com/office/drawing/2014/main" id="{2BDA3BE8-8169-5149-9A84-EE1B53FF1EF7}"/>
              </a:ext>
            </a:extLst>
          </p:cNvPr>
          <p:cNvSpPr txBox="1"/>
          <p:nvPr/>
        </p:nvSpPr>
        <p:spPr>
          <a:xfrm>
            <a:off x="5201975" y="3693823"/>
            <a:ext cx="954107" cy="369332"/>
          </a:xfrm>
          <a:prstGeom prst="rect">
            <a:avLst/>
          </a:prstGeom>
          <a:noFill/>
        </p:spPr>
        <p:txBody>
          <a:bodyPr wrap="none" rtlCol="0">
            <a:spAutoFit/>
          </a:bodyPr>
          <a:lstStyle/>
          <a:p>
            <a:r>
              <a:rPr lang="en-US" dirty="0"/>
              <a:t>6/30/24</a:t>
            </a:r>
          </a:p>
        </p:txBody>
      </p:sp>
      <p:sp>
        <p:nvSpPr>
          <p:cNvPr id="35" name="TextBox 34">
            <a:extLst>
              <a:ext uri="{FF2B5EF4-FFF2-40B4-BE49-F238E27FC236}">
                <a16:creationId xmlns:a16="http://schemas.microsoft.com/office/drawing/2014/main" id="{A8AEEA88-8ABF-7746-8618-D7B4DD4164FD}"/>
              </a:ext>
            </a:extLst>
          </p:cNvPr>
          <p:cNvSpPr txBox="1"/>
          <p:nvPr/>
        </p:nvSpPr>
        <p:spPr>
          <a:xfrm>
            <a:off x="515324" y="3693887"/>
            <a:ext cx="825867" cy="369332"/>
          </a:xfrm>
          <a:prstGeom prst="rect">
            <a:avLst/>
          </a:prstGeom>
          <a:noFill/>
        </p:spPr>
        <p:txBody>
          <a:bodyPr wrap="none" rtlCol="0">
            <a:spAutoFit/>
          </a:bodyPr>
          <a:lstStyle/>
          <a:p>
            <a:r>
              <a:rPr lang="en-US" dirty="0"/>
              <a:t>1/1/19</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277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2771">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8"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nodeType="afterGroup">
                            <p:stCondLst>
                              <p:cond delay="500"/>
                            </p:stCondLst>
                            <p:childTnLst>
                              <p:par>
                                <p:cTn id="17" presetID="22" presetClass="entr" presetSubtype="4" fill="hold" nodeType="after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wipe(down)">
                                      <p:cBhvr>
                                        <p:cTn id="19" dur="500"/>
                                        <p:tgtEl>
                                          <p:spTgt spid="4"/>
                                        </p:tgtEl>
                                      </p:cBhvr>
                                    </p:animEffect>
                                  </p:childTnLst>
                                </p:cTn>
                              </p:par>
                            </p:childTnLst>
                          </p:cTn>
                        </p:par>
                        <p:par>
                          <p:cTn id="20" fill="hold" nodeType="afterGroup">
                            <p:stCondLst>
                              <p:cond delay="1000"/>
                            </p:stCondLst>
                            <p:childTnLst>
                              <p:par>
                                <p:cTn id="21" presetID="22" presetClass="entr" presetSubtype="4" fill="hold" nodeType="after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wipe(down)">
                                      <p:cBhvr>
                                        <p:cTn id="23" dur="500"/>
                                        <p:tgtEl>
                                          <p:spTgt spid="5"/>
                                        </p:tgtEl>
                                      </p:cBhvr>
                                    </p:animEffect>
                                  </p:childTnLst>
                                </p:cTn>
                              </p:par>
                            </p:childTnLst>
                          </p:cTn>
                        </p:par>
                        <p:par>
                          <p:cTn id="24" fill="hold" nodeType="afterGroup">
                            <p:stCondLst>
                              <p:cond delay="1500"/>
                            </p:stCondLst>
                            <p:childTnLst>
                              <p:par>
                                <p:cTn id="25" presetID="22" presetClass="entr" presetSubtype="4" fill="hold" nodeType="after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down)">
                                      <p:cBhvr>
                                        <p:cTn id="27" dur="500"/>
                                        <p:tgtEl>
                                          <p:spTgt spid="6"/>
                                        </p:tgtEl>
                                      </p:cBhvr>
                                    </p:animEffect>
                                  </p:childTnLst>
                                </p:cTn>
                              </p:par>
                              <p:par>
                                <p:cTn id="28" presetID="1" presetClass="entr" presetSubtype="0" fill="hold" grpId="0" nodeType="with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32"/>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34"/>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childTnLst>
                                </p:cTn>
                              </p:par>
                            </p:childTnLst>
                          </p:cTn>
                        </p:par>
                        <p:par>
                          <p:cTn id="38" fill="hold">
                            <p:stCondLst>
                              <p:cond delay="2000"/>
                            </p:stCondLst>
                            <p:childTnLst>
                              <p:par>
                                <p:cTn id="39" presetID="22" presetClass="entr" presetSubtype="4" fill="hold"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down)">
                                      <p:cBhvr>
                                        <p:cTn id="41" dur="5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133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71" grpId="0" uiExpand="1" build="p" autoUpdateAnimBg="0"/>
      <p:bldP spid="9" grpId="0"/>
      <p:bldP spid="32" grpId="0"/>
      <p:bldP spid="33" grpId="0"/>
      <p:bldP spid="34" grpId="0"/>
      <p:bldP spid="3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ea typeface="ＭＳ Ｐゴシック" charset="0"/>
                <a:cs typeface="ＭＳ Ｐゴシック" charset="0"/>
              </a:rPr>
              <a:t>Coupon Bond Example with Excel or Calculator</a:t>
            </a:r>
            <a:endParaRPr lang="en-US" dirty="0"/>
          </a:p>
        </p:txBody>
      </p:sp>
      <p:sp>
        <p:nvSpPr>
          <p:cNvPr id="4" name="Footer Placeholder 3"/>
          <p:cNvSpPr>
            <a:spLocks noGrp="1"/>
          </p:cNvSpPr>
          <p:nvPr>
            <p:ph type="ftr" sz="quarter" idx="11"/>
          </p:nvPr>
        </p:nvSpPr>
        <p:spPr/>
        <p:txBody>
          <a:bodyPr/>
          <a:lstStyle/>
          <a:p>
            <a:r>
              <a:rPr lang="en-US"/>
              <a:t>Varying Rates of Return</a:t>
            </a:r>
            <a:endParaRPr lang="en-US" dirty="0"/>
          </a:p>
        </p:txBody>
      </p:sp>
      <p:graphicFrame>
        <p:nvGraphicFramePr>
          <p:cNvPr id="7" name="Object 6"/>
          <p:cNvGraphicFramePr>
            <a:graphicFrameLocks noChangeAspect="1"/>
          </p:cNvGraphicFramePr>
          <p:nvPr>
            <p:extLst>
              <p:ext uri="{D42A27DB-BD31-4B8C-83A1-F6EECF244321}">
                <p14:modId xmlns:p14="http://schemas.microsoft.com/office/powerpoint/2010/main" val="2799759516"/>
              </p:ext>
            </p:extLst>
          </p:nvPr>
        </p:nvGraphicFramePr>
        <p:xfrm>
          <a:off x="384048" y="868363"/>
          <a:ext cx="8115430" cy="4970462"/>
        </p:xfrm>
        <a:graphic>
          <a:graphicData uri="http://schemas.openxmlformats.org/presentationml/2006/ole">
            <mc:AlternateContent xmlns:mc="http://schemas.openxmlformats.org/markup-compatibility/2006">
              <mc:Choice xmlns:v="urn:schemas-microsoft-com:vml" Requires="v">
                <p:oleObj name="Worksheet" r:id="rId2" imgW="7835900" imgH="5549900" progId="Excel.Sheet.12">
                  <p:embed/>
                </p:oleObj>
              </mc:Choice>
              <mc:Fallback>
                <p:oleObj name="Worksheet" r:id="rId2" imgW="7835900" imgH="5549900" progId="Excel.Sheet.12">
                  <p:embed/>
                  <p:pic>
                    <p:nvPicPr>
                      <p:cNvPr id="7" name="Object 6"/>
                      <p:cNvPicPr>
                        <a:picLocks noChangeAspect="1" noChangeArrowheads="1"/>
                      </p:cNvPicPr>
                      <p:nvPr/>
                    </p:nvPicPr>
                    <p:blipFill>
                      <a:blip r:embed="rId3"/>
                      <a:srcRect/>
                      <a:stretch>
                        <a:fillRect/>
                      </a:stretch>
                    </p:blipFill>
                    <p:spPr bwMode="auto">
                      <a:xfrm>
                        <a:off x="384048" y="868363"/>
                        <a:ext cx="8115430" cy="4970462"/>
                      </a:xfrm>
                      <a:prstGeom prst="rect">
                        <a:avLst/>
                      </a:prstGeom>
                      <a:noFill/>
                    </p:spPr>
                  </p:pic>
                </p:oleObj>
              </mc:Fallback>
            </mc:AlternateContent>
          </a:graphicData>
        </a:graphic>
      </p:graphicFrame>
      <p:sp>
        <p:nvSpPr>
          <p:cNvPr id="3" name="Slide Number Placeholder 2">
            <a:extLst>
              <a:ext uri="{FF2B5EF4-FFF2-40B4-BE49-F238E27FC236}">
                <a16:creationId xmlns:a16="http://schemas.microsoft.com/office/drawing/2014/main" id="{77159D47-3B8C-D74C-82C2-8274DBB6D5D7}"/>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Tree>
    <p:extLst>
      <p:ext uri="{BB962C8B-B14F-4D97-AF65-F5344CB8AC3E}">
        <p14:creationId xmlns:p14="http://schemas.microsoft.com/office/powerpoint/2010/main" val="31934133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ea typeface="ＭＳ Ｐゴシック" charset="0"/>
                <a:cs typeface="ＭＳ Ｐゴシック" charset="0"/>
              </a:rPr>
              <a:t>Convention is to quote annual as 2x’s the semi-annual and </a:t>
            </a:r>
            <a:r>
              <a:rPr lang="en-US" b="1" dirty="0">
                <a:ea typeface="ＭＳ Ｐゴシック" charset="0"/>
                <a:cs typeface="ＭＳ Ｐゴシック" charset="0"/>
              </a:rPr>
              <a:t>not </a:t>
            </a:r>
            <a:r>
              <a:rPr lang="en-US" dirty="0">
                <a:ea typeface="ＭＳ Ｐゴシック" charset="0"/>
                <a:cs typeface="ＭＳ Ｐゴシック" charset="0"/>
              </a:rPr>
              <a:t>(1+s.a.)</a:t>
            </a:r>
            <a:r>
              <a:rPr lang="en-US" baseline="30000" dirty="0">
                <a:ea typeface="ＭＳ Ｐゴシック" charset="0"/>
                <a:cs typeface="ＭＳ Ｐゴシック" charset="0"/>
              </a:rPr>
              <a:t>2</a:t>
            </a:r>
          </a:p>
          <a:p>
            <a:pPr lvl="1"/>
            <a:r>
              <a:rPr lang="en-US" dirty="0">
                <a:ea typeface="ＭＳ Ｐゴシック" charset="0"/>
              </a:rPr>
              <a:t>If the annual YTM is 6%, then the semi-annual rate is 3% (6%/2), </a:t>
            </a:r>
            <a:r>
              <a:rPr lang="en-US" b="1" dirty="0">
                <a:ea typeface="ＭＳ Ｐゴシック" charset="0"/>
              </a:rPr>
              <a:t>not</a:t>
            </a:r>
            <a:r>
              <a:rPr lang="en-US" dirty="0">
                <a:ea typeface="ＭＳ Ｐゴシック" charset="0"/>
              </a:rPr>
              <a:t> (1.06)</a:t>
            </a:r>
            <a:r>
              <a:rPr lang="en-US" baseline="30000" dirty="0">
                <a:ea typeface="ＭＳ Ｐゴシック" charset="0"/>
              </a:rPr>
              <a:t>0.5</a:t>
            </a:r>
          </a:p>
          <a:p>
            <a:endParaRPr lang="en-US" dirty="0">
              <a:ea typeface="ＭＳ Ｐゴシック" charset="0"/>
              <a:cs typeface="ＭＳ Ｐゴシック" charset="0"/>
            </a:endParaRPr>
          </a:p>
          <a:p>
            <a:r>
              <a:rPr lang="en-US" dirty="0">
                <a:ea typeface="ＭＳ Ｐゴシック" charset="0"/>
                <a:cs typeface="ＭＳ Ｐゴシック" charset="0"/>
              </a:rPr>
              <a:t>The rate obtained by doubling the semi-annual yield is called the </a:t>
            </a:r>
            <a:r>
              <a:rPr lang="en-US" b="1" dirty="0">
                <a:ea typeface="ＭＳ Ｐゴシック" charset="0"/>
                <a:cs typeface="ＭＳ Ｐゴシック" charset="0"/>
              </a:rPr>
              <a:t>Bond-Equivalent Yield </a:t>
            </a:r>
            <a:r>
              <a:rPr lang="en-US" dirty="0">
                <a:ea typeface="ＭＳ Ｐゴシック" charset="0"/>
                <a:cs typeface="ＭＳ Ｐゴシック" charset="0"/>
              </a:rPr>
              <a:t>(think of it as a bond’s </a:t>
            </a:r>
            <a:r>
              <a:rPr lang="ja-JP" altLang="en-US" dirty="0">
                <a:ea typeface="ＭＳ Ｐゴシック" charset="0"/>
                <a:cs typeface="ＭＳ Ｐゴシック" charset="0"/>
              </a:rPr>
              <a:t>“</a:t>
            </a:r>
            <a:r>
              <a:rPr lang="en-US" dirty="0">
                <a:ea typeface="ＭＳ Ｐゴシック" charset="0"/>
                <a:cs typeface="ＭＳ Ｐゴシック" charset="0"/>
              </a:rPr>
              <a:t>APR</a:t>
            </a:r>
            <a:r>
              <a:rPr lang="ja-JP" altLang="en-US" dirty="0">
                <a:ea typeface="ＭＳ Ｐゴシック" charset="0"/>
                <a:cs typeface="ＭＳ Ｐゴシック" charset="0"/>
              </a:rPr>
              <a:t>”</a:t>
            </a:r>
            <a:r>
              <a:rPr lang="en-US" dirty="0">
                <a:ea typeface="ＭＳ Ｐゴシック" charset="0"/>
                <a:cs typeface="ＭＳ Ｐゴシック" charset="0"/>
              </a:rPr>
              <a:t>)</a:t>
            </a:r>
          </a:p>
          <a:p>
            <a:endParaRPr lang="en-US" dirty="0">
              <a:ea typeface="ＭＳ Ｐゴシック" charset="0"/>
              <a:cs typeface="ＭＳ Ｐゴシック" charset="0"/>
            </a:endParaRPr>
          </a:p>
          <a:p>
            <a:r>
              <a:rPr lang="en-US" dirty="0">
                <a:ea typeface="ＭＳ Ｐゴシック" charset="0"/>
                <a:cs typeface="ＭＳ Ｐゴシック" charset="0"/>
              </a:rPr>
              <a:t>The </a:t>
            </a:r>
            <a:r>
              <a:rPr lang="en-US" b="1" dirty="0">
                <a:ea typeface="ＭＳ Ｐゴシック" charset="0"/>
                <a:cs typeface="ＭＳ Ｐゴシック" charset="0"/>
              </a:rPr>
              <a:t>effective annual yield</a:t>
            </a:r>
            <a:r>
              <a:rPr lang="en-US" dirty="0">
                <a:ea typeface="ＭＳ Ｐゴシック" charset="0"/>
                <a:cs typeface="ＭＳ Ｐゴシック" charset="0"/>
              </a:rPr>
              <a:t> (rate), with </a:t>
            </a:r>
            <a:r>
              <a:rPr lang="en-US" i="1" dirty="0">
                <a:ea typeface="ＭＳ Ｐゴシック" charset="0"/>
                <a:cs typeface="ＭＳ Ｐゴシック" charset="0"/>
              </a:rPr>
              <a:t>m </a:t>
            </a:r>
            <a:r>
              <a:rPr lang="en-US" dirty="0">
                <a:ea typeface="ＭＳ Ｐゴシック" charset="0"/>
                <a:cs typeface="ＭＳ Ｐゴシック" charset="0"/>
              </a:rPr>
              <a:t>payments per year, is computed as follows:   </a:t>
            </a:r>
          </a:p>
          <a:p>
            <a:endParaRPr lang="en-US" dirty="0"/>
          </a:p>
        </p:txBody>
      </p:sp>
      <p:sp>
        <p:nvSpPr>
          <p:cNvPr id="3" name="Title 2"/>
          <p:cNvSpPr>
            <a:spLocks noGrp="1"/>
          </p:cNvSpPr>
          <p:nvPr>
            <p:ph type="title"/>
          </p:nvPr>
        </p:nvSpPr>
        <p:spPr/>
        <p:txBody>
          <a:bodyPr/>
          <a:lstStyle/>
          <a:p>
            <a:r>
              <a:rPr lang="en-US" dirty="0">
                <a:ea typeface="ＭＳ Ｐゴシック" charset="0"/>
                <a:cs typeface="ＭＳ Ｐゴシック" charset="0"/>
              </a:rPr>
              <a:t>Quotes, Conventions, and Confusion</a:t>
            </a:r>
            <a:endParaRPr 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graphicFrame>
        <p:nvGraphicFramePr>
          <p:cNvPr id="6" name="Object 1024"/>
          <p:cNvGraphicFramePr>
            <a:graphicFrameLocks noChangeAspect="1"/>
          </p:cNvGraphicFramePr>
          <p:nvPr>
            <p:extLst>
              <p:ext uri="{D42A27DB-BD31-4B8C-83A1-F6EECF244321}">
                <p14:modId xmlns:p14="http://schemas.microsoft.com/office/powerpoint/2010/main" val="707471911"/>
              </p:ext>
            </p:extLst>
          </p:nvPr>
        </p:nvGraphicFramePr>
        <p:xfrm>
          <a:off x="2895600" y="4800600"/>
          <a:ext cx="2999454" cy="762000"/>
        </p:xfrm>
        <a:graphic>
          <a:graphicData uri="http://schemas.openxmlformats.org/presentationml/2006/ole">
            <mc:AlternateContent xmlns:mc="http://schemas.openxmlformats.org/markup-compatibility/2006">
              <mc:Choice xmlns:v="urn:schemas-microsoft-com:vml" Requires="v">
                <p:oleObj name="Equation" r:id="rId2" imgW="1855800" imgH="219240" progId="Equation.3">
                  <p:embed/>
                </p:oleObj>
              </mc:Choice>
              <mc:Fallback>
                <p:oleObj name="Equation" r:id="rId2" imgW="1855800" imgH="219240" progId="Equation.3">
                  <p:embed/>
                  <p:pic>
                    <p:nvPicPr>
                      <p:cNvPr id="6" name="Object 102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5600" y="4800600"/>
                        <a:ext cx="2999454" cy="762000"/>
                      </a:xfrm>
                      <a:prstGeom prst="rect">
                        <a:avLst/>
                      </a:prstGeom>
                      <a:noFill/>
                      <a:effectLst/>
                    </p:spPr>
                  </p:pic>
                </p:oleObj>
              </mc:Fallback>
            </mc:AlternateContent>
          </a:graphicData>
        </a:graphic>
      </p:graphicFrame>
      <p:sp>
        <p:nvSpPr>
          <p:cNvPr id="7" name="Slide Number Placeholder 6">
            <a:extLst>
              <a:ext uri="{FF2B5EF4-FFF2-40B4-BE49-F238E27FC236}">
                <a16:creationId xmlns:a16="http://schemas.microsoft.com/office/drawing/2014/main" id="{2396E985-A82F-744E-80EF-0E33CFAA0A7C}"/>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Tree>
    <p:extLst>
      <p:ext uri="{BB962C8B-B14F-4D97-AF65-F5344CB8AC3E}">
        <p14:creationId xmlns:p14="http://schemas.microsoft.com/office/powerpoint/2010/main" val="1184442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404813" indent="-404813">
              <a:lnSpc>
                <a:spcPct val="90000"/>
              </a:lnSpc>
              <a:spcBef>
                <a:spcPct val="0"/>
              </a:spcBef>
            </a:pPr>
            <a:r>
              <a:rPr lang="en-US" b="1" dirty="0">
                <a:ea typeface="ＭＳ Ｐゴシック" charset="0"/>
                <a:cs typeface="ＭＳ Ｐゴシック" charset="0"/>
              </a:rPr>
              <a:t>Term structure of interest rates </a:t>
            </a:r>
          </a:p>
          <a:p>
            <a:pPr marL="690563" lvl="1" indent="-352425">
              <a:lnSpc>
                <a:spcPct val="90000"/>
              </a:lnSpc>
              <a:spcBef>
                <a:spcPct val="0"/>
              </a:spcBef>
            </a:pPr>
            <a:r>
              <a:rPr lang="en-US" dirty="0">
                <a:ea typeface="ＭＳ Ｐゴシック" charset="0"/>
              </a:rPr>
              <a:t>The relationship between the maturity (term) of treasuries and their annualized rates (    ) or </a:t>
            </a:r>
            <a:r>
              <a:rPr lang="en-US" dirty="0" err="1">
                <a:ea typeface="ＭＳ Ｐゴシック" charset="0"/>
              </a:rPr>
              <a:t>YTMs</a:t>
            </a:r>
            <a:r>
              <a:rPr lang="en-US" dirty="0">
                <a:ea typeface="ＭＳ Ｐゴシック" charset="0"/>
              </a:rPr>
              <a:t>.</a:t>
            </a:r>
          </a:p>
          <a:p>
            <a:pPr marL="690563" lvl="1" indent="-352425">
              <a:lnSpc>
                <a:spcPct val="90000"/>
              </a:lnSpc>
              <a:spcBef>
                <a:spcPct val="0"/>
              </a:spcBef>
            </a:pPr>
            <a:r>
              <a:rPr lang="en-US" dirty="0">
                <a:ea typeface="ＭＳ Ｐゴシック" charset="0"/>
              </a:rPr>
              <a:t>As the maturity of a treasury bond increases, so too </a:t>
            </a:r>
            <a:r>
              <a:rPr lang="en-US" i="1" dirty="0">
                <a:ea typeface="ＭＳ Ｐゴシック" charset="0"/>
              </a:rPr>
              <a:t>generally</a:t>
            </a:r>
            <a:r>
              <a:rPr lang="en-US" dirty="0">
                <a:ea typeface="ＭＳ Ｐゴシック" charset="0"/>
              </a:rPr>
              <a:t> does the </a:t>
            </a:r>
            <a:r>
              <a:rPr lang="en-US" dirty="0" err="1">
                <a:ea typeface="ＭＳ Ｐゴシック" charset="0"/>
              </a:rPr>
              <a:t>YTM</a:t>
            </a:r>
            <a:r>
              <a:rPr lang="en-US" sz="1600" dirty="0">
                <a:ea typeface="ＭＳ Ｐゴシック" charset="0"/>
              </a:rPr>
              <a:t>.</a:t>
            </a:r>
            <a:endParaRPr lang="en-US" b="1" dirty="0">
              <a:ea typeface="ＭＳ Ｐゴシック" charset="0"/>
            </a:endParaRPr>
          </a:p>
          <a:p>
            <a:pPr marL="342900" indent="-342900">
              <a:lnSpc>
                <a:spcPct val="90000"/>
              </a:lnSpc>
              <a:spcBef>
                <a:spcPct val="0"/>
              </a:spcBef>
            </a:pPr>
            <a:endParaRPr lang="en-US" b="1" dirty="0">
              <a:ea typeface="ＭＳ Ｐゴシック" charset="0"/>
              <a:cs typeface="ＭＳ Ｐゴシック" charset="0"/>
            </a:endParaRPr>
          </a:p>
          <a:p>
            <a:pPr marL="342900" indent="-342900">
              <a:lnSpc>
                <a:spcPct val="90000"/>
              </a:lnSpc>
              <a:spcBef>
                <a:spcPct val="0"/>
              </a:spcBef>
            </a:pPr>
            <a:endParaRPr lang="en-US" b="1" dirty="0">
              <a:ea typeface="ＭＳ Ｐゴシック" charset="0"/>
              <a:cs typeface="ＭＳ Ｐゴシック" charset="0"/>
            </a:endParaRPr>
          </a:p>
          <a:p>
            <a:pPr marL="342900" indent="-342900">
              <a:lnSpc>
                <a:spcPct val="90000"/>
              </a:lnSpc>
              <a:spcBef>
                <a:spcPct val="0"/>
              </a:spcBef>
            </a:pPr>
            <a:r>
              <a:rPr lang="en-US" b="1" dirty="0">
                <a:ea typeface="ＭＳ Ｐゴシック" charset="0"/>
                <a:cs typeface="ＭＳ Ｐゴシック" charset="0"/>
              </a:rPr>
              <a:t>Spot Rates</a:t>
            </a:r>
            <a:r>
              <a:rPr lang="en-US" dirty="0">
                <a:ea typeface="ＭＳ Ｐゴシック" charset="0"/>
                <a:cs typeface="ＭＳ Ｐゴシック" charset="0"/>
              </a:rPr>
              <a:t>:  The </a:t>
            </a:r>
            <a:r>
              <a:rPr lang="en-US" dirty="0" err="1">
                <a:ea typeface="ＭＳ Ｐゴシック" charset="0"/>
                <a:cs typeface="ＭＳ Ｐゴシック" charset="0"/>
              </a:rPr>
              <a:t>YTM</a:t>
            </a:r>
            <a:r>
              <a:rPr lang="en-US" dirty="0">
                <a:ea typeface="ＭＳ Ｐゴシック" charset="0"/>
                <a:cs typeface="ＭＳ Ｐゴシック" charset="0"/>
              </a:rPr>
              <a:t> </a:t>
            </a:r>
            <a:r>
              <a:rPr lang="en-US" i="1" dirty="0">
                <a:ea typeface="ＭＳ Ｐゴシック" charset="0"/>
                <a:cs typeface="ＭＳ Ｐゴシック" charset="0"/>
              </a:rPr>
              <a:t>today </a:t>
            </a:r>
            <a:r>
              <a:rPr lang="en-US" dirty="0">
                <a:ea typeface="ＭＳ Ｐゴシック" charset="0"/>
                <a:cs typeface="ＭＳ Ｐゴシック" charset="0"/>
              </a:rPr>
              <a:t>for bonds of different maturities</a:t>
            </a:r>
          </a:p>
          <a:p>
            <a:pPr marL="342900" indent="-342900">
              <a:lnSpc>
                <a:spcPct val="90000"/>
              </a:lnSpc>
              <a:spcBef>
                <a:spcPct val="0"/>
              </a:spcBef>
            </a:pPr>
            <a:endParaRPr lang="en-US" dirty="0">
              <a:ea typeface="ＭＳ Ｐゴシック" charset="0"/>
              <a:cs typeface="ＭＳ Ｐゴシック" charset="0"/>
            </a:endParaRPr>
          </a:p>
          <a:p>
            <a:pPr marL="342900" indent="-342900">
              <a:lnSpc>
                <a:spcPct val="90000"/>
              </a:lnSpc>
              <a:spcBef>
                <a:spcPct val="0"/>
              </a:spcBef>
            </a:pPr>
            <a:endParaRPr lang="en-US" b="1" dirty="0">
              <a:ea typeface="ＭＳ Ｐゴシック" charset="0"/>
              <a:cs typeface="ＭＳ Ｐゴシック" charset="0"/>
            </a:endParaRPr>
          </a:p>
          <a:p>
            <a:pPr marL="342900" indent="-342900">
              <a:lnSpc>
                <a:spcPct val="90000"/>
              </a:lnSpc>
              <a:spcBef>
                <a:spcPct val="0"/>
              </a:spcBef>
            </a:pPr>
            <a:r>
              <a:rPr lang="en-US" b="1" dirty="0">
                <a:ea typeface="ＭＳ Ｐゴシック" charset="0"/>
                <a:cs typeface="ＭＳ Ｐゴシック" charset="0"/>
              </a:rPr>
              <a:t>Forward Rates: </a:t>
            </a:r>
            <a:r>
              <a:rPr lang="en-US" dirty="0">
                <a:ea typeface="ＭＳ Ｐゴシック" charset="0"/>
                <a:cs typeface="ＭＳ Ｐゴシック" charset="0"/>
              </a:rPr>
              <a:t>The </a:t>
            </a:r>
            <a:r>
              <a:rPr lang="en-US" i="1" dirty="0">
                <a:ea typeface="ＭＳ Ｐゴシック" charset="0"/>
                <a:cs typeface="ＭＳ Ｐゴシック" charset="0"/>
              </a:rPr>
              <a:t>future</a:t>
            </a:r>
            <a:r>
              <a:rPr lang="en-US" dirty="0">
                <a:ea typeface="ＭＳ Ｐゴシック" charset="0"/>
                <a:cs typeface="ＭＳ Ｐゴシック" charset="0"/>
              </a:rPr>
              <a:t> </a:t>
            </a:r>
            <a:r>
              <a:rPr lang="en-US" dirty="0" err="1">
                <a:ea typeface="ＭＳ Ｐゴシック" charset="0"/>
                <a:cs typeface="ＭＳ Ｐゴシック" charset="0"/>
              </a:rPr>
              <a:t>YTM</a:t>
            </a:r>
            <a:r>
              <a:rPr lang="en-US" dirty="0">
                <a:ea typeface="ＭＳ Ｐゴシック" charset="0"/>
                <a:cs typeface="ＭＳ Ｐゴシック" charset="0"/>
              </a:rPr>
              <a:t> on bonds of different maturities. Forward rates are derived from the spot yield curve.</a:t>
            </a:r>
            <a:endParaRPr lang="en-US" b="1" dirty="0">
              <a:ea typeface="ＭＳ Ｐゴシック" charset="0"/>
              <a:cs typeface="ＭＳ Ｐゴシック" charset="0"/>
            </a:endParaRPr>
          </a:p>
          <a:p>
            <a:endParaRPr lang="en-US" dirty="0"/>
          </a:p>
        </p:txBody>
      </p:sp>
      <p:sp>
        <p:nvSpPr>
          <p:cNvPr id="3" name="Title 2"/>
          <p:cNvSpPr>
            <a:spLocks noGrp="1"/>
          </p:cNvSpPr>
          <p:nvPr>
            <p:ph type="title"/>
          </p:nvPr>
        </p:nvSpPr>
        <p:spPr/>
        <p:txBody>
          <a:bodyPr/>
          <a:lstStyle/>
          <a:p>
            <a:r>
              <a:rPr lang="en-US" dirty="0">
                <a:ea typeface="ＭＳ Ｐゴシック" charset="0"/>
                <a:cs typeface="ＭＳ Ｐゴシック" charset="0"/>
              </a:rPr>
              <a:t>Term Structure of Interest Rates or Yield Curve</a:t>
            </a:r>
            <a:endParaRPr 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graphicFrame>
        <p:nvGraphicFramePr>
          <p:cNvPr id="6" name="Object 5"/>
          <p:cNvGraphicFramePr>
            <a:graphicFrameLocks noChangeAspect="1"/>
          </p:cNvGraphicFramePr>
          <p:nvPr>
            <p:extLst>
              <p:ext uri="{D42A27DB-BD31-4B8C-83A1-F6EECF244321}">
                <p14:modId xmlns:p14="http://schemas.microsoft.com/office/powerpoint/2010/main" val="2199295860"/>
              </p:ext>
            </p:extLst>
          </p:nvPr>
        </p:nvGraphicFramePr>
        <p:xfrm>
          <a:off x="2973387" y="1143000"/>
          <a:ext cx="301625" cy="381000"/>
        </p:xfrm>
        <a:graphic>
          <a:graphicData uri="http://schemas.openxmlformats.org/presentationml/2006/ole">
            <mc:AlternateContent xmlns:mc="http://schemas.openxmlformats.org/markup-compatibility/2006">
              <mc:Choice xmlns:v="urn:schemas-microsoft-com:vml" Requires="v">
                <p:oleObj name="Equation" r:id="rId2" imgW="152280" imgH="228600" progId="Equation.3">
                  <p:embed/>
                </p:oleObj>
              </mc:Choice>
              <mc:Fallback>
                <p:oleObj name="Equation" r:id="rId2" imgW="152280" imgH="228600" progId="Equation.3">
                  <p:embed/>
                  <p:pic>
                    <p:nvPicPr>
                      <p:cNvPr id="6" name="Object 5"/>
                      <p:cNvPicPr>
                        <a:picLocks noChangeAspect="1" noChangeArrowheads="1"/>
                      </p:cNvPicPr>
                      <p:nvPr/>
                    </p:nvPicPr>
                    <p:blipFill>
                      <a:blip r:embed="rId3"/>
                      <a:srcRect/>
                      <a:stretch>
                        <a:fillRect/>
                      </a:stretch>
                    </p:blipFill>
                    <p:spPr bwMode="auto">
                      <a:xfrm>
                        <a:off x="2973387" y="1143000"/>
                        <a:ext cx="301625" cy="381000"/>
                      </a:xfrm>
                      <a:prstGeom prst="rect">
                        <a:avLst/>
                      </a:prstGeom>
                      <a:noFill/>
                    </p:spPr>
                  </p:pic>
                </p:oleObj>
              </mc:Fallback>
            </mc:AlternateContent>
          </a:graphicData>
        </a:graphic>
      </p:graphicFrame>
      <p:sp>
        <p:nvSpPr>
          <p:cNvPr id="7" name="Slide Number Placeholder 6">
            <a:extLst>
              <a:ext uri="{FF2B5EF4-FFF2-40B4-BE49-F238E27FC236}">
                <a16:creationId xmlns:a16="http://schemas.microsoft.com/office/drawing/2014/main" id="{FE389AFD-F78D-894E-802F-9CC3E4E53F66}"/>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Tree>
    <p:extLst>
      <p:ext uri="{BB962C8B-B14F-4D97-AF65-F5344CB8AC3E}">
        <p14:creationId xmlns:p14="http://schemas.microsoft.com/office/powerpoint/2010/main" val="1068834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1027"/>
          <p:cNvSpPr>
            <a:spLocks noGrp="1" noChangeArrowheads="1"/>
          </p:cNvSpPr>
          <p:nvPr>
            <p:ph idx="1"/>
          </p:nvPr>
        </p:nvSpPr>
        <p:spPr/>
        <p:txBody>
          <a:bodyPr/>
          <a:lstStyle/>
          <a:p>
            <a:pPr>
              <a:spcBef>
                <a:spcPct val="0"/>
              </a:spcBef>
              <a:buFontTx/>
              <a:buNone/>
            </a:pPr>
            <a:r>
              <a:rPr lang="en-US" b="1">
                <a:ea typeface="ＭＳ Ｐゴシック" charset="0"/>
                <a:cs typeface="ＭＳ Ｐゴシック" charset="0"/>
              </a:rPr>
              <a:t> </a:t>
            </a:r>
          </a:p>
          <a:p>
            <a:endParaRPr lang="en-US">
              <a:ea typeface="ＭＳ Ｐゴシック" charset="0"/>
              <a:cs typeface="ＭＳ Ｐゴシック" charset="0"/>
            </a:endParaRPr>
          </a:p>
        </p:txBody>
      </p:sp>
      <p:sp>
        <p:nvSpPr>
          <p:cNvPr id="174082" name="Rectangle 1026"/>
          <p:cNvSpPr>
            <a:spLocks noGrp="1" noChangeArrowheads="1"/>
          </p:cNvSpPr>
          <p:nvPr>
            <p:ph type="title"/>
          </p:nvPr>
        </p:nvSpPr>
        <p:spPr/>
        <p:txBody>
          <a:bodyPr/>
          <a:lstStyle/>
          <a:p>
            <a:r>
              <a:rPr lang="en-US" b="1">
                <a:ea typeface="ＭＳ Ｐゴシック" charset="0"/>
                <a:cs typeface="ＭＳ Ｐゴシック" charset="0"/>
              </a:rPr>
              <a:t>Timing Varying Rates of Return</a:t>
            </a:r>
            <a:endParaRPr lang="en-US">
              <a:ea typeface="ＭＳ Ｐゴシック" charset="0"/>
              <a:cs typeface="ＭＳ Ｐゴシック" charset="0"/>
            </a:endParaRPr>
          </a:p>
        </p:txBody>
      </p:sp>
      <p:sp>
        <p:nvSpPr>
          <p:cNvPr id="37921" name="Footer Placeholder 34"/>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174084" name="Line 1028"/>
          <p:cNvSpPr>
            <a:spLocks noChangeShapeType="1"/>
          </p:cNvSpPr>
          <p:nvPr/>
        </p:nvSpPr>
        <p:spPr bwMode="auto">
          <a:xfrm>
            <a:off x="1565275" y="3254375"/>
            <a:ext cx="6629400"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74085" name="Line 1029"/>
          <p:cNvSpPr>
            <a:spLocks noChangeShapeType="1"/>
          </p:cNvSpPr>
          <p:nvPr/>
        </p:nvSpPr>
        <p:spPr bwMode="auto">
          <a:xfrm>
            <a:off x="1565275" y="2797175"/>
            <a:ext cx="0" cy="45720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74086" name="Line 1030"/>
          <p:cNvSpPr>
            <a:spLocks noChangeShapeType="1"/>
          </p:cNvSpPr>
          <p:nvPr/>
        </p:nvSpPr>
        <p:spPr bwMode="auto">
          <a:xfrm>
            <a:off x="2860675" y="2797175"/>
            <a:ext cx="0" cy="45720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74087" name="Line 1031"/>
          <p:cNvSpPr>
            <a:spLocks noChangeShapeType="1"/>
          </p:cNvSpPr>
          <p:nvPr/>
        </p:nvSpPr>
        <p:spPr bwMode="auto">
          <a:xfrm>
            <a:off x="4384675" y="2797175"/>
            <a:ext cx="0" cy="45720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74088" name="Line 1032"/>
          <p:cNvSpPr>
            <a:spLocks noChangeShapeType="1"/>
          </p:cNvSpPr>
          <p:nvPr/>
        </p:nvSpPr>
        <p:spPr bwMode="auto">
          <a:xfrm>
            <a:off x="5908675" y="2797175"/>
            <a:ext cx="0" cy="45720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74089" name="Text Box 1033"/>
          <p:cNvSpPr txBox="1">
            <a:spLocks noChangeArrowheads="1"/>
          </p:cNvSpPr>
          <p:nvPr/>
        </p:nvSpPr>
        <p:spPr bwMode="auto">
          <a:xfrm>
            <a:off x="1400175" y="3157540"/>
            <a:ext cx="340158" cy="4616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0</a:t>
            </a:r>
          </a:p>
        </p:txBody>
      </p:sp>
      <p:sp>
        <p:nvSpPr>
          <p:cNvPr id="174090" name="Text Box 1034"/>
          <p:cNvSpPr txBox="1">
            <a:spLocks noChangeArrowheads="1"/>
          </p:cNvSpPr>
          <p:nvPr/>
        </p:nvSpPr>
        <p:spPr bwMode="auto">
          <a:xfrm>
            <a:off x="2719388" y="3173415"/>
            <a:ext cx="340158" cy="4616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1</a:t>
            </a:r>
          </a:p>
        </p:txBody>
      </p:sp>
      <p:sp>
        <p:nvSpPr>
          <p:cNvPr id="174091" name="Text Box 1035"/>
          <p:cNvSpPr txBox="1">
            <a:spLocks noChangeArrowheads="1"/>
          </p:cNvSpPr>
          <p:nvPr/>
        </p:nvSpPr>
        <p:spPr bwMode="auto">
          <a:xfrm>
            <a:off x="4235450" y="3157540"/>
            <a:ext cx="340158" cy="4616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2</a:t>
            </a:r>
          </a:p>
        </p:txBody>
      </p:sp>
      <p:sp>
        <p:nvSpPr>
          <p:cNvPr id="174092" name="Text Box 1036"/>
          <p:cNvSpPr txBox="1">
            <a:spLocks noChangeArrowheads="1"/>
          </p:cNvSpPr>
          <p:nvPr/>
        </p:nvSpPr>
        <p:spPr bwMode="auto">
          <a:xfrm>
            <a:off x="5759450" y="3157540"/>
            <a:ext cx="340158" cy="4616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3</a:t>
            </a:r>
          </a:p>
        </p:txBody>
      </p:sp>
      <p:sp>
        <p:nvSpPr>
          <p:cNvPr id="174093" name="AutoShape 1037"/>
          <p:cNvSpPr>
            <a:spLocks/>
          </p:cNvSpPr>
          <p:nvPr/>
        </p:nvSpPr>
        <p:spPr bwMode="auto">
          <a:xfrm rot="5400000" flipH="1" flipV="1">
            <a:off x="2136775" y="3009900"/>
            <a:ext cx="228600" cy="1219200"/>
          </a:xfrm>
          <a:prstGeom prst="leftBrace">
            <a:avLst>
              <a:gd name="adj1" fmla="val 44444"/>
              <a:gd name="adj2" fmla="val 50000"/>
            </a:avLst>
          </a:prstGeom>
          <a:noFill/>
          <a:ln w="28575">
            <a:solidFill>
              <a:schemeClr val="accent3">
                <a:lumMod val="25000"/>
                <a:lumOff val="75000"/>
              </a:schemeClr>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174094" name="Text Box 1038"/>
          <p:cNvSpPr txBox="1">
            <a:spLocks noChangeArrowheads="1"/>
          </p:cNvSpPr>
          <p:nvPr/>
        </p:nvSpPr>
        <p:spPr bwMode="auto">
          <a:xfrm>
            <a:off x="1981202" y="3581402"/>
            <a:ext cx="512763"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a:latin typeface="Calibri"/>
              </a:rPr>
              <a:t>r</a:t>
            </a:r>
            <a:r>
              <a:rPr lang="en-US" sz="2000" b="1" baseline="-25000">
                <a:latin typeface="Calibri"/>
              </a:rPr>
              <a:t>0,1</a:t>
            </a:r>
            <a:endParaRPr lang="en-US" sz="2000" b="1">
              <a:latin typeface="Calibri"/>
            </a:endParaRPr>
          </a:p>
        </p:txBody>
      </p:sp>
      <p:sp>
        <p:nvSpPr>
          <p:cNvPr id="174095" name="Line 1039"/>
          <p:cNvSpPr>
            <a:spLocks noChangeShapeType="1"/>
          </p:cNvSpPr>
          <p:nvPr/>
        </p:nvSpPr>
        <p:spPr bwMode="auto">
          <a:xfrm>
            <a:off x="8153402" y="1371600"/>
            <a:ext cx="41275" cy="190500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174096" name="Text Box 1040"/>
          <p:cNvSpPr txBox="1">
            <a:spLocks noChangeArrowheads="1"/>
          </p:cNvSpPr>
          <p:nvPr/>
        </p:nvSpPr>
        <p:spPr bwMode="auto">
          <a:xfrm>
            <a:off x="8042277" y="3255965"/>
            <a:ext cx="337051" cy="4616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T</a:t>
            </a:r>
          </a:p>
        </p:txBody>
      </p:sp>
      <p:sp>
        <p:nvSpPr>
          <p:cNvPr id="174097" name="Text Box 1041"/>
          <p:cNvSpPr txBox="1">
            <a:spLocks noChangeArrowheads="1"/>
          </p:cNvSpPr>
          <p:nvPr/>
        </p:nvSpPr>
        <p:spPr bwMode="auto">
          <a:xfrm>
            <a:off x="879475" y="3195638"/>
            <a:ext cx="516488"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a:latin typeface="Calibri"/>
              </a:rPr>
              <a:t>t = </a:t>
            </a:r>
          </a:p>
        </p:txBody>
      </p:sp>
      <p:sp>
        <p:nvSpPr>
          <p:cNvPr id="174098" name="Text Box 1042"/>
          <p:cNvSpPr txBox="1">
            <a:spLocks noChangeArrowheads="1"/>
          </p:cNvSpPr>
          <p:nvPr/>
        </p:nvSpPr>
        <p:spPr bwMode="auto">
          <a:xfrm>
            <a:off x="3352802" y="3643315"/>
            <a:ext cx="512763"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dirty="0">
                <a:latin typeface="Calibri"/>
              </a:rPr>
              <a:t>r</a:t>
            </a:r>
            <a:r>
              <a:rPr lang="en-US" sz="2000" b="1" baseline="-25000" dirty="0">
                <a:latin typeface="Calibri"/>
              </a:rPr>
              <a:t>1,2</a:t>
            </a:r>
            <a:endParaRPr lang="en-US" sz="2400" b="1" dirty="0">
              <a:latin typeface="Calibri"/>
            </a:endParaRPr>
          </a:p>
        </p:txBody>
      </p:sp>
      <p:sp>
        <p:nvSpPr>
          <p:cNvPr id="174099" name="AutoShape 1043"/>
          <p:cNvSpPr>
            <a:spLocks/>
          </p:cNvSpPr>
          <p:nvPr/>
        </p:nvSpPr>
        <p:spPr bwMode="auto">
          <a:xfrm rot="5400000" flipH="1" flipV="1">
            <a:off x="3505200" y="2971800"/>
            <a:ext cx="228600" cy="1295400"/>
          </a:xfrm>
          <a:prstGeom prst="leftBrace">
            <a:avLst>
              <a:gd name="adj1" fmla="val 47222"/>
              <a:gd name="adj2" fmla="val 50000"/>
            </a:avLst>
          </a:prstGeom>
          <a:noFill/>
          <a:ln w="28575">
            <a:solidFill>
              <a:schemeClr val="accent3">
                <a:lumMod val="25000"/>
                <a:lumOff val="75000"/>
              </a:schemeClr>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174100" name="Text Box 1044"/>
          <p:cNvSpPr txBox="1">
            <a:spLocks noChangeArrowheads="1"/>
          </p:cNvSpPr>
          <p:nvPr/>
        </p:nvSpPr>
        <p:spPr bwMode="auto">
          <a:xfrm>
            <a:off x="3429002" y="1828802"/>
            <a:ext cx="556563" cy="4616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r</a:t>
            </a:r>
            <a:r>
              <a:rPr lang="en-US" sz="2400" b="1" baseline="-25000">
                <a:latin typeface="Calibri"/>
              </a:rPr>
              <a:t>0,3</a:t>
            </a:r>
            <a:endParaRPr lang="en-US" sz="2400" b="1">
              <a:latin typeface="Calibri"/>
            </a:endParaRPr>
          </a:p>
        </p:txBody>
      </p:sp>
      <p:sp>
        <p:nvSpPr>
          <p:cNvPr id="174101" name="AutoShape 1045"/>
          <p:cNvSpPr>
            <a:spLocks/>
          </p:cNvSpPr>
          <p:nvPr/>
        </p:nvSpPr>
        <p:spPr bwMode="auto">
          <a:xfrm rot="5400000">
            <a:off x="3505200" y="381000"/>
            <a:ext cx="381000" cy="4191000"/>
          </a:xfrm>
          <a:prstGeom prst="leftBrace">
            <a:avLst>
              <a:gd name="adj1" fmla="val 91667"/>
              <a:gd name="adj2" fmla="val 49995"/>
            </a:avLst>
          </a:prstGeom>
          <a:noFill/>
          <a:ln w="1905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174102" name="Text Box 1046"/>
          <p:cNvSpPr txBox="1">
            <a:spLocks noChangeArrowheads="1"/>
          </p:cNvSpPr>
          <p:nvPr/>
        </p:nvSpPr>
        <p:spPr bwMode="auto">
          <a:xfrm>
            <a:off x="4953002" y="3643315"/>
            <a:ext cx="512763"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a:latin typeface="Calibri"/>
              </a:rPr>
              <a:t>r</a:t>
            </a:r>
            <a:r>
              <a:rPr lang="en-US" sz="2000" b="1" baseline="-25000">
                <a:latin typeface="Calibri"/>
              </a:rPr>
              <a:t>2,3</a:t>
            </a:r>
            <a:endParaRPr lang="en-US" sz="2400" b="1">
              <a:latin typeface="Calibri"/>
            </a:endParaRPr>
          </a:p>
        </p:txBody>
      </p:sp>
      <p:sp>
        <p:nvSpPr>
          <p:cNvPr id="174103" name="AutoShape 1047"/>
          <p:cNvSpPr>
            <a:spLocks/>
          </p:cNvSpPr>
          <p:nvPr/>
        </p:nvSpPr>
        <p:spPr bwMode="auto">
          <a:xfrm rot="5400000" flipH="1" flipV="1">
            <a:off x="5029200" y="2819400"/>
            <a:ext cx="228600" cy="1600200"/>
          </a:xfrm>
          <a:prstGeom prst="leftBrace">
            <a:avLst>
              <a:gd name="adj1" fmla="val 58333"/>
              <a:gd name="adj2" fmla="val 50000"/>
            </a:avLst>
          </a:prstGeom>
          <a:noFill/>
          <a:ln w="28575">
            <a:solidFill>
              <a:schemeClr val="accent3">
                <a:lumMod val="25000"/>
                <a:lumOff val="75000"/>
              </a:schemeClr>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174104" name="Text Box 1048"/>
          <p:cNvSpPr txBox="1">
            <a:spLocks noChangeArrowheads="1"/>
          </p:cNvSpPr>
          <p:nvPr/>
        </p:nvSpPr>
        <p:spPr bwMode="auto">
          <a:xfrm>
            <a:off x="228600" y="4455546"/>
            <a:ext cx="8686800" cy="18161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marL="285750" indent="-285750"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endParaRPr lang="en-US" sz="2000" dirty="0">
              <a:latin typeface="Calibri"/>
            </a:endParaRPr>
          </a:p>
          <a:p>
            <a:pPr eaLnBrk="1" hangingPunct="1">
              <a:buFontTx/>
              <a:buChar char="•"/>
            </a:pPr>
            <a:r>
              <a:rPr lang="en-US" sz="2000" dirty="0">
                <a:latin typeface="Calibri"/>
              </a:rPr>
              <a:t>(1+r</a:t>
            </a:r>
            <a:r>
              <a:rPr lang="en-US" sz="2000" baseline="-25000" dirty="0">
                <a:latin typeface="Calibri"/>
              </a:rPr>
              <a:t>0,3</a:t>
            </a:r>
            <a:r>
              <a:rPr lang="en-US" sz="2000" dirty="0">
                <a:latin typeface="Calibri"/>
              </a:rPr>
              <a:t>) = (1+ r</a:t>
            </a:r>
            <a:r>
              <a:rPr lang="en-US" sz="2000" baseline="-25000" dirty="0">
                <a:latin typeface="Calibri"/>
              </a:rPr>
              <a:t>0,1</a:t>
            </a:r>
            <a:r>
              <a:rPr lang="en-US" sz="2000" dirty="0">
                <a:latin typeface="Calibri"/>
              </a:rPr>
              <a:t>) * (1+r</a:t>
            </a:r>
            <a:r>
              <a:rPr lang="en-US" sz="2000" baseline="-25000" dirty="0">
                <a:latin typeface="Calibri"/>
              </a:rPr>
              <a:t>1,2</a:t>
            </a:r>
            <a:r>
              <a:rPr lang="en-US" sz="2000" dirty="0">
                <a:latin typeface="Calibri"/>
              </a:rPr>
              <a:t>) * (1+r</a:t>
            </a:r>
            <a:r>
              <a:rPr lang="en-US" sz="2000" baseline="-25000" dirty="0">
                <a:latin typeface="Calibri"/>
              </a:rPr>
              <a:t>2,3</a:t>
            </a:r>
            <a:r>
              <a:rPr lang="en-US" sz="2000" dirty="0">
                <a:latin typeface="Calibri"/>
              </a:rPr>
              <a:t>)   or  (1+      )</a:t>
            </a:r>
            <a:r>
              <a:rPr lang="en-US" sz="2000" baseline="30000" dirty="0">
                <a:latin typeface="Calibri"/>
              </a:rPr>
              <a:t>3</a:t>
            </a:r>
            <a:endParaRPr lang="en-US" sz="2000" dirty="0">
              <a:latin typeface="Calibri"/>
            </a:endParaRPr>
          </a:p>
          <a:p>
            <a:pPr eaLnBrk="1" hangingPunct="1">
              <a:buFontTx/>
              <a:buChar char="•"/>
            </a:pPr>
            <a:endParaRPr lang="en-US" sz="2000" b="1" dirty="0">
              <a:latin typeface="Calibri"/>
            </a:endParaRPr>
          </a:p>
          <a:p>
            <a:pPr eaLnBrk="1" hangingPunct="1">
              <a:buFontTx/>
              <a:buChar char="•"/>
            </a:pPr>
            <a:r>
              <a:rPr lang="en-US" sz="2000" dirty="0">
                <a:latin typeface="Calibri"/>
              </a:rPr>
              <a:t>r</a:t>
            </a:r>
            <a:r>
              <a:rPr lang="en-US" sz="2000" baseline="-25000" dirty="0">
                <a:latin typeface="Calibri"/>
              </a:rPr>
              <a:t>1,2</a:t>
            </a:r>
            <a:r>
              <a:rPr lang="en-US" sz="2000" dirty="0">
                <a:latin typeface="Calibri"/>
              </a:rPr>
              <a:t> , r</a:t>
            </a:r>
            <a:r>
              <a:rPr lang="en-US" sz="2000" baseline="-25000" dirty="0">
                <a:latin typeface="Calibri"/>
              </a:rPr>
              <a:t>2,3</a:t>
            </a:r>
            <a:r>
              <a:rPr lang="en-US" sz="2000" dirty="0">
                <a:latin typeface="Calibri"/>
              </a:rPr>
              <a:t> , and r</a:t>
            </a:r>
            <a:r>
              <a:rPr lang="en-US" sz="2000" baseline="-25000" dirty="0">
                <a:latin typeface="Calibri"/>
              </a:rPr>
              <a:t>1,3</a:t>
            </a:r>
            <a:r>
              <a:rPr lang="en-US" sz="2000" dirty="0">
                <a:latin typeface="Calibri"/>
              </a:rPr>
              <a:t> are reinvestment or </a:t>
            </a:r>
            <a:r>
              <a:rPr lang="en-US" sz="2000" i="1" dirty="0">
                <a:latin typeface="Calibri"/>
              </a:rPr>
              <a:t>forward rates (an interest rate that begins in the future) </a:t>
            </a:r>
            <a:r>
              <a:rPr lang="en-US" sz="2000" dirty="0">
                <a:latin typeface="Calibri"/>
              </a:rPr>
              <a:t>and r</a:t>
            </a:r>
            <a:r>
              <a:rPr lang="en-US" sz="2000" baseline="-25000" dirty="0">
                <a:latin typeface="Calibri"/>
              </a:rPr>
              <a:t>0,1</a:t>
            </a:r>
            <a:r>
              <a:rPr lang="en-US" sz="2000" dirty="0">
                <a:latin typeface="Calibri"/>
              </a:rPr>
              <a:t> is a </a:t>
            </a:r>
            <a:r>
              <a:rPr lang="en-US" sz="2000" i="1" dirty="0">
                <a:latin typeface="Calibri"/>
              </a:rPr>
              <a:t>spot rate</a:t>
            </a:r>
            <a:endParaRPr lang="en-US" sz="2000" dirty="0">
              <a:latin typeface="Calibri"/>
            </a:endParaRPr>
          </a:p>
          <a:p>
            <a:pPr eaLnBrk="1" hangingPunct="1">
              <a:buFontTx/>
              <a:buChar char="•"/>
            </a:pPr>
            <a:endParaRPr lang="en-US" baseline="-25000" dirty="0">
              <a:latin typeface="Calibri"/>
            </a:endParaRPr>
          </a:p>
        </p:txBody>
      </p:sp>
      <p:sp>
        <p:nvSpPr>
          <p:cNvPr id="174105" name="Text Box 1049"/>
          <p:cNvSpPr txBox="1">
            <a:spLocks noChangeArrowheads="1"/>
          </p:cNvSpPr>
          <p:nvPr/>
        </p:nvSpPr>
        <p:spPr bwMode="auto">
          <a:xfrm>
            <a:off x="8137525" y="1255715"/>
            <a:ext cx="469938" cy="20313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b="1">
                <a:latin typeface="Calibri"/>
              </a:rPr>
              <a:t>6%</a:t>
            </a:r>
          </a:p>
          <a:p>
            <a:pPr eaLnBrk="1" hangingPunct="1"/>
            <a:endParaRPr lang="en-US" b="1">
              <a:latin typeface="Calibri"/>
            </a:endParaRPr>
          </a:p>
          <a:p>
            <a:pPr eaLnBrk="1" hangingPunct="1"/>
            <a:r>
              <a:rPr lang="en-US" b="1">
                <a:latin typeface="Calibri"/>
              </a:rPr>
              <a:t>4%</a:t>
            </a:r>
          </a:p>
          <a:p>
            <a:pPr eaLnBrk="1" hangingPunct="1"/>
            <a:endParaRPr lang="en-US" b="1">
              <a:latin typeface="Calibri"/>
            </a:endParaRPr>
          </a:p>
          <a:p>
            <a:pPr eaLnBrk="1" hangingPunct="1"/>
            <a:r>
              <a:rPr lang="en-US" b="1">
                <a:latin typeface="Calibri"/>
              </a:rPr>
              <a:t>2%</a:t>
            </a:r>
          </a:p>
          <a:p>
            <a:pPr eaLnBrk="1" hangingPunct="1"/>
            <a:endParaRPr lang="en-US" b="1">
              <a:latin typeface="Calibri"/>
            </a:endParaRPr>
          </a:p>
          <a:p>
            <a:pPr eaLnBrk="1" hangingPunct="1"/>
            <a:r>
              <a:rPr lang="en-US" b="1">
                <a:latin typeface="Calibri"/>
              </a:rPr>
              <a:t>0%</a:t>
            </a:r>
          </a:p>
        </p:txBody>
      </p:sp>
      <p:sp>
        <p:nvSpPr>
          <p:cNvPr id="174106" name="Freeform 1050"/>
          <p:cNvSpPr>
            <a:spLocks/>
          </p:cNvSpPr>
          <p:nvPr/>
        </p:nvSpPr>
        <p:spPr bwMode="auto">
          <a:xfrm>
            <a:off x="1676400" y="1371600"/>
            <a:ext cx="6553200" cy="457200"/>
          </a:xfrm>
          <a:custGeom>
            <a:avLst/>
            <a:gdLst>
              <a:gd name="T0" fmla="*/ 0 w 4128"/>
              <a:gd name="T1" fmla="*/ 457200 h 480"/>
              <a:gd name="T2" fmla="*/ 1295400 w 4128"/>
              <a:gd name="T3" fmla="*/ 411480 h 480"/>
              <a:gd name="T4" fmla="*/ 2895599 w 4128"/>
              <a:gd name="T5" fmla="*/ 411480 h 480"/>
              <a:gd name="T6" fmla="*/ 4191000 w 4128"/>
              <a:gd name="T7" fmla="*/ 365760 h 480"/>
              <a:gd name="T8" fmla="*/ 5105399 w 4128"/>
              <a:gd name="T9" fmla="*/ 182880 h 480"/>
              <a:gd name="T10" fmla="*/ 6324599 w 4128"/>
              <a:gd name="T11" fmla="*/ 45720 h 480"/>
              <a:gd name="T12" fmla="*/ 6476998 w 4128"/>
              <a:gd name="T13" fmla="*/ 0 h 480"/>
              <a:gd name="T14" fmla="*/ 0 60000 65536"/>
              <a:gd name="T15" fmla="*/ 0 60000 65536"/>
              <a:gd name="T16" fmla="*/ 0 60000 65536"/>
              <a:gd name="T17" fmla="*/ 0 60000 65536"/>
              <a:gd name="T18" fmla="*/ 0 60000 65536"/>
              <a:gd name="T19" fmla="*/ 0 60000 65536"/>
              <a:gd name="T20" fmla="*/ 0 60000 65536"/>
              <a:gd name="T21" fmla="*/ 0 w 4128"/>
              <a:gd name="T22" fmla="*/ 0 h 480"/>
              <a:gd name="T23" fmla="*/ 4128 w 4128"/>
              <a:gd name="T24" fmla="*/ 480 h 48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4128" h="480">
                <a:moveTo>
                  <a:pt x="0" y="480"/>
                </a:moveTo>
                <a:cubicBezTo>
                  <a:pt x="256" y="460"/>
                  <a:pt x="512" y="440"/>
                  <a:pt x="816" y="432"/>
                </a:cubicBezTo>
                <a:cubicBezTo>
                  <a:pt x="1120" y="424"/>
                  <a:pt x="1520" y="440"/>
                  <a:pt x="1824" y="432"/>
                </a:cubicBezTo>
                <a:cubicBezTo>
                  <a:pt x="2128" y="424"/>
                  <a:pt x="2408" y="424"/>
                  <a:pt x="2640" y="384"/>
                </a:cubicBezTo>
                <a:cubicBezTo>
                  <a:pt x="2872" y="344"/>
                  <a:pt x="2992" y="248"/>
                  <a:pt x="3216" y="192"/>
                </a:cubicBezTo>
                <a:cubicBezTo>
                  <a:pt x="3440" y="136"/>
                  <a:pt x="3840" y="80"/>
                  <a:pt x="3984" y="48"/>
                </a:cubicBezTo>
                <a:cubicBezTo>
                  <a:pt x="4128" y="16"/>
                  <a:pt x="4104" y="8"/>
                  <a:pt x="4080" y="0"/>
                </a:cubicBezTo>
              </a:path>
            </a:pathLst>
          </a:custGeom>
          <a:noFill/>
          <a:ln w="38100">
            <a:solidFill>
              <a:srgbClr val="FF002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174107" name="AutoShape 1051"/>
          <p:cNvSpPr>
            <a:spLocks noChangeArrowheads="1"/>
          </p:cNvSpPr>
          <p:nvPr/>
        </p:nvSpPr>
        <p:spPr bwMode="auto">
          <a:xfrm>
            <a:off x="2667000" y="1600200"/>
            <a:ext cx="228600" cy="304800"/>
          </a:xfrm>
          <a:prstGeom prst="star5">
            <a:avLst/>
          </a:prstGeom>
          <a:solidFill>
            <a:schemeClr val="accent1"/>
          </a:solidFill>
          <a:ln w="9525">
            <a:solidFill>
              <a:schemeClr val="tx1"/>
            </a:solidFill>
            <a:miter lim="800000"/>
            <a:headEnd/>
            <a:tailEnd/>
          </a:ln>
          <a:effectLst/>
        </p:spPr>
        <p:txBody>
          <a:bodyPr wrap="none" anchor="ctr"/>
          <a:lstStyle/>
          <a:p>
            <a:pPr>
              <a:defRPr/>
            </a:pPr>
            <a:endParaRPr lang="en-US">
              <a:latin typeface="Calibri"/>
              <a:ea typeface="ＭＳ Ｐゴシック" charset="-128"/>
              <a:cs typeface="ＭＳ Ｐゴシック" charset="-128"/>
            </a:endParaRPr>
          </a:p>
        </p:txBody>
      </p:sp>
      <p:sp>
        <p:nvSpPr>
          <p:cNvPr id="174108" name="AutoShape 1052"/>
          <p:cNvSpPr>
            <a:spLocks noChangeArrowheads="1"/>
          </p:cNvSpPr>
          <p:nvPr/>
        </p:nvSpPr>
        <p:spPr bwMode="auto">
          <a:xfrm>
            <a:off x="5715000" y="1524000"/>
            <a:ext cx="228600" cy="304800"/>
          </a:xfrm>
          <a:prstGeom prst="star5">
            <a:avLst/>
          </a:prstGeom>
          <a:solidFill>
            <a:schemeClr val="accent1"/>
          </a:solidFill>
          <a:ln w="9525">
            <a:solidFill>
              <a:schemeClr val="tx1"/>
            </a:solidFill>
            <a:miter lim="800000"/>
            <a:headEnd/>
            <a:tailEnd/>
          </a:ln>
          <a:effectLst/>
        </p:spPr>
        <p:txBody>
          <a:bodyPr wrap="none" anchor="ctr"/>
          <a:lstStyle/>
          <a:p>
            <a:pPr>
              <a:defRPr/>
            </a:pPr>
            <a:endParaRPr lang="en-US">
              <a:latin typeface="Calibri"/>
              <a:ea typeface="ＭＳ Ｐゴシック" charset="-128"/>
              <a:cs typeface="ＭＳ Ｐゴシック" charset="-128"/>
            </a:endParaRPr>
          </a:p>
        </p:txBody>
      </p:sp>
      <p:sp>
        <p:nvSpPr>
          <p:cNvPr id="174109" name="AutoShape 1053"/>
          <p:cNvSpPr>
            <a:spLocks noChangeArrowheads="1"/>
          </p:cNvSpPr>
          <p:nvPr/>
        </p:nvSpPr>
        <p:spPr bwMode="auto">
          <a:xfrm>
            <a:off x="4267200" y="1600200"/>
            <a:ext cx="228600" cy="304800"/>
          </a:xfrm>
          <a:prstGeom prst="star5">
            <a:avLst/>
          </a:prstGeom>
          <a:solidFill>
            <a:schemeClr val="accent1"/>
          </a:solidFill>
          <a:ln w="9525">
            <a:solidFill>
              <a:schemeClr val="tx1"/>
            </a:solidFill>
            <a:miter lim="800000"/>
            <a:headEnd/>
            <a:tailEnd/>
          </a:ln>
          <a:effectLst/>
        </p:spPr>
        <p:txBody>
          <a:bodyPr wrap="none" anchor="ctr"/>
          <a:lstStyle/>
          <a:p>
            <a:pPr>
              <a:defRPr/>
            </a:pPr>
            <a:endParaRPr lang="en-US">
              <a:latin typeface="Calibri"/>
              <a:ea typeface="ＭＳ Ｐゴシック" charset="-128"/>
              <a:cs typeface="ＭＳ Ｐゴシック" charset="-128"/>
            </a:endParaRPr>
          </a:p>
        </p:txBody>
      </p:sp>
      <p:sp>
        <p:nvSpPr>
          <p:cNvPr id="174110" name="AutoShape 1054"/>
          <p:cNvSpPr>
            <a:spLocks/>
          </p:cNvSpPr>
          <p:nvPr/>
        </p:nvSpPr>
        <p:spPr bwMode="auto">
          <a:xfrm rot="16200000" flipV="1">
            <a:off x="4343400" y="2667000"/>
            <a:ext cx="304800" cy="3048000"/>
          </a:xfrm>
          <a:prstGeom prst="leftBrace">
            <a:avLst>
              <a:gd name="adj1" fmla="val 83333"/>
              <a:gd name="adj2" fmla="val 49995"/>
            </a:avLst>
          </a:prstGeom>
          <a:noFill/>
          <a:ln w="15875">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174111" name="Text Box 1055"/>
          <p:cNvSpPr txBox="1">
            <a:spLocks noChangeArrowheads="1"/>
          </p:cNvSpPr>
          <p:nvPr/>
        </p:nvSpPr>
        <p:spPr bwMode="auto">
          <a:xfrm>
            <a:off x="4343402" y="4267202"/>
            <a:ext cx="512763"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a:latin typeface="Calibri"/>
              </a:rPr>
              <a:t>r</a:t>
            </a:r>
            <a:r>
              <a:rPr lang="en-US" sz="2000" b="1" baseline="-25000">
                <a:latin typeface="Calibri"/>
              </a:rPr>
              <a:t>1,3</a:t>
            </a:r>
            <a:endParaRPr lang="en-US" sz="2400" b="1">
              <a:latin typeface="Calibri"/>
            </a:endParaRPr>
          </a:p>
        </p:txBody>
      </p:sp>
      <p:graphicFrame>
        <p:nvGraphicFramePr>
          <p:cNvPr id="2" name="Object 1"/>
          <p:cNvGraphicFramePr>
            <a:graphicFrameLocks noChangeAspect="1"/>
          </p:cNvGraphicFramePr>
          <p:nvPr>
            <p:extLst>
              <p:ext uri="{D42A27DB-BD31-4B8C-83A1-F6EECF244321}">
                <p14:modId xmlns:p14="http://schemas.microsoft.com/office/powerpoint/2010/main" val="2691775632"/>
              </p:ext>
            </p:extLst>
          </p:nvPr>
        </p:nvGraphicFramePr>
        <p:xfrm>
          <a:off x="4514850" y="3346450"/>
          <a:ext cx="114300" cy="165100"/>
        </p:xfrm>
        <a:graphic>
          <a:graphicData uri="http://schemas.openxmlformats.org/presentationml/2006/ole">
            <mc:AlternateContent xmlns:mc="http://schemas.openxmlformats.org/markup-compatibility/2006">
              <mc:Choice xmlns:v="urn:schemas-microsoft-com:vml" Requires="v">
                <p:oleObj name="Equation" r:id="rId3" imgW="100440" imgH="155160" progId="Equation.3">
                  <p:embed/>
                </p:oleObj>
              </mc:Choice>
              <mc:Fallback>
                <p:oleObj name="Equation" r:id="rId3" imgW="100440" imgH="155160" progId="Equation.3">
                  <p:embed/>
                  <p:pic>
                    <p:nvPicPr>
                      <p:cNvPr id="2"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14850" y="3346450"/>
                        <a:ext cx="114300" cy="1651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 name="Object 3"/>
          <p:cNvGraphicFramePr>
            <a:graphicFrameLocks noChangeAspect="1"/>
          </p:cNvGraphicFramePr>
          <p:nvPr>
            <p:extLst>
              <p:ext uri="{D42A27DB-BD31-4B8C-83A1-F6EECF244321}">
                <p14:modId xmlns:p14="http://schemas.microsoft.com/office/powerpoint/2010/main" val="583624043"/>
              </p:ext>
            </p:extLst>
          </p:nvPr>
        </p:nvGraphicFramePr>
        <p:xfrm>
          <a:off x="2514600" y="1219200"/>
          <a:ext cx="381000" cy="381000"/>
        </p:xfrm>
        <a:graphic>
          <a:graphicData uri="http://schemas.openxmlformats.org/presentationml/2006/ole">
            <mc:AlternateContent xmlns:mc="http://schemas.openxmlformats.org/markup-compatibility/2006">
              <mc:Choice xmlns:v="urn:schemas-microsoft-com:vml" Requires="v">
                <p:oleObj name="Equation" r:id="rId5" imgW="127800" imgH="200880" progId="Equation.3">
                  <p:embed/>
                </p:oleObj>
              </mc:Choice>
              <mc:Fallback>
                <p:oleObj name="Equation" r:id="rId5" imgW="127800" imgH="200880" progId="Equation.3">
                  <p:embed/>
                  <p:pic>
                    <p:nvPicPr>
                      <p:cNvPr id="4"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14600" y="1219200"/>
                        <a:ext cx="381000"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8" name="Object 37"/>
          <p:cNvGraphicFramePr>
            <a:graphicFrameLocks noChangeAspect="1"/>
          </p:cNvGraphicFramePr>
          <p:nvPr>
            <p:extLst>
              <p:ext uri="{D42A27DB-BD31-4B8C-83A1-F6EECF244321}">
                <p14:modId xmlns:p14="http://schemas.microsoft.com/office/powerpoint/2010/main" val="3367965360"/>
              </p:ext>
            </p:extLst>
          </p:nvPr>
        </p:nvGraphicFramePr>
        <p:xfrm>
          <a:off x="3962402" y="1219202"/>
          <a:ext cx="436563" cy="290513"/>
        </p:xfrm>
        <a:graphic>
          <a:graphicData uri="http://schemas.openxmlformats.org/presentationml/2006/ole">
            <mc:AlternateContent xmlns:mc="http://schemas.openxmlformats.org/markup-compatibility/2006">
              <mc:Choice xmlns:v="urn:schemas-microsoft-com:vml" Requires="v">
                <p:oleObj name="Equation" r:id="rId7" imgW="100440" imgH="155160" progId="Equation.3">
                  <p:embed/>
                </p:oleObj>
              </mc:Choice>
              <mc:Fallback>
                <p:oleObj name="Equation" r:id="rId7" imgW="100440" imgH="155160" progId="Equation.3">
                  <p:embed/>
                  <p:pic>
                    <p:nvPicPr>
                      <p:cNvPr id="38" name="Object 3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62402" y="1219202"/>
                        <a:ext cx="436563" cy="290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9" name="Object 38"/>
          <p:cNvGraphicFramePr>
            <a:graphicFrameLocks noChangeAspect="1"/>
          </p:cNvGraphicFramePr>
          <p:nvPr>
            <p:extLst>
              <p:ext uri="{D42A27DB-BD31-4B8C-83A1-F6EECF244321}">
                <p14:modId xmlns:p14="http://schemas.microsoft.com/office/powerpoint/2010/main" val="110346246"/>
              </p:ext>
            </p:extLst>
          </p:nvPr>
        </p:nvGraphicFramePr>
        <p:xfrm>
          <a:off x="4114800" y="1143000"/>
          <a:ext cx="381000" cy="457200"/>
        </p:xfrm>
        <a:graphic>
          <a:graphicData uri="http://schemas.openxmlformats.org/presentationml/2006/ole">
            <mc:AlternateContent xmlns:mc="http://schemas.openxmlformats.org/markup-compatibility/2006">
              <mc:Choice xmlns:v="urn:schemas-microsoft-com:vml" Requires="v">
                <p:oleObj name="Equation" r:id="rId9" imgW="127800" imgH="200880" progId="Equation.3">
                  <p:embed/>
                </p:oleObj>
              </mc:Choice>
              <mc:Fallback>
                <p:oleObj name="Equation" r:id="rId9" imgW="127800" imgH="200880" progId="Equation.3">
                  <p:embed/>
                  <p:pic>
                    <p:nvPicPr>
                      <p:cNvPr id="39" name="Object 3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114800" y="1143000"/>
                        <a:ext cx="3810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1903" name="Object 159"/>
          <p:cNvGraphicFramePr>
            <a:graphicFrameLocks noChangeAspect="1"/>
          </p:cNvGraphicFramePr>
          <p:nvPr>
            <p:extLst>
              <p:ext uri="{D42A27DB-BD31-4B8C-83A1-F6EECF244321}">
                <p14:modId xmlns:p14="http://schemas.microsoft.com/office/powerpoint/2010/main" val="817318680"/>
              </p:ext>
            </p:extLst>
          </p:nvPr>
        </p:nvGraphicFramePr>
        <p:xfrm>
          <a:off x="5618163" y="1082510"/>
          <a:ext cx="360362" cy="438150"/>
        </p:xfrm>
        <a:graphic>
          <a:graphicData uri="http://schemas.openxmlformats.org/presentationml/2006/ole">
            <mc:AlternateContent xmlns:mc="http://schemas.openxmlformats.org/markup-compatibility/2006">
              <mc:Choice xmlns:v="urn:schemas-microsoft-com:vml" Requires="v">
                <p:oleObj name="Equation" r:id="rId11" imgW="152280" imgH="228600" progId="Equation.3">
                  <p:embed/>
                </p:oleObj>
              </mc:Choice>
              <mc:Fallback>
                <p:oleObj name="Equation" r:id="rId11" imgW="152280" imgH="228600" progId="Equation.3">
                  <p:embed/>
                  <p:pic>
                    <p:nvPicPr>
                      <p:cNvPr id="31903" name="Object 15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618163" y="1082510"/>
                        <a:ext cx="360362" cy="438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0" name="Object 159"/>
          <p:cNvGraphicFramePr>
            <a:graphicFrameLocks noChangeAspect="1"/>
          </p:cNvGraphicFramePr>
          <p:nvPr>
            <p:extLst>
              <p:ext uri="{D42A27DB-BD31-4B8C-83A1-F6EECF244321}">
                <p14:modId xmlns:p14="http://schemas.microsoft.com/office/powerpoint/2010/main" val="1591540703"/>
              </p:ext>
            </p:extLst>
          </p:nvPr>
        </p:nvGraphicFramePr>
        <p:xfrm>
          <a:off x="5105401" y="4746058"/>
          <a:ext cx="360362" cy="438150"/>
        </p:xfrm>
        <a:graphic>
          <a:graphicData uri="http://schemas.openxmlformats.org/presentationml/2006/ole">
            <mc:AlternateContent xmlns:mc="http://schemas.openxmlformats.org/markup-compatibility/2006">
              <mc:Choice xmlns:v="urn:schemas-microsoft-com:vml" Requires="v">
                <p:oleObj name="Equation" r:id="rId11" imgW="152280" imgH="228600" progId="Equation.3">
                  <p:embed/>
                </p:oleObj>
              </mc:Choice>
              <mc:Fallback>
                <p:oleObj name="Equation" r:id="rId11" imgW="152280" imgH="228600" progId="Equation.3">
                  <p:embed/>
                  <p:pic>
                    <p:nvPicPr>
                      <p:cNvPr id="40" name="Object 15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105401" y="4746058"/>
                        <a:ext cx="360362" cy="438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Slide Number Placeholder 2">
            <a:extLst>
              <a:ext uri="{FF2B5EF4-FFF2-40B4-BE49-F238E27FC236}">
                <a16:creationId xmlns:a16="http://schemas.microsoft.com/office/drawing/2014/main" id="{11270BD1-4589-1945-A408-43DB24C51B80}"/>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08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408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408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408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408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408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408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409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409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409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409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409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409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409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409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409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409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410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7410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410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7410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7410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7410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7410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74109"/>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7410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1903"/>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74104">
                                            <p:txEl>
                                              <p:pRg st="1" end="1"/>
                                            </p:txEl>
                                          </p:spTgt>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40"/>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174104">
                                            <p:txEl>
                                              <p:pRg st="3" end="3"/>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74110"/>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741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082" grpId="0"/>
      <p:bldP spid="174084" grpId="0" animBg="1"/>
      <p:bldP spid="174085" grpId="0" animBg="1"/>
      <p:bldP spid="174086" grpId="0" animBg="1"/>
      <p:bldP spid="174087" grpId="0" animBg="1"/>
      <p:bldP spid="174088" grpId="0" animBg="1"/>
      <p:bldP spid="174089" grpId="0"/>
      <p:bldP spid="174090" grpId="0"/>
      <p:bldP spid="174091" grpId="0"/>
      <p:bldP spid="174092" grpId="0"/>
      <p:bldP spid="174093" grpId="0" animBg="1"/>
      <p:bldP spid="174094" grpId="0"/>
      <p:bldP spid="174095" grpId="0" animBg="1"/>
      <p:bldP spid="174096" grpId="0"/>
      <p:bldP spid="174097" grpId="0"/>
      <p:bldP spid="174098" grpId="0"/>
      <p:bldP spid="174099" grpId="0" animBg="1"/>
      <p:bldP spid="174100" grpId="0"/>
      <p:bldP spid="174101" grpId="0" animBg="1"/>
      <p:bldP spid="174102" grpId="0"/>
      <p:bldP spid="174103" grpId="0" animBg="1"/>
      <p:bldP spid="174104" grpId="0" uiExpand="1" build="p"/>
      <p:bldP spid="174105" grpId="0"/>
      <p:bldP spid="174106" grpId="0" animBg="1"/>
      <p:bldP spid="174110" grpId="0" animBg="1"/>
      <p:bldP spid="174111"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48A3803-9C59-AD4B-AE15-FDA7DD2A8E21}"/>
              </a:ext>
            </a:extLst>
          </p:cNvPr>
          <p:cNvSpPr>
            <a:spLocks noGrp="1"/>
          </p:cNvSpPr>
          <p:nvPr>
            <p:ph type="title"/>
          </p:nvPr>
        </p:nvSpPr>
        <p:spPr/>
        <p:txBody>
          <a:bodyPr>
            <a:normAutofit fontScale="90000"/>
          </a:bodyPr>
          <a:lstStyle/>
          <a:p>
            <a:pPr>
              <a:lnSpc>
                <a:spcPct val="90000"/>
              </a:lnSpc>
            </a:pPr>
            <a:r>
              <a:rPr lang="en-US" sz="2800" dirty="0"/>
              <a:t>Treasury Yield Curve: 2021-2026 (Sept)</a:t>
            </a:r>
          </a:p>
        </p:txBody>
      </p:sp>
      <p:sp>
        <p:nvSpPr>
          <p:cNvPr id="4" name="Slide Number Placeholder 3">
            <a:extLst>
              <a:ext uri="{FF2B5EF4-FFF2-40B4-BE49-F238E27FC236}">
                <a16:creationId xmlns:a16="http://schemas.microsoft.com/office/drawing/2014/main" id="{0DF4E91B-88BD-234C-B1ED-6F464B8CCA42}"/>
              </a:ext>
            </a:extLst>
          </p:cNvPr>
          <p:cNvSpPr>
            <a:spLocks noGrp="1"/>
          </p:cNvSpPr>
          <p:nvPr>
            <p:ph type="sldNum" sz="quarter" idx="10"/>
          </p:nvPr>
        </p:nvSpPr>
        <p:spPr/>
        <p:txBody>
          <a:bodyPr wrap="square" anchor="ctr">
            <a:normAutofit/>
          </a:bodyPr>
          <a:lstStyle/>
          <a:p>
            <a:pPr>
              <a:spcAft>
                <a:spcPts val="600"/>
              </a:spcAft>
            </a:pPr>
            <a:fld id="{7B3E355C-57B9-BC4B-95D8-406A1F834537}" type="slidenum">
              <a:rPr lang="en-US" altLang="en-US" smtClean="0"/>
              <a:pPr>
                <a:spcAft>
                  <a:spcPts val="600"/>
                </a:spcAft>
              </a:pPr>
              <a:t>23</a:t>
            </a:fld>
            <a:endParaRPr lang="en-US" altLang="en-US"/>
          </a:p>
        </p:txBody>
      </p:sp>
      <p:sp>
        <p:nvSpPr>
          <p:cNvPr id="5" name="Footer Placeholder 4">
            <a:extLst>
              <a:ext uri="{FF2B5EF4-FFF2-40B4-BE49-F238E27FC236}">
                <a16:creationId xmlns:a16="http://schemas.microsoft.com/office/drawing/2014/main" id="{2DB0B61A-D5F4-2B47-9F75-3853E1A81144}"/>
              </a:ext>
            </a:extLst>
          </p:cNvPr>
          <p:cNvSpPr>
            <a:spLocks noGrp="1"/>
          </p:cNvSpPr>
          <p:nvPr>
            <p:ph type="ftr" sz="quarter" idx="11"/>
          </p:nvPr>
        </p:nvSpPr>
        <p:spPr/>
        <p:txBody>
          <a:bodyPr wrap="square" anchor="ctr">
            <a:normAutofit/>
          </a:bodyPr>
          <a:lstStyle/>
          <a:p>
            <a:pPr>
              <a:spcAft>
                <a:spcPts val="600"/>
              </a:spcAft>
              <a:defRPr/>
            </a:pPr>
            <a:r>
              <a:rPr lang="en-US"/>
              <a:t>Varying Rates of Return</a:t>
            </a:r>
          </a:p>
        </p:txBody>
      </p:sp>
      <p:sp>
        <p:nvSpPr>
          <p:cNvPr id="6" name="TextBox 5">
            <a:extLst>
              <a:ext uri="{FF2B5EF4-FFF2-40B4-BE49-F238E27FC236}">
                <a16:creationId xmlns:a16="http://schemas.microsoft.com/office/drawing/2014/main" id="{213AB9BE-2777-1373-B284-FAA7BE1B8776}"/>
              </a:ext>
            </a:extLst>
          </p:cNvPr>
          <p:cNvSpPr txBox="1"/>
          <p:nvPr/>
        </p:nvSpPr>
        <p:spPr>
          <a:xfrm>
            <a:off x="7086600" y="6172200"/>
            <a:ext cx="1981366" cy="184666"/>
          </a:xfrm>
          <a:prstGeom prst="rect">
            <a:avLst/>
          </a:prstGeom>
          <a:noFill/>
        </p:spPr>
        <p:txBody>
          <a:bodyPr wrap="square">
            <a:spAutoFit/>
          </a:bodyPr>
          <a:lstStyle/>
          <a:p>
            <a:r>
              <a:rPr lang="en-US" sz="600" dirty="0"/>
              <a:t>https://</a:t>
            </a:r>
            <a:r>
              <a:rPr lang="en-US" sz="600" dirty="0" err="1"/>
              <a:t>www.ustreasuryyieldcurve.com</a:t>
            </a:r>
            <a:r>
              <a:rPr lang="en-US" sz="600" dirty="0"/>
              <a:t>/</a:t>
            </a:r>
          </a:p>
        </p:txBody>
      </p:sp>
      <p:pic>
        <p:nvPicPr>
          <p:cNvPr id="13" name="Picture 12">
            <a:extLst>
              <a:ext uri="{FF2B5EF4-FFF2-40B4-BE49-F238E27FC236}">
                <a16:creationId xmlns:a16="http://schemas.microsoft.com/office/drawing/2014/main" id="{3947507A-96D6-827C-FCFB-29BDA0568F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205" y="5784109"/>
            <a:ext cx="7721169" cy="248555"/>
          </a:xfrm>
          <a:prstGeom prst="rect">
            <a:avLst/>
          </a:prstGeom>
        </p:spPr>
      </p:pic>
      <p:pic>
        <p:nvPicPr>
          <p:cNvPr id="15" name="Picture 14">
            <a:extLst>
              <a:ext uri="{FF2B5EF4-FFF2-40B4-BE49-F238E27FC236}">
                <a16:creationId xmlns:a16="http://schemas.microsoft.com/office/drawing/2014/main" id="{02B372F9-0B1C-F66B-24F2-1D3BFC16BA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199" y="5052269"/>
            <a:ext cx="7772400" cy="382249"/>
          </a:xfrm>
          <a:prstGeom prst="rect">
            <a:avLst/>
          </a:prstGeom>
        </p:spPr>
      </p:pic>
      <p:pic>
        <p:nvPicPr>
          <p:cNvPr id="9" name="Picture 8">
            <a:extLst>
              <a:ext uri="{FF2B5EF4-FFF2-40B4-BE49-F238E27FC236}">
                <a16:creationId xmlns:a16="http://schemas.microsoft.com/office/drawing/2014/main" id="{14795CC1-F9D4-7844-A2FA-C4E5A1D31D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198" y="568826"/>
            <a:ext cx="8385049" cy="4369201"/>
          </a:xfrm>
          <a:prstGeom prst="rect">
            <a:avLst/>
          </a:prstGeom>
        </p:spPr>
      </p:pic>
      <p:pic>
        <p:nvPicPr>
          <p:cNvPr id="12" name="Picture 11">
            <a:extLst>
              <a:ext uri="{FF2B5EF4-FFF2-40B4-BE49-F238E27FC236}">
                <a16:creationId xmlns:a16="http://schemas.microsoft.com/office/drawing/2014/main" id="{44ED269A-1490-0CEF-56AD-A29B50DDDF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5800" y="5467938"/>
            <a:ext cx="7428835" cy="248555"/>
          </a:xfrm>
          <a:prstGeom prst="rect">
            <a:avLst/>
          </a:prstGeom>
        </p:spPr>
      </p:pic>
    </p:spTree>
    <p:extLst>
      <p:ext uri="{BB962C8B-B14F-4D97-AF65-F5344CB8AC3E}">
        <p14:creationId xmlns:p14="http://schemas.microsoft.com/office/powerpoint/2010/main" val="23894858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A3561E-0A42-0ED2-7C55-0DF72633C52C}"/>
              </a:ext>
            </a:extLst>
          </p:cNvPr>
          <p:cNvSpPr>
            <a:spLocks noGrp="1"/>
          </p:cNvSpPr>
          <p:nvPr>
            <p:ph type="title"/>
          </p:nvPr>
        </p:nvSpPr>
        <p:spPr/>
        <p:txBody>
          <a:bodyPr/>
          <a:lstStyle/>
          <a:p>
            <a:r>
              <a:rPr lang="en-US" sz="1800" dirty="0"/>
              <a:t>Treasury Yield Curve: 3-month, 10-year, and 30-year</a:t>
            </a:r>
            <a:endParaRPr lang="en-US" dirty="0"/>
          </a:p>
        </p:txBody>
      </p:sp>
      <p:sp>
        <p:nvSpPr>
          <p:cNvPr id="4" name="Slide Number Placeholder 3">
            <a:extLst>
              <a:ext uri="{FF2B5EF4-FFF2-40B4-BE49-F238E27FC236}">
                <a16:creationId xmlns:a16="http://schemas.microsoft.com/office/drawing/2014/main" id="{236B1121-C50D-9920-C556-719BD484303F}"/>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a:extLst>
              <a:ext uri="{FF2B5EF4-FFF2-40B4-BE49-F238E27FC236}">
                <a16:creationId xmlns:a16="http://schemas.microsoft.com/office/drawing/2014/main" id="{4B2A17D4-C1E3-97F1-0878-D5C6BCA321B7}"/>
              </a:ext>
            </a:extLst>
          </p:cNvPr>
          <p:cNvSpPr>
            <a:spLocks noGrp="1"/>
          </p:cNvSpPr>
          <p:nvPr>
            <p:ph type="ftr" sz="quarter" idx="11"/>
          </p:nvPr>
        </p:nvSpPr>
        <p:spPr/>
        <p:txBody>
          <a:bodyPr/>
          <a:lstStyle/>
          <a:p>
            <a:pPr>
              <a:defRPr/>
            </a:pPr>
            <a:r>
              <a:rPr lang="en-US"/>
              <a:t>Varying Rates of Return</a:t>
            </a:r>
            <a:endParaRPr lang="en-US" dirty="0"/>
          </a:p>
        </p:txBody>
      </p:sp>
      <p:pic>
        <p:nvPicPr>
          <p:cNvPr id="6" name="FRED Graph Chart" descr="FRED Graph">
            <a:hlinkClick r:id="rId3" tooltip="View this chart in your browser. "/>
            <a:extLst>
              <a:ext uri="{FF2B5EF4-FFF2-40B4-BE49-F238E27FC236}">
                <a16:creationId xmlns:a16="http://schemas.microsoft.com/office/drawing/2014/main" id="{468F544F-28A5-6861-926F-D0898E80FD6A}"/>
              </a:ext>
            </a:extLst>
          </p:cNvPr>
          <p:cNvPicPr>
            <a:picLocks noChangeAspect="1"/>
          </p:cNvPicPr>
          <p:nvPr/>
        </p:nvPicPr>
        <p:blipFill>
          <a:blip r:embed="rId4"/>
          <a:stretch>
            <a:fillRect/>
          </a:stretch>
        </p:blipFill>
        <p:spPr>
          <a:xfrm>
            <a:off x="384048" y="556451"/>
            <a:ext cx="8458200" cy="5768149"/>
          </a:xfrm>
          <a:prstGeom prst="rect">
            <a:avLst/>
          </a:prstGeom>
        </p:spPr>
      </p:pic>
    </p:spTree>
    <p:extLst>
      <p:ext uri="{BB962C8B-B14F-4D97-AF65-F5344CB8AC3E}">
        <p14:creationId xmlns:p14="http://schemas.microsoft.com/office/powerpoint/2010/main" val="3724493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995" name="Rectangle 3"/>
          <p:cNvSpPr>
            <a:spLocks noGrp="1" noChangeArrowheads="1"/>
          </p:cNvSpPr>
          <p:nvPr>
            <p:ph idx="1"/>
          </p:nvPr>
        </p:nvSpPr>
        <p:spPr/>
        <p:txBody>
          <a:bodyPr/>
          <a:lstStyle/>
          <a:p>
            <a:pPr marL="228600" indent="-228600"/>
            <a:r>
              <a:rPr lang="en-US" sz="2800" dirty="0">
                <a:ea typeface="ＭＳ Ｐゴシック" charset="0"/>
                <a:cs typeface="ＭＳ Ｐゴシック" charset="0"/>
              </a:rPr>
              <a:t>CFs should be grown using the appropriate annualized spot rates (   ) from the Yield Curve</a:t>
            </a:r>
          </a:p>
          <a:p>
            <a:pPr marL="228600" indent="-228600"/>
            <a:endParaRPr lang="en-US" sz="2800" dirty="0">
              <a:ea typeface="ＭＳ Ｐゴシック" charset="0"/>
              <a:cs typeface="ＭＳ Ｐゴシック" charset="0"/>
            </a:endParaRPr>
          </a:p>
          <a:p>
            <a:pPr marL="228600" indent="-228600"/>
            <a:endParaRPr lang="en-US" sz="2800" dirty="0">
              <a:ea typeface="ＭＳ Ｐゴシック" charset="0"/>
              <a:cs typeface="ＭＳ Ｐゴシック" charset="0"/>
            </a:endParaRPr>
          </a:p>
          <a:p>
            <a:pPr marL="228600" indent="-228600"/>
            <a:endParaRPr lang="en-US" sz="2800" dirty="0">
              <a:ea typeface="ＭＳ Ｐゴシック" charset="0"/>
              <a:cs typeface="ＭＳ Ｐゴシック" charset="0"/>
            </a:endParaRPr>
          </a:p>
          <a:p>
            <a:pPr marL="228600" indent="-228600"/>
            <a:endParaRPr lang="en-US" sz="2800" dirty="0">
              <a:ea typeface="ＭＳ Ｐゴシック" charset="0"/>
              <a:cs typeface="ＭＳ Ｐゴシック" charset="0"/>
            </a:endParaRPr>
          </a:p>
          <a:p>
            <a:pPr marL="228600" indent="-228600"/>
            <a:endParaRPr lang="en-US" sz="2800" dirty="0">
              <a:ea typeface="ＭＳ Ｐゴシック" charset="0"/>
              <a:cs typeface="ＭＳ Ｐゴシック" charset="0"/>
            </a:endParaRPr>
          </a:p>
          <a:p>
            <a:pPr marL="228600" indent="-228600"/>
            <a:r>
              <a:rPr lang="en-US" sz="2800" dirty="0">
                <a:ea typeface="ＭＳ Ｐゴシック" charset="0"/>
                <a:cs typeface="ＭＳ Ｐゴシック" charset="0"/>
              </a:rPr>
              <a:t>You invest $10,000 today for 2 years.  What’s the final value and HPR of the investment?</a:t>
            </a:r>
          </a:p>
          <a:p>
            <a:pPr marL="520700" lvl="1" indent="-177800"/>
            <a:r>
              <a:rPr lang="en-US" sz="2400" b="1" dirty="0">
                <a:ea typeface="ＭＳ Ｐゴシック" charset="0"/>
              </a:rPr>
              <a:t>Final Value = ? </a:t>
            </a:r>
          </a:p>
          <a:p>
            <a:pPr marL="520700" lvl="1" indent="-177800"/>
            <a:r>
              <a:rPr lang="en-US" sz="2400" b="1" dirty="0" err="1">
                <a:ea typeface="ＭＳ Ｐゴシック" charset="0"/>
              </a:rPr>
              <a:t>HPR</a:t>
            </a:r>
            <a:r>
              <a:rPr lang="en-US" sz="2400" b="1" dirty="0">
                <a:ea typeface="ＭＳ Ｐゴシック" charset="0"/>
              </a:rPr>
              <a:t> = ?  </a:t>
            </a:r>
            <a:endParaRPr lang="en-US" sz="2400" dirty="0">
              <a:ea typeface="ＭＳ Ｐゴシック" charset="0"/>
            </a:endParaRPr>
          </a:p>
        </p:txBody>
      </p:sp>
      <p:sp>
        <p:nvSpPr>
          <p:cNvPr id="212994" name="Rectangle 2"/>
          <p:cNvSpPr>
            <a:spLocks noGrp="1" noChangeArrowheads="1"/>
          </p:cNvSpPr>
          <p:nvPr>
            <p:ph type="title"/>
          </p:nvPr>
        </p:nvSpPr>
        <p:spPr/>
        <p:txBody>
          <a:bodyPr/>
          <a:lstStyle/>
          <a:p>
            <a:r>
              <a:rPr lang="en-US" b="1">
                <a:ea typeface="ＭＳ Ｐゴシック" charset="0"/>
                <a:cs typeface="ＭＳ Ｐゴシック" charset="0"/>
              </a:rPr>
              <a:t>Using the Yield Curve to Calculate Holding Period Returns and Future Values</a:t>
            </a:r>
            <a:endParaRPr lang="en-US">
              <a:ea typeface="ＭＳ Ｐゴシック" charset="0"/>
              <a:cs typeface="ＭＳ Ｐゴシック" charset="0"/>
            </a:endParaRPr>
          </a:p>
        </p:txBody>
      </p:sp>
      <p:sp>
        <p:nvSpPr>
          <p:cNvPr id="16411" name="Footer Placeholder 8"/>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12996" name="Object 2"/>
          <p:cNvGraphicFramePr>
            <a:graphicFrameLocks noChangeAspect="1"/>
          </p:cNvGraphicFramePr>
          <p:nvPr>
            <p:extLst>
              <p:ext uri="{D42A27DB-BD31-4B8C-83A1-F6EECF244321}">
                <p14:modId xmlns:p14="http://schemas.microsoft.com/office/powerpoint/2010/main" val="64706994"/>
              </p:ext>
            </p:extLst>
          </p:nvPr>
        </p:nvGraphicFramePr>
        <p:xfrm>
          <a:off x="2286000" y="990600"/>
          <a:ext cx="304800" cy="457200"/>
        </p:xfrm>
        <a:graphic>
          <a:graphicData uri="http://schemas.openxmlformats.org/presentationml/2006/ole">
            <mc:AlternateContent xmlns:mc="http://schemas.openxmlformats.org/markup-compatibility/2006">
              <mc:Choice xmlns:v="urn:schemas-microsoft-com:vml" Requires="v">
                <p:oleObj name="Equation" r:id="rId3" imgW="136800" imgH="191880" progId="Equation.3">
                  <p:embed/>
                </p:oleObj>
              </mc:Choice>
              <mc:Fallback>
                <p:oleObj name="Equation" r:id="rId3" imgW="136800" imgH="191880" progId="Equation.3">
                  <p:embed/>
                  <p:pic>
                    <p:nvPicPr>
                      <p:cNvPr id="212996"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000" y="990600"/>
                        <a:ext cx="3048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2997" name="Group 5"/>
          <p:cNvGraphicFramePr>
            <a:graphicFrameLocks noGrp="1"/>
          </p:cNvGraphicFramePr>
          <p:nvPr>
            <p:extLst>
              <p:ext uri="{D42A27DB-BD31-4B8C-83A1-F6EECF244321}">
                <p14:modId xmlns:p14="http://schemas.microsoft.com/office/powerpoint/2010/main" val="1488305138"/>
              </p:ext>
            </p:extLst>
          </p:nvPr>
        </p:nvGraphicFramePr>
        <p:xfrm>
          <a:off x="1066800" y="1781607"/>
          <a:ext cx="4343400" cy="1830388"/>
        </p:xfrm>
        <a:graphic>
          <a:graphicData uri="http://schemas.openxmlformats.org/drawingml/2006/table">
            <a:tbl>
              <a:tblPr/>
              <a:tblGrid>
                <a:gridCol w="2173288">
                  <a:extLst>
                    <a:ext uri="{9D8B030D-6E8A-4147-A177-3AD203B41FA5}">
                      <a16:colId xmlns:a16="http://schemas.microsoft.com/office/drawing/2014/main" val="20000"/>
                    </a:ext>
                  </a:extLst>
                </a:gridCol>
                <a:gridCol w="2170112">
                  <a:extLst>
                    <a:ext uri="{9D8B030D-6E8A-4147-A177-3AD203B41FA5}">
                      <a16:colId xmlns:a16="http://schemas.microsoft.com/office/drawing/2014/main" val="20001"/>
                    </a:ext>
                  </a:extLst>
                </a:gridCol>
              </a:tblGrid>
              <a:tr h="36684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rgbClr val="000000"/>
                          </a:solidFill>
                          <a:effectLst/>
                          <a:latin typeface="Verdana" charset="0"/>
                          <a:ea typeface="ＭＳ Ｐゴシック" charset="-128"/>
                        </a:rPr>
                        <a:t>Period</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00000"/>
                          </a:solidFill>
                          <a:effectLst/>
                          <a:latin typeface="Verdana" charset="0"/>
                          <a:ea typeface="ＭＳ Ｐゴシック" charset="-128"/>
                        </a:rPr>
                        <a:t>YTM</a:t>
                      </a:r>
                      <a:endParaRPr kumimoji="0" lang="en-US" sz="1800" b="0" i="0" u="none" strike="noStrike" cap="none" normalizeH="0" baseline="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88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1 Year</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4.35%</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588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00000"/>
                          </a:solidFill>
                          <a:effectLst/>
                          <a:latin typeface="Verdana" charset="0"/>
                          <a:ea typeface="ＭＳ Ｐゴシック" charset="-128"/>
                        </a:rPr>
                        <a:t>2 Years</a:t>
                      </a:r>
                      <a:endParaRPr kumimoji="0" lang="en-US" sz="1800" b="0" i="0" u="none" strike="noStrike" cap="none" normalizeH="0" baseline="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3.88%</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588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00000"/>
                          </a:solidFill>
                          <a:effectLst/>
                          <a:latin typeface="Verdana" charset="0"/>
                          <a:ea typeface="ＭＳ Ｐゴシック" charset="-128"/>
                        </a:rPr>
                        <a:t>5 Years</a:t>
                      </a:r>
                      <a:endParaRPr kumimoji="0" lang="en-US" sz="1800" b="0" i="0" u="none" strike="noStrike" cap="none" normalizeH="0" baseline="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3.65%</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588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00000"/>
                          </a:solidFill>
                          <a:effectLst/>
                          <a:latin typeface="Verdana" charset="0"/>
                          <a:ea typeface="ＭＳ Ｐゴシック" charset="-128"/>
                        </a:rPr>
                        <a:t>10 Years</a:t>
                      </a:r>
                      <a:endParaRPr kumimoji="0" lang="en-US" sz="1800" b="0" i="0" u="none" strike="noStrike" cap="none" normalizeH="0" baseline="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3.84%</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 name="Slide Number Placeholder 1">
            <a:extLst>
              <a:ext uri="{FF2B5EF4-FFF2-40B4-BE49-F238E27FC236}">
                <a16:creationId xmlns:a16="http://schemas.microsoft.com/office/drawing/2014/main" id="{3AEF3ED3-928A-F845-B4A8-0830AC9C081C}"/>
              </a:ext>
            </a:extLst>
          </p:cNvPr>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Tree>
    <p:extLst>
      <p:ext uri="{BB962C8B-B14F-4D97-AF65-F5344CB8AC3E}">
        <p14:creationId xmlns:p14="http://schemas.microsoft.com/office/powerpoint/2010/main" val="414137823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299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2995">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299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1299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1299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299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299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2995" grpId="0" uiExpand="1" build="p"/>
      <p:bldP spid="21299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3" name="Rectangle 3"/>
          <p:cNvSpPr>
            <a:spLocks noGrp="1" noChangeArrowheads="1"/>
          </p:cNvSpPr>
          <p:nvPr>
            <p:ph idx="1"/>
          </p:nvPr>
        </p:nvSpPr>
        <p:spPr/>
        <p:txBody>
          <a:bodyPr/>
          <a:lstStyle/>
          <a:p>
            <a:pPr marL="228600" indent="-228600">
              <a:lnSpc>
                <a:spcPct val="90000"/>
              </a:lnSpc>
            </a:pPr>
            <a:r>
              <a:rPr lang="en-US" sz="2800" i="1" dirty="0">
                <a:ea typeface="ＭＳ Ｐゴシック" charset="0"/>
                <a:cs typeface="ＭＳ Ｐゴシック" charset="0"/>
              </a:rPr>
              <a:t>Forward </a:t>
            </a:r>
            <a:r>
              <a:rPr lang="en-US" sz="2800" dirty="0">
                <a:ea typeface="ＭＳ Ｐゴシック" charset="0"/>
                <a:cs typeface="ＭＳ Ｐゴシック" charset="0"/>
              </a:rPr>
              <a:t>rates can be extracted from the spot rate yield curve.</a:t>
            </a:r>
          </a:p>
          <a:p>
            <a:pPr marL="228600" indent="-228600">
              <a:lnSpc>
                <a:spcPct val="90000"/>
              </a:lnSpc>
            </a:pPr>
            <a:r>
              <a:rPr lang="en-US" sz="2800" dirty="0">
                <a:ea typeface="ＭＳ Ｐゴシック" charset="0"/>
                <a:cs typeface="ＭＳ Ｐゴシック" charset="0"/>
              </a:rPr>
              <a:t>If we know the 1-yr and 2-yr </a:t>
            </a:r>
            <a:r>
              <a:rPr lang="en-US" sz="2800" i="1" dirty="0">
                <a:ea typeface="ＭＳ Ｐゴシック" charset="0"/>
                <a:cs typeface="ＭＳ Ｐゴシック" charset="0"/>
              </a:rPr>
              <a:t>spot </a:t>
            </a:r>
            <a:r>
              <a:rPr lang="en-US" sz="2800" dirty="0">
                <a:ea typeface="ＭＳ Ｐゴシック" charset="0"/>
                <a:cs typeface="ＭＳ Ｐゴシック" charset="0"/>
              </a:rPr>
              <a:t>rates, the 1-yr </a:t>
            </a:r>
            <a:r>
              <a:rPr lang="en-US" sz="2800" i="1" dirty="0">
                <a:ea typeface="ＭＳ Ｐゴシック" charset="0"/>
                <a:cs typeface="ＭＳ Ｐゴシック" charset="0"/>
              </a:rPr>
              <a:t>forward rate,</a:t>
            </a:r>
            <a:r>
              <a:rPr lang="en-US" sz="2800" dirty="0">
                <a:ea typeface="ＭＳ Ｐゴシック" charset="0"/>
                <a:cs typeface="ＭＳ Ｐゴシック" charset="0"/>
              </a:rPr>
              <a:t> r</a:t>
            </a:r>
            <a:r>
              <a:rPr lang="en-US" sz="2800" baseline="-25000" dirty="0">
                <a:ea typeface="ＭＳ Ｐゴシック" charset="0"/>
                <a:cs typeface="ＭＳ Ｐゴシック" charset="0"/>
              </a:rPr>
              <a:t>1,2</a:t>
            </a:r>
            <a:r>
              <a:rPr lang="en-US" sz="2800" dirty="0">
                <a:ea typeface="ＭＳ Ｐゴシック" charset="0"/>
                <a:cs typeface="ＭＳ Ｐゴシック" charset="0"/>
              </a:rPr>
              <a:t>, is </a:t>
            </a:r>
            <a:r>
              <a:rPr lang="en-US" sz="2800" i="1" u="sng" dirty="0">
                <a:ea typeface="ＭＳ Ｐゴシック" charset="0"/>
                <a:cs typeface="ＭＳ Ｐゴシック" charset="0"/>
              </a:rPr>
              <a:t>implied</a:t>
            </a:r>
            <a:r>
              <a:rPr lang="en-US" sz="2800" i="1" dirty="0">
                <a:ea typeface="ＭＳ Ｐゴシック" charset="0"/>
                <a:cs typeface="ＭＳ Ｐゴシック" charset="0"/>
              </a:rPr>
              <a:t> </a:t>
            </a:r>
            <a:r>
              <a:rPr lang="en-US" sz="2800" dirty="0">
                <a:ea typeface="ＭＳ Ｐゴシック" charset="0"/>
                <a:cs typeface="ＭＳ Ｐゴシック" charset="0"/>
              </a:rPr>
              <a:t>by the following relationship: </a:t>
            </a:r>
          </a:p>
          <a:p>
            <a:pPr marL="685800" lvl="1" indent="-342900">
              <a:lnSpc>
                <a:spcPct val="90000"/>
              </a:lnSpc>
            </a:pPr>
            <a:r>
              <a:rPr lang="en-US" sz="2400" dirty="0">
                <a:ea typeface="ＭＳ Ｐゴシック" charset="0"/>
              </a:rPr>
              <a:t>(1+r</a:t>
            </a:r>
            <a:r>
              <a:rPr lang="en-US" sz="2400" baseline="-25000" dirty="0">
                <a:ea typeface="ＭＳ Ｐゴシック" charset="0"/>
              </a:rPr>
              <a:t>2</a:t>
            </a:r>
            <a:r>
              <a:rPr lang="en-US" sz="2400" dirty="0">
                <a:ea typeface="ＭＳ Ｐゴシック" charset="0"/>
              </a:rPr>
              <a:t>)</a:t>
            </a:r>
            <a:r>
              <a:rPr lang="en-US" sz="2400" baseline="30000" dirty="0">
                <a:ea typeface="ＭＳ Ｐゴシック" charset="0"/>
              </a:rPr>
              <a:t>2</a:t>
            </a:r>
            <a:r>
              <a:rPr lang="en-US" sz="2400" dirty="0">
                <a:ea typeface="ＭＳ Ｐゴシック" charset="0"/>
              </a:rPr>
              <a:t> = (1+ r</a:t>
            </a:r>
            <a:r>
              <a:rPr lang="en-US" sz="2400" baseline="-25000" dirty="0">
                <a:ea typeface="ＭＳ Ｐゴシック" charset="0"/>
              </a:rPr>
              <a:t>0,1</a:t>
            </a:r>
            <a:r>
              <a:rPr lang="en-US" sz="2400" dirty="0">
                <a:ea typeface="ＭＳ Ｐゴシック" charset="0"/>
              </a:rPr>
              <a:t>)*(1+</a:t>
            </a:r>
            <a:r>
              <a:rPr lang="en-US" sz="2400" baseline="-25000" dirty="0">
                <a:ea typeface="ＭＳ Ｐゴシック" charset="0"/>
              </a:rPr>
              <a:t> </a:t>
            </a:r>
            <a:r>
              <a:rPr lang="en-US" sz="2400" dirty="0">
                <a:ea typeface="ＭＳ Ｐゴシック" charset="0"/>
              </a:rPr>
              <a:t>r</a:t>
            </a:r>
            <a:r>
              <a:rPr lang="en-US" sz="2400" baseline="-25000" dirty="0">
                <a:ea typeface="ＭＳ Ｐゴシック" charset="0"/>
              </a:rPr>
              <a:t>1,2</a:t>
            </a:r>
            <a:r>
              <a:rPr lang="en-US" sz="2400" dirty="0">
                <a:ea typeface="ＭＳ Ｐゴシック" charset="0"/>
              </a:rPr>
              <a:t>)</a:t>
            </a:r>
          </a:p>
          <a:p>
            <a:pPr marL="685800" lvl="1" indent="-342900">
              <a:lnSpc>
                <a:spcPct val="90000"/>
              </a:lnSpc>
            </a:pPr>
            <a:r>
              <a:rPr lang="en-US" sz="2400" dirty="0">
                <a:ea typeface="ＭＳ Ｐゴシック" charset="0"/>
              </a:rPr>
              <a:t>(1+ r</a:t>
            </a:r>
            <a:r>
              <a:rPr lang="en-US" sz="2400" baseline="-25000" dirty="0">
                <a:ea typeface="ＭＳ Ｐゴシック" charset="0"/>
              </a:rPr>
              <a:t>1,2</a:t>
            </a:r>
            <a:r>
              <a:rPr lang="en-US" sz="2400" dirty="0">
                <a:ea typeface="ＭＳ Ｐゴシック" charset="0"/>
              </a:rPr>
              <a:t>) = (1+r</a:t>
            </a:r>
            <a:r>
              <a:rPr lang="en-US" sz="2400" baseline="-25000" dirty="0">
                <a:ea typeface="ＭＳ Ｐゴシック" charset="0"/>
              </a:rPr>
              <a:t>2</a:t>
            </a:r>
            <a:r>
              <a:rPr lang="en-US" sz="2400" dirty="0">
                <a:ea typeface="ＭＳ Ｐゴシック" charset="0"/>
              </a:rPr>
              <a:t>)</a:t>
            </a:r>
            <a:r>
              <a:rPr lang="en-US" sz="2400" baseline="30000" dirty="0">
                <a:ea typeface="ＭＳ Ｐゴシック" charset="0"/>
              </a:rPr>
              <a:t>2</a:t>
            </a:r>
            <a:r>
              <a:rPr lang="en-US" sz="2400" dirty="0">
                <a:ea typeface="ＭＳ Ｐゴシック" charset="0"/>
              </a:rPr>
              <a:t> / (1+ r</a:t>
            </a:r>
            <a:r>
              <a:rPr lang="en-US" sz="2400" baseline="-25000" dirty="0">
                <a:ea typeface="ＭＳ Ｐゴシック" charset="0"/>
              </a:rPr>
              <a:t>0,1</a:t>
            </a:r>
            <a:r>
              <a:rPr lang="en-US" sz="2400" dirty="0">
                <a:ea typeface="ＭＳ Ｐゴシック" charset="0"/>
              </a:rPr>
              <a:t>) </a:t>
            </a:r>
          </a:p>
          <a:p>
            <a:pPr marL="685800" lvl="1" indent="-342900">
              <a:lnSpc>
                <a:spcPct val="90000"/>
              </a:lnSpc>
            </a:pPr>
            <a:r>
              <a:rPr lang="en-US" sz="2400" dirty="0">
                <a:ea typeface="ＭＳ Ｐゴシック" charset="0"/>
              </a:rPr>
              <a:t>r</a:t>
            </a:r>
            <a:r>
              <a:rPr lang="en-US" sz="2400" baseline="-25000" dirty="0">
                <a:ea typeface="ＭＳ Ｐゴシック" charset="0"/>
              </a:rPr>
              <a:t>1,2 </a:t>
            </a:r>
            <a:r>
              <a:rPr lang="en-US" sz="2400" dirty="0">
                <a:ea typeface="ＭＳ Ｐゴシック" charset="0"/>
              </a:rPr>
              <a:t>= (1.0388)</a:t>
            </a:r>
            <a:r>
              <a:rPr lang="en-US" sz="2400" baseline="30000" dirty="0">
                <a:ea typeface="ＭＳ Ｐゴシック" charset="0"/>
              </a:rPr>
              <a:t>2</a:t>
            </a:r>
            <a:r>
              <a:rPr lang="en-US" sz="2400" dirty="0">
                <a:ea typeface="ＭＳ Ｐゴシック" charset="0"/>
              </a:rPr>
              <a:t> / (1.0435) -1 = 3.41%</a:t>
            </a:r>
          </a:p>
        </p:txBody>
      </p:sp>
      <p:sp>
        <p:nvSpPr>
          <p:cNvPr id="215042" name="Rectangle 2"/>
          <p:cNvSpPr>
            <a:spLocks noGrp="1" noChangeArrowheads="1"/>
          </p:cNvSpPr>
          <p:nvPr>
            <p:ph type="title"/>
          </p:nvPr>
        </p:nvSpPr>
        <p:spPr/>
        <p:txBody>
          <a:bodyPr/>
          <a:lstStyle/>
          <a:p>
            <a:r>
              <a:rPr lang="en-US" b="1">
                <a:ea typeface="ＭＳ Ｐゴシック" charset="0"/>
                <a:cs typeface="ＭＳ Ｐゴシック" charset="0"/>
              </a:rPr>
              <a:t>Using the Yield Curve to Calculate Forward Rates</a:t>
            </a:r>
            <a:endParaRPr lang="en-US">
              <a:ea typeface="ＭＳ Ｐゴシック" charset="0"/>
              <a:cs typeface="ＭＳ Ｐゴシック" charset="0"/>
            </a:endParaRPr>
          </a:p>
        </p:txBody>
      </p:sp>
      <p:sp>
        <p:nvSpPr>
          <p:cNvPr id="39965" name="Footer Placeholder 8"/>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15044" name="Group 4"/>
          <p:cNvGraphicFramePr>
            <a:graphicFrameLocks noGrp="1"/>
          </p:cNvGraphicFramePr>
          <p:nvPr>
            <p:extLst>
              <p:ext uri="{D42A27DB-BD31-4B8C-83A1-F6EECF244321}">
                <p14:modId xmlns:p14="http://schemas.microsoft.com/office/powerpoint/2010/main" val="2186110852"/>
              </p:ext>
            </p:extLst>
          </p:nvPr>
        </p:nvGraphicFramePr>
        <p:xfrm>
          <a:off x="1354933" y="4358671"/>
          <a:ext cx="6434137" cy="1798260"/>
        </p:xfrm>
        <a:graphic>
          <a:graphicData uri="http://schemas.openxmlformats.org/drawingml/2006/table">
            <a:tbl>
              <a:tblPr/>
              <a:tblGrid>
                <a:gridCol w="1560512">
                  <a:extLst>
                    <a:ext uri="{9D8B030D-6E8A-4147-A177-3AD203B41FA5}">
                      <a16:colId xmlns:a16="http://schemas.microsoft.com/office/drawing/2014/main" val="20000"/>
                    </a:ext>
                  </a:extLst>
                </a:gridCol>
                <a:gridCol w="1368425">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tblGrid>
              <a:tr h="57883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00000"/>
                          </a:solidFill>
                          <a:effectLst/>
                          <a:latin typeface="+mn-lt"/>
                          <a:ea typeface="ＭＳ Ｐゴシック" charset="-128"/>
                        </a:rPr>
                        <a:t>Period</a:t>
                      </a:r>
                      <a:endParaRPr kumimoji="0" lang="en-US" sz="2400" b="0" i="0" u="none" strike="noStrike" cap="none" normalizeH="0" baseline="0">
                        <a:ln>
                          <a:noFill/>
                        </a:ln>
                        <a:solidFill>
                          <a:schemeClr val="tx1"/>
                        </a:solidFill>
                        <a:effectLst/>
                        <a:latin typeface="+mn-lt"/>
                        <a:ea typeface="ＭＳ Ｐゴシック" charset="-128"/>
                      </a:endParaRPr>
                    </a:p>
                  </a:txBody>
                  <a:tcPr marT="45697" marB="4569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00000"/>
                          </a:solidFill>
                          <a:effectLst/>
                          <a:latin typeface="+mn-lt"/>
                          <a:ea typeface="ＭＳ Ｐゴシック" charset="-128"/>
                        </a:rPr>
                        <a:t>YTM</a:t>
                      </a:r>
                      <a:endParaRPr kumimoji="0" lang="en-US" sz="2400" b="0" i="0" u="none" strike="noStrike" cap="none" normalizeH="0" baseline="0">
                        <a:ln>
                          <a:noFill/>
                        </a:ln>
                        <a:solidFill>
                          <a:schemeClr val="tx1"/>
                        </a:solidFill>
                        <a:effectLst/>
                        <a:latin typeface="+mn-lt"/>
                        <a:ea typeface="ＭＳ Ｐゴシック" charset="-128"/>
                      </a:endParaRPr>
                    </a:p>
                  </a:txBody>
                  <a:tcPr marT="45697" marB="4569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ＭＳ Ｐゴシック" charset="-128"/>
                        </a:rPr>
                        <a:t>Forward Rates</a:t>
                      </a:r>
                    </a:p>
                  </a:txBody>
                  <a:tcPr marT="45697" marB="4569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chemeClr val="tx1"/>
                          </a:solidFill>
                          <a:effectLst/>
                          <a:latin typeface="+mn-lt"/>
                          <a:ea typeface="ＭＳ Ｐゴシック" charset="-128"/>
                        </a:rPr>
                        <a:t>Forward Rates</a:t>
                      </a:r>
                      <a:endParaRPr kumimoji="0" lang="en-US" sz="2400" b="0" i="0" u="none" strike="noStrike" cap="none" normalizeH="0" baseline="0">
                        <a:ln>
                          <a:noFill/>
                        </a:ln>
                        <a:solidFill>
                          <a:schemeClr val="tx1"/>
                        </a:solidFill>
                        <a:effectLst/>
                        <a:latin typeface="+mn-lt"/>
                        <a:ea typeface="ＭＳ Ｐゴシック" charset="-128"/>
                      </a:endParaRPr>
                    </a:p>
                  </a:txBody>
                  <a:tcPr marT="45697" marB="4569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57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rgbClr val="000000"/>
                          </a:solidFill>
                          <a:effectLst/>
                          <a:latin typeface="+mn-lt"/>
                          <a:ea typeface="ＭＳ Ｐゴシック" charset="-128"/>
                        </a:rPr>
                        <a:t>1 Year</a:t>
                      </a:r>
                      <a:endParaRPr kumimoji="0" lang="en-US" sz="2400" b="0" i="0" u="none" strike="noStrike" cap="none" normalizeH="0" baseline="0">
                        <a:ln>
                          <a:noFill/>
                        </a:ln>
                        <a:solidFill>
                          <a:schemeClr val="tx1"/>
                        </a:solidFill>
                        <a:effectLst/>
                        <a:latin typeface="+mn-lt"/>
                        <a:ea typeface="ＭＳ Ｐゴシック" charset="-128"/>
                      </a:endParaRPr>
                    </a:p>
                  </a:txBody>
                  <a:tcPr marT="45697" marB="45697"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rgbClr val="000000"/>
                          </a:solidFill>
                          <a:effectLst/>
                          <a:latin typeface="+mn-lt"/>
                          <a:ea typeface="ＭＳ Ｐゴシック" charset="-128"/>
                        </a:rPr>
                        <a:t>4.35%</a:t>
                      </a:r>
                      <a:endParaRPr kumimoji="0" lang="en-US" sz="24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chemeClr val="tx1"/>
                          </a:solidFill>
                          <a:effectLst/>
                          <a:latin typeface="+mn-lt"/>
                          <a:ea typeface="ＭＳ Ｐゴシック" charset="-128"/>
                        </a:rPr>
                        <a:t>4.35%</a:t>
                      </a:r>
                    </a:p>
                  </a:txBody>
                  <a:tcPr marT="45697" marB="456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800" b="0" i="0" u="none" strike="noStrike" cap="none" normalizeH="0" baseline="0">
                          <a:ln>
                            <a:noFill/>
                          </a:ln>
                          <a:solidFill>
                            <a:schemeClr val="tx1"/>
                          </a:solidFill>
                          <a:effectLst/>
                          <a:latin typeface="+mn-lt"/>
                          <a:ea typeface="ＭＳ Ｐゴシック" charset="-128"/>
                        </a:rPr>
                        <a:t>r</a:t>
                      </a:r>
                      <a:r>
                        <a:rPr kumimoji="0" lang="en-US" sz="2800" b="0" i="0" u="none" strike="noStrike" cap="none" normalizeH="0" baseline="-25000">
                          <a:ln>
                            <a:noFill/>
                          </a:ln>
                          <a:solidFill>
                            <a:schemeClr val="tx1"/>
                          </a:solidFill>
                          <a:effectLst/>
                          <a:latin typeface="+mn-lt"/>
                          <a:ea typeface="ＭＳ Ｐゴシック" charset="-128"/>
                        </a:rPr>
                        <a:t>0,1</a:t>
                      </a:r>
                    </a:p>
                  </a:txBody>
                  <a:tcPr marT="45697" marB="45697"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3511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rgbClr val="000000"/>
                          </a:solidFill>
                          <a:effectLst/>
                          <a:latin typeface="+mn-lt"/>
                          <a:ea typeface="ＭＳ Ｐゴシック" charset="-128"/>
                        </a:rPr>
                        <a:t>2 Years</a:t>
                      </a:r>
                      <a:endParaRPr kumimoji="0" lang="en-US" sz="2400" b="0" i="0" u="none" strike="noStrike" cap="none" normalizeH="0" baseline="0" dirty="0">
                        <a:ln>
                          <a:noFill/>
                        </a:ln>
                        <a:solidFill>
                          <a:schemeClr val="tx1"/>
                        </a:solidFill>
                        <a:effectLst/>
                        <a:latin typeface="+mn-lt"/>
                        <a:ea typeface="ＭＳ Ｐゴシック" charset="-128"/>
                      </a:endParaRPr>
                    </a:p>
                  </a:txBody>
                  <a:tcPr marT="45697" marB="45697"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rgbClr val="000000"/>
                          </a:solidFill>
                          <a:effectLst/>
                          <a:latin typeface="+mn-lt"/>
                          <a:ea typeface="ＭＳ Ｐゴシック" charset="-128"/>
                        </a:rPr>
                        <a:t>3.88%</a:t>
                      </a:r>
                      <a:endParaRPr kumimoji="0" lang="en-US" sz="24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ＭＳ Ｐゴシック" charset="-128"/>
                        </a:rPr>
                        <a:t>3.41%</a:t>
                      </a:r>
                    </a:p>
                  </a:txBody>
                  <a:tcPr marT="45697" marB="456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ＭＳ Ｐゴシック" charset="-128"/>
                        </a:rPr>
                        <a:t>r</a:t>
                      </a:r>
                      <a:r>
                        <a:rPr kumimoji="0" lang="en-US" sz="2400" b="1" i="0" u="none" strike="noStrike" cap="none" normalizeH="0" baseline="-25000" dirty="0">
                          <a:ln>
                            <a:noFill/>
                          </a:ln>
                          <a:solidFill>
                            <a:schemeClr val="tx1"/>
                          </a:solidFill>
                          <a:effectLst/>
                          <a:latin typeface="+mn-lt"/>
                          <a:ea typeface="ＭＳ Ｐゴシック" charset="-128"/>
                        </a:rPr>
                        <a:t>1,2</a:t>
                      </a:r>
                    </a:p>
                  </a:txBody>
                  <a:tcPr marT="45697" marB="45697"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2"/>
                  </a:ext>
                </a:extLst>
              </a:tr>
            </a:tbl>
          </a:graphicData>
        </a:graphic>
      </p:graphicFrame>
      <p:sp>
        <p:nvSpPr>
          <p:cNvPr id="215076" name="Line 36"/>
          <p:cNvSpPr>
            <a:spLocks noChangeShapeType="1"/>
          </p:cNvSpPr>
          <p:nvPr/>
        </p:nvSpPr>
        <p:spPr bwMode="auto">
          <a:xfrm>
            <a:off x="1524000" y="2667000"/>
            <a:ext cx="228600" cy="0"/>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latin typeface="Calibri"/>
            </a:endParaRPr>
          </a:p>
        </p:txBody>
      </p:sp>
      <p:sp>
        <p:nvSpPr>
          <p:cNvPr id="215077" name="Line 37"/>
          <p:cNvSpPr>
            <a:spLocks noChangeShapeType="1"/>
          </p:cNvSpPr>
          <p:nvPr/>
        </p:nvSpPr>
        <p:spPr bwMode="auto">
          <a:xfrm>
            <a:off x="2743200" y="3124200"/>
            <a:ext cx="228600" cy="0"/>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latin typeface="Calibri"/>
            </a:endParaRPr>
          </a:p>
        </p:txBody>
      </p:sp>
      <p:sp>
        <p:nvSpPr>
          <p:cNvPr id="2" name="Slide Number Placeholder 1">
            <a:extLst>
              <a:ext uri="{FF2B5EF4-FFF2-40B4-BE49-F238E27FC236}">
                <a16:creationId xmlns:a16="http://schemas.microsoft.com/office/drawing/2014/main" id="{E42D115C-3FCE-0143-BC97-90DC3A0D9E5A}"/>
              </a:ext>
            </a:extLst>
          </p:cNvPr>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Tree>
    <p:extLst>
      <p:ext uri="{BB962C8B-B14F-4D97-AF65-F5344CB8AC3E}">
        <p14:creationId xmlns:p14="http://schemas.microsoft.com/office/powerpoint/2010/main" val="345183018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504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5043">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504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15043">
                                            <p:txEl>
                                              <p:pRg st="2" end="2"/>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1507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5043">
                                            <p:txEl>
                                              <p:pRg st="3" end="3"/>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507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5043">
                                            <p:txEl>
                                              <p:pRg st="4" end="4"/>
                                            </p:txEl>
                                          </p:spTgt>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nodeType="clickEffect">
                                  <p:stCondLst>
                                    <p:cond delay="0"/>
                                  </p:stCondLst>
                                  <p:childTnLst>
                                    <p:set>
                                      <p:cBhvr>
                                        <p:cTn id="32" dur="1" fill="hold">
                                          <p:stCondLst>
                                            <p:cond delay="0"/>
                                          </p:stCondLst>
                                        </p:cTn>
                                        <p:tgtEl>
                                          <p:spTgt spid="2150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043" grpId="0" build="p"/>
      <p:bldP spid="215042" grpId="0"/>
      <p:bldP spid="215076" grpId="0" animBg="1"/>
      <p:bldP spid="21507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1" name="Rectangle 3"/>
          <p:cNvSpPr>
            <a:spLocks noGrp="1" noChangeArrowheads="1"/>
          </p:cNvSpPr>
          <p:nvPr>
            <p:ph idx="1"/>
          </p:nvPr>
        </p:nvSpPr>
        <p:spPr/>
        <p:txBody>
          <a:bodyPr/>
          <a:lstStyle/>
          <a:p>
            <a:pPr marL="292100" indent="-292100"/>
            <a:r>
              <a:rPr lang="en-US" sz="2800" dirty="0">
                <a:ea typeface="ＭＳ Ｐゴシック" charset="0"/>
                <a:cs typeface="ＭＳ Ｐゴシック" charset="0"/>
              </a:rPr>
              <a:t>The future CFs from projects are discounted using the appropriate annualized spot rates (   ) from the Yield Curve.</a:t>
            </a:r>
          </a:p>
          <a:p>
            <a:pPr marL="292100" indent="-292100"/>
            <a:endParaRPr lang="en-US" sz="2800" b="1" dirty="0">
              <a:ea typeface="ＭＳ Ｐゴシック" charset="0"/>
              <a:cs typeface="ＭＳ Ｐゴシック" charset="0"/>
            </a:endParaRPr>
          </a:p>
          <a:p>
            <a:pPr marL="292100" indent="-292100"/>
            <a:endParaRPr lang="en-US" sz="2800" b="1" dirty="0">
              <a:ea typeface="ＭＳ Ｐゴシック" charset="0"/>
              <a:cs typeface="ＭＳ Ｐゴシック" charset="0"/>
            </a:endParaRPr>
          </a:p>
          <a:p>
            <a:pPr marL="292100" indent="-292100"/>
            <a:endParaRPr lang="en-US" sz="2800" b="1" dirty="0">
              <a:ea typeface="ＭＳ Ｐゴシック" charset="0"/>
              <a:cs typeface="ＭＳ Ｐゴシック" charset="0"/>
            </a:endParaRPr>
          </a:p>
          <a:p>
            <a:pPr marL="292100" indent="-292100"/>
            <a:endParaRPr lang="en-US" sz="2800" b="1" dirty="0">
              <a:ea typeface="ＭＳ Ｐゴシック" charset="0"/>
              <a:cs typeface="ＭＳ Ｐゴシック" charset="0"/>
            </a:endParaRPr>
          </a:p>
          <a:p>
            <a:pPr marL="292100" indent="-292100"/>
            <a:endParaRPr lang="en-US" sz="2800" b="1" dirty="0">
              <a:ea typeface="ＭＳ Ｐゴシック" charset="0"/>
              <a:cs typeface="ＭＳ Ｐゴシック" charset="0"/>
            </a:endParaRPr>
          </a:p>
          <a:p>
            <a:pPr marL="292100" indent="-292100"/>
            <a:r>
              <a:rPr lang="en-US" sz="2800" b="1" dirty="0">
                <a:ea typeface="ＭＳ Ｐゴシック" charset="0"/>
                <a:cs typeface="ＭＳ Ｐゴシック" charset="0"/>
              </a:rPr>
              <a:t>Example</a:t>
            </a:r>
            <a:r>
              <a:rPr lang="en-US" sz="2800" dirty="0">
                <a:ea typeface="ＭＳ Ｐゴシック" charset="0"/>
                <a:cs typeface="ＭＳ Ｐゴシック" charset="0"/>
              </a:rPr>
              <a:t>:  A 2-yr bond offers annual coupons of 15 and a face of 1,000</a:t>
            </a:r>
            <a:r>
              <a:rPr lang="en-US" sz="2800" b="1" dirty="0">
                <a:ea typeface="ＭＳ Ｐゴシック" charset="0"/>
                <a:cs typeface="ＭＳ Ｐゴシック" charset="0"/>
              </a:rPr>
              <a:t>.  What’s its price (PV)?</a:t>
            </a:r>
          </a:p>
          <a:p>
            <a:pPr marL="520700" lvl="1" indent="0">
              <a:buNone/>
            </a:pPr>
            <a:endParaRPr lang="en-US" dirty="0">
              <a:ea typeface="ＭＳ Ｐゴシック" charset="0"/>
            </a:endParaRPr>
          </a:p>
        </p:txBody>
      </p:sp>
      <p:sp>
        <p:nvSpPr>
          <p:cNvPr id="217090" name="Rectangle 2"/>
          <p:cNvSpPr>
            <a:spLocks noGrp="1" noChangeArrowheads="1"/>
          </p:cNvSpPr>
          <p:nvPr>
            <p:ph type="title"/>
          </p:nvPr>
        </p:nvSpPr>
        <p:spPr/>
        <p:txBody>
          <a:bodyPr/>
          <a:lstStyle/>
          <a:p>
            <a:r>
              <a:rPr lang="en-US" b="1">
                <a:ea typeface="ＭＳ Ｐゴシック" charset="0"/>
                <a:cs typeface="ＭＳ Ｐゴシック" charset="0"/>
              </a:rPr>
              <a:t>Using the Yield Curve to Calculate Present Values</a:t>
            </a:r>
            <a:endParaRPr lang="en-US">
              <a:ea typeface="ＭＳ Ｐゴシック" charset="0"/>
              <a:cs typeface="ＭＳ Ｐゴシック" charset="0"/>
            </a:endParaRPr>
          </a:p>
        </p:txBody>
      </p:sp>
      <p:sp>
        <p:nvSpPr>
          <p:cNvPr id="17440" name="Footer Placeholder 7"/>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17092" name="Object 2"/>
          <p:cNvGraphicFramePr>
            <a:graphicFrameLocks noChangeAspect="1"/>
          </p:cNvGraphicFramePr>
          <p:nvPr>
            <p:extLst>
              <p:ext uri="{D42A27DB-BD31-4B8C-83A1-F6EECF244321}">
                <p14:modId xmlns:p14="http://schemas.microsoft.com/office/powerpoint/2010/main" val="477812712"/>
              </p:ext>
            </p:extLst>
          </p:nvPr>
        </p:nvGraphicFramePr>
        <p:xfrm>
          <a:off x="6016083" y="990600"/>
          <a:ext cx="381000" cy="457200"/>
        </p:xfrm>
        <a:graphic>
          <a:graphicData uri="http://schemas.openxmlformats.org/presentationml/2006/ole">
            <mc:AlternateContent xmlns:mc="http://schemas.openxmlformats.org/markup-compatibility/2006">
              <mc:Choice xmlns:v="urn:schemas-microsoft-com:vml" Requires="v">
                <p:oleObj name="Equation" r:id="rId3" imgW="136800" imgH="191880" progId="Equation.3">
                  <p:embed/>
                </p:oleObj>
              </mc:Choice>
              <mc:Fallback>
                <p:oleObj name="Equation" r:id="rId3" imgW="136800" imgH="191880" progId="Equation.3">
                  <p:embed/>
                  <p:pic>
                    <p:nvPicPr>
                      <p:cNvPr id="217092"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16083" y="990600"/>
                        <a:ext cx="381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graphicFrame>
        <p:nvGraphicFramePr>
          <p:cNvPr id="217093" name="Group 5"/>
          <p:cNvGraphicFramePr>
            <a:graphicFrameLocks noGrp="1"/>
          </p:cNvGraphicFramePr>
          <p:nvPr>
            <p:extLst>
              <p:ext uri="{D42A27DB-BD31-4B8C-83A1-F6EECF244321}">
                <p14:modId xmlns:p14="http://schemas.microsoft.com/office/powerpoint/2010/main" val="394551313"/>
              </p:ext>
            </p:extLst>
          </p:nvPr>
        </p:nvGraphicFramePr>
        <p:xfrm>
          <a:off x="1371600" y="1952034"/>
          <a:ext cx="5791200" cy="1997838"/>
        </p:xfrm>
        <a:graphic>
          <a:graphicData uri="http://schemas.openxmlformats.org/drawingml/2006/table">
            <a:tbl>
              <a:tblPr/>
              <a:tblGrid>
                <a:gridCol w="1930400">
                  <a:extLst>
                    <a:ext uri="{9D8B030D-6E8A-4147-A177-3AD203B41FA5}">
                      <a16:colId xmlns:a16="http://schemas.microsoft.com/office/drawing/2014/main" val="20000"/>
                    </a:ext>
                  </a:extLst>
                </a:gridCol>
                <a:gridCol w="1692275">
                  <a:extLst>
                    <a:ext uri="{9D8B030D-6E8A-4147-A177-3AD203B41FA5}">
                      <a16:colId xmlns:a16="http://schemas.microsoft.com/office/drawing/2014/main" val="20001"/>
                    </a:ext>
                  </a:extLst>
                </a:gridCol>
                <a:gridCol w="2168525">
                  <a:extLst>
                    <a:ext uri="{9D8B030D-6E8A-4147-A177-3AD203B41FA5}">
                      <a16:colId xmlns:a16="http://schemas.microsoft.com/office/drawing/2014/main" val="20002"/>
                    </a:ext>
                  </a:extLst>
                </a:gridCol>
              </a:tblGrid>
              <a:tr h="41275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00000"/>
                          </a:solidFill>
                          <a:effectLst/>
                          <a:latin typeface="Calibri"/>
                          <a:ea typeface="ＭＳ Ｐゴシック" charset="-128"/>
                          <a:cs typeface="Calibri"/>
                        </a:rPr>
                        <a:t>Period</a:t>
                      </a:r>
                      <a:endParaRPr kumimoji="0" lang="en-US" sz="1800" b="0" i="0" u="none" strike="noStrike" cap="none" normalizeH="0" baseline="0">
                        <a:ln>
                          <a:noFill/>
                        </a:ln>
                        <a:solidFill>
                          <a:schemeClr val="tx1"/>
                        </a:solidFill>
                        <a:effectLst/>
                        <a:latin typeface="Calibri"/>
                        <a:ea typeface="ＭＳ Ｐゴシック" charset="-128"/>
                        <a:cs typeface="Calibri"/>
                      </a:endParaRPr>
                    </a:p>
                  </a:txBody>
                  <a:tcPr marT="45734" marB="45734"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rgbClr val="000000"/>
                          </a:solidFill>
                          <a:effectLst/>
                          <a:latin typeface="Calibri"/>
                          <a:ea typeface="ＭＳ Ｐゴシック" charset="-128"/>
                          <a:cs typeface="Calibri"/>
                        </a:rPr>
                        <a:t>YTM</a:t>
                      </a:r>
                      <a:endParaRPr kumimoji="0" lang="en-US" sz="1800" b="0" i="0" u="none" strike="noStrike" cap="none" normalizeH="0" baseline="0" dirty="0">
                        <a:ln>
                          <a:noFill/>
                        </a:ln>
                        <a:solidFill>
                          <a:schemeClr val="tx1"/>
                        </a:solidFill>
                        <a:effectLst/>
                        <a:latin typeface="Calibri"/>
                        <a:ea typeface="ＭＳ Ｐゴシック" charset="-128"/>
                        <a:cs typeface="Calibri"/>
                      </a:endParaRPr>
                    </a:p>
                  </a:txBody>
                  <a:tcPr marT="45734" marB="45734"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chemeClr val="tx1"/>
                          </a:solidFill>
                          <a:effectLst/>
                          <a:latin typeface="Calibri"/>
                          <a:ea typeface="ＭＳ Ｐゴシック" charset="-128"/>
                          <a:cs typeface="Calibri"/>
                        </a:rPr>
                        <a:t>Forward Rates</a:t>
                      </a:r>
                      <a:endParaRPr kumimoji="0" lang="en-US" sz="1800" b="0" i="0" u="none" strike="noStrike" cap="none" normalizeH="0" baseline="0">
                        <a:ln>
                          <a:noFill/>
                        </a:ln>
                        <a:solidFill>
                          <a:schemeClr val="tx1"/>
                        </a:solidFill>
                        <a:effectLst/>
                        <a:latin typeface="Calibri"/>
                        <a:ea typeface="ＭＳ Ｐゴシック" charset="-128"/>
                        <a:cs typeface="Calibri"/>
                      </a:endParaRPr>
                    </a:p>
                  </a:txBody>
                  <a:tcPr marT="45734" marB="45734"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8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cs typeface="Calibri"/>
                        </a:rPr>
                        <a:t>1 Year</a:t>
                      </a:r>
                      <a:endParaRPr kumimoji="0" lang="en-US" sz="2000" b="0" i="0" u="none" strike="noStrike" cap="none" normalizeH="0" baseline="0" dirty="0">
                        <a:ln>
                          <a:noFill/>
                        </a:ln>
                        <a:solidFill>
                          <a:schemeClr val="tx1"/>
                        </a:solidFill>
                        <a:effectLst/>
                        <a:latin typeface="+mn-lt"/>
                        <a:ea typeface="ＭＳ Ｐゴシック" charset="-128"/>
                        <a:cs typeface="Calibri"/>
                      </a:endParaRPr>
                    </a:p>
                  </a:txBody>
                  <a:tcPr marT="45734" marB="45734"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rPr>
                        <a:t>4.35%</a:t>
                      </a:r>
                      <a:endParaRPr kumimoji="0" lang="en-US" sz="20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mn-lt"/>
                          <a:ea typeface="ＭＳ Ｐゴシック" charset="-128"/>
                        </a:rPr>
                        <a:t>4.35%</a:t>
                      </a:r>
                    </a:p>
                  </a:txBody>
                  <a:tcPr marT="45697" marB="45697"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58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cs typeface="Calibri"/>
                        </a:rPr>
                        <a:t>2 Years</a:t>
                      </a:r>
                      <a:endParaRPr kumimoji="0" lang="en-US" sz="2000" b="0" i="0" u="none" strike="noStrike" cap="none" normalizeH="0" baseline="0" dirty="0">
                        <a:ln>
                          <a:noFill/>
                        </a:ln>
                        <a:solidFill>
                          <a:schemeClr val="tx1"/>
                        </a:solidFill>
                        <a:effectLst/>
                        <a:latin typeface="+mn-lt"/>
                        <a:ea typeface="ＭＳ Ｐゴシック" charset="-128"/>
                        <a:cs typeface="Calibri"/>
                      </a:endParaRPr>
                    </a:p>
                  </a:txBody>
                  <a:tcPr marT="45734" marB="45734"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rPr>
                        <a:t>3.88%</a:t>
                      </a:r>
                      <a:endParaRPr kumimoji="0" lang="en-US" sz="20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mn-lt"/>
                          <a:ea typeface="ＭＳ Ｐゴシック" charset="-128"/>
                        </a:rPr>
                        <a:t>3.41%</a:t>
                      </a:r>
                    </a:p>
                  </a:txBody>
                  <a:tcPr marT="45697" marB="45697"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58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mn-lt"/>
                          <a:ea typeface="ＭＳ Ｐゴシック" charset="-128"/>
                          <a:cs typeface="Calibri"/>
                        </a:rPr>
                        <a:t>3 Years</a:t>
                      </a:r>
                      <a:endParaRPr kumimoji="0" lang="en-US" sz="2000" b="0" i="0" u="none" strike="noStrike" cap="none" normalizeH="0" baseline="0">
                        <a:ln>
                          <a:noFill/>
                        </a:ln>
                        <a:solidFill>
                          <a:schemeClr val="tx1"/>
                        </a:solidFill>
                        <a:effectLst/>
                        <a:latin typeface="+mn-lt"/>
                        <a:ea typeface="ＭＳ Ｐゴシック" charset="-128"/>
                        <a:cs typeface="Calibri"/>
                      </a:endParaRPr>
                    </a:p>
                  </a:txBody>
                  <a:tcPr marT="45734" marB="45734"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rPr>
                        <a:t>3.73%</a:t>
                      </a:r>
                      <a:endParaRPr kumimoji="0" lang="en-US" sz="20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mn-lt"/>
                          <a:ea typeface="ＭＳ Ｐゴシック" charset="-128"/>
                          <a:cs typeface="Calibri"/>
                        </a:rPr>
                        <a:t>3.71%</a:t>
                      </a:r>
                    </a:p>
                  </a:txBody>
                  <a:tcPr marT="45734" marB="45734"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3"/>
                  </a:ext>
                </a:extLst>
              </a:tr>
              <a:tr h="3658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cs typeface="Calibri"/>
                        </a:rPr>
                        <a:t>5 Years</a:t>
                      </a:r>
                      <a:endParaRPr kumimoji="0" lang="en-US" sz="2000" b="0" i="0" u="none" strike="noStrike" cap="none" normalizeH="0" baseline="0" dirty="0">
                        <a:ln>
                          <a:noFill/>
                        </a:ln>
                        <a:solidFill>
                          <a:schemeClr val="tx1"/>
                        </a:solidFill>
                        <a:effectLst/>
                        <a:latin typeface="+mn-lt"/>
                        <a:ea typeface="ＭＳ Ｐゴシック" charset="-128"/>
                        <a:cs typeface="Calibri"/>
                      </a:endParaRPr>
                    </a:p>
                  </a:txBody>
                  <a:tcPr marT="45734" marB="45734"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rPr>
                        <a:t>3.65%</a:t>
                      </a:r>
                      <a:endParaRPr kumimoji="0" lang="en-US" sz="20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mn-lt"/>
                        <a:ea typeface="ＭＳ Ｐゴシック" charset="-128"/>
                        <a:cs typeface="Calibri"/>
                      </a:endParaRPr>
                    </a:p>
                  </a:txBody>
                  <a:tcPr marT="45734" marB="45734"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 name="Slide Number Placeholder 1">
            <a:extLst>
              <a:ext uri="{FF2B5EF4-FFF2-40B4-BE49-F238E27FC236}">
                <a16:creationId xmlns:a16="http://schemas.microsoft.com/office/drawing/2014/main" id="{F3B1CF8D-C07C-B94B-9418-651333F03F40}"/>
              </a:ext>
            </a:extLst>
          </p:cNvPr>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Tree>
    <p:extLst>
      <p:ext uri="{BB962C8B-B14F-4D97-AF65-F5344CB8AC3E}">
        <p14:creationId xmlns:p14="http://schemas.microsoft.com/office/powerpoint/2010/main" val="87820566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70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7091">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709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1709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1709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7091" grpId="0" uiExpand="1" build="p"/>
      <p:bldP spid="217090"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r>
              <a:rPr lang="en-US" b="1" dirty="0">
                <a:ea typeface="ＭＳ Ｐゴシック" charset="0"/>
                <a:cs typeface="ＭＳ Ｐゴシック" charset="0"/>
              </a:rPr>
              <a:t>YTM , Coupon Rate, and Bond Value</a:t>
            </a:r>
            <a:endParaRPr lang="en-US" dirty="0">
              <a:ea typeface="ＭＳ Ｐゴシック" charset="0"/>
              <a:cs typeface="ＭＳ Ｐゴシック" charset="0"/>
            </a:endParaRPr>
          </a:p>
        </p:txBody>
      </p:sp>
      <p:sp>
        <p:nvSpPr>
          <p:cNvPr id="43059" name="Footer Placeholder 53"/>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43012" name="Line 3"/>
          <p:cNvSpPr>
            <a:spLocks noChangeShapeType="1"/>
          </p:cNvSpPr>
          <p:nvPr/>
        </p:nvSpPr>
        <p:spPr bwMode="auto">
          <a:xfrm>
            <a:off x="1258890" y="1354140"/>
            <a:ext cx="1587" cy="386397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13" name="Line 4"/>
          <p:cNvSpPr>
            <a:spLocks noChangeShapeType="1"/>
          </p:cNvSpPr>
          <p:nvPr/>
        </p:nvSpPr>
        <p:spPr bwMode="auto">
          <a:xfrm>
            <a:off x="1220788" y="5218115"/>
            <a:ext cx="38100" cy="3175"/>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14" name="Line 5"/>
          <p:cNvSpPr>
            <a:spLocks noChangeShapeType="1"/>
          </p:cNvSpPr>
          <p:nvPr/>
        </p:nvSpPr>
        <p:spPr bwMode="auto">
          <a:xfrm>
            <a:off x="1201738" y="4459290"/>
            <a:ext cx="38100" cy="1587"/>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15" name="Line 6"/>
          <p:cNvSpPr>
            <a:spLocks noChangeShapeType="1"/>
          </p:cNvSpPr>
          <p:nvPr/>
        </p:nvSpPr>
        <p:spPr bwMode="auto">
          <a:xfrm>
            <a:off x="1201738" y="3668715"/>
            <a:ext cx="38100" cy="1587"/>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16" name="Line 7"/>
          <p:cNvSpPr>
            <a:spLocks noChangeShapeType="1"/>
          </p:cNvSpPr>
          <p:nvPr/>
        </p:nvSpPr>
        <p:spPr bwMode="auto">
          <a:xfrm>
            <a:off x="1201738" y="2905125"/>
            <a:ext cx="38100" cy="1588"/>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17" name="Line 8"/>
          <p:cNvSpPr>
            <a:spLocks noChangeShapeType="1"/>
          </p:cNvSpPr>
          <p:nvPr/>
        </p:nvSpPr>
        <p:spPr bwMode="auto">
          <a:xfrm>
            <a:off x="1201738" y="2130425"/>
            <a:ext cx="38100" cy="1588"/>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18" name="Line 9"/>
          <p:cNvSpPr>
            <a:spLocks noChangeShapeType="1"/>
          </p:cNvSpPr>
          <p:nvPr/>
        </p:nvSpPr>
        <p:spPr bwMode="auto">
          <a:xfrm>
            <a:off x="1201738" y="1354140"/>
            <a:ext cx="38100" cy="1587"/>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19" name="Line 10"/>
          <p:cNvSpPr>
            <a:spLocks noChangeShapeType="1"/>
          </p:cNvSpPr>
          <p:nvPr/>
        </p:nvSpPr>
        <p:spPr bwMode="auto">
          <a:xfrm>
            <a:off x="1258888" y="5218115"/>
            <a:ext cx="6742112" cy="317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0" name="Line 11"/>
          <p:cNvSpPr>
            <a:spLocks noChangeShapeType="1"/>
          </p:cNvSpPr>
          <p:nvPr/>
        </p:nvSpPr>
        <p:spPr bwMode="auto">
          <a:xfrm flipV="1">
            <a:off x="1258890" y="5218115"/>
            <a:ext cx="1587" cy="47625"/>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1" name="Line 12"/>
          <p:cNvSpPr>
            <a:spLocks noChangeShapeType="1"/>
          </p:cNvSpPr>
          <p:nvPr/>
        </p:nvSpPr>
        <p:spPr bwMode="auto">
          <a:xfrm flipV="1">
            <a:off x="1935165" y="5237165"/>
            <a:ext cx="1587"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2" name="Line 13"/>
          <p:cNvSpPr>
            <a:spLocks noChangeShapeType="1"/>
          </p:cNvSpPr>
          <p:nvPr/>
        </p:nvSpPr>
        <p:spPr bwMode="auto">
          <a:xfrm flipV="1">
            <a:off x="2611440" y="5237165"/>
            <a:ext cx="1587"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3" name="Line 14"/>
          <p:cNvSpPr>
            <a:spLocks noChangeShapeType="1"/>
          </p:cNvSpPr>
          <p:nvPr/>
        </p:nvSpPr>
        <p:spPr bwMode="auto">
          <a:xfrm flipV="1">
            <a:off x="3278190" y="5237165"/>
            <a:ext cx="1587"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4" name="Line 15"/>
          <p:cNvSpPr>
            <a:spLocks noChangeShapeType="1"/>
          </p:cNvSpPr>
          <p:nvPr/>
        </p:nvSpPr>
        <p:spPr bwMode="auto">
          <a:xfrm flipV="1">
            <a:off x="3954465" y="5237165"/>
            <a:ext cx="1587"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5" name="Line 16"/>
          <p:cNvSpPr>
            <a:spLocks noChangeShapeType="1"/>
          </p:cNvSpPr>
          <p:nvPr/>
        </p:nvSpPr>
        <p:spPr bwMode="auto">
          <a:xfrm flipV="1">
            <a:off x="4629150" y="5237165"/>
            <a:ext cx="1588"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6" name="Line 17"/>
          <p:cNvSpPr>
            <a:spLocks noChangeShapeType="1"/>
          </p:cNvSpPr>
          <p:nvPr/>
        </p:nvSpPr>
        <p:spPr bwMode="auto">
          <a:xfrm flipV="1">
            <a:off x="5305425" y="5237165"/>
            <a:ext cx="1588"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7" name="Line 18"/>
          <p:cNvSpPr>
            <a:spLocks noChangeShapeType="1"/>
          </p:cNvSpPr>
          <p:nvPr/>
        </p:nvSpPr>
        <p:spPr bwMode="auto">
          <a:xfrm flipV="1">
            <a:off x="5981700" y="5237165"/>
            <a:ext cx="1588"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8" name="Line 19"/>
          <p:cNvSpPr>
            <a:spLocks noChangeShapeType="1"/>
          </p:cNvSpPr>
          <p:nvPr/>
        </p:nvSpPr>
        <p:spPr bwMode="auto">
          <a:xfrm flipV="1">
            <a:off x="6648450" y="5237165"/>
            <a:ext cx="1588"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29" name="Line 20"/>
          <p:cNvSpPr>
            <a:spLocks noChangeShapeType="1"/>
          </p:cNvSpPr>
          <p:nvPr/>
        </p:nvSpPr>
        <p:spPr bwMode="auto">
          <a:xfrm flipV="1">
            <a:off x="7324725" y="5237165"/>
            <a:ext cx="1588"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30" name="Line 21"/>
          <p:cNvSpPr>
            <a:spLocks noChangeShapeType="1"/>
          </p:cNvSpPr>
          <p:nvPr/>
        </p:nvSpPr>
        <p:spPr bwMode="auto">
          <a:xfrm flipV="1">
            <a:off x="8001000" y="5237165"/>
            <a:ext cx="1588" cy="47625"/>
          </a:xfrm>
          <a:prstGeom prst="line">
            <a:avLst/>
          </a:prstGeom>
          <a:noFill/>
          <a:ln w="38100">
            <a:solidFill>
              <a:schemeClr val="tx1"/>
            </a:solidFill>
            <a:round/>
            <a:headEnd/>
            <a:tailEnd/>
          </a:ln>
          <a:extLst>
            <a:ext uri="{909E8E84-426E-40dd-AFC4-6F175D3DCCD1}">
              <a14:hiddenFill xmlns:a14="http://schemas.microsoft.com/office/drawing/2010/main" xmlns="">
                <a:noFill/>
              </a14:hiddenFill>
            </a:ext>
          </a:extLst>
        </p:spPr>
        <p:txBody>
          <a:bodyPr/>
          <a:lstStyle/>
          <a:p>
            <a:endParaRPr lang="en-US">
              <a:latin typeface="Calibri"/>
            </a:endParaRPr>
          </a:p>
        </p:txBody>
      </p:sp>
      <p:sp>
        <p:nvSpPr>
          <p:cNvPr id="43031" name="Rectangle 22"/>
          <p:cNvSpPr>
            <a:spLocks noChangeArrowheads="1"/>
          </p:cNvSpPr>
          <p:nvPr/>
        </p:nvSpPr>
        <p:spPr bwMode="auto">
          <a:xfrm>
            <a:off x="725488" y="5083177"/>
            <a:ext cx="3048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800</a:t>
            </a:r>
          </a:p>
        </p:txBody>
      </p:sp>
      <p:sp>
        <p:nvSpPr>
          <p:cNvPr id="43032" name="Rectangle 23"/>
          <p:cNvSpPr>
            <a:spLocks noChangeArrowheads="1"/>
          </p:cNvSpPr>
          <p:nvPr/>
        </p:nvSpPr>
        <p:spPr bwMode="auto">
          <a:xfrm>
            <a:off x="658813" y="4308477"/>
            <a:ext cx="4064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1000</a:t>
            </a:r>
          </a:p>
        </p:txBody>
      </p:sp>
      <p:sp>
        <p:nvSpPr>
          <p:cNvPr id="43033" name="Rectangle 24"/>
          <p:cNvSpPr>
            <a:spLocks noChangeArrowheads="1"/>
          </p:cNvSpPr>
          <p:nvPr/>
        </p:nvSpPr>
        <p:spPr bwMode="auto">
          <a:xfrm>
            <a:off x="658813" y="3532190"/>
            <a:ext cx="4064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1100</a:t>
            </a:r>
          </a:p>
        </p:txBody>
      </p:sp>
      <p:sp>
        <p:nvSpPr>
          <p:cNvPr id="43034" name="Rectangle 25"/>
          <p:cNvSpPr>
            <a:spLocks noChangeArrowheads="1"/>
          </p:cNvSpPr>
          <p:nvPr/>
        </p:nvSpPr>
        <p:spPr bwMode="auto">
          <a:xfrm>
            <a:off x="658813" y="2770190"/>
            <a:ext cx="4064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1200</a:t>
            </a:r>
          </a:p>
        </p:txBody>
      </p:sp>
      <p:sp>
        <p:nvSpPr>
          <p:cNvPr id="43035" name="Rectangle 26"/>
          <p:cNvSpPr>
            <a:spLocks noChangeArrowheads="1"/>
          </p:cNvSpPr>
          <p:nvPr/>
        </p:nvSpPr>
        <p:spPr bwMode="auto">
          <a:xfrm>
            <a:off x="658813" y="1993902"/>
            <a:ext cx="4064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1300</a:t>
            </a:r>
          </a:p>
        </p:txBody>
      </p:sp>
      <p:sp>
        <p:nvSpPr>
          <p:cNvPr id="43036" name="Rectangle 27"/>
          <p:cNvSpPr>
            <a:spLocks noChangeArrowheads="1"/>
          </p:cNvSpPr>
          <p:nvPr/>
        </p:nvSpPr>
        <p:spPr bwMode="auto">
          <a:xfrm>
            <a:off x="558800" y="1219202"/>
            <a:ext cx="5080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$1400</a:t>
            </a:r>
          </a:p>
        </p:txBody>
      </p:sp>
      <p:sp>
        <p:nvSpPr>
          <p:cNvPr id="43037" name="Rectangle 28"/>
          <p:cNvSpPr>
            <a:spLocks noChangeArrowheads="1"/>
          </p:cNvSpPr>
          <p:nvPr/>
        </p:nvSpPr>
        <p:spPr bwMode="auto">
          <a:xfrm>
            <a:off x="1230313" y="5348290"/>
            <a:ext cx="101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a:t>
            </a:r>
          </a:p>
        </p:txBody>
      </p:sp>
      <p:sp>
        <p:nvSpPr>
          <p:cNvPr id="43038" name="Rectangle 29"/>
          <p:cNvSpPr>
            <a:spLocks noChangeArrowheads="1"/>
          </p:cNvSpPr>
          <p:nvPr/>
        </p:nvSpPr>
        <p:spPr bwMode="auto">
          <a:xfrm>
            <a:off x="1820863" y="5348290"/>
            <a:ext cx="355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0.01</a:t>
            </a:r>
          </a:p>
        </p:txBody>
      </p:sp>
      <p:sp>
        <p:nvSpPr>
          <p:cNvPr id="43039" name="Rectangle 30"/>
          <p:cNvSpPr>
            <a:spLocks noChangeArrowheads="1"/>
          </p:cNvSpPr>
          <p:nvPr/>
        </p:nvSpPr>
        <p:spPr bwMode="auto">
          <a:xfrm>
            <a:off x="2497138" y="5348290"/>
            <a:ext cx="355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dirty="0">
                <a:latin typeface="Times New Roman" charset="0"/>
              </a:rPr>
              <a:t>0.02</a:t>
            </a:r>
          </a:p>
        </p:txBody>
      </p:sp>
      <p:sp>
        <p:nvSpPr>
          <p:cNvPr id="43040" name="Rectangle 31"/>
          <p:cNvSpPr>
            <a:spLocks noChangeArrowheads="1"/>
          </p:cNvSpPr>
          <p:nvPr/>
        </p:nvSpPr>
        <p:spPr bwMode="auto">
          <a:xfrm>
            <a:off x="3163888" y="5348290"/>
            <a:ext cx="355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dirty="0">
                <a:latin typeface="Times New Roman" charset="0"/>
              </a:rPr>
              <a:t>0.03</a:t>
            </a:r>
          </a:p>
        </p:txBody>
      </p:sp>
      <p:sp>
        <p:nvSpPr>
          <p:cNvPr id="43041" name="Rectangle 32"/>
          <p:cNvSpPr>
            <a:spLocks noChangeArrowheads="1"/>
          </p:cNvSpPr>
          <p:nvPr/>
        </p:nvSpPr>
        <p:spPr bwMode="auto">
          <a:xfrm>
            <a:off x="3840163" y="5348290"/>
            <a:ext cx="355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0.04</a:t>
            </a:r>
          </a:p>
        </p:txBody>
      </p:sp>
      <p:sp>
        <p:nvSpPr>
          <p:cNvPr id="43042" name="Rectangle 33"/>
          <p:cNvSpPr>
            <a:spLocks noChangeArrowheads="1"/>
          </p:cNvSpPr>
          <p:nvPr/>
        </p:nvSpPr>
        <p:spPr bwMode="auto">
          <a:xfrm>
            <a:off x="4514850" y="5348290"/>
            <a:ext cx="355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0.05</a:t>
            </a:r>
          </a:p>
        </p:txBody>
      </p:sp>
      <p:sp>
        <p:nvSpPr>
          <p:cNvPr id="43043" name="Rectangle 34"/>
          <p:cNvSpPr>
            <a:spLocks noChangeArrowheads="1"/>
          </p:cNvSpPr>
          <p:nvPr/>
        </p:nvSpPr>
        <p:spPr bwMode="auto">
          <a:xfrm>
            <a:off x="5191125" y="5348290"/>
            <a:ext cx="355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0.06</a:t>
            </a:r>
          </a:p>
        </p:txBody>
      </p:sp>
      <p:sp>
        <p:nvSpPr>
          <p:cNvPr id="43044" name="Rectangle 35"/>
          <p:cNvSpPr>
            <a:spLocks noChangeArrowheads="1"/>
          </p:cNvSpPr>
          <p:nvPr/>
        </p:nvSpPr>
        <p:spPr bwMode="auto">
          <a:xfrm>
            <a:off x="5867400" y="5348290"/>
            <a:ext cx="355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0.07</a:t>
            </a:r>
          </a:p>
        </p:txBody>
      </p:sp>
      <p:sp>
        <p:nvSpPr>
          <p:cNvPr id="43045" name="Rectangle 36"/>
          <p:cNvSpPr>
            <a:spLocks noChangeArrowheads="1"/>
          </p:cNvSpPr>
          <p:nvPr/>
        </p:nvSpPr>
        <p:spPr bwMode="auto">
          <a:xfrm>
            <a:off x="6534150" y="5348290"/>
            <a:ext cx="355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0.08</a:t>
            </a:r>
          </a:p>
        </p:txBody>
      </p:sp>
      <p:sp>
        <p:nvSpPr>
          <p:cNvPr id="43046" name="Rectangle 37"/>
          <p:cNvSpPr>
            <a:spLocks noChangeArrowheads="1"/>
          </p:cNvSpPr>
          <p:nvPr/>
        </p:nvSpPr>
        <p:spPr bwMode="auto">
          <a:xfrm>
            <a:off x="7210425" y="5348290"/>
            <a:ext cx="3556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0.09</a:t>
            </a:r>
          </a:p>
        </p:txBody>
      </p:sp>
      <p:sp>
        <p:nvSpPr>
          <p:cNvPr id="43047" name="Rectangle 38"/>
          <p:cNvSpPr>
            <a:spLocks noChangeArrowheads="1"/>
          </p:cNvSpPr>
          <p:nvPr/>
        </p:nvSpPr>
        <p:spPr bwMode="auto">
          <a:xfrm>
            <a:off x="7915275" y="5348290"/>
            <a:ext cx="2540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0.1</a:t>
            </a:r>
          </a:p>
        </p:txBody>
      </p:sp>
      <p:sp>
        <p:nvSpPr>
          <p:cNvPr id="43048" name="Rectangle 39"/>
          <p:cNvSpPr>
            <a:spLocks noChangeArrowheads="1"/>
          </p:cNvSpPr>
          <p:nvPr/>
        </p:nvSpPr>
        <p:spPr bwMode="auto">
          <a:xfrm>
            <a:off x="7144328" y="5532666"/>
            <a:ext cx="1032655" cy="2154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400" b="1" dirty="0">
                <a:latin typeface="+mn-lt"/>
              </a:rPr>
              <a:t>Discount Rate</a:t>
            </a:r>
            <a:endParaRPr lang="en-US" sz="1400" dirty="0">
              <a:latin typeface="+mn-lt"/>
            </a:endParaRPr>
          </a:p>
        </p:txBody>
      </p:sp>
      <p:sp>
        <p:nvSpPr>
          <p:cNvPr id="43049" name="Rectangle 40"/>
          <p:cNvSpPr>
            <a:spLocks noChangeArrowheads="1"/>
          </p:cNvSpPr>
          <p:nvPr/>
        </p:nvSpPr>
        <p:spPr bwMode="auto">
          <a:xfrm rot="-5400000">
            <a:off x="-111919" y="2086769"/>
            <a:ext cx="1277938"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2000" b="1">
                <a:latin typeface="Times New Roman" charset="0"/>
              </a:rPr>
              <a:t>Bond Value</a:t>
            </a:r>
            <a:endParaRPr lang="en-US" sz="2000">
              <a:latin typeface="Times New Roman" charset="0"/>
            </a:endParaRPr>
          </a:p>
        </p:txBody>
      </p:sp>
      <p:sp>
        <p:nvSpPr>
          <p:cNvPr id="223273" name="Line 41"/>
          <p:cNvSpPr>
            <a:spLocks noChangeShapeType="1"/>
          </p:cNvSpPr>
          <p:nvPr/>
        </p:nvSpPr>
        <p:spPr bwMode="auto">
          <a:xfrm>
            <a:off x="1219200" y="4460877"/>
            <a:ext cx="6623050" cy="34925"/>
          </a:xfrm>
          <a:prstGeom prst="line">
            <a:avLst/>
          </a:prstGeom>
          <a:noFill/>
          <a:ln w="19050">
            <a:solidFill>
              <a:schemeClr val="tx1"/>
            </a:solidFill>
            <a:prstDash val="sysDot"/>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latin typeface="Calibri"/>
            </a:endParaRPr>
          </a:p>
        </p:txBody>
      </p:sp>
      <p:grpSp>
        <p:nvGrpSpPr>
          <p:cNvPr id="2" name="Group 42"/>
          <p:cNvGrpSpPr>
            <a:grpSpLocks/>
          </p:cNvGrpSpPr>
          <p:nvPr/>
        </p:nvGrpSpPr>
        <p:grpSpPr bwMode="auto">
          <a:xfrm>
            <a:off x="5251450" y="4495802"/>
            <a:ext cx="609600" cy="765175"/>
            <a:chOff x="3888" y="1680"/>
            <a:chExt cx="384" cy="1284"/>
          </a:xfrm>
        </p:grpSpPr>
        <p:sp>
          <p:nvSpPr>
            <p:cNvPr id="43060" name="Line 43"/>
            <p:cNvSpPr>
              <a:spLocks noChangeShapeType="1"/>
            </p:cNvSpPr>
            <p:nvPr/>
          </p:nvSpPr>
          <p:spPr bwMode="auto">
            <a:xfrm>
              <a:off x="4080" y="1680"/>
              <a:ext cx="0" cy="720"/>
            </a:xfrm>
            <a:prstGeom prst="line">
              <a:avLst/>
            </a:prstGeom>
            <a:noFill/>
            <a:ln w="19050">
              <a:solidFill>
                <a:schemeClr val="tx1"/>
              </a:solidFill>
              <a:prstDash val="sysDot"/>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latin typeface="Calibri"/>
              </a:endParaRPr>
            </a:p>
          </p:txBody>
        </p:sp>
        <p:sp>
          <p:nvSpPr>
            <p:cNvPr id="43061" name="Text Box 44"/>
            <p:cNvSpPr txBox="1">
              <a:spLocks noChangeArrowheads="1"/>
            </p:cNvSpPr>
            <p:nvPr/>
          </p:nvSpPr>
          <p:spPr bwMode="auto">
            <a:xfrm>
              <a:off x="3888" y="2399"/>
              <a:ext cx="384" cy="5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905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1600" b="1" dirty="0">
                  <a:latin typeface="Times New Roman" charset="0"/>
                </a:rPr>
                <a:t>6 3/8</a:t>
              </a:r>
              <a:endParaRPr lang="en-US" sz="1600" dirty="0">
                <a:latin typeface="Times New Roman" charset="0"/>
              </a:endParaRPr>
            </a:p>
          </p:txBody>
        </p:sp>
      </p:grpSp>
      <p:sp>
        <p:nvSpPr>
          <p:cNvPr id="223277" name="Text Box 45"/>
          <p:cNvSpPr txBox="1">
            <a:spLocks noChangeArrowheads="1"/>
          </p:cNvSpPr>
          <p:nvPr/>
        </p:nvSpPr>
        <p:spPr bwMode="auto">
          <a:xfrm>
            <a:off x="1798638" y="1965327"/>
            <a:ext cx="4794250" cy="714375"/>
          </a:xfrm>
          <a:prstGeom prst="rect">
            <a:avLst/>
          </a:prstGeom>
          <a:noFill/>
          <a:ln w="12700" cap="sq">
            <a:solidFill>
              <a:schemeClr val="tx1"/>
            </a:solidFill>
            <a:miter lim="800000"/>
            <a:headEnd type="none" w="sm" len="sm"/>
            <a:tailEnd type="none" w="sm" len="sm"/>
          </a:ln>
          <a:extLst>
            <a:ext uri="{909E8E84-426E-40dd-AFC4-6F175D3DCCD1}">
              <a14:hiddenFill xmlns:a14="http://schemas.microsoft.com/office/drawing/2010/main" xmlns="">
                <a:solidFill>
                  <a:srgbClr val="FFFFFF"/>
                </a:solidFill>
              </a14:hiddenFill>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000" dirty="0">
                <a:solidFill>
                  <a:srgbClr val="010004"/>
                </a:solidFill>
                <a:latin typeface="Calibri"/>
              </a:rPr>
              <a:t>When the </a:t>
            </a:r>
            <a:r>
              <a:rPr lang="en-US" sz="2000" i="1" dirty="0">
                <a:solidFill>
                  <a:srgbClr val="010004"/>
                </a:solidFill>
                <a:latin typeface="Calibri"/>
              </a:rPr>
              <a:t>YTM &lt; Coupon</a:t>
            </a:r>
            <a:r>
              <a:rPr lang="en-US" sz="2000" dirty="0">
                <a:solidFill>
                  <a:srgbClr val="010004"/>
                </a:solidFill>
                <a:latin typeface="Calibri"/>
              </a:rPr>
              <a:t>, the bond trades at a </a:t>
            </a:r>
            <a:r>
              <a:rPr lang="en-US" sz="2000" b="1" dirty="0">
                <a:solidFill>
                  <a:srgbClr val="010004"/>
                </a:solidFill>
                <a:latin typeface="Calibri"/>
              </a:rPr>
              <a:t>premium:     Price &gt; Face</a:t>
            </a:r>
            <a:r>
              <a:rPr lang="en-US" sz="2000" dirty="0">
                <a:latin typeface="Calibri"/>
              </a:rPr>
              <a:t>.</a:t>
            </a:r>
            <a:endParaRPr lang="en-US" sz="2400" dirty="0">
              <a:latin typeface="Calibri"/>
            </a:endParaRPr>
          </a:p>
        </p:txBody>
      </p:sp>
      <p:sp>
        <p:nvSpPr>
          <p:cNvPr id="223278" name="Text Box 46"/>
          <p:cNvSpPr txBox="1">
            <a:spLocks noChangeArrowheads="1"/>
          </p:cNvSpPr>
          <p:nvPr/>
        </p:nvSpPr>
        <p:spPr bwMode="auto">
          <a:xfrm>
            <a:off x="4032250" y="3276600"/>
            <a:ext cx="4654550" cy="774700"/>
          </a:xfrm>
          <a:prstGeom prst="rect">
            <a:avLst/>
          </a:prstGeom>
          <a:noFill/>
          <a:ln w="12700" cap="sq">
            <a:solidFill>
              <a:schemeClr val="tx1"/>
            </a:solidFill>
            <a:miter lim="800000"/>
            <a:headEnd type="none" w="sm" len="sm"/>
            <a:tailEnd type="none" w="sm" len="sm"/>
          </a:ln>
          <a:extLst>
            <a:ext uri="{909E8E84-426E-40dd-AFC4-6F175D3DCCD1}">
              <a14:hiddenFill xmlns:a14="http://schemas.microsoft.com/office/drawing/2010/main" xmlns="">
                <a:solidFill>
                  <a:srgbClr val="FFFFFF"/>
                </a:solidFill>
              </a14:hiddenFill>
            </a:ext>
          </a:extLst>
        </p:spPr>
        <p:txBody>
          <a:bodyPr wrap="squar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000" dirty="0">
                <a:solidFill>
                  <a:srgbClr val="010004"/>
                </a:solidFill>
                <a:latin typeface="Calibri"/>
              </a:rPr>
              <a:t>When the </a:t>
            </a:r>
            <a:r>
              <a:rPr lang="en-US" sz="2000" i="1" dirty="0">
                <a:solidFill>
                  <a:srgbClr val="010004"/>
                </a:solidFill>
                <a:latin typeface="Calibri"/>
              </a:rPr>
              <a:t>YTM = Coupon</a:t>
            </a:r>
            <a:r>
              <a:rPr lang="en-US" sz="2000" dirty="0">
                <a:solidFill>
                  <a:srgbClr val="010004"/>
                </a:solidFill>
                <a:latin typeface="Calibri"/>
              </a:rPr>
              <a:t>, the bond trades at </a:t>
            </a:r>
            <a:r>
              <a:rPr lang="en-US" sz="2000" b="1" dirty="0">
                <a:solidFill>
                  <a:srgbClr val="010004"/>
                </a:solidFill>
                <a:latin typeface="Calibri"/>
              </a:rPr>
              <a:t>par: 	Price = Face</a:t>
            </a:r>
            <a:r>
              <a:rPr lang="en-US" sz="2400" dirty="0">
                <a:latin typeface="Times New Roman" charset="0"/>
              </a:rPr>
              <a:t>.</a:t>
            </a:r>
          </a:p>
        </p:txBody>
      </p:sp>
      <p:sp>
        <p:nvSpPr>
          <p:cNvPr id="223279" name="Text Box 47"/>
          <p:cNvSpPr txBox="1">
            <a:spLocks noChangeArrowheads="1"/>
          </p:cNvSpPr>
          <p:nvPr/>
        </p:nvSpPr>
        <p:spPr bwMode="auto">
          <a:xfrm>
            <a:off x="534228" y="5838167"/>
            <a:ext cx="8533572" cy="461665"/>
          </a:xfrm>
          <a:prstGeom prst="rect">
            <a:avLst/>
          </a:prstGeom>
          <a:noFill/>
          <a:ln w="12700" cap="sq">
            <a:solidFill>
              <a:schemeClr val="tx1"/>
            </a:solidFill>
            <a:miter lim="800000"/>
            <a:headEnd type="none" w="sm" len="sm"/>
            <a:tailEnd type="none" w="sm" len="sm"/>
          </a:ln>
          <a:extLst>
            <a:ext uri="{909E8E84-426E-40dd-AFC4-6F175D3DCCD1}">
              <a14:hiddenFill xmlns:a14="http://schemas.microsoft.com/office/drawing/2010/main" xmlns="">
                <a:solidFill>
                  <a:srgbClr val="FFFFFF"/>
                </a:solidFill>
              </a14:hiddenFill>
            </a:ext>
          </a:extLst>
        </p:spPr>
        <p:txBody>
          <a:bodyPr wrap="squar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000" dirty="0">
                <a:solidFill>
                  <a:srgbClr val="010004"/>
                </a:solidFill>
                <a:latin typeface="Calibri"/>
              </a:rPr>
              <a:t>When the </a:t>
            </a:r>
            <a:r>
              <a:rPr lang="en-US" sz="2000" i="1" dirty="0">
                <a:solidFill>
                  <a:srgbClr val="010004"/>
                </a:solidFill>
                <a:latin typeface="Calibri"/>
              </a:rPr>
              <a:t>YTM &gt; Coupon</a:t>
            </a:r>
            <a:r>
              <a:rPr lang="en-US" sz="2000" dirty="0">
                <a:solidFill>
                  <a:srgbClr val="010004"/>
                </a:solidFill>
                <a:latin typeface="Calibri"/>
              </a:rPr>
              <a:t>, the bond trades at a </a:t>
            </a:r>
            <a:r>
              <a:rPr lang="en-US" sz="2000" b="1" dirty="0">
                <a:solidFill>
                  <a:srgbClr val="010004"/>
                </a:solidFill>
                <a:latin typeface="Calibri"/>
              </a:rPr>
              <a:t>discount:    Price &lt; Face</a:t>
            </a:r>
            <a:r>
              <a:rPr lang="en-US" sz="2400" dirty="0">
                <a:solidFill>
                  <a:srgbClr val="010004"/>
                </a:solidFill>
                <a:latin typeface="Calibri"/>
              </a:rPr>
              <a:t>.</a:t>
            </a:r>
          </a:p>
        </p:txBody>
      </p:sp>
      <p:sp>
        <p:nvSpPr>
          <p:cNvPr id="223280" name="Arc 48"/>
          <p:cNvSpPr>
            <a:spLocks/>
          </p:cNvSpPr>
          <p:nvPr/>
        </p:nvSpPr>
        <p:spPr bwMode="auto">
          <a:xfrm flipH="1">
            <a:off x="1295746" y="1636713"/>
            <a:ext cx="7239000" cy="2971800"/>
          </a:xfrm>
          <a:custGeom>
            <a:avLst/>
            <a:gdLst>
              <a:gd name="T0" fmla="*/ 2147483647 w 20634"/>
              <a:gd name="T1" fmla="*/ 2147483647 h 20900"/>
              <a:gd name="T2" fmla="*/ 2147483647 w 20634"/>
              <a:gd name="T3" fmla="*/ 2147483647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FF0000"/>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43056" name="Line 49"/>
          <p:cNvSpPr>
            <a:spLocks noChangeShapeType="1"/>
          </p:cNvSpPr>
          <p:nvPr/>
        </p:nvSpPr>
        <p:spPr bwMode="auto">
          <a:xfrm flipH="1">
            <a:off x="2584450" y="2743200"/>
            <a:ext cx="838200" cy="685800"/>
          </a:xfrm>
          <a:prstGeom prst="line">
            <a:avLst/>
          </a:prstGeom>
          <a:noFill/>
          <a:ln w="95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latin typeface="Calibri"/>
            </a:endParaRPr>
          </a:p>
        </p:txBody>
      </p:sp>
      <p:sp>
        <p:nvSpPr>
          <p:cNvPr id="43057" name="Line 50"/>
          <p:cNvSpPr>
            <a:spLocks noChangeShapeType="1"/>
          </p:cNvSpPr>
          <p:nvPr/>
        </p:nvSpPr>
        <p:spPr bwMode="auto">
          <a:xfrm flipH="1">
            <a:off x="5480050" y="4038600"/>
            <a:ext cx="228600" cy="381000"/>
          </a:xfrm>
          <a:prstGeom prst="line">
            <a:avLst/>
          </a:prstGeom>
          <a:noFill/>
          <a:ln w="95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latin typeface="Calibri"/>
            </a:endParaRPr>
          </a:p>
        </p:txBody>
      </p:sp>
      <p:sp>
        <p:nvSpPr>
          <p:cNvPr id="43058" name="Line 51"/>
          <p:cNvSpPr>
            <a:spLocks noChangeShapeType="1"/>
          </p:cNvSpPr>
          <p:nvPr/>
        </p:nvSpPr>
        <p:spPr bwMode="auto">
          <a:xfrm flipV="1">
            <a:off x="6242050" y="4648200"/>
            <a:ext cx="228600" cy="1219200"/>
          </a:xfrm>
          <a:prstGeom prst="line">
            <a:avLst/>
          </a:prstGeom>
          <a:noFill/>
          <a:ln w="95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latin typeface="Calibri"/>
            </a:endParaRPr>
          </a:p>
        </p:txBody>
      </p:sp>
      <p:sp>
        <p:nvSpPr>
          <p:cNvPr id="3" name="Slide Number Placeholder 2">
            <a:extLst>
              <a:ext uri="{FF2B5EF4-FFF2-40B4-BE49-F238E27FC236}">
                <a16:creationId xmlns:a16="http://schemas.microsoft.com/office/drawing/2014/main" id="{F1605E3B-D97E-0041-84EA-3F15CE93A9ED}"/>
              </a:ext>
            </a:extLst>
          </p:cNvPr>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Tree>
    <p:extLst>
      <p:ext uri="{BB962C8B-B14F-4D97-AF65-F5344CB8AC3E}">
        <p14:creationId xmlns:p14="http://schemas.microsoft.com/office/powerpoint/2010/main" val="1837747835"/>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23280"/>
                                        </p:tgtEl>
                                        <p:attrNameLst>
                                          <p:attrName>style.visibility</p:attrName>
                                        </p:attrNameLst>
                                      </p:cBhvr>
                                      <p:to>
                                        <p:strVal val="visible"/>
                                      </p:to>
                                    </p:set>
                                    <p:animEffect transition="in" filter="wipe(up)">
                                      <p:cBhvr>
                                        <p:cTn id="7" dur="500"/>
                                        <p:tgtEl>
                                          <p:spTgt spid="223280"/>
                                        </p:tgtEl>
                                      </p:cBhvr>
                                    </p:animEffect>
                                  </p:childTnLst>
                                </p:cTn>
                              </p:par>
                            </p:childTnLst>
                          </p:cTn>
                        </p:par>
                        <p:par>
                          <p:cTn id="8" fill="hold" nodeType="afterGroup">
                            <p:stCondLst>
                              <p:cond delay="500"/>
                            </p:stCondLst>
                            <p:childTnLst>
                              <p:par>
                                <p:cTn id="9" presetID="22" presetClass="entr" presetSubtype="4"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down)">
                                      <p:cBhvr>
                                        <p:cTn id="11" dur="500"/>
                                        <p:tgtEl>
                                          <p:spTgt spid="2"/>
                                        </p:tgtEl>
                                      </p:cBhvr>
                                    </p:animEffect>
                                  </p:childTnLst>
                                </p:cTn>
                              </p:par>
                            </p:childTnLst>
                          </p:cTn>
                        </p:par>
                        <p:par>
                          <p:cTn id="12" fill="hold" nodeType="afterGroup">
                            <p:stCondLst>
                              <p:cond delay="1000"/>
                            </p:stCondLst>
                            <p:childTnLst>
                              <p:par>
                                <p:cTn id="13" presetID="22" presetClass="entr" presetSubtype="2" fill="hold" grpId="0" nodeType="afterEffect">
                                  <p:stCondLst>
                                    <p:cond delay="0"/>
                                  </p:stCondLst>
                                  <p:childTnLst>
                                    <p:set>
                                      <p:cBhvr>
                                        <p:cTn id="14" dur="1" fill="hold">
                                          <p:stCondLst>
                                            <p:cond delay="0"/>
                                          </p:stCondLst>
                                        </p:cTn>
                                        <p:tgtEl>
                                          <p:spTgt spid="223273"/>
                                        </p:tgtEl>
                                        <p:attrNameLst>
                                          <p:attrName>style.visibility</p:attrName>
                                        </p:attrNameLst>
                                      </p:cBhvr>
                                      <p:to>
                                        <p:strVal val="visible"/>
                                      </p:to>
                                    </p:set>
                                    <p:animEffect transition="in" filter="wipe(right)">
                                      <p:cBhvr>
                                        <p:cTn id="15" dur="500"/>
                                        <p:tgtEl>
                                          <p:spTgt spid="223273"/>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223277"/>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4305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223278"/>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4305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23279"/>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430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3273" grpId="0" animBg="1"/>
      <p:bldP spid="223277" grpId="0" animBg="1"/>
      <p:bldP spid="223278" grpId="0" animBg="1"/>
      <p:bldP spid="223279" grpId="0" animBg="1"/>
      <p:bldP spid="223280" grpId="0" animBg="1"/>
      <p:bldP spid="43056" grpId="0" animBg="1"/>
      <p:bldP spid="43057" grpId="0" animBg="1"/>
      <p:bldP spid="43058"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Changes in Bond Price when YTM Changes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pic>
        <p:nvPicPr>
          <p:cNvPr id="6" name="Picture 2" descr="Reproduced Figure 16.1 from the text. Percentage change in bond price is on the vertical axis and change in yield to maturity (percent) is on the horizontal. Curve A slopes less steeply than curve B, which is less than C, which is less than D. All cross at (0, 0). "/>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384048" y="762000"/>
            <a:ext cx="8458199" cy="54863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006290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6" name="Rectangle 3"/>
          <p:cNvSpPr>
            <a:spLocks noGrp="1" noChangeArrowheads="1"/>
          </p:cNvSpPr>
          <p:nvPr>
            <p:ph idx="1"/>
          </p:nvPr>
        </p:nvSpPr>
        <p:spPr/>
        <p:txBody>
          <a:bodyPr/>
          <a:lstStyle/>
          <a:p>
            <a:pPr>
              <a:buFontTx/>
              <a:buNone/>
            </a:pPr>
            <a:r>
              <a:rPr lang="en-US">
                <a:ea typeface="ＭＳ Ｐゴシック" charset="0"/>
                <a:cs typeface="ＭＳ Ｐゴシック" charset="0"/>
              </a:rPr>
              <a:t> </a:t>
            </a:r>
          </a:p>
        </p:txBody>
      </p:sp>
      <p:sp>
        <p:nvSpPr>
          <p:cNvPr id="44035" name="Rectangle 2"/>
          <p:cNvSpPr>
            <a:spLocks noGrp="1" noChangeArrowheads="1"/>
          </p:cNvSpPr>
          <p:nvPr>
            <p:ph type="title"/>
          </p:nvPr>
        </p:nvSpPr>
        <p:spPr/>
        <p:txBody>
          <a:bodyPr/>
          <a:lstStyle/>
          <a:p>
            <a:r>
              <a:rPr lang="en-US" b="1" dirty="0">
                <a:ea typeface="ＭＳ Ｐゴシック" charset="0"/>
                <a:cs typeface="ＭＳ Ｐゴシック" charset="0"/>
              </a:rPr>
              <a:t>Interest Rate Risk</a:t>
            </a:r>
          </a:p>
        </p:txBody>
      </p:sp>
      <p:sp>
        <p:nvSpPr>
          <p:cNvPr id="44068" name="Footer Placeholder 6"/>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25284" name="Group 4"/>
          <p:cNvGraphicFramePr>
            <a:graphicFrameLocks noGrp="1"/>
          </p:cNvGraphicFramePr>
          <p:nvPr>
            <p:extLst>
              <p:ext uri="{D42A27DB-BD31-4B8C-83A1-F6EECF244321}">
                <p14:modId xmlns:p14="http://schemas.microsoft.com/office/powerpoint/2010/main" val="1113568886"/>
              </p:ext>
            </p:extLst>
          </p:nvPr>
        </p:nvGraphicFramePr>
        <p:xfrm>
          <a:off x="533400" y="2590802"/>
          <a:ext cx="7696200" cy="3016453"/>
        </p:xfrm>
        <a:graphic>
          <a:graphicData uri="http://schemas.openxmlformats.org/drawingml/2006/table">
            <a:tbl>
              <a:tblPr/>
              <a:tblGrid>
                <a:gridCol w="1905000">
                  <a:extLst>
                    <a:ext uri="{9D8B030D-6E8A-4147-A177-3AD203B41FA5}">
                      <a16:colId xmlns:a16="http://schemas.microsoft.com/office/drawing/2014/main" val="20000"/>
                    </a:ext>
                  </a:extLst>
                </a:gridCol>
                <a:gridCol w="1173163">
                  <a:extLst>
                    <a:ext uri="{9D8B030D-6E8A-4147-A177-3AD203B41FA5}">
                      <a16:colId xmlns:a16="http://schemas.microsoft.com/office/drawing/2014/main" val="20001"/>
                    </a:ext>
                  </a:extLst>
                </a:gridCol>
                <a:gridCol w="1539875">
                  <a:extLst>
                    <a:ext uri="{9D8B030D-6E8A-4147-A177-3AD203B41FA5}">
                      <a16:colId xmlns:a16="http://schemas.microsoft.com/office/drawing/2014/main" val="20002"/>
                    </a:ext>
                  </a:extLst>
                </a:gridCol>
                <a:gridCol w="1538287">
                  <a:extLst>
                    <a:ext uri="{9D8B030D-6E8A-4147-A177-3AD203B41FA5}">
                      <a16:colId xmlns:a16="http://schemas.microsoft.com/office/drawing/2014/main" val="20003"/>
                    </a:ext>
                  </a:extLst>
                </a:gridCol>
                <a:gridCol w="1539875">
                  <a:extLst>
                    <a:ext uri="{9D8B030D-6E8A-4147-A177-3AD203B41FA5}">
                      <a16:colId xmlns:a16="http://schemas.microsoft.com/office/drawing/2014/main" val="20004"/>
                    </a:ext>
                  </a:extLst>
                </a:gridCol>
              </a:tblGrid>
              <a:tr h="53485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400" b="0" i="0" u="none" strike="noStrike" cap="none" normalizeH="0" baseline="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YTM</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en-US"/>
                    </a:p>
                  </a:txBody>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400" b="0" i="0" u="none" strike="noStrike" cap="none" normalizeH="0" baseline="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400" b="0" i="0" u="none" strike="noStrike" cap="none" normalizeH="0" baseline="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89588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Bond</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tx1"/>
                          </a:solidFill>
                          <a:effectLst/>
                          <a:latin typeface="Calibri"/>
                          <a:ea typeface="ＭＳ Ｐゴシック" charset="-128"/>
                        </a:rPr>
                        <a:t>5%</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tx1"/>
                          </a:solidFill>
                          <a:effectLst/>
                          <a:latin typeface="Calibri"/>
                          <a:ea typeface="ＭＳ Ｐゴシック" charset="-128"/>
                        </a:rPr>
                        <a:t>(T</a:t>
                      </a:r>
                      <a:r>
                        <a:rPr kumimoji="0" lang="en-US" sz="1800" b="1" i="0" u="none" strike="noStrike" cap="none" normalizeH="0" baseline="-25000" dirty="0">
                          <a:ln>
                            <a:noFill/>
                          </a:ln>
                          <a:solidFill>
                            <a:schemeClr val="tx1"/>
                          </a:solidFill>
                          <a:effectLst/>
                          <a:latin typeface="Calibri"/>
                          <a:ea typeface="ＭＳ Ｐゴシック" charset="-128"/>
                        </a:rPr>
                        <a:t>0</a:t>
                      </a:r>
                      <a:r>
                        <a:rPr kumimoji="0" lang="en-US" sz="1800" b="1" i="0" u="none" strike="noStrike" cap="none" normalizeH="0" baseline="0" dirty="0">
                          <a:ln>
                            <a:noFill/>
                          </a:ln>
                          <a:solidFill>
                            <a:schemeClr val="tx1"/>
                          </a:solidFill>
                          <a:effectLst/>
                          <a:latin typeface="Calibri"/>
                          <a:ea typeface="ＭＳ Ｐゴシック" charset="-128"/>
                        </a:rPr>
                        <a:t>)</a:t>
                      </a:r>
                      <a:endParaRPr kumimoji="0" lang="en-US" sz="2000" b="1" i="0" u="none" strike="noStrike" cap="none" normalizeH="0" baseline="0" dirty="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tx1"/>
                          </a:solidFill>
                          <a:effectLst/>
                          <a:latin typeface="Calibri"/>
                          <a:ea typeface="ＭＳ Ｐゴシック" charset="-128"/>
                        </a:rPr>
                        <a:t>7%</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tx1"/>
                          </a:solidFill>
                          <a:effectLst/>
                          <a:latin typeface="Calibri"/>
                          <a:ea typeface="ＭＳ Ｐゴシック" charset="-128"/>
                        </a:rPr>
                        <a:t>(T</a:t>
                      </a:r>
                      <a:r>
                        <a:rPr kumimoji="0" lang="en-US" sz="1800" b="1" i="0" u="none" strike="noStrike" cap="none" normalizeH="0" baseline="-25000" dirty="0">
                          <a:ln>
                            <a:noFill/>
                          </a:ln>
                          <a:solidFill>
                            <a:schemeClr val="tx1"/>
                          </a:solidFill>
                          <a:effectLst/>
                          <a:latin typeface="Calibri"/>
                          <a:ea typeface="ＭＳ Ｐゴシック" charset="-128"/>
                        </a:rPr>
                        <a:t>1</a:t>
                      </a:r>
                      <a:r>
                        <a:rPr kumimoji="0" lang="en-US" sz="1800" b="1" i="0" u="none" strike="noStrike" cap="none" normalizeH="0" baseline="0" dirty="0">
                          <a:ln>
                            <a:noFill/>
                          </a:ln>
                          <a:solidFill>
                            <a:schemeClr val="tx1"/>
                          </a:solidFill>
                          <a:effectLst/>
                          <a:latin typeface="Calibri"/>
                          <a:ea typeface="ＭＳ Ｐゴシック" charset="-128"/>
                        </a:rPr>
                        <a:t>)</a:t>
                      </a:r>
                      <a:endParaRPr kumimoji="0" lang="en-US" sz="2400" b="1" i="0" u="none" strike="noStrike" cap="none" normalizeH="0" baseline="0" dirty="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E273"/>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Price Change</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 Price</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Change</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extLst>
                  <a:ext uri="{0D108BD9-81ED-4DB2-BD59-A6C34878D82A}">
                    <a16:rowId xmlns:a16="http://schemas.microsoft.com/office/drawing/2014/main" val="10001"/>
                  </a:ext>
                </a:extLst>
              </a:tr>
              <a:tr h="79196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ea typeface="ＭＳ Ｐゴシック" charset="-128"/>
                        </a:rPr>
                        <a:t>1-year, 9% Ann. Coupon</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chemeClr val="tx1"/>
                          </a:solidFill>
                          <a:effectLst/>
                          <a:latin typeface="Calibri"/>
                          <a:ea typeface="ＭＳ Ｐゴシック" charset="-128"/>
                        </a:rPr>
                        <a:t>1038</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1018</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-19.30</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-1.86%</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79354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ea typeface="ＭＳ Ｐゴシック" charset="-128"/>
                        </a:rPr>
                        <a:t>5-year, 9% Ann. Coupon</a:t>
                      </a:r>
                      <a:endParaRPr kumimoji="0" lang="en-US" sz="2400" b="0" i="0" u="none" strike="noStrike" cap="none" normalizeH="0" baseline="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chemeClr val="tx1"/>
                          </a:solidFill>
                          <a:effectLst/>
                          <a:latin typeface="Calibri"/>
                          <a:ea typeface="ＭＳ Ｐゴシック" charset="-128"/>
                        </a:rPr>
                        <a:t>1173</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1082</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-90.99</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chemeClr val="tx1"/>
                          </a:solidFill>
                          <a:effectLst/>
                          <a:latin typeface="Calibri"/>
                          <a:ea typeface="ＭＳ Ｐゴシック" charset="-128"/>
                        </a:rPr>
                        <a:t>-7.76%</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2" name="TextBox 1"/>
          <p:cNvSpPr txBox="1"/>
          <p:nvPr/>
        </p:nvSpPr>
        <p:spPr>
          <a:xfrm>
            <a:off x="539578" y="939282"/>
            <a:ext cx="7696200" cy="1200328"/>
          </a:xfrm>
          <a:prstGeom prst="rect">
            <a:avLst/>
          </a:prstGeom>
          <a:noFill/>
          <a:ln>
            <a:solidFill>
              <a:schemeClr val="tx1">
                <a:alpha val="97000"/>
              </a:schemeClr>
            </a:solidFill>
          </a:ln>
        </p:spPr>
        <p:txBody>
          <a:bodyPr wrap="square" rtlCol="0">
            <a:spAutoFit/>
          </a:bodyPr>
          <a:lstStyle/>
          <a:p>
            <a:pPr marL="285750" indent="-285750">
              <a:buFont typeface="Arial"/>
              <a:buChar char="•"/>
            </a:pPr>
            <a:r>
              <a:rPr lang="en-US" sz="2400" b="1" dirty="0"/>
              <a:t>Bond 1 </a:t>
            </a:r>
            <a:r>
              <a:rPr lang="en-US" sz="2400" dirty="0"/>
              <a:t>CFs:  1090</a:t>
            </a:r>
          </a:p>
          <a:p>
            <a:pPr marL="285750" indent="-285750">
              <a:buFont typeface="Arial"/>
              <a:buChar char="•"/>
            </a:pPr>
            <a:endParaRPr lang="en-US" sz="2400" dirty="0"/>
          </a:p>
          <a:p>
            <a:pPr marL="285750" indent="-285750">
              <a:buFont typeface="Arial"/>
              <a:buChar char="•"/>
            </a:pPr>
            <a:r>
              <a:rPr lang="en-US" sz="2400" b="1" dirty="0"/>
              <a:t>Bond 2 </a:t>
            </a:r>
            <a:r>
              <a:rPr lang="en-US" sz="2400" dirty="0"/>
              <a:t>CFs:  90, 90, 90, 90, and 1090</a:t>
            </a:r>
          </a:p>
        </p:txBody>
      </p:sp>
      <p:sp>
        <p:nvSpPr>
          <p:cNvPr id="3" name="Slide Number Placeholder 2">
            <a:extLst>
              <a:ext uri="{FF2B5EF4-FFF2-40B4-BE49-F238E27FC236}">
                <a16:creationId xmlns:a16="http://schemas.microsoft.com/office/drawing/2014/main" id="{940FEDF5-F383-274B-AADD-C6EDF76B5F06}"/>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Tree>
    <p:extLst>
      <p:ext uri="{BB962C8B-B14F-4D97-AF65-F5344CB8AC3E}">
        <p14:creationId xmlns:p14="http://schemas.microsoft.com/office/powerpoint/2010/main" val="3655677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52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b="1" dirty="0">
                <a:ea typeface="ＭＳ Ｐゴシック" charset="0"/>
                <a:cs typeface="ＭＳ Ｐゴシック" charset="0"/>
              </a:rPr>
              <a:t>Interest Rate Risk: Duration</a:t>
            </a:r>
          </a:p>
        </p:txBody>
      </p:sp>
      <p:sp>
        <p:nvSpPr>
          <p:cNvPr id="45061" name="Footer Placeholder 5"/>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pic>
        <p:nvPicPr>
          <p:cNvPr id="45059" name="Picture 4" descr="fig05_03APP"/>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90600" y="1676400"/>
            <a:ext cx="6110288" cy="44323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8C265FE4-7C5D-FF46-A762-D08C4BF9A01B}"/>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Tree>
    <p:extLst>
      <p:ext uri="{BB962C8B-B14F-4D97-AF65-F5344CB8AC3E}">
        <p14:creationId xmlns:p14="http://schemas.microsoft.com/office/powerpoint/2010/main" val="25232355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1" name="Rectangle 3"/>
          <p:cNvSpPr>
            <a:spLocks noGrp="1" noChangeArrowheads="1"/>
          </p:cNvSpPr>
          <p:nvPr>
            <p:ph idx="1"/>
          </p:nvPr>
        </p:nvSpPr>
        <p:spPr/>
        <p:txBody>
          <a:bodyPr/>
          <a:lstStyle/>
          <a:p>
            <a:pPr>
              <a:lnSpc>
                <a:spcPct val="90000"/>
              </a:lnSpc>
            </a:pPr>
            <a:r>
              <a:rPr lang="en-US" sz="2800" b="1" dirty="0">
                <a:ea typeface="ＭＳ Ｐゴシック" charset="0"/>
                <a:cs typeface="ＭＳ Ｐゴシック" charset="0"/>
              </a:rPr>
              <a:t>Macaulay Duration</a:t>
            </a:r>
            <a:r>
              <a:rPr lang="en-US" sz="2800" dirty="0">
                <a:ea typeface="ＭＳ Ｐゴシック" charset="0"/>
                <a:cs typeface="ＭＳ Ｐゴシック" charset="0"/>
              </a:rPr>
              <a:t>:  weighted average term to maturity using the </a:t>
            </a:r>
            <a:r>
              <a:rPr lang="en-US" sz="2800" b="1" i="1" dirty="0">
                <a:ea typeface="ＭＳ Ｐゴシック" charset="0"/>
                <a:cs typeface="ＭＳ Ｐゴシック" charset="0"/>
              </a:rPr>
              <a:t>present values</a:t>
            </a:r>
            <a:r>
              <a:rPr lang="en-US" sz="2800" b="1" dirty="0">
                <a:ea typeface="ＭＳ Ｐゴシック" charset="0"/>
                <a:cs typeface="ＭＳ Ｐゴシック" charset="0"/>
              </a:rPr>
              <a:t> </a:t>
            </a:r>
            <a:r>
              <a:rPr lang="en-US" sz="2800" dirty="0">
                <a:ea typeface="ＭＳ Ｐゴシック" charset="0"/>
                <a:cs typeface="ＭＳ Ｐゴシック" charset="0"/>
              </a:rPr>
              <a:t>of a bond’s CFs</a:t>
            </a:r>
          </a:p>
          <a:p>
            <a:pPr>
              <a:lnSpc>
                <a:spcPct val="90000"/>
              </a:lnSpc>
            </a:pPr>
            <a:endParaRPr lang="en-US" sz="2800" dirty="0">
              <a:ea typeface="ＭＳ Ｐゴシック" charset="0"/>
              <a:cs typeface="ＭＳ Ｐゴシック" charset="0"/>
            </a:endParaRPr>
          </a:p>
          <a:p>
            <a:pPr>
              <a:lnSpc>
                <a:spcPct val="90000"/>
              </a:lnSpc>
            </a:pPr>
            <a:endParaRPr lang="en-US" sz="2800" dirty="0">
              <a:ea typeface="ＭＳ Ｐゴシック" charset="0"/>
              <a:cs typeface="ＭＳ Ｐゴシック" charset="0"/>
            </a:endParaRPr>
          </a:p>
          <a:p>
            <a:pPr>
              <a:lnSpc>
                <a:spcPct val="90000"/>
              </a:lnSpc>
            </a:pPr>
            <a:endParaRPr lang="en-US" sz="2800" dirty="0">
              <a:ea typeface="ＭＳ Ｐゴシック" charset="0"/>
              <a:cs typeface="ＭＳ Ｐゴシック" charset="0"/>
            </a:endParaRPr>
          </a:p>
          <a:p>
            <a:pPr>
              <a:lnSpc>
                <a:spcPct val="90000"/>
              </a:lnSpc>
            </a:pPr>
            <a:r>
              <a:rPr lang="en-US" sz="2800" dirty="0">
                <a:ea typeface="ＭＳ Ｐゴシック" charset="0"/>
                <a:cs typeface="ＭＳ Ｐゴシック" charset="0"/>
              </a:rPr>
              <a:t> </a:t>
            </a:r>
            <a:endParaRPr lang="en-US" dirty="0">
              <a:ea typeface="ＭＳ Ｐゴシック" charset="0"/>
              <a:cs typeface="ＭＳ Ｐゴシック" charset="0"/>
            </a:endParaRPr>
          </a:p>
          <a:p>
            <a:pPr>
              <a:lnSpc>
                <a:spcPct val="90000"/>
              </a:lnSpc>
            </a:pPr>
            <a:endParaRPr lang="en-US" dirty="0">
              <a:ea typeface="ＭＳ Ｐゴシック" charset="0"/>
              <a:cs typeface="ＭＳ Ｐゴシック" charset="0"/>
            </a:endParaRPr>
          </a:p>
          <a:p>
            <a:pPr>
              <a:lnSpc>
                <a:spcPct val="90000"/>
              </a:lnSpc>
            </a:pPr>
            <a:endParaRPr lang="en-US" dirty="0">
              <a:ea typeface="ＭＳ Ｐゴシック" charset="0"/>
              <a:cs typeface="ＭＳ Ｐゴシック" charset="0"/>
            </a:endParaRPr>
          </a:p>
        </p:txBody>
      </p:sp>
      <p:sp>
        <p:nvSpPr>
          <p:cNvPr id="227330" name="Rectangle 2"/>
          <p:cNvSpPr>
            <a:spLocks noGrp="1" noChangeArrowheads="1"/>
          </p:cNvSpPr>
          <p:nvPr>
            <p:ph type="title"/>
          </p:nvPr>
        </p:nvSpPr>
        <p:spPr/>
        <p:txBody>
          <a:bodyPr/>
          <a:lstStyle/>
          <a:p>
            <a:r>
              <a:rPr lang="en-US" b="1" dirty="0">
                <a:ea typeface="ＭＳ Ｐゴシック" charset="0"/>
                <a:cs typeface="ＭＳ Ｐゴシック" charset="0"/>
              </a:rPr>
              <a:t>Interest Rate Risk: Duration	</a:t>
            </a:r>
          </a:p>
        </p:txBody>
      </p:sp>
      <p:sp>
        <p:nvSpPr>
          <p:cNvPr id="18438" name="Footer Placeholder 6"/>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27332" name="Object 2"/>
          <p:cNvGraphicFramePr>
            <a:graphicFrameLocks noChangeAspect="1"/>
          </p:cNvGraphicFramePr>
          <p:nvPr>
            <p:extLst>
              <p:ext uri="{D42A27DB-BD31-4B8C-83A1-F6EECF244321}">
                <p14:modId xmlns:p14="http://schemas.microsoft.com/office/powerpoint/2010/main" val="1130394900"/>
              </p:ext>
            </p:extLst>
          </p:nvPr>
        </p:nvGraphicFramePr>
        <p:xfrm>
          <a:off x="651479" y="2613932"/>
          <a:ext cx="8221663" cy="825500"/>
        </p:xfrm>
        <a:graphic>
          <a:graphicData uri="http://schemas.openxmlformats.org/presentationml/2006/ole">
            <mc:AlternateContent xmlns:mc="http://schemas.openxmlformats.org/markup-compatibility/2006">
              <mc:Choice xmlns:v="urn:schemas-microsoft-com:vml" Requires="v">
                <p:oleObj name="Equation" r:id="rId3" imgW="3986280" imgH="356400" progId="Equation.3">
                  <p:embed/>
                </p:oleObj>
              </mc:Choice>
              <mc:Fallback>
                <p:oleObj name="Equation" r:id="rId3" imgW="3986280" imgH="356400" progId="Equation.3">
                  <p:embed/>
                  <p:pic>
                    <p:nvPicPr>
                      <p:cNvPr id="227332"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1479" y="2613932"/>
                        <a:ext cx="8221663" cy="825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Slide Number Placeholder 1">
            <a:extLst>
              <a:ext uri="{FF2B5EF4-FFF2-40B4-BE49-F238E27FC236}">
                <a16:creationId xmlns:a16="http://schemas.microsoft.com/office/drawing/2014/main" id="{1EB589C6-25BD-E24E-BDDB-C0A858A6DC27}"/>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Tree>
    <p:extLst>
      <p:ext uri="{BB962C8B-B14F-4D97-AF65-F5344CB8AC3E}">
        <p14:creationId xmlns:p14="http://schemas.microsoft.com/office/powerpoint/2010/main" val="1615646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73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7331">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7331">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73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7331" grpId="0" uiExpand="1" build="p"/>
      <p:bldP spid="22733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458" name="Object 2"/>
          <p:cNvGraphicFramePr>
            <a:graphicFrameLocks noGrp="1" noChangeAspect="1"/>
          </p:cNvGraphicFramePr>
          <p:nvPr>
            <p:ph idx="1"/>
            <p:extLst>
              <p:ext uri="{D42A27DB-BD31-4B8C-83A1-F6EECF244321}">
                <p14:modId xmlns:p14="http://schemas.microsoft.com/office/powerpoint/2010/main" val="1717196738"/>
              </p:ext>
            </p:extLst>
          </p:nvPr>
        </p:nvGraphicFramePr>
        <p:xfrm>
          <a:off x="685800" y="914400"/>
          <a:ext cx="7848600" cy="2286000"/>
        </p:xfrm>
        <a:graphic>
          <a:graphicData uri="http://schemas.openxmlformats.org/presentationml/2006/ole">
            <mc:AlternateContent xmlns:mc="http://schemas.openxmlformats.org/markup-compatibility/2006">
              <mc:Choice xmlns:v="urn:schemas-microsoft-com:vml" Requires="v">
                <p:oleObj name="Worksheet" r:id="rId3" imgW="4991100" imgH="1460500" progId="Excel.Sheet.8">
                  <p:embed/>
                </p:oleObj>
              </mc:Choice>
              <mc:Fallback>
                <p:oleObj name="Worksheet" r:id="rId3" imgW="4991100" imgH="1460500" progId="Excel.Sheet.8">
                  <p:embed/>
                  <p:pic>
                    <p:nvPicPr>
                      <p:cNvPr id="19458" name="Object 2"/>
                      <p:cNvPicPr>
                        <a:picLocks noGrp="1" noChangeAspect="1" noChangeArrowheads="1"/>
                      </p:cNvPicPr>
                      <p:nvPr/>
                    </p:nvPicPr>
                    <p:blipFill>
                      <a:blip r:embed="rId4"/>
                      <a:srcRect/>
                      <a:stretch>
                        <a:fillRect/>
                      </a:stretch>
                    </p:blipFill>
                    <p:spPr bwMode="auto">
                      <a:xfrm>
                        <a:off x="685800" y="914400"/>
                        <a:ext cx="7848600" cy="2286000"/>
                      </a:xfrm>
                      <a:prstGeom prst="rect">
                        <a:avLst/>
                      </a:prstGeom>
                      <a:noFill/>
                      <a:effectLst/>
                    </p:spPr>
                  </p:pic>
                </p:oleObj>
              </mc:Fallback>
            </mc:AlternateContent>
          </a:graphicData>
        </a:graphic>
      </p:graphicFrame>
      <p:sp>
        <p:nvSpPr>
          <p:cNvPr id="19460" name="Rectangle 2"/>
          <p:cNvSpPr>
            <a:spLocks noGrp="1" noChangeArrowheads="1"/>
          </p:cNvSpPr>
          <p:nvPr>
            <p:ph type="title"/>
          </p:nvPr>
        </p:nvSpPr>
        <p:spPr/>
        <p:txBody>
          <a:bodyPr/>
          <a:lstStyle/>
          <a:p>
            <a:r>
              <a:rPr lang="en-US" b="1" dirty="0">
                <a:ea typeface="ＭＳ Ｐゴシック" charset="0"/>
                <a:cs typeface="ＭＳ Ｐゴシック" charset="0"/>
              </a:rPr>
              <a:t>Macaulay and Modified Duration Example</a:t>
            </a:r>
          </a:p>
        </p:txBody>
      </p:sp>
      <p:sp>
        <p:nvSpPr>
          <p:cNvPr id="19461" name="Footer Placeholder 5"/>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4" name="Object 3"/>
          <p:cNvGraphicFramePr>
            <a:graphicFrameLocks noChangeAspect="1"/>
          </p:cNvGraphicFramePr>
          <p:nvPr>
            <p:extLst>
              <p:ext uri="{D42A27DB-BD31-4B8C-83A1-F6EECF244321}">
                <p14:modId xmlns:p14="http://schemas.microsoft.com/office/powerpoint/2010/main" val="760754976"/>
              </p:ext>
            </p:extLst>
          </p:nvPr>
        </p:nvGraphicFramePr>
        <p:xfrm>
          <a:off x="424249" y="3962400"/>
          <a:ext cx="4114800" cy="2057401"/>
        </p:xfrm>
        <a:graphic>
          <a:graphicData uri="http://schemas.openxmlformats.org/presentationml/2006/ole">
            <mc:AlternateContent xmlns:mc="http://schemas.openxmlformats.org/markup-compatibility/2006">
              <mc:Choice xmlns:v="urn:schemas-microsoft-com:vml" Requires="v">
                <p:oleObj name="Worksheet" r:id="rId5" imgW="7175500" imgH="1955800" progId="Excel.Sheet.12">
                  <p:embed/>
                </p:oleObj>
              </mc:Choice>
              <mc:Fallback>
                <p:oleObj name="Worksheet" r:id="rId5" imgW="7175500" imgH="1955800" progId="Excel.Sheet.12">
                  <p:embed/>
                  <p:pic>
                    <p:nvPicPr>
                      <p:cNvPr id="4" name="Object 3"/>
                      <p:cNvPicPr/>
                      <p:nvPr/>
                    </p:nvPicPr>
                    <p:blipFill>
                      <a:blip r:embed="rId6"/>
                      <a:stretch>
                        <a:fillRect/>
                      </a:stretch>
                    </p:blipFill>
                    <p:spPr>
                      <a:xfrm>
                        <a:off x="424249" y="3962400"/>
                        <a:ext cx="4114800" cy="2057401"/>
                      </a:xfrm>
                      <a:prstGeom prst="rect">
                        <a:avLst/>
                      </a:prstGeom>
                    </p:spPr>
                  </p:pic>
                </p:oleObj>
              </mc:Fallback>
            </mc:AlternateContent>
          </a:graphicData>
        </a:graphic>
      </p:graphicFrame>
      <p:cxnSp>
        <p:nvCxnSpPr>
          <p:cNvPr id="6" name="Straight Connector 5"/>
          <p:cNvCxnSpPr/>
          <p:nvPr/>
        </p:nvCxnSpPr>
        <p:spPr>
          <a:xfrm>
            <a:off x="228600" y="3768536"/>
            <a:ext cx="8839200"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3886200" y="3962398"/>
            <a:ext cx="0" cy="2209802"/>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7" name="Object 6"/>
          <p:cNvGraphicFramePr>
            <a:graphicFrameLocks noChangeAspect="1"/>
          </p:cNvGraphicFramePr>
          <p:nvPr>
            <p:extLst>
              <p:ext uri="{D42A27DB-BD31-4B8C-83A1-F6EECF244321}">
                <p14:modId xmlns:p14="http://schemas.microsoft.com/office/powerpoint/2010/main" val="518047431"/>
              </p:ext>
            </p:extLst>
          </p:nvPr>
        </p:nvGraphicFramePr>
        <p:xfrm>
          <a:off x="4422648" y="4038827"/>
          <a:ext cx="4264152" cy="1864143"/>
        </p:xfrm>
        <a:graphic>
          <a:graphicData uri="http://schemas.openxmlformats.org/presentationml/2006/ole">
            <mc:AlternateContent xmlns:mc="http://schemas.openxmlformats.org/markup-compatibility/2006">
              <mc:Choice xmlns:v="urn:schemas-microsoft-com:vml" Requires="v">
                <p:oleObj name="Worksheet" r:id="rId7" imgW="4191000" imgH="1435100" progId="Excel.Sheet.12">
                  <p:embed/>
                </p:oleObj>
              </mc:Choice>
              <mc:Fallback>
                <p:oleObj name="Worksheet" r:id="rId7" imgW="4191000" imgH="1435100" progId="Excel.Sheet.12">
                  <p:embed/>
                  <p:pic>
                    <p:nvPicPr>
                      <p:cNvPr id="7" name="Object 6"/>
                      <p:cNvPicPr/>
                      <p:nvPr/>
                    </p:nvPicPr>
                    <p:blipFill>
                      <a:blip r:embed="rId8"/>
                      <a:stretch>
                        <a:fillRect/>
                      </a:stretch>
                    </p:blipFill>
                    <p:spPr>
                      <a:xfrm>
                        <a:off x="4422648" y="4038827"/>
                        <a:ext cx="4264152" cy="1864143"/>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CC1DCB7B-CD91-844C-9EAE-95F6619AAA3F}"/>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Tree>
    <p:extLst>
      <p:ext uri="{BB962C8B-B14F-4D97-AF65-F5344CB8AC3E}">
        <p14:creationId xmlns:p14="http://schemas.microsoft.com/office/powerpoint/2010/main" val="819991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idx="1"/>
          </p:nvPr>
        </p:nvSpPr>
        <p:spPr>
          <a:xfrm>
            <a:off x="152400" y="533400"/>
            <a:ext cx="8689848" cy="5812064"/>
          </a:xfrm>
        </p:spPr>
        <p:txBody>
          <a:bodyPr/>
          <a:lstStyle/>
          <a:p>
            <a:pPr>
              <a:lnSpc>
                <a:spcPct val="90000"/>
              </a:lnSpc>
            </a:pPr>
            <a:r>
              <a:rPr lang="en-US" b="1" u="sng" dirty="0">
                <a:ea typeface="ＭＳ Ｐゴシック" charset="0"/>
                <a:cs typeface="ＭＳ Ｐゴシック" charset="0"/>
              </a:rPr>
              <a:t>Modified Duration</a:t>
            </a:r>
            <a:r>
              <a:rPr lang="en-US" dirty="0">
                <a:ea typeface="ＭＳ Ｐゴシック" charset="0"/>
                <a:cs typeface="ＭＳ Ｐゴシック" charset="0"/>
              </a:rPr>
              <a:t> (volatility):  </a:t>
            </a:r>
          </a:p>
          <a:p>
            <a:pPr lvl="1">
              <a:lnSpc>
                <a:spcPct val="90000"/>
              </a:lnSpc>
            </a:pPr>
            <a:r>
              <a:rPr lang="en-US" sz="2400" dirty="0">
                <a:ea typeface="ＭＳ Ｐゴシック" charset="0"/>
                <a:cs typeface="ＭＳ Ｐゴシック" charset="0"/>
              </a:rPr>
              <a:t>Modified Duration = Mac. Duration/(1+YTM)</a:t>
            </a:r>
          </a:p>
          <a:p>
            <a:pPr lvl="1">
              <a:lnSpc>
                <a:spcPct val="90000"/>
              </a:lnSpc>
            </a:pPr>
            <a:r>
              <a:rPr lang="en-US" sz="2400" dirty="0">
                <a:ea typeface="ＭＳ Ｐゴシック" charset="0"/>
                <a:cs typeface="ＭＳ Ｐゴシック" charset="0"/>
              </a:rPr>
              <a:t>∆ Bond Price ≈ -Modified Duration *Bond Price* ∆</a:t>
            </a:r>
            <a:r>
              <a:rPr lang="en-US" sz="2400" dirty="0" err="1">
                <a:ea typeface="ＭＳ Ｐゴシック" charset="0"/>
                <a:cs typeface="ＭＳ Ｐゴシック" charset="0"/>
              </a:rPr>
              <a:t>YTM</a:t>
            </a:r>
            <a:endParaRPr lang="en-US" sz="2400" dirty="0">
              <a:ea typeface="ＭＳ Ｐゴシック" charset="0"/>
              <a:cs typeface="ＭＳ Ｐゴシック" charset="0"/>
            </a:endParaRPr>
          </a:p>
          <a:p>
            <a:pPr lvl="1">
              <a:lnSpc>
                <a:spcPct val="90000"/>
              </a:lnSpc>
            </a:pPr>
            <a:r>
              <a:rPr lang="en-US" sz="2400" b="1" dirty="0">
                <a:solidFill>
                  <a:schemeClr val="accent1">
                    <a:lumMod val="75000"/>
                  </a:schemeClr>
                </a:solidFill>
                <a:ea typeface="ＭＳ Ｐゴシック" charset="0"/>
                <a:cs typeface="ＭＳ Ｐゴシック" charset="0"/>
              </a:rPr>
              <a:t>% ∆ Bond Price ≈ -Modified Duration * ∆</a:t>
            </a:r>
            <a:r>
              <a:rPr lang="en-US" sz="2400" b="1" dirty="0" err="1">
                <a:solidFill>
                  <a:schemeClr val="accent1">
                    <a:lumMod val="75000"/>
                  </a:schemeClr>
                </a:solidFill>
                <a:ea typeface="ＭＳ Ｐゴシック" charset="0"/>
                <a:cs typeface="ＭＳ Ｐゴシック" charset="0"/>
              </a:rPr>
              <a:t>YTM</a:t>
            </a:r>
            <a:endParaRPr lang="en-US" sz="2400" b="1" dirty="0">
              <a:solidFill>
                <a:schemeClr val="accent1">
                  <a:lumMod val="75000"/>
                </a:schemeClr>
              </a:solidFill>
              <a:ea typeface="ＭＳ Ｐゴシック" charset="0"/>
              <a:cs typeface="ＭＳ Ｐゴシック" charset="0"/>
            </a:endParaRPr>
          </a:p>
          <a:p>
            <a:pPr algn="ctr">
              <a:buFontTx/>
              <a:buNone/>
            </a:pPr>
            <a:r>
              <a:rPr lang="en-US" b="1" u="sng" dirty="0">
                <a:ea typeface="ＭＳ Ｐゴシック" charset="0"/>
                <a:cs typeface="ＭＳ Ｐゴシック" charset="0"/>
              </a:rPr>
              <a:t>Example</a:t>
            </a:r>
            <a:endParaRPr lang="en-US" sz="2000" b="1" u="sng" dirty="0">
              <a:ea typeface="ＭＳ Ｐゴシック" charset="0"/>
              <a:cs typeface="ＭＳ Ｐゴシック" charset="0"/>
            </a:endParaRPr>
          </a:p>
          <a:p>
            <a:pPr>
              <a:buFontTx/>
              <a:buNone/>
            </a:pPr>
            <a:r>
              <a:rPr lang="en-US" dirty="0">
                <a:ea typeface="ＭＳ Ｐゴシック" charset="0"/>
                <a:cs typeface="ＭＳ Ｐゴシック" charset="0"/>
              </a:rPr>
              <a:t>	By how much does our 9%, 5-year bond change in price if the </a:t>
            </a:r>
            <a:r>
              <a:rPr lang="en-US" dirty="0" err="1">
                <a:ea typeface="ＭＳ Ｐゴシック" charset="0"/>
                <a:cs typeface="ＭＳ Ｐゴシック" charset="0"/>
              </a:rPr>
              <a:t>YTM</a:t>
            </a:r>
            <a:r>
              <a:rPr lang="en-US" dirty="0">
                <a:ea typeface="ＭＳ Ｐゴシック" charset="0"/>
                <a:cs typeface="ＭＳ Ｐゴシック" charset="0"/>
              </a:rPr>
              <a:t> rises or falls 50 bps?  How accurate is the modified duration formula? (Mod dur = 4.098 yrs)</a:t>
            </a:r>
          </a:p>
        </p:txBody>
      </p:sp>
      <p:sp>
        <p:nvSpPr>
          <p:cNvPr id="46083" name="Rectangle 2"/>
          <p:cNvSpPr>
            <a:spLocks noGrp="1" noChangeArrowheads="1"/>
          </p:cNvSpPr>
          <p:nvPr>
            <p:ph type="title"/>
          </p:nvPr>
        </p:nvSpPr>
        <p:spPr/>
        <p:txBody>
          <a:bodyPr/>
          <a:lstStyle/>
          <a:p>
            <a:r>
              <a:rPr lang="en-US" b="1" dirty="0">
                <a:ea typeface="ＭＳ Ｐゴシック" charset="0"/>
                <a:cs typeface="ＭＳ Ｐゴシック" charset="0"/>
              </a:rPr>
              <a:t>Modified Duration: Duration and Price Changes</a:t>
            </a:r>
          </a:p>
        </p:txBody>
      </p:sp>
      <p:sp>
        <p:nvSpPr>
          <p:cNvPr id="46123" name="Footer Placeholder 7"/>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31428" name="Group 4"/>
          <p:cNvGraphicFramePr>
            <a:graphicFrameLocks noGrp="1"/>
          </p:cNvGraphicFramePr>
          <p:nvPr>
            <p:extLst>
              <p:ext uri="{D42A27DB-BD31-4B8C-83A1-F6EECF244321}">
                <p14:modId xmlns:p14="http://schemas.microsoft.com/office/powerpoint/2010/main" val="2070872349"/>
              </p:ext>
            </p:extLst>
          </p:nvPr>
        </p:nvGraphicFramePr>
        <p:xfrm>
          <a:off x="273050" y="3807611"/>
          <a:ext cx="8642350" cy="1973105"/>
        </p:xfrm>
        <a:graphic>
          <a:graphicData uri="http://schemas.openxmlformats.org/drawingml/2006/table">
            <a:tbl>
              <a:tblPr/>
              <a:tblGrid>
                <a:gridCol w="1250950">
                  <a:extLst>
                    <a:ext uri="{9D8B030D-6E8A-4147-A177-3AD203B41FA5}">
                      <a16:colId xmlns:a16="http://schemas.microsoft.com/office/drawing/2014/main" val="20000"/>
                    </a:ext>
                  </a:extLst>
                </a:gridCol>
                <a:gridCol w="12954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gridCol w="1684338">
                  <a:extLst>
                    <a:ext uri="{9D8B030D-6E8A-4147-A177-3AD203B41FA5}">
                      <a16:colId xmlns:a16="http://schemas.microsoft.com/office/drawing/2014/main" val="20004"/>
                    </a:ext>
                  </a:extLst>
                </a:gridCol>
                <a:gridCol w="1439862">
                  <a:extLst>
                    <a:ext uri="{9D8B030D-6E8A-4147-A177-3AD203B41FA5}">
                      <a16:colId xmlns:a16="http://schemas.microsoft.com/office/drawing/2014/main" val="20005"/>
                    </a:ext>
                  </a:extLst>
                </a:gridCol>
              </a:tblGrid>
              <a:tr h="78438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Bond </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err="1">
                          <a:ln>
                            <a:noFill/>
                          </a:ln>
                          <a:solidFill>
                            <a:schemeClr val="tx1"/>
                          </a:solidFill>
                          <a:effectLst/>
                          <a:latin typeface="Calibri"/>
                        </a:rPr>
                        <a:t>YTM</a:t>
                      </a:r>
                      <a:endParaRPr kumimoji="0" lang="en-US" sz="1400" b="1" i="0" u="none" strike="noStrike" cap="none" normalizeH="0" baseline="0" dirty="0">
                        <a:ln>
                          <a:noFill/>
                        </a:ln>
                        <a:solidFill>
                          <a:schemeClr val="tx1"/>
                        </a:solidFill>
                        <a:effectLst/>
                        <a:latin typeface="Calibri"/>
                      </a:endParaRP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Price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Price Change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 Actual Price Change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Predicted</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Price Change using Mod. Duration</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Mod. Duration Predicted % Change</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extLst>
                  <a:ext uri="{0D108BD9-81ED-4DB2-BD59-A6C34878D82A}">
                    <a16:rowId xmlns:a16="http://schemas.microsoft.com/office/drawing/2014/main" val="10000"/>
                  </a:ext>
                </a:extLst>
              </a:tr>
              <a:tr h="34464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5%</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1173.17</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Calibri"/>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Calibri"/>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Calibri"/>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Calibri"/>
                      </a:endParaRP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4464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4.5%</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1197.55</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24.38</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2.078%</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24.04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2.049%</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4464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5.5%</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1149.45</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-23.72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alibri"/>
                        </a:rPr>
                        <a:t>-2.022%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-24.04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alibri"/>
                        </a:rPr>
                        <a:t>-2.049%</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46122" name="Oval 41"/>
          <p:cNvSpPr>
            <a:spLocks noChangeArrowheads="1"/>
          </p:cNvSpPr>
          <p:nvPr/>
        </p:nvSpPr>
        <p:spPr bwMode="auto">
          <a:xfrm>
            <a:off x="4343400" y="4876800"/>
            <a:ext cx="1371600" cy="1000938"/>
          </a:xfrm>
          <a:prstGeom prst="ellipse">
            <a:avLst/>
          </a:prstGeom>
          <a:noFill/>
          <a:ln w="381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2" name="Slide Number Placeholder 1">
            <a:extLst>
              <a:ext uri="{FF2B5EF4-FFF2-40B4-BE49-F238E27FC236}">
                <a16:creationId xmlns:a16="http://schemas.microsoft.com/office/drawing/2014/main" id="{89B3F38F-0AA0-244D-939B-9B434B895E8D}"/>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Tree>
    <p:extLst>
      <p:ext uri="{BB962C8B-B14F-4D97-AF65-F5344CB8AC3E}">
        <p14:creationId xmlns:p14="http://schemas.microsoft.com/office/powerpoint/2010/main" val="1125683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Changes in Bond Price when YTM Changes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35</a:t>
            </a:fld>
            <a:endParaRPr lang="en-US" alt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pic>
        <p:nvPicPr>
          <p:cNvPr id="6" name="Picture 2" descr="Reproduced Figure 16.1 from the text. Percentage change in bond price is on the vertical axis and change in yield to maturity (percent) is on the horizontal. Curve A slopes less steeply than curve B, which is less than C, which is less than D. All cross at (0, 0). "/>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342900" y="762000"/>
            <a:ext cx="8458199" cy="54863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aphicFrame>
        <p:nvGraphicFramePr>
          <p:cNvPr id="8" name="Object 7">
            <a:extLst>
              <a:ext uri="{FF2B5EF4-FFF2-40B4-BE49-F238E27FC236}">
                <a16:creationId xmlns:a16="http://schemas.microsoft.com/office/drawing/2014/main" id="{80E5DB25-15E5-8D41-8599-E556B847C0CB}"/>
              </a:ext>
            </a:extLst>
          </p:cNvPr>
          <p:cNvGraphicFramePr>
            <a:graphicFrameLocks noChangeAspect="1"/>
          </p:cNvGraphicFramePr>
          <p:nvPr>
            <p:extLst>
              <p:ext uri="{D42A27DB-BD31-4B8C-83A1-F6EECF244321}">
                <p14:modId xmlns:p14="http://schemas.microsoft.com/office/powerpoint/2010/main" val="1848927831"/>
              </p:ext>
            </p:extLst>
          </p:nvPr>
        </p:nvGraphicFramePr>
        <p:xfrm>
          <a:off x="2362200" y="1143000"/>
          <a:ext cx="2730500" cy="1631950"/>
        </p:xfrm>
        <a:graphic>
          <a:graphicData uri="http://schemas.openxmlformats.org/presentationml/2006/ole">
            <mc:AlternateContent xmlns:mc="http://schemas.openxmlformats.org/markup-compatibility/2006">
              <mc:Choice xmlns:v="urn:schemas-microsoft-com:vml" Requires="v">
                <p:oleObj name="Worksheet" r:id="rId3" imgW="6070600" imgH="3568700" progId="Excel.Sheet.12">
                  <p:embed/>
                </p:oleObj>
              </mc:Choice>
              <mc:Fallback>
                <p:oleObj name="Worksheet" r:id="rId3" imgW="6070600" imgH="3568700" progId="Excel.Sheet.12">
                  <p:embed/>
                  <p:pic>
                    <p:nvPicPr>
                      <p:cNvPr id="8" name="Object 7">
                        <a:extLst>
                          <a:ext uri="{FF2B5EF4-FFF2-40B4-BE49-F238E27FC236}">
                            <a16:creationId xmlns:a16="http://schemas.microsoft.com/office/drawing/2014/main" id="{80E5DB25-15E5-8D41-8599-E556B847C0CB}"/>
                          </a:ext>
                        </a:extLst>
                      </p:cNvPr>
                      <p:cNvPicPr/>
                      <p:nvPr/>
                    </p:nvPicPr>
                    <p:blipFill>
                      <a:blip r:embed="rId4"/>
                      <a:stretch>
                        <a:fillRect/>
                      </a:stretch>
                    </p:blipFill>
                    <p:spPr>
                      <a:xfrm>
                        <a:off x="2362200" y="1143000"/>
                        <a:ext cx="2730500" cy="1631950"/>
                      </a:xfrm>
                      <a:prstGeom prst="rect">
                        <a:avLst/>
                      </a:prstGeom>
                      <a:ln>
                        <a:solidFill>
                          <a:schemeClr val="accent1"/>
                        </a:solidFill>
                      </a:ln>
                    </p:spPr>
                  </p:pic>
                </p:oleObj>
              </mc:Fallback>
            </mc:AlternateContent>
          </a:graphicData>
        </a:graphic>
      </p:graphicFrame>
    </p:spTree>
    <p:extLst>
      <p:ext uri="{BB962C8B-B14F-4D97-AF65-F5344CB8AC3E}">
        <p14:creationId xmlns:p14="http://schemas.microsoft.com/office/powerpoint/2010/main" val="2275391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Bond Price Convexity: 30YR, 8% Coupon, YTM = 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36</a:t>
            </a:fld>
            <a:endParaRPr lang="en-US" alt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pic>
        <p:nvPicPr>
          <p:cNvPr id="6" name="Picture 2" descr="Graph presents duration approximation as a straight, downward-sloping line, while actual price change is a downward-bowed curve. Percentage change in bond price is on the vertical axis, and change in yield to maturity (percent) is on the horizontal. Actual price change is a downward bowed curve from (negative 5, 95), to (5, negative 30). Duration approximation is a straight line from (negative 5, 58) to (5, negative 5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048" y="762000"/>
            <a:ext cx="8607551" cy="533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2262690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Rectangle 2"/>
          <p:cNvSpPr>
            <a:spLocks noGrp="1" noChangeArrowheads="1"/>
          </p:cNvSpPr>
          <p:nvPr>
            <p:ph type="title"/>
          </p:nvPr>
        </p:nvSpPr>
        <p:spPr/>
        <p:txBody>
          <a:bodyPr/>
          <a:lstStyle/>
          <a:p>
            <a:r>
              <a:rPr lang="en-US" b="1">
                <a:ea typeface="ＭＳ Ｐゴシック" charset="0"/>
                <a:cs typeface="ＭＳ Ｐゴシック" charset="0"/>
              </a:rPr>
              <a:t>Maturity and Bond Price Volatility</a:t>
            </a:r>
            <a:endParaRPr lang="en-US">
              <a:ea typeface="ＭＳ Ｐゴシック" charset="0"/>
              <a:cs typeface="ＭＳ Ｐゴシック" charset="0"/>
            </a:endParaRPr>
          </a:p>
        </p:txBody>
      </p:sp>
      <p:sp>
        <p:nvSpPr>
          <p:cNvPr id="47116" name="Footer Placeholder 22"/>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pSp>
        <p:nvGrpSpPr>
          <p:cNvPr id="2" name="Group 3"/>
          <p:cNvGrpSpPr>
            <a:grpSpLocks/>
          </p:cNvGrpSpPr>
          <p:nvPr/>
        </p:nvGrpSpPr>
        <p:grpSpPr bwMode="auto">
          <a:xfrm>
            <a:off x="4267200" y="4159250"/>
            <a:ext cx="609600" cy="1600200"/>
            <a:chOff x="3888" y="1680"/>
            <a:chExt cx="384" cy="1008"/>
          </a:xfrm>
        </p:grpSpPr>
        <p:sp>
          <p:nvSpPr>
            <p:cNvPr id="47125" name="Line 4"/>
            <p:cNvSpPr>
              <a:spLocks noChangeShapeType="1"/>
            </p:cNvSpPr>
            <p:nvPr/>
          </p:nvSpPr>
          <p:spPr bwMode="auto">
            <a:xfrm>
              <a:off x="4080" y="1680"/>
              <a:ext cx="0" cy="720"/>
            </a:xfrm>
            <a:prstGeom prst="line">
              <a:avLst/>
            </a:prstGeom>
            <a:noFill/>
            <a:ln w="19050">
              <a:solidFill>
                <a:schemeClr val="tx1"/>
              </a:solidFill>
              <a:prstDash val="sysDot"/>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latin typeface="Calibri"/>
              </a:endParaRPr>
            </a:p>
          </p:txBody>
        </p:sp>
        <p:sp>
          <p:nvSpPr>
            <p:cNvPr id="47126" name="Text Box 5"/>
            <p:cNvSpPr txBox="1">
              <a:spLocks noChangeArrowheads="1"/>
            </p:cNvSpPr>
            <p:nvPr/>
          </p:nvSpPr>
          <p:spPr bwMode="auto">
            <a:xfrm>
              <a:off x="3888" y="2400"/>
              <a:ext cx="384"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905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lgn="ctr" eaLnBrk="1" hangingPunct="1">
                <a:spcBef>
                  <a:spcPct val="50000"/>
                </a:spcBef>
              </a:pPr>
              <a:r>
                <a:rPr lang="en-US" sz="2400" i="1">
                  <a:latin typeface="Times New Roman" charset="0"/>
                </a:rPr>
                <a:t>C</a:t>
              </a:r>
            </a:p>
          </p:txBody>
        </p:sp>
      </p:grpSp>
      <p:sp>
        <p:nvSpPr>
          <p:cNvPr id="239622" name="Text Box 6"/>
          <p:cNvSpPr txBox="1">
            <a:spLocks noChangeArrowheads="1"/>
          </p:cNvSpPr>
          <p:nvPr/>
        </p:nvSpPr>
        <p:spPr bwMode="auto">
          <a:xfrm>
            <a:off x="3238500" y="1470660"/>
            <a:ext cx="5791200" cy="147732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marL="342900" indent="-342900" eaLnBrk="1" hangingPunct="1">
              <a:spcBef>
                <a:spcPct val="50000"/>
              </a:spcBef>
              <a:buFont typeface="Arial" charset="0"/>
              <a:buChar char="•"/>
            </a:pPr>
            <a:r>
              <a:rPr lang="en-US" sz="2000" dirty="0">
                <a:solidFill>
                  <a:srgbClr val="010004"/>
                </a:solidFill>
                <a:latin typeface="Calibri"/>
              </a:rPr>
              <a:t>Consider two otherwise identical bonds.</a:t>
            </a:r>
          </a:p>
          <a:p>
            <a:pPr marL="342900" indent="-342900" eaLnBrk="1" hangingPunct="1">
              <a:spcBef>
                <a:spcPct val="50000"/>
              </a:spcBef>
              <a:buFont typeface="Arial" charset="0"/>
              <a:buChar char="•"/>
            </a:pPr>
            <a:r>
              <a:rPr lang="en-US" sz="2000" dirty="0">
                <a:solidFill>
                  <a:srgbClr val="010004"/>
                </a:solidFill>
                <a:latin typeface="Calibri"/>
              </a:rPr>
              <a:t>The </a:t>
            </a:r>
            <a:r>
              <a:rPr lang="en-US" sz="2000" b="1" dirty="0">
                <a:solidFill>
                  <a:srgbClr val="010004"/>
                </a:solidFill>
                <a:latin typeface="Calibri"/>
              </a:rPr>
              <a:t>long-maturity bond </a:t>
            </a:r>
            <a:r>
              <a:rPr lang="en-US" sz="2000" dirty="0">
                <a:solidFill>
                  <a:srgbClr val="010004"/>
                </a:solidFill>
                <a:latin typeface="Calibri"/>
              </a:rPr>
              <a:t>will have much more volatility with respect to changes in the discount rate</a:t>
            </a:r>
            <a:endParaRPr lang="en-US" sz="2000" dirty="0">
              <a:solidFill>
                <a:srgbClr val="010004"/>
              </a:solidFill>
              <a:latin typeface="Times New Roman" charset="0"/>
            </a:endParaRPr>
          </a:p>
        </p:txBody>
      </p:sp>
      <p:grpSp>
        <p:nvGrpSpPr>
          <p:cNvPr id="3" name="Group 7"/>
          <p:cNvGrpSpPr>
            <a:grpSpLocks/>
          </p:cNvGrpSpPr>
          <p:nvPr/>
        </p:nvGrpSpPr>
        <p:grpSpPr bwMode="auto">
          <a:xfrm>
            <a:off x="1905000" y="5181602"/>
            <a:ext cx="6705600" cy="231775"/>
            <a:chOff x="1200" y="3264"/>
            <a:chExt cx="4224" cy="146"/>
          </a:xfrm>
        </p:grpSpPr>
        <p:sp>
          <p:nvSpPr>
            <p:cNvPr id="47123" name="Rectangle 8"/>
            <p:cNvSpPr>
              <a:spLocks noChangeArrowheads="1"/>
            </p:cNvSpPr>
            <p:nvPr/>
          </p:nvSpPr>
          <p:spPr bwMode="auto">
            <a:xfrm>
              <a:off x="4722" y="3274"/>
              <a:ext cx="682" cy="13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400" b="1" dirty="0">
                  <a:solidFill>
                    <a:srgbClr val="010004"/>
                  </a:solidFill>
                  <a:latin typeface="Times New Roman" charset="0"/>
                </a:rPr>
                <a:t>Discount Rate</a:t>
              </a:r>
              <a:endParaRPr lang="en-US" sz="1400" dirty="0">
                <a:solidFill>
                  <a:srgbClr val="010004"/>
                </a:solidFill>
                <a:latin typeface="Times New Roman" charset="0"/>
              </a:endParaRPr>
            </a:p>
          </p:txBody>
        </p:sp>
        <p:sp>
          <p:nvSpPr>
            <p:cNvPr id="47124" name="Line 9"/>
            <p:cNvSpPr>
              <a:spLocks noChangeShapeType="1"/>
            </p:cNvSpPr>
            <p:nvPr/>
          </p:nvSpPr>
          <p:spPr bwMode="auto">
            <a:xfrm>
              <a:off x="1200" y="3264"/>
              <a:ext cx="4224" cy="0"/>
            </a:xfrm>
            <a:prstGeom prst="line">
              <a:avLst/>
            </a:prstGeom>
            <a:noFill/>
            <a:ln w="3810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latin typeface="Calibri"/>
              </a:endParaRPr>
            </a:p>
          </p:txBody>
        </p:sp>
      </p:grpSp>
      <p:grpSp>
        <p:nvGrpSpPr>
          <p:cNvPr id="4" name="Group 10"/>
          <p:cNvGrpSpPr>
            <a:grpSpLocks/>
          </p:cNvGrpSpPr>
          <p:nvPr/>
        </p:nvGrpSpPr>
        <p:grpSpPr bwMode="auto">
          <a:xfrm>
            <a:off x="1447800" y="1371600"/>
            <a:ext cx="457200" cy="3810000"/>
            <a:chOff x="912" y="864"/>
            <a:chExt cx="288" cy="2400"/>
          </a:xfrm>
        </p:grpSpPr>
        <p:sp>
          <p:nvSpPr>
            <p:cNvPr id="47121" name="Rectangle 11"/>
            <p:cNvSpPr>
              <a:spLocks noChangeArrowheads="1"/>
            </p:cNvSpPr>
            <p:nvPr/>
          </p:nvSpPr>
          <p:spPr bwMode="auto">
            <a:xfrm rot="-5400000">
              <a:off x="605" y="1219"/>
              <a:ext cx="805"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2000" b="1">
                  <a:latin typeface="Times New Roman" charset="0"/>
                </a:rPr>
                <a:t>Bond Value</a:t>
              </a:r>
              <a:endParaRPr lang="en-US" sz="2000">
                <a:latin typeface="Times New Roman" charset="0"/>
              </a:endParaRPr>
            </a:p>
          </p:txBody>
        </p:sp>
        <p:sp>
          <p:nvSpPr>
            <p:cNvPr id="47122" name="Line 12"/>
            <p:cNvSpPr>
              <a:spLocks noChangeShapeType="1"/>
            </p:cNvSpPr>
            <p:nvPr/>
          </p:nvSpPr>
          <p:spPr bwMode="auto">
            <a:xfrm flipV="1">
              <a:off x="1200" y="864"/>
              <a:ext cx="0" cy="2400"/>
            </a:xfrm>
            <a:prstGeom prst="line">
              <a:avLst/>
            </a:prstGeom>
            <a:noFill/>
            <a:ln w="3810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latin typeface="Calibri"/>
              </a:endParaRPr>
            </a:p>
          </p:txBody>
        </p:sp>
      </p:grpSp>
      <p:sp>
        <p:nvSpPr>
          <p:cNvPr id="47112" name="Line 13"/>
          <p:cNvSpPr>
            <a:spLocks noChangeShapeType="1"/>
          </p:cNvSpPr>
          <p:nvPr/>
        </p:nvSpPr>
        <p:spPr bwMode="auto">
          <a:xfrm>
            <a:off x="1905000" y="4114800"/>
            <a:ext cx="2667000" cy="0"/>
          </a:xfrm>
          <a:prstGeom prst="line">
            <a:avLst/>
          </a:prstGeom>
          <a:noFill/>
          <a:ln w="19050">
            <a:solidFill>
              <a:schemeClr val="tx1"/>
            </a:solidFill>
            <a:prstDash val="sysDot"/>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latin typeface="Calibri"/>
            </a:endParaRPr>
          </a:p>
        </p:txBody>
      </p:sp>
      <p:sp>
        <p:nvSpPr>
          <p:cNvPr id="47113" name="Text Box 14"/>
          <p:cNvSpPr txBox="1">
            <a:spLocks noChangeArrowheads="1"/>
          </p:cNvSpPr>
          <p:nvPr/>
        </p:nvSpPr>
        <p:spPr bwMode="auto">
          <a:xfrm>
            <a:off x="914400" y="3886200"/>
            <a:ext cx="914400"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905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400" i="1">
                <a:latin typeface="Times New Roman" charset="0"/>
              </a:rPr>
              <a:t>Par</a:t>
            </a:r>
          </a:p>
        </p:txBody>
      </p:sp>
      <p:grpSp>
        <p:nvGrpSpPr>
          <p:cNvPr id="5" name="Group 15"/>
          <p:cNvGrpSpPr>
            <a:grpSpLocks/>
          </p:cNvGrpSpPr>
          <p:nvPr/>
        </p:nvGrpSpPr>
        <p:grpSpPr bwMode="auto">
          <a:xfrm>
            <a:off x="1905000" y="1736725"/>
            <a:ext cx="7543800" cy="2971800"/>
            <a:chOff x="1008" y="1056"/>
            <a:chExt cx="4752" cy="1872"/>
          </a:xfrm>
        </p:grpSpPr>
        <p:sp>
          <p:nvSpPr>
            <p:cNvPr id="47119" name="Arc 16"/>
            <p:cNvSpPr>
              <a:spLocks/>
            </p:cNvSpPr>
            <p:nvPr/>
          </p:nvSpPr>
          <p:spPr bwMode="auto">
            <a:xfrm flipH="1">
              <a:off x="1008" y="1056"/>
              <a:ext cx="4752" cy="1872"/>
            </a:xfrm>
            <a:custGeom>
              <a:avLst/>
              <a:gdLst>
                <a:gd name="T0" fmla="*/ 0 w 20634"/>
                <a:gd name="T1" fmla="*/ 0 h 20900"/>
                <a:gd name="T2" fmla="*/ 0 w 20634"/>
                <a:gd name="T3" fmla="*/ 0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FF0000"/>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47120" name="Text Box 17"/>
            <p:cNvSpPr txBox="1">
              <a:spLocks noChangeArrowheads="1"/>
            </p:cNvSpPr>
            <p:nvPr/>
          </p:nvSpPr>
          <p:spPr bwMode="auto">
            <a:xfrm>
              <a:off x="4032" y="2646"/>
              <a:ext cx="16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000">
                  <a:solidFill>
                    <a:srgbClr val="FF0000"/>
                  </a:solidFill>
                  <a:latin typeface="Times New Roman" charset="0"/>
                </a:rPr>
                <a:t>Short Maturity Bond</a:t>
              </a:r>
            </a:p>
          </p:txBody>
        </p:sp>
      </p:grpSp>
      <p:grpSp>
        <p:nvGrpSpPr>
          <p:cNvPr id="6" name="Group 18"/>
          <p:cNvGrpSpPr>
            <a:grpSpLocks/>
          </p:cNvGrpSpPr>
          <p:nvPr/>
        </p:nvGrpSpPr>
        <p:grpSpPr bwMode="auto">
          <a:xfrm>
            <a:off x="2590800" y="-533400"/>
            <a:ext cx="6553200" cy="6447790"/>
            <a:chOff x="1008" y="0"/>
            <a:chExt cx="4752" cy="4071"/>
          </a:xfrm>
        </p:grpSpPr>
        <p:sp>
          <p:nvSpPr>
            <p:cNvPr id="47117" name="Text Box 19"/>
            <p:cNvSpPr txBox="1">
              <a:spLocks noChangeArrowheads="1"/>
            </p:cNvSpPr>
            <p:nvPr/>
          </p:nvSpPr>
          <p:spPr bwMode="auto">
            <a:xfrm>
              <a:off x="3659" y="3838"/>
              <a:ext cx="1812" cy="23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squar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dirty="0">
                  <a:solidFill>
                    <a:srgbClr val="006600"/>
                  </a:solidFill>
                  <a:latin typeface="Times New Roman" charset="0"/>
                </a:rPr>
                <a:t>Long Maturity Bond</a:t>
              </a:r>
            </a:p>
          </p:txBody>
        </p:sp>
        <p:sp>
          <p:nvSpPr>
            <p:cNvPr id="47118" name="Arc 20"/>
            <p:cNvSpPr>
              <a:spLocks/>
            </p:cNvSpPr>
            <p:nvPr/>
          </p:nvSpPr>
          <p:spPr bwMode="auto">
            <a:xfrm flipH="1">
              <a:off x="1008" y="0"/>
              <a:ext cx="4752" cy="3840"/>
            </a:xfrm>
            <a:custGeom>
              <a:avLst/>
              <a:gdLst>
                <a:gd name="T0" fmla="*/ 0 w 20634"/>
                <a:gd name="T1" fmla="*/ 0 h 20900"/>
                <a:gd name="T2" fmla="*/ 0 w 20634"/>
                <a:gd name="T3" fmla="*/ 0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006600"/>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grpSp>
      <p:sp>
        <p:nvSpPr>
          <p:cNvPr id="7" name="Slide Number Placeholder 6">
            <a:extLst>
              <a:ext uri="{FF2B5EF4-FFF2-40B4-BE49-F238E27FC236}">
                <a16:creationId xmlns:a16="http://schemas.microsoft.com/office/drawing/2014/main" id="{05876E46-4A98-FC44-B430-7E0B1F5C26E0}"/>
              </a:ext>
            </a:extLst>
          </p:cNvPr>
          <p:cNvSpPr>
            <a:spLocks noGrp="1"/>
          </p:cNvSpPr>
          <p:nvPr>
            <p:ph type="sldNum" sz="quarter" idx="10"/>
          </p:nvPr>
        </p:nvSpPr>
        <p:spPr/>
        <p:txBody>
          <a:bodyPr/>
          <a:lstStyle/>
          <a:p>
            <a:fld id="{7B3E355C-57B9-BC4B-95D8-406A1F834537}" type="slidenum">
              <a:rPr lang="en-US" altLang="en-US" smtClean="0"/>
              <a:pPr/>
              <a:t>37</a:t>
            </a:fld>
            <a:endParaRPr lang="en-US" altLang="en-US" dirty="0"/>
          </a:p>
        </p:txBody>
      </p:sp>
    </p:spTree>
    <p:extLst>
      <p:ext uri="{BB962C8B-B14F-4D97-AF65-F5344CB8AC3E}">
        <p14:creationId xmlns:p14="http://schemas.microsoft.com/office/powerpoint/2010/main" val="428755087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par>
                          <p:cTn id="8" fill="hold" nodeType="afterGroup">
                            <p:stCondLst>
                              <p:cond delay="500"/>
                            </p:stCondLst>
                            <p:childTnLst>
                              <p:par>
                                <p:cTn id="9" presetID="22" presetClass="entr" presetSubtype="4"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down)">
                                      <p:cBhvr>
                                        <p:cTn id="11" dur="500"/>
                                        <p:tgtEl>
                                          <p:spTgt spid="4"/>
                                        </p:tgtEl>
                                      </p:cBhvr>
                                    </p:animEffect>
                                  </p:childTnLst>
                                </p:cTn>
                              </p:par>
                            </p:childTnLst>
                          </p:cTn>
                        </p:par>
                        <p:par>
                          <p:cTn id="12" fill="hold" nodeType="afterGroup">
                            <p:stCondLst>
                              <p:cond delay="1000"/>
                            </p:stCondLst>
                            <p:childTnLst>
                              <p:par>
                                <p:cTn id="13" presetID="22" presetClass="entr" presetSubtype="1"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up)">
                                      <p:cBhvr>
                                        <p:cTn id="15" dur="500"/>
                                        <p:tgtEl>
                                          <p:spTgt spid="5"/>
                                        </p:tgtEl>
                                      </p:cBhvr>
                                    </p:animEffect>
                                  </p:childTnLst>
                                </p:cTn>
                              </p:par>
                            </p:childTnLst>
                          </p:cTn>
                        </p:par>
                        <p:par>
                          <p:cTn id="16" fill="hold" nodeType="afterGroup">
                            <p:stCondLst>
                              <p:cond delay="1500"/>
                            </p:stCondLst>
                            <p:childTnLst>
                              <p:par>
                                <p:cTn id="17" presetID="22" presetClass="entr" presetSubtype="1" fill="hold"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up)">
                                      <p:cBhvr>
                                        <p:cTn id="19" dur="500"/>
                                        <p:tgtEl>
                                          <p:spTgt spid="6"/>
                                        </p:tgtEl>
                                      </p:cBhvr>
                                    </p:animEffect>
                                  </p:childTnLst>
                                </p:cTn>
                              </p:par>
                            </p:childTnLst>
                          </p:cTn>
                        </p:par>
                        <p:par>
                          <p:cTn id="20" fill="hold" nodeType="afterGroup">
                            <p:stCondLst>
                              <p:cond delay="2000"/>
                            </p:stCondLst>
                            <p:childTnLst>
                              <p:par>
                                <p:cTn id="21" presetID="22" presetClass="entr" presetSubtype="4" fill="hold" nodeType="after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wipe(down)">
                                      <p:cBhvr>
                                        <p:cTn id="23" dur="500"/>
                                        <p:tgtEl>
                                          <p:spTgt spid="2"/>
                                        </p:tgtEl>
                                      </p:cBhvr>
                                    </p:animEffec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2396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962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Rectangle 2"/>
          <p:cNvSpPr>
            <a:spLocks noGrp="1" noChangeArrowheads="1"/>
          </p:cNvSpPr>
          <p:nvPr>
            <p:ph type="title"/>
          </p:nvPr>
        </p:nvSpPr>
        <p:spPr/>
        <p:txBody>
          <a:bodyPr/>
          <a:lstStyle/>
          <a:p>
            <a:r>
              <a:rPr lang="en-US" b="1">
                <a:ea typeface="ＭＳ Ｐゴシック" charset="0"/>
                <a:cs typeface="ＭＳ Ｐゴシック" charset="0"/>
              </a:rPr>
              <a:t>Coupon Rate and Bond Price Volatility</a:t>
            </a:r>
            <a:endParaRPr lang="en-US">
              <a:ea typeface="ＭＳ Ｐゴシック" charset="0"/>
              <a:cs typeface="ＭＳ Ｐゴシック" charset="0"/>
            </a:endParaRPr>
          </a:p>
        </p:txBody>
      </p:sp>
      <p:sp>
        <p:nvSpPr>
          <p:cNvPr id="48139" name="Footer Placeholder 19"/>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41667" name="Text Box 3"/>
          <p:cNvSpPr txBox="1">
            <a:spLocks noChangeArrowheads="1"/>
          </p:cNvSpPr>
          <p:nvPr/>
        </p:nvSpPr>
        <p:spPr bwMode="auto">
          <a:xfrm>
            <a:off x="3124200" y="1371602"/>
            <a:ext cx="5791200" cy="10618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marL="342900" indent="-342900" eaLnBrk="1" hangingPunct="1">
              <a:spcBef>
                <a:spcPct val="50000"/>
              </a:spcBef>
              <a:buFont typeface="Arial" charset="0"/>
              <a:buChar char="•"/>
            </a:pPr>
            <a:r>
              <a:rPr lang="en-US" dirty="0">
                <a:solidFill>
                  <a:srgbClr val="010004"/>
                </a:solidFill>
                <a:latin typeface="Calibri"/>
              </a:rPr>
              <a:t>Consider two otherwise identical bonds.</a:t>
            </a:r>
          </a:p>
          <a:p>
            <a:pPr marL="342900" indent="-342900" eaLnBrk="1" hangingPunct="1">
              <a:spcBef>
                <a:spcPct val="50000"/>
              </a:spcBef>
              <a:buFont typeface="Arial" charset="0"/>
              <a:buChar char="•"/>
            </a:pPr>
            <a:r>
              <a:rPr lang="en-US" dirty="0">
                <a:solidFill>
                  <a:srgbClr val="010004"/>
                </a:solidFill>
                <a:latin typeface="Calibri"/>
              </a:rPr>
              <a:t>The </a:t>
            </a:r>
            <a:r>
              <a:rPr lang="en-US" b="1" dirty="0">
                <a:solidFill>
                  <a:srgbClr val="010004"/>
                </a:solidFill>
                <a:latin typeface="Calibri"/>
              </a:rPr>
              <a:t>low-coupon bond </a:t>
            </a:r>
            <a:r>
              <a:rPr lang="en-US" dirty="0">
                <a:solidFill>
                  <a:srgbClr val="010004"/>
                </a:solidFill>
                <a:latin typeface="Calibri"/>
              </a:rPr>
              <a:t>will have much more volatility with respect to changes in the discount rate</a:t>
            </a:r>
            <a:endParaRPr lang="en-US" b="1" dirty="0">
              <a:solidFill>
                <a:srgbClr val="010004"/>
              </a:solidFill>
              <a:latin typeface="Times New Roman" charset="0"/>
            </a:endParaRPr>
          </a:p>
        </p:txBody>
      </p:sp>
      <p:grpSp>
        <p:nvGrpSpPr>
          <p:cNvPr id="2" name="Group 4"/>
          <p:cNvGrpSpPr>
            <a:grpSpLocks/>
          </p:cNvGrpSpPr>
          <p:nvPr/>
        </p:nvGrpSpPr>
        <p:grpSpPr bwMode="auto">
          <a:xfrm>
            <a:off x="1905000" y="5193507"/>
            <a:ext cx="6705600" cy="169863"/>
            <a:chOff x="1200" y="3264"/>
            <a:chExt cx="4224" cy="107"/>
          </a:xfrm>
        </p:grpSpPr>
        <p:sp>
          <p:nvSpPr>
            <p:cNvPr id="48146" name="Rectangle 5"/>
            <p:cNvSpPr>
              <a:spLocks noChangeArrowheads="1"/>
            </p:cNvSpPr>
            <p:nvPr/>
          </p:nvSpPr>
          <p:spPr bwMode="auto">
            <a:xfrm>
              <a:off x="4737" y="3264"/>
              <a:ext cx="535" cy="1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1100" b="1" dirty="0">
                  <a:solidFill>
                    <a:srgbClr val="010004"/>
                  </a:solidFill>
                  <a:latin typeface="Times New Roman" charset="0"/>
                </a:rPr>
                <a:t>Discount Rate</a:t>
              </a:r>
              <a:endParaRPr lang="en-US" sz="1100" dirty="0">
                <a:solidFill>
                  <a:srgbClr val="010004"/>
                </a:solidFill>
                <a:latin typeface="Times New Roman" charset="0"/>
              </a:endParaRPr>
            </a:p>
          </p:txBody>
        </p:sp>
        <p:sp>
          <p:nvSpPr>
            <p:cNvPr id="48147" name="Line 6"/>
            <p:cNvSpPr>
              <a:spLocks noChangeShapeType="1"/>
            </p:cNvSpPr>
            <p:nvPr/>
          </p:nvSpPr>
          <p:spPr bwMode="auto">
            <a:xfrm>
              <a:off x="1200" y="3264"/>
              <a:ext cx="4224" cy="0"/>
            </a:xfrm>
            <a:prstGeom prst="line">
              <a:avLst/>
            </a:prstGeom>
            <a:noFill/>
            <a:ln w="3810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latin typeface="Calibri"/>
              </a:endParaRPr>
            </a:p>
          </p:txBody>
        </p:sp>
      </p:grpSp>
      <p:grpSp>
        <p:nvGrpSpPr>
          <p:cNvPr id="3" name="Group 7"/>
          <p:cNvGrpSpPr>
            <a:grpSpLocks/>
          </p:cNvGrpSpPr>
          <p:nvPr/>
        </p:nvGrpSpPr>
        <p:grpSpPr bwMode="auto">
          <a:xfrm>
            <a:off x="1447800" y="1371600"/>
            <a:ext cx="457200" cy="3810000"/>
            <a:chOff x="912" y="864"/>
            <a:chExt cx="288" cy="2400"/>
          </a:xfrm>
        </p:grpSpPr>
        <p:sp>
          <p:nvSpPr>
            <p:cNvPr id="48144" name="Rectangle 8"/>
            <p:cNvSpPr>
              <a:spLocks noChangeArrowheads="1"/>
            </p:cNvSpPr>
            <p:nvPr/>
          </p:nvSpPr>
          <p:spPr bwMode="auto">
            <a:xfrm rot="-5400000">
              <a:off x="605" y="1219"/>
              <a:ext cx="805"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pPr eaLnBrk="0" hangingPunct="0"/>
              <a:r>
                <a:rPr lang="en-US" sz="2000" b="1">
                  <a:latin typeface="Times New Roman" charset="0"/>
                </a:rPr>
                <a:t>Bond Value</a:t>
              </a:r>
              <a:endParaRPr lang="en-US" sz="2000">
                <a:latin typeface="Times New Roman" charset="0"/>
              </a:endParaRPr>
            </a:p>
          </p:txBody>
        </p:sp>
        <p:sp>
          <p:nvSpPr>
            <p:cNvPr id="48145" name="Line 9"/>
            <p:cNvSpPr>
              <a:spLocks noChangeShapeType="1"/>
            </p:cNvSpPr>
            <p:nvPr/>
          </p:nvSpPr>
          <p:spPr bwMode="auto">
            <a:xfrm flipV="1">
              <a:off x="1200" y="864"/>
              <a:ext cx="0" cy="2400"/>
            </a:xfrm>
            <a:prstGeom prst="line">
              <a:avLst/>
            </a:prstGeom>
            <a:noFill/>
            <a:ln w="38100" cap="sq">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wrap="none"/>
            <a:lstStyle/>
            <a:p>
              <a:endParaRPr lang="en-US">
                <a:latin typeface="Calibri"/>
              </a:endParaRPr>
            </a:p>
          </p:txBody>
        </p:sp>
      </p:grpSp>
      <p:grpSp>
        <p:nvGrpSpPr>
          <p:cNvPr id="4" name="Group 10"/>
          <p:cNvGrpSpPr>
            <a:grpSpLocks/>
          </p:cNvGrpSpPr>
          <p:nvPr/>
        </p:nvGrpSpPr>
        <p:grpSpPr bwMode="auto">
          <a:xfrm>
            <a:off x="1905000" y="1736725"/>
            <a:ext cx="7543800" cy="3278188"/>
            <a:chOff x="1008" y="1056"/>
            <a:chExt cx="4752" cy="2065"/>
          </a:xfrm>
        </p:grpSpPr>
        <p:sp>
          <p:nvSpPr>
            <p:cNvPr id="48142" name="Arc 11"/>
            <p:cNvSpPr>
              <a:spLocks/>
            </p:cNvSpPr>
            <p:nvPr/>
          </p:nvSpPr>
          <p:spPr bwMode="auto">
            <a:xfrm flipH="1">
              <a:off x="1008" y="1056"/>
              <a:ext cx="4752" cy="1872"/>
            </a:xfrm>
            <a:custGeom>
              <a:avLst/>
              <a:gdLst>
                <a:gd name="T0" fmla="*/ 0 w 20634"/>
                <a:gd name="T1" fmla="*/ 0 h 20900"/>
                <a:gd name="T2" fmla="*/ 0 w 20634"/>
                <a:gd name="T3" fmla="*/ 0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FF0000"/>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sp>
          <p:nvSpPr>
            <p:cNvPr id="48143" name="Text Box 12"/>
            <p:cNvSpPr txBox="1">
              <a:spLocks noChangeArrowheads="1"/>
            </p:cNvSpPr>
            <p:nvPr/>
          </p:nvSpPr>
          <p:spPr bwMode="auto">
            <a:xfrm>
              <a:off x="4080" y="2927"/>
              <a:ext cx="1632" cy="1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1400" dirty="0">
                  <a:solidFill>
                    <a:srgbClr val="FF0000"/>
                  </a:solidFill>
                  <a:latin typeface="Times New Roman" charset="0"/>
                </a:rPr>
                <a:t>High Coupon Bond</a:t>
              </a:r>
            </a:p>
          </p:txBody>
        </p:sp>
      </p:grpSp>
      <p:grpSp>
        <p:nvGrpSpPr>
          <p:cNvPr id="5" name="Group 13"/>
          <p:cNvGrpSpPr>
            <a:grpSpLocks/>
          </p:cNvGrpSpPr>
          <p:nvPr/>
        </p:nvGrpSpPr>
        <p:grpSpPr bwMode="auto">
          <a:xfrm>
            <a:off x="2590800" y="-533400"/>
            <a:ext cx="6553200" cy="6402756"/>
            <a:chOff x="1008" y="0"/>
            <a:chExt cx="4752" cy="4043"/>
          </a:xfrm>
        </p:grpSpPr>
        <p:sp>
          <p:nvSpPr>
            <p:cNvPr id="48140" name="Text Box 14"/>
            <p:cNvSpPr txBox="1">
              <a:spLocks noChangeArrowheads="1"/>
            </p:cNvSpPr>
            <p:nvPr/>
          </p:nvSpPr>
          <p:spPr bwMode="auto">
            <a:xfrm>
              <a:off x="3932" y="3849"/>
              <a:ext cx="1632" cy="1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1400" dirty="0">
                  <a:solidFill>
                    <a:srgbClr val="006600"/>
                  </a:solidFill>
                  <a:latin typeface="Times New Roman" charset="0"/>
                </a:rPr>
                <a:t>Low Coupon Bond</a:t>
              </a:r>
            </a:p>
          </p:txBody>
        </p:sp>
        <p:sp>
          <p:nvSpPr>
            <p:cNvPr id="48141" name="Arc 15"/>
            <p:cNvSpPr>
              <a:spLocks/>
            </p:cNvSpPr>
            <p:nvPr/>
          </p:nvSpPr>
          <p:spPr bwMode="auto">
            <a:xfrm flipH="1">
              <a:off x="1008" y="0"/>
              <a:ext cx="4752" cy="3840"/>
            </a:xfrm>
            <a:custGeom>
              <a:avLst/>
              <a:gdLst>
                <a:gd name="T0" fmla="*/ 0 w 20634"/>
                <a:gd name="T1" fmla="*/ 0 h 20900"/>
                <a:gd name="T2" fmla="*/ 0 w 20634"/>
                <a:gd name="T3" fmla="*/ 0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006600"/>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en-US">
                <a:latin typeface="Calibri"/>
              </a:endParaRPr>
            </a:p>
          </p:txBody>
        </p:sp>
      </p:grpSp>
      <p:sp>
        <p:nvSpPr>
          <p:cNvPr id="48137" name="Line 16"/>
          <p:cNvSpPr>
            <a:spLocks noChangeShapeType="1"/>
          </p:cNvSpPr>
          <p:nvPr/>
        </p:nvSpPr>
        <p:spPr bwMode="auto">
          <a:xfrm>
            <a:off x="2590800" y="2362200"/>
            <a:ext cx="3048000" cy="2817052"/>
          </a:xfrm>
          <a:prstGeom prst="line">
            <a:avLst/>
          </a:prstGeom>
          <a:noFill/>
          <a:ln w="9525">
            <a:solidFill>
              <a:schemeClr val="tx1"/>
            </a:solidFill>
            <a:prstDash val="dashDot"/>
            <a:round/>
            <a:headEnd type="triangle" w="med" len="med"/>
            <a:tailEnd type="triangle" w="med" len="med"/>
          </a:ln>
          <a:extLst>
            <a:ext uri="{909E8E84-426E-40dd-AFC4-6F175D3DCCD1}">
              <a14:hiddenFill xmlns:a14="http://schemas.microsoft.com/office/drawing/2010/main" xmlns="">
                <a:noFill/>
              </a14:hiddenFill>
            </a:ext>
          </a:extLst>
        </p:spPr>
        <p:txBody>
          <a:bodyPr wrap="none" anchor="ctr"/>
          <a:lstStyle/>
          <a:p>
            <a:endParaRPr lang="en-US">
              <a:latin typeface="Calibri"/>
            </a:endParaRPr>
          </a:p>
        </p:txBody>
      </p:sp>
      <p:sp>
        <p:nvSpPr>
          <p:cNvPr id="48138" name="Line 17"/>
          <p:cNvSpPr>
            <a:spLocks noChangeShapeType="1"/>
          </p:cNvSpPr>
          <p:nvPr/>
        </p:nvSpPr>
        <p:spPr bwMode="auto">
          <a:xfrm>
            <a:off x="2133601" y="3276601"/>
            <a:ext cx="4648198" cy="1747042"/>
          </a:xfrm>
          <a:prstGeom prst="line">
            <a:avLst/>
          </a:prstGeom>
          <a:noFill/>
          <a:ln w="19050">
            <a:solidFill>
              <a:schemeClr val="tx1"/>
            </a:solidFill>
            <a:prstDash val="dash"/>
            <a:round/>
            <a:headEnd type="triangle" w="med" len="med"/>
            <a:tailEnd type="triangle" w="med" len="med"/>
          </a:ln>
          <a:extLst>
            <a:ext uri="{909E8E84-426E-40dd-AFC4-6F175D3DCCD1}">
              <a14:hiddenFill xmlns:a14="http://schemas.microsoft.com/office/drawing/2010/main" xmlns="">
                <a:noFill/>
              </a14:hiddenFill>
            </a:ext>
          </a:extLst>
        </p:spPr>
        <p:txBody>
          <a:bodyPr wrap="none" anchor="ctr"/>
          <a:lstStyle/>
          <a:p>
            <a:endParaRPr lang="en-US">
              <a:latin typeface="Calibri"/>
            </a:endParaRPr>
          </a:p>
        </p:txBody>
      </p:sp>
      <p:sp>
        <p:nvSpPr>
          <p:cNvPr id="6" name="Slide Number Placeholder 5">
            <a:extLst>
              <a:ext uri="{FF2B5EF4-FFF2-40B4-BE49-F238E27FC236}">
                <a16:creationId xmlns:a16="http://schemas.microsoft.com/office/drawing/2014/main" id="{6E119D6C-799E-DA4F-8512-E1CD0ED42E11}"/>
              </a:ext>
            </a:extLst>
          </p:cNvPr>
          <p:cNvSpPr>
            <a:spLocks noGrp="1"/>
          </p:cNvSpPr>
          <p:nvPr>
            <p:ph type="sldNum" sz="quarter" idx="10"/>
          </p:nvPr>
        </p:nvSpPr>
        <p:spPr/>
        <p:txBody>
          <a:bodyPr/>
          <a:lstStyle/>
          <a:p>
            <a:fld id="{7B3E355C-57B9-BC4B-95D8-406A1F834537}" type="slidenum">
              <a:rPr lang="en-US" altLang="en-US" smtClean="0"/>
              <a:pPr/>
              <a:t>38</a:t>
            </a:fld>
            <a:endParaRPr lang="en-US" altLang="en-US" dirty="0"/>
          </a:p>
        </p:txBody>
      </p:sp>
    </p:spTree>
    <p:extLst>
      <p:ext uri="{BB962C8B-B14F-4D97-AF65-F5344CB8AC3E}">
        <p14:creationId xmlns:p14="http://schemas.microsoft.com/office/powerpoint/2010/main" val="139216844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8"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par>
                          <p:cTn id="8" fill="hold" nodeType="afterGroup">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down)">
                                      <p:cBhvr>
                                        <p:cTn id="11" dur="500"/>
                                        <p:tgtEl>
                                          <p:spTgt spid="3"/>
                                        </p:tgtEl>
                                      </p:cBhvr>
                                    </p:animEffect>
                                  </p:childTnLst>
                                </p:cTn>
                              </p:par>
                            </p:childTnLst>
                          </p:cTn>
                        </p:par>
                        <p:par>
                          <p:cTn id="12" fill="hold" nodeType="afterGroup">
                            <p:stCondLst>
                              <p:cond delay="1000"/>
                            </p:stCondLst>
                            <p:childTnLst>
                              <p:par>
                                <p:cTn id="13" presetID="1" presetClass="entr" presetSubtype="0" fill="hold" grpId="0" nodeType="afterEffect">
                                  <p:stCondLst>
                                    <p:cond delay="0"/>
                                  </p:stCondLst>
                                  <p:childTnLst>
                                    <p:set>
                                      <p:cBhvr>
                                        <p:cTn id="14" dur="1" fill="hold">
                                          <p:stCondLst>
                                            <p:cond delay="499"/>
                                          </p:stCondLst>
                                        </p:cTn>
                                        <p:tgtEl>
                                          <p:spTgt spid="241667"/>
                                        </p:tgtEl>
                                        <p:attrNameLst>
                                          <p:attrName>style.visibility</p:attrName>
                                        </p:attrNameLst>
                                      </p:cBhvr>
                                      <p:to>
                                        <p:strVal val="visible"/>
                                      </p:to>
                                    </p:set>
                                  </p:childTnLst>
                                </p:cTn>
                              </p:par>
                            </p:childTnLst>
                          </p:cTn>
                        </p:par>
                        <p:par>
                          <p:cTn id="15" fill="hold" nodeType="afterGroup">
                            <p:stCondLst>
                              <p:cond delay="1500"/>
                            </p:stCondLst>
                            <p:childTnLst>
                              <p:par>
                                <p:cTn id="16" presetID="22" presetClass="entr" presetSubtype="1" fill="hold" nodeType="after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wipe(up)">
                                      <p:cBhvr>
                                        <p:cTn id="18" dur="500"/>
                                        <p:tgtEl>
                                          <p:spTgt spid="4"/>
                                        </p:tgtEl>
                                      </p:cBhvr>
                                    </p:animEffect>
                                  </p:childTnLst>
                                </p:cTn>
                              </p:par>
                            </p:childTnLst>
                          </p:cTn>
                        </p:par>
                        <p:par>
                          <p:cTn id="19" fill="hold" nodeType="afterGroup">
                            <p:stCondLst>
                              <p:cond delay="2000"/>
                            </p:stCondLst>
                            <p:childTnLst>
                              <p:par>
                                <p:cTn id="20" presetID="22" presetClass="entr" presetSubtype="1" fill="hold"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up)">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1667" grpId="0" autoUpdateAnimBg="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715" name="Rectangle 3"/>
          <p:cNvSpPr>
            <a:spLocks noGrp="1" noChangeArrowheads="1"/>
          </p:cNvSpPr>
          <p:nvPr>
            <p:ph idx="1"/>
          </p:nvPr>
        </p:nvSpPr>
        <p:spPr/>
        <p:txBody>
          <a:bodyPr>
            <a:normAutofit/>
          </a:bodyPr>
          <a:lstStyle/>
          <a:p>
            <a:pPr marL="292100" indent="-292100">
              <a:spcBef>
                <a:spcPct val="0"/>
              </a:spcBef>
            </a:pPr>
            <a:r>
              <a:rPr lang="en-US" dirty="0">
                <a:ea typeface="ＭＳ Ｐゴシック" charset="0"/>
                <a:cs typeface="ＭＳ Ｐゴシック" charset="0"/>
              </a:rPr>
              <a:t>Bond prices and market interest rates move in opposite directions.</a:t>
            </a:r>
          </a:p>
          <a:p>
            <a:pPr marL="292100" indent="-292100">
              <a:spcBef>
                <a:spcPct val="0"/>
              </a:spcBef>
              <a:buFontTx/>
              <a:buAutoNum type="arabicPeriod"/>
            </a:pPr>
            <a:endParaRPr lang="en-US" dirty="0">
              <a:ea typeface="ＭＳ Ｐゴシック" charset="0"/>
              <a:cs typeface="ＭＳ Ｐゴシック" charset="0"/>
            </a:endParaRPr>
          </a:p>
          <a:p>
            <a:pPr marL="292100" indent="-292100">
              <a:spcBef>
                <a:spcPct val="0"/>
              </a:spcBef>
            </a:pPr>
            <a:r>
              <a:rPr lang="en-US" dirty="0">
                <a:ea typeface="ＭＳ Ｐゴシック" charset="0"/>
                <a:cs typeface="ＭＳ Ｐゴシック" charset="0"/>
              </a:rPr>
              <a:t>When coupon rate = </a:t>
            </a:r>
            <a:r>
              <a:rPr lang="en-US" dirty="0" err="1">
                <a:ea typeface="ＭＳ Ｐゴシック" charset="0"/>
                <a:cs typeface="ＭＳ Ｐゴシック" charset="0"/>
              </a:rPr>
              <a:t>YTM</a:t>
            </a:r>
            <a:r>
              <a:rPr lang="en-US" dirty="0">
                <a:ea typeface="ＭＳ Ｐゴシック" charset="0"/>
                <a:cs typeface="ＭＳ Ｐゴシック" charset="0"/>
              </a:rPr>
              <a:t>, price = par value.</a:t>
            </a:r>
          </a:p>
          <a:p>
            <a:pPr marL="292100" indent="-292100">
              <a:spcBef>
                <a:spcPct val="0"/>
              </a:spcBef>
              <a:buNone/>
            </a:pPr>
            <a:r>
              <a:rPr lang="en-US" dirty="0">
                <a:ea typeface="ＭＳ Ｐゴシック" charset="0"/>
                <a:cs typeface="ＭＳ Ｐゴシック" charset="0"/>
              </a:rPr>
              <a:t>	When coupon rate &gt; </a:t>
            </a:r>
            <a:r>
              <a:rPr lang="en-US" dirty="0" err="1">
                <a:ea typeface="ＭＳ Ｐゴシック" charset="0"/>
                <a:cs typeface="ＭＳ Ｐゴシック" charset="0"/>
              </a:rPr>
              <a:t>YTM</a:t>
            </a:r>
            <a:r>
              <a:rPr lang="en-US" dirty="0">
                <a:ea typeface="ＭＳ Ｐゴシック" charset="0"/>
                <a:cs typeface="ＭＳ Ｐゴシック" charset="0"/>
              </a:rPr>
              <a:t>, price &gt; par value (premium bond)</a:t>
            </a:r>
          </a:p>
          <a:p>
            <a:pPr marL="292100" indent="-292100">
              <a:spcBef>
                <a:spcPct val="0"/>
              </a:spcBef>
              <a:buNone/>
            </a:pPr>
            <a:r>
              <a:rPr lang="en-US" dirty="0">
                <a:ea typeface="ＭＳ Ｐゴシック" charset="0"/>
                <a:cs typeface="ＭＳ Ｐゴシック" charset="0"/>
              </a:rPr>
              <a:t>	When coupon rate &lt; </a:t>
            </a:r>
            <a:r>
              <a:rPr lang="en-US" dirty="0" err="1">
                <a:ea typeface="ＭＳ Ｐゴシック" charset="0"/>
                <a:cs typeface="ＭＳ Ｐゴシック" charset="0"/>
              </a:rPr>
              <a:t>YTM</a:t>
            </a:r>
            <a:r>
              <a:rPr lang="en-US" dirty="0">
                <a:ea typeface="ＭＳ Ｐゴシック" charset="0"/>
                <a:cs typeface="ＭＳ Ｐゴシック" charset="0"/>
              </a:rPr>
              <a:t>, price &lt; par value (discount bond)</a:t>
            </a:r>
          </a:p>
          <a:p>
            <a:pPr marL="292100" indent="-292100">
              <a:spcBef>
                <a:spcPct val="0"/>
              </a:spcBef>
              <a:buNone/>
            </a:pPr>
            <a:endParaRPr lang="en-US" dirty="0">
              <a:ea typeface="ＭＳ Ｐゴシック" charset="0"/>
              <a:cs typeface="ＭＳ Ｐゴシック" charset="0"/>
            </a:endParaRPr>
          </a:p>
          <a:p>
            <a:pPr marL="292100" indent="-292100">
              <a:spcBef>
                <a:spcPct val="0"/>
              </a:spcBef>
            </a:pPr>
            <a:r>
              <a:rPr lang="en-US" dirty="0">
                <a:ea typeface="ＭＳ Ｐゴシック" charset="0"/>
                <a:cs typeface="ＭＳ Ｐゴシック" charset="0"/>
              </a:rPr>
              <a:t>A bond with longer maturity has higher relative (%) price change than one with shorter maturity when </a:t>
            </a:r>
            <a:r>
              <a:rPr lang="en-US" dirty="0" err="1">
                <a:ea typeface="ＭＳ Ｐゴシック" charset="0"/>
                <a:cs typeface="ＭＳ Ｐゴシック" charset="0"/>
              </a:rPr>
              <a:t>YTM</a:t>
            </a:r>
            <a:r>
              <a:rPr lang="en-US" dirty="0">
                <a:ea typeface="ＭＳ Ｐゴシック" charset="0"/>
                <a:cs typeface="ＭＳ Ｐゴシック" charset="0"/>
              </a:rPr>
              <a:t> changes, all other features identical.</a:t>
            </a:r>
          </a:p>
          <a:p>
            <a:pPr marL="292100" indent="-292100">
              <a:spcBef>
                <a:spcPct val="0"/>
              </a:spcBef>
              <a:buFontTx/>
              <a:buAutoNum type="arabicPeriod" startAt="3"/>
            </a:pPr>
            <a:endParaRPr lang="en-US" dirty="0">
              <a:ea typeface="ＭＳ Ｐゴシック" charset="0"/>
              <a:cs typeface="ＭＳ Ｐゴシック" charset="0"/>
            </a:endParaRPr>
          </a:p>
          <a:p>
            <a:pPr marL="292100" indent="-292100">
              <a:spcBef>
                <a:spcPct val="0"/>
              </a:spcBef>
            </a:pPr>
            <a:r>
              <a:rPr lang="en-US" dirty="0">
                <a:ea typeface="ＭＳ Ｐゴシック" charset="0"/>
                <a:cs typeface="ＭＳ Ｐゴシック" charset="0"/>
              </a:rPr>
              <a:t>A lower coupon bond has a higher relative price change than a higher coupon bond when </a:t>
            </a:r>
            <a:r>
              <a:rPr lang="en-US" dirty="0" err="1">
                <a:ea typeface="ＭＳ Ｐゴシック" charset="0"/>
                <a:cs typeface="ＭＳ Ｐゴシック" charset="0"/>
              </a:rPr>
              <a:t>YTM</a:t>
            </a:r>
            <a:r>
              <a:rPr lang="en-US" dirty="0">
                <a:ea typeface="ＭＳ Ｐゴシック" charset="0"/>
                <a:cs typeface="ＭＳ Ｐゴシック" charset="0"/>
              </a:rPr>
              <a:t> changes, all other features identical.</a:t>
            </a:r>
          </a:p>
          <a:p>
            <a:pPr marL="292100" indent="-292100">
              <a:lnSpc>
                <a:spcPct val="80000"/>
              </a:lnSpc>
              <a:spcBef>
                <a:spcPct val="0"/>
              </a:spcBef>
              <a:buFontTx/>
              <a:buAutoNum type="arabicPeriod" startAt="4"/>
            </a:pPr>
            <a:endParaRPr lang="en-US" dirty="0">
              <a:ea typeface="ＭＳ Ｐゴシック" charset="0"/>
              <a:cs typeface="ＭＳ Ｐゴシック" charset="0"/>
            </a:endParaRPr>
          </a:p>
        </p:txBody>
      </p:sp>
      <p:sp>
        <p:nvSpPr>
          <p:cNvPr id="49155" name="Rectangle 2"/>
          <p:cNvSpPr>
            <a:spLocks noGrp="1" noChangeArrowheads="1"/>
          </p:cNvSpPr>
          <p:nvPr>
            <p:ph type="title"/>
          </p:nvPr>
        </p:nvSpPr>
        <p:spPr/>
        <p:txBody>
          <a:bodyPr/>
          <a:lstStyle/>
          <a:p>
            <a:r>
              <a:rPr lang="en-US" b="1" dirty="0">
                <a:ea typeface="ＭＳ Ｐゴシック" charset="0"/>
                <a:cs typeface="ＭＳ Ｐゴシック" charset="0"/>
              </a:rPr>
              <a:t>Summary of Bond Concepts</a:t>
            </a:r>
            <a:endParaRPr lang="en-US" dirty="0">
              <a:ea typeface="ＭＳ Ｐゴシック" charset="0"/>
              <a:cs typeface="ＭＳ Ｐゴシック" charset="0"/>
            </a:endParaRPr>
          </a:p>
        </p:txBody>
      </p:sp>
      <p:sp>
        <p:nvSpPr>
          <p:cNvPr id="49157" name="Footer Placeholder 5"/>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 name="Slide Number Placeholder 1">
            <a:extLst>
              <a:ext uri="{FF2B5EF4-FFF2-40B4-BE49-F238E27FC236}">
                <a16:creationId xmlns:a16="http://schemas.microsoft.com/office/drawing/2014/main" id="{DB0D0987-E27B-B74B-B758-800EA7840398}"/>
              </a:ext>
            </a:extLst>
          </p:cNvPr>
          <p:cNvSpPr>
            <a:spLocks noGrp="1"/>
          </p:cNvSpPr>
          <p:nvPr>
            <p:ph type="sldNum" sz="quarter" idx="10"/>
          </p:nvPr>
        </p:nvSpPr>
        <p:spPr/>
        <p:txBody>
          <a:bodyPr/>
          <a:lstStyle/>
          <a:p>
            <a:fld id="{7B3E355C-57B9-BC4B-95D8-406A1F834537}" type="slidenum">
              <a:rPr lang="en-US" altLang="en-US" smtClean="0"/>
              <a:pPr/>
              <a:t>39</a:t>
            </a:fld>
            <a:endParaRPr lang="en-US" altLang="en-US" dirty="0"/>
          </a:p>
        </p:txBody>
      </p:sp>
    </p:spTree>
    <p:extLst>
      <p:ext uri="{BB962C8B-B14F-4D97-AF65-F5344CB8AC3E}">
        <p14:creationId xmlns:p14="http://schemas.microsoft.com/office/powerpoint/2010/main" val="21071486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4371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243715">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243715">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243715">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243715">
                                            <p:txEl>
                                              <p:pRg st="6" end="6"/>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24371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3715" grpId="0" build="p" autoUpdateAnimBg="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3" name="Rectangle 3"/>
          <p:cNvSpPr>
            <a:spLocks noGrp="1" noChangeArrowheads="1"/>
          </p:cNvSpPr>
          <p:nvPr>
            <p:ph idx="1"/>
          </p:nvPr>
        </p:nvSpPr>
        <p:spPr/>
        <p:txBody>
          <a:bodyPr/>
          <a:lstStyle/>
          <a:p>
            <a:pPr>
              <a:buFontTx/>
              <a:buNone/>
            </a:pPr>
            <a:r>
              <a:rPr lang="en-US" sz="3600">
                <a:ea typeface="ＭＳ Ｐゴシック" charset="0"/>
                <a:cs typeface="ＭＳ Ｐゴシック" charset="0"/>
              </a:rPr>
              <a:t> </a:t>
            </a:r>
          </a:p>
        </p:txBody>
      </p:sp>
      <p:sp>
        <p:nvSpPr>
          <p:cNvPr id="50179" name="Rectangle 2"/>
          <p:cNvSpPr>
            <a:spLocks noGrp="1" noChangeArrowheads="1"/>
          </p:cNvSpPr>
          <p:nvPr>
            <p:ph type="title"/>
          </p:nvPr>
        </p:nvSpPr>
        <p:spPr/>
        <p:txBody>
          <a:bodyPr/>
          <a:lstStyle/>
          <a:p>
            <a:r>
              <a:rPr lang="en-US" b="1">
                <a:solidFill>
                  <a:schemeClr val="tx1"/>
                </a:solidFill>
                <a:ea typeface="ＭＳ Ｐゴシック" charset="0"/>
                <a:cs typeface="ＭＳ Ｐゴシック" charset="0"/>
              </a:rPr>
              <a:t>Treasury Inflation Protected Securities:  TIPS and I Bonds</a:t>
            </a:r>
            <a:endParaRPr lang="en-US">
              <a:ea typeface="ＭＳ Ｐゴシック" charset="0"/>
              <a:cs typeface="ＭＳ Ｐゴシック" charset="0"/>
            </a:endParaRPr>
          </a:p>
        </p:txBody>
      </p:sp>
      <p:sp>
        <p:nvSpPr>
          <p:cNvPr id="50212" name="Footer Placeholder 6"/>
          <p:cNvSpPr>
            <a:spLocks noGrp="1"/>
          </p:cNvSpPr>
          <p:nvPr>
            <p:ph type="ftr" sz="quarter" idx="1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45764" name="Group 4"/>
          <p:cNvGraphicFramePr>
            <a:graphicFrameLocks noGrp="1"/>
          </p:cNvGraphicFramePr>
          <p:nvPr>
            <p:extLst>
              <p:ext uri="{D42A27DB-BD31-4B8C-83A1-F6EECF244321}">
                <p14:modId xmlns:p14="http://schemas.microsoft.com/office/powerpoint/2010/main" val="784467706"/>
              </p:ext>
            </p:extLst>
          </p:nvPr>
        </p:nvGraphicFramePr>
        <p:xfrm>
          <a:off x="384050" y="1600200"/>
          <a:ext cx="8531353" cy="3870326"/>
        </p:xfrm>
        <a:graphic>
          <a:graphicData uri="http://schemas.openxmlformats.org/drawingml/2006/table">
            <a:tbl>
              <a:tblPr/>
              <a:tblGrid>
                <a:gridCol w="4688401">
                  <a:extLst>
                    <a:ext uri="{9D8B030D-6E8A-4147-A177-3AD203B41FA5}">
                      <a16:colId xmlns:a16="http://schemas.microsoft.com/office/drawing/2014/main" val="20000"/>
                    </a:ext>
                  </a:extLst>
                </a:gridCol>
                <a:gridCol w="1921476">
                  <a:extLst>
                    <a:ext uri="{9D8B030D-6E8A-4147-A177-3AD203B41FA5}">
                      <a16:colId xmlns:a16="http://schemas.microsoft.com/office/drawing/2014/main" val="20001"/>
                    </a:ext>
                  </a:extLst>
                </a:gridCol>
                <a:gridCol w="1921476">
                  <a:extLst>
                    <a:ext uri="{9D8B030D-6E8A-4147-A177-3AD203B41FA5}">
                      <a16:colId xmlns:a16="http://schemas.microsoft.com/office/drawing/2014/main" val="20002"/>
                    </a:ext>
                  </a:extLst>
                </a:gridCol>
              </a:tblGrid>
              <a:tr h="68251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400" b="1" i="0" u="none" strike="noStrike" cap="none" normalizeH="0" baseline="0">
                        <a:ln>
                          <a:noFill/>
                        </a:ln>
                        <a:solidFill>
                          <a:srgbClr val="010004"/>
                        </a:solidFill>
                        <a:effectLst/>
                        <a:latin typeface="Calibri"/>
                        <a:ea typeface="ＭＳ Ｐゴシック" charset="-128"/>
                      </a:endParaRP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Year 1</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Year 2</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3">
                        <a:lumMod val="10000"/>
                        <a:lumOff val="90000"/>
                      </a:schemeClr>
                    </a:solidFill>
                  </a:tcPr>
                </a:tc>
                <a:extLst>
                  <a:ext uri="{0D108BD9-81ED-4DB2-BD59-A6C34878D82A}">
                    <a16:rowId xmlns:a16="http://schemas.microsoft.com/office/drawing/2014/main" val="10000"/>
                  </a:ext>
                </a:extLst>
              </a:tr>
              <a:tr h="56823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Principal</a:t>
                      </a: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1,000</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1,020</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a:noFill/>
                    </a:lnB>
                    <a:lnTlToBr>
                      <a:noFill/>
                    </a:lnTlToBr>
                    <a:lnBlToTr>
                      <a:noFill/>
                    </a:lnBlToTr>
                    <a:noFill/>
                  </a:tcPr>
                </a:tc>
                <a:extLst>
                  <a:ext uri="{0D108BD9-81ED-4DB2-BD59-A6C34878D82A}">
                    <a16:rowId xmlns:a16="http://schemas.microsoft.com/office/drawing/2014/main" val="10001"/>
                  </a:ext>
                </a:extLst>
              </a:tr>
              <a:tr h="56981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Inflation </a:t>
                      </a: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2%</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a:noFill/>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3%</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a:noFill/>
                    </a:lnT>
                    <a:lnB>
                      <a:noFill/>
                    </a:lnB>
                    <a:lnTlToBr>
                      <a:noFill/>
                    </a:lnTlToBr>
                    <a:lnBlToTr>
                      <a:noFill/>
                    </a:lnBlToTr>
                    <a:noFill/>
                  </a:tcPr>
                </a:tc>
                <a:extLst>
                  <a:ext uri="{0D108BD9-81ED-4DB2-BD59-A6C34878D82A}">
                    <a16:rowId xmlns:a16="http://schemas.microsoft.com/office/drawing/2014/main" val="10002"/>
                  </a:ext>
                </a:extLst>
              </a:tr>
              <a:tr h="8228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Inflation Adjustment: P*(1+INF)</a:t>
                      </a:r>
                      <a:endParaRPr kumimoji="0" lang="en-US" sz="2000" b="1" i="0" u="none" strike="noStrike" cap="none" normalizeH="0" baseline="0">
                        <a:ln>
                          <a:noFill/>
                        </a:ln>
                        <a:solidFill>
                          <a:srgbClr val="010004"/>
                        </a:solidFill>
                        <a:effectLst/>
                        <a:latin typeface="Calibri"/>
                        <a:ea typeface="ＭＳ Ｐゴシック" charset="-128"/>
                      </a:endParaRP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1,020</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a:noFill/>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1,050.60</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a:noFill/>
                    </a:lnT>
                    <a:lnB>
                      <a:noFill/>
                    </a:lnB>
                    <a:lnTlToBr>
                      <a:noFill/>
                    </a:lnTlToBr>
                    <a:lnBlToTr>
                      <a:noFill/>
                    </a:lnBlToTr>
                    <a:noFill/>
                  </a:tcPr>
                </a:tc>
                <a:extLst>
                  <a:ext uri="{0D108BD9-81ED-4DB2-BD59-A6C34878D82A}">
                    <a16:rowId xmlns:a16="http://schemas.microsoft.com/office/drawing/2014/main" val="10003"/>
                  </a:ext>
                </a:extLst>
              </a:tr>
              <a:tr h="65870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sng" strike="noStrike" cap="none" normalizeH="0" baseline="0" dirty="0">
                          <a:ln>
                            <a:noFill/>
                          </a:ln>
                          <a:solidFill>
                            <a:schemeClr val="tx1"/>
                          </a:solidFill>
                          <a:effectLst/>
                          <a:latin typeface="Calibri"/>
                          <a:ea typeface="ＭＳ Ｐゴシック" charset="-128"/>
                        </a:rPr>
                        <a:t>Fixed</a:t>
                      </a:r>
                      <a:r>
                        <a:rPr kumimoji="0" lang="en-US" sz="2400" b="1" i="0" u="none" strike="noStrike" cap="none" normalizeH="0" baseline="0" dirty="0">
                          <a:ln>
                            <a:noFill/>
                          </a:ln>
                          <a:solidFill>
                            <a:schemeClr val="accent2">
                              <a:lumMod val="40000"/>
                              <a:lumOff val="60000"/>
                            </a:schemeClr>
                          </a:solidFill>
                          <a:effectLst/>
                          <a:latin typeface="Calibri"/>
                          <a:ea typeface="ＭＳ Ｐゴシック" charset="-128"/>
                        </a:rPr>
                        <a:t> </a:t>
                      </a:r>
                      <a:r>
                        <a:rPr kumimoji="0" lang="en-US" sz="2400" b="1" i="0" u="none" strike="noStrike" cap="none" normalizeH="0" baseline="0" dirty="0">
                          <a:ln>
                            <a:noFill/>
                          </a:ln>
                          <a:solidFill>
                            <a:srgbClr val="010004"/>
                          </a:solidFill>
                          <a:effectLst/>
                          <a:latin typeface="Calibri"/>
                          <a:ea typeface="ＭＳ Ｐゴシック" charset="-128"/>
                        </a:rPr>
                        <a:t>Coupon 3% * (P + </a:t>
                      </a:r>
                      <a:r>
                        <a:rPr kumimoji="0" lang="en-US" sz="2400" b="1" i="0" u="none" strike="noStrike" cap="none" normalizeH="0" baseline="0" dirty="0" err="1">
                          <a:ln>
                            <a:noFill/>
                          </a:ln>
                          <a:solidFill>
                            <a:srgbClr val="010004"/>
                          </a:solidFill>
                          <a:effectLst/>
                          <a:latin typeface="Calibri"/>
                          <a:ea typeface="ＭＳ Ｐゴシック" charset="-128"/>
                        </a:rPr>
                        <a:t>Inf</a:t>
                      </a:r>
                      <a:r>
                        <a:rPr kumimoji="0" lang="en-US" sz="2400" b="1" i="0" u="none" strike="noStrike" cap="none" normalizeH="0" baseline="0" dirty="0">
                          <a:ln>
                            <a:noFill/>
                          </a:ln>
                          <a:solidFill>
                            <a:srgbClr val="010004"/>
                          </a:solidFill>
                          <a:effectLst/>
                          <a:latin typeface="Calibri"/>
                          <a:ea typeface="ＭＳ Ｐゴシック" charset="-128"/>
                        </a:rPr>
                        <a:t>)</a:t>
                      </a: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30.60</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31.52</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6823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Tot. Return: </a:t>
                      </a:r>
                      <a:r>
                        <a:rPr kumimoji="0" lang="en-US" sz="2400" b="1" i="0" u="none" strike="noStrike" cap="none" normalizeH="0" baseline="0" dirty="0" err="1">
                          <a:ln>
                            <a:noFill/>
                          </a:ln>
                          <a:solidFill>
                            <a:srgbClr val="010004"/>
                          </a:solidFill>
                          <a:effectLst/>
                          <a:latin typeface="Calibri"/>
                          <a:ea typeface="ＭＳ Ｐゴシック" charset="-128"/>
                        </a:rPr>
                        <a:t>Infl</a:t>
                      </a:r>
                      <a:r>
                        <a:rPr kumimoji="0" lang="en-US" sz="2400" b="1" i="0" u="none" strike="noStrike" cap="none" normalizeH="0" baseline="0" dirty="0">
                          <a:ln>
                            <a:noFill/>
                          </a:ln>
                          <a:solidFill>
                            <a:srgbClr val="010004"/>
                          </a:solidFill>
                          <a:effectLst/>
                          <a:latin typeface="Calibri"/>
                          <a:ea typeface="ＭＳ Ｐゴシック" charset="-128"/>
                        </a:rPr>
                        <a:t> </a:t>
                      </a:r>
                      <a:r>
                        <a:rPr kumimoji="0" lang="en-US" sz="2400" b="1" i="0" u="none" strike="noStrike" cap="none" normalizeH="0" baseline="0" dirty="0" err="1">
                          <a:ln>
                            <a:noFill/>
                          </a:ln>
                          <a:solidFill>
                            <a:srgbClr val="010004"/>
                          </a:solidFill>
                          <a:effectLst/>
                          <a:latin typeface="Calibri"/>
                          <a:ea typeface="ＭＳ Ｐゴシック" charset="-128"/>
                        </a:rPr>
                        <a:t>Adj</a:t>
                      </a:r>
                      <a:r>
                        <a:rPr kumimoji="0" lang="en-US" sz="2400" b="1" i="0" u="none" strike="noStrike" cap="none" normalizeH="0" baseline="0" dirty="0">
                          <a:ln>
                            <a:noFill/>
                          </a:ln>
                          <a:solidFill>
                            <a:srgbClr val="010004"/>
                          </a:solidFill>
                          <a:effectLst/>
                          <a:latin typeface="Calibri"/>
                          <a:ea typeface="ＭＳ Ｐゴシック" charset="-128"/>
                        </a:rPr>
                        <a:t> + Fixed Coupon</a:t>
                      </a: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50.60</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62.12</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 name="Slide Number Placeholder 1">
            <a:extLst>
              <a:ext uri="{FF2B5EF4-FFF2-40B4-BE49-F238E27FC236}">
                <a16:creationId xmlns:a16="http://schemas.microsoft.com/office/drawing/2014/main" id="{0D4D5D7D-3BCE-1643-BC66-071FA5D7DECA}"/>
              </a:ext>
            </a:extLst>
          </p:cNvPr>
          <p:cNvSpPr>
            <a:spLocks noGrp="1"/>
          </p:cNvSpPr>
          <p:nvPr>
            <p:ph type="sldNum" sz="quarter" idx="10"/>
          </p:nvPr>
        </p:nvSpPr>
        <p:spPr/>
        <p:txBody>
          <a:bodyPr/>
          <a:lstStyle/>
          <a:p>
            <a:fld id="{7B3E355C-57B9-BC4B-95D8-406A1F834537}" type="slidenum">
              <a:rPr lang="en-US" altLang="en-US" smtClean="0"/>
              <a:pPr/>
              <a:t>40</a:t>
            </a:fld>
            <a:endParaRPr lang="en-US" altLang="en-US" dirty="0"/>
          </a:p>
        </p:txBody>
      </p:sp>
    </p:spTree>
    <p:extLst>
      <p:ext uri="{BB962C8B-B14F-4D97-AF65-F5344CB8AC3E}">
        <p14:creationId xmlns:p14="http://schemas.microsoft.com/office/powerpoint/2010/main" val="85863305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4576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63" grpId="0" build="p" autoUpdateAnimBg="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8039C-FEAB-5511-FB35-EA4183A2D5A8}"/>
            </a:ext>
          </a:extLst>
        </p:cNvPr>
        <p:cNvGrpSpPr/>
        <p:nvPr/>
      </p:nvGrpSpPr>
      <p:grpSpPr>
        <a:xfrm>
          <a:off x="0" y="0"/>
          <a:ext cx="0" cy="0"/>
          <a:chOff x="0" y="0"/>
          <a:chExt cx="0" cy="0"/>
        </a:xfrm>
      </p:grpSpPr>
      <p:graphicFrame>
        <p:nvGraphicFramePr>
          <p:cNvPr id="6" name="Content Placeholder 5">
            <a:extLst>
              <a:ext uri="{FF2B5EF4-FFF2-40B4-BE49-F238E27FC236}">
                <a16:creationId xmlns:a16="http://schemas.microsoft.com/office/drawing/2014/main" id="{6A7C47A7-4959-1ED4-3F43-858685488BC5}"/>
              </a:ext>
            </a:extLst>
          </p:cNvPr>
          <p:cNvGraphicFramePr>
            <a:graphicFrameLocks noGrp="1"/>
          </p:cNvGraphicFramePr>
          <p:nvPr>
            <p:ph idx="1"/>
            <p:extLst>
              <p:ext uri="{D42A27DB-BD31-4B8C-83A1-F6EECF244321}">
                <p14:modId xmlns:p14="http://schemas.microsoft.com/office/powerpoint/2010/main" val="1185147717"/>
              </p:ext>
            </p:extLst>
          </p:nvPr>
        </p:nvGraphicFramePr>
        <p:xfrm>
          <a:off x="384048" y="533400"/>
          <a:ext cx="8458327" cy="4123542"/>
        </p:xfrm>
        <a:graphic>
          <a:graphicData uri="http://schemas.openxmlformats.org/drawingml/2006/chart">
            <c:chart xmlns:c="http://schemas.openxmlformats.org/drawingml/2006/chart" xmlns:r="http://schemas.openxmlformats.org/officeDocument/2006/relationships" r:id="rId2"/>
          </a:graphicData>
        </a:graphic>
      </p:graphicFrame>
      <p:sp>
        <p:nvSpPr>
          <p:cNvPr id="3" name="Title 2">
            <a:extLst>
              <a:ext uri="{FF2B5EF4-FFF2-40B4-BE49-F238E27FC236}">
                <a16:creationId xmlns:a16="http://schemas.microsoft.com/office/drawing/2014/main" id="{6387C5FC-37BE-27CF-E42C-D9A249A2ECD5}"/>
              </a:ext>
            </a:extLst>
          </p:cNvPr>
          <p:cNvSpPr>
            <a:spLocks noGrp="1"/>
          </p:cNvSpPr>
          <p:nvPr>
            <p:ph type="title"/>
          </p:nvPr>
        </p:nvSpPr>
        <p:spPr/>
        <p:txBody>
          <a:bodyPr/>
          <a:lstStyle/>
          <a:p>
            <a:r>
              <a:rPr lang="en-US" dirty="0">
                <a:ea typeface="ＭＳ Ｐゴシック" charset="0"/>
                <a:cs typeface="ＭＳ Ｐゴシック" charset="0"/>
              </a:rPr>
              <a:t> Real YTM:  Treasuries and TIPS (Sept 2026)</a:t>
            </a:r>
            <a:endParaRPr lang="en-US" dirty="0"/>
          </a:p>
        </p:txBody>
      </p:sp>
      <p:sp>
        <p:nvSpPr>
          <p:cNvPr id="4" name="Slide Number Placeholder 3">
            <a:extLst>
              <a:ext uri="{FF2B5EF4-FFF2-40B4-BE49-F238E27FC236}">
                <a16:creationId xmlns:a16="http://schemas.microsoft.com/office/drawing/2014/main" id="{7E658997-F8D5-E956-CDEF-D3068E4A4C8E}"/>
              </a:ext>
            </a:extLst>
          </p:cNvPr>
          <p:cNvSpPr>
            <a:spLocks noGrp="1"/>
          </p:cNvSpPr>
          <p:nvPr>
            <p:ph type="sldNum" sz="quarter" idx="10"/>
          </p:nvPr>
        </p:nvSpPr>
        <p:spPr/>
        <p:txBody>
          <a:bodyPr/>
          <a:lstStyle/>
          <a:p>
            <a:fld id="{7B3E355C-57B9-BC4B-95D8-406A1F834537}" type="slidenum">
              <a:rPr lang="en-US" altLang="en-US" smtClean="0"/>
              <a:pPr/>
              <a:t>41</a:t>
            </a:fld>
            <a:endParaRPr lang="en-US" altLang="en-US" dirty="0"/>
          </a:p>
        </p:txBody>
      </p:sp>
      <p:sp>
        <p:nvSpPr>
          <p:cNvPr id="5" name="Footer Placeholder 4">
            <a:extLst>
              <a:ext uri="{FF2B5EF4-FFF2-40B4-BE49-F238E27FC236}">
                <a16:creationId xmlns:a16="http://schemas.microsoft.com/office/drawing/2014/main" id="{35B73DC1-DBD2-61ED-1703-3FE584F88FFE}"/>
              </a:ext>
            </a:extLst>
          </p:cNvPr>
          <p:cNvSpPr>
            <a:spLocks noGrp="1"/>
          </p:cNvSpPr>
          <p:nvPr>
            <p:ph type="ftr" sz="quarter" idx="11"/>
          </p:nvPr>
        </p:nvSpPr>
        <p:spPr/>
        <p:txBody>
          <a:bodyPr/>
          <a:lstStyle/>
          <a:p>
            <a:pPr>
              <a:defRPr/>
            </a:pPr>
            <a:r>
              <a:rPr lang="en-US"/>
              <a:t>Varying Rates of Return</a:t>
            </a:r>
            <a:endParaRPr lang="en-US" dirty="0"/>
          </a:p>
        </p:txBody>
      </p:sp>
      <p:graphicFrame>
        <p:nvGraphicFramePr>
          <p:cNvPr id="8" name="Table 7">
            <a:extLst>
              <a:ext uri="{FF2B5EF4-FFF2-40B4-BE49-F238E27FC236}">
                <a16:creationId xmlns:a16="http://schemas.microsoft.com/office/drawing/2014/main" id="{342FC465-8FFD-AC8E-3213-6AA95A67704E}"/>
              </a:ext>
            </a:extLst>
          </p:cNvPr>
          <p:cNvGraphicFramePr>
            <a:graphicFrameLocks noGrp="1"/>
          </p:cNvGraphicFramePr>
          <p:nvPr>
            <p:extLst>
              <p:ext uri="{D42A27DB-BD31-4B8C-83A1-F6EECF244321}">
                <p14:modId xmlns:p14="http://schemas.microsoft.com/office/powerpoint/2010/main" val="394460049"/>
              </p:ext>
            </p:extLst>
          </p:nvPr>
        </p:nvGraphicFramePr>
        <p:xfrm>
          <a:off x="1752600" y="4774832"/>
          <a:ext cx="4340581" cy="1549767"/>
        </p:xfrm>
        <a:graphic>
          <a:graphicData uri="http://schemas.openxmlformats.org/drawingml/2006/table">
            <a:tbl>
              <a:tblPr>
                <a:tableStyleId>{5C22544A-7EE6-4342-B048-85BDC9FD1C3A}</a:tableStyleId>
              </a:tblPr>
              <a:tblGrid>
                <a:gridCol w="1295400">
                  <a:extLst>
                    <a:ext uri="{9D8B030D-6E8A-4147-A177-3AD203B41FA5}">
                      <a16:colId xmlns:a16="http://schemas.microsoft.com/office/drawing/2014/main" val="1046577850"/>
                    </a:ext>
                  </a:extLst>
                </a:gridCol>
                <a:gridCol w="594424">
                  <a:extLst>
                    <a:ext uri="{9D8B030D-6E8A-4147-A177-3AD203B41FA5}">
                      <a16:colId xmlns:a16="http://schemas.microsoft.com/office/drawing/2014/main" val="448140532"/>
                    </a:ext>
                  </a:extLst>
                </a:gridCol>
                <a:gridCol w="1155357">
                  <a:extLst>
                    <a:ext uri="{9D8B030D-6E8A-4147-A177-3AD203B41FA5}">
                      <a16:colId xmlns:a16="http://schemas.microsoft.com/office/drawing/2014/main" val="2265778944"/>
                    </a:ext>
                  </a:extLst>
                </a:gridCol>
                <a:gridCol w="1295400">
                  <a:extLst>
                    <a:ext uri="{9D8B030D-6E8A-4147-A177-3AD203B41FA5}">
                      <a16:colId xmlns:a16="http://schemas.microsoft.com/office/drawing/2014/main" val="2848331156"/>
                    </a:ext>
                  </a:extLst>
                </a:gridCol>
              </a:tblGrid>
              <a:tr h="333457">
                <a:tc>
                  <a:txBody>
                    <a:bodyPr/>
                    <a:lstStyle/>
                    <a:p>
                      <a:pPr algn="ctr" rtl="0" fontAlgn="b"/>
                      <a:r>
                        <a:rPr lang="en-US" sz="1200" b="1" u="none" strike="noStrike" dirty="0">
                          <a:effectLst/>
                        </a:rPr>
                        <a:t>Term</a:t>
                      </a:r>
                      <a:endParaRPr lang="en-US" sz="1200" b="1" i="0" u="none" strike="noStrike" dirty="0">
                        <a:solidFill>
                          <a:srgbClr val="000000"/>
                        </a:solidFill>
                        <a:effectLst/>
                        <a:latin typeface="Calibri" panose="020F0502020204030204" pitchFamily="34" charset="0"/>
                      </a:endParaRPr>
                    </a:p>
                  </a:txBody>
                  <a:tcPr marL="9525" marR="9525" marT="9525" marB="0" anchor="ctr">
                    <a:solidFill>
                      <a:schemeClr val="accent1">
                        <a:lumMod val="40000"/>
                        <a:lumOff val="60000"/>
                      </a:schemeClr>
                    </a:solidFill>
                  </a:tcPr>
                </a:tc>
                <a:tc>
                  <a:txBody>
                    <a:bodyPr/>
                    <a:lstStyle/>
                    <a:p>
                      <a:pPr algn="ctr" rtl="0" fontAlgn="b"/>
                      <a:r>
                        <a:rPr lang="en-US" sz="1200" b="1" u="none" strike="noStrike" dirty="0">
                          <a:effectLst/>
                        </a:rPr>
                        <a:t>Treasury</a:t>
                      </a:r>
                      <a:endParaRPr lang="en-US" sz="1200" b="1" i="0" u="none" strike="noStrike" dirty="0">
                        <a:solidFill>
                          <a:srgbClr val="000000"/>
                        </a:solidFill>
                        <a:effectLst/>
                        <a:latin typeface="Calibri" panose="020F0502020204030204" pitchFamily="34" charset="0"/>
                      </a:endParaRPr>
                    </a:p>
                  </a:txBody>
                  <a:tcPr marL="9525" marR="9525" marT="9525" marB="0" anchor="ctr">
                    <a:solidFill>
                      <a:schemeClr val="accent1">
                        <a:lumMod val="40000"/>
                        <a:lumOff val="60000"/>
                      </a:schemeClr>
                    </a:solidFill>
                  </a:tcPr>
                </a:tc>
                <a:tc>
                  <a:txBody>
                    <a:bodyPr/>
                    <a:lstStyle/>
                    <a:p>
                      <a:pPr algn="ctr" rtl="0" fontAlgn="b"/>
                      <a:r>
                        <a:rPr lang="en-US" sz="1200" b="1" u="none" strike="noStrike" dirty="0">
                          <a:effectLst/>
                        </a:rPr>
                        <a:t>TIPS</a:t>
                      </a:r>
                      <a:endParaRPr lang="en-US" sz="1200" b="1" i="0" u="none" strike="noStrike" dirty="0">
                        <a:solidFill>
                          <a:srgbClr val="000000"/>
                        </a:solidFill>
                        <a:effectLst/>
                        <a:latin typeface="Calibri" panose="020F0502020204030204" pitchFamily="34" charset="0"/>
                      </a:endParaRPr>
                    </a:p>
                  </a:txBody>
                  <a:tcPr marL="9525" marR="9525" marT="9525" marB="0" anchor="ctr">
                    <a:solidFill>
                      <a:schemeClr val="accent1">
                        <a:lumMod val="40000"/>
                        <a:lumOff val="60000"/>
                      </a:schemeClr>
                    </a:solidFill>
                  </a:tcPr>
                </a:tc>
                <a:tc>
                  <a:txBody>
                    <a:bodyPr/>
                    <a:lstStyle/>
                    <a:p>
                      <a:pPr algn="ctr" rtl="0" fontAlgn="b"/>
                      <a:r>
                        <a:rPr lang="en-US" sz="1200" b="1" u="none" strike="noStrike" dirty="0">
                          <a:effectLst/>
                        </a:rPr>
                        <a:t>Implied Inflation</a:t>
                      </a:r>
                      <a:endParaRPr lang="en-US" sz="1200" b="1" i="0" u="none" strike="noStrike" dirty="0">
                        <a:solidFill>
                          <a:srgbClr val="000000"/>
                        </a:solidFill>
                        <a:effectLst/>
                        <a:latin typeface="Calibri" panose="020F0502020204030204" pitchFamily="34" charset="0"/>
                      </a:endParaRPr>
                    </a:p>
                  </a:txBody>
                  <a:tcPr marL="9525" marR="9525" marT="9525" marB="0" anchor="ctr">
                    <a:solidFill>
                      <a:schemeClr val="accent1">
                        <a:lumMod val="40000"/>
                        <a:lumOff val="60000"/>
                      </a:schemeClr>
                    </a:solidFill>
                  </a:tcPr>
                </a:tc>
                <a:extLst>
                  <a:ext uri="{0D108BD9-81ED-4DB2-BD59-A6C34878D82A}">
                    <a16:rowId xmlns:a16="http://schemas.microsoft.com/office/drawing/2014/main" val="1997977060"/>
                  </a:ext>
                </a:extLst>
              </a:tr>
              <a:tr h="243262">
                <a:tc>
                  <a:txBody>
                    <a:bodyPr/>
                    <a:lstStyle/>
                    <a:p>
                      <a:pPr algn="ctr">
                        <a:buNone/>
                      </a:pPr>
                      <a:r>
                        <a:rPr lang="en-US" sz="1400">
                          <a:effectLst/>
                          <a:latin typeface="Calibri" panose="020F0502020204030204" pitchFamily="34" charset="0"/>
                        </a:rPr>
                        <a:t>5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4.54%</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2.17%</a:t>
                      </a:r>
                    </a:p>
                  </a:txBody>
                  <a:tcPr marL="47625" marR="47625" marT="0" marB="0" anchor="ctr">
                    <a:solidFill>
                      <a:schemeClr val="bg2"/>
                    </a:solidFill>
                  </a:tcPr>
                </a:tc>
                <a:tc>
                  <a:txBody>
                    <a:bodyPr/>
                    <a:lstStyle/>
                    <a:p>
                      <a:pPr algn="ctr" rtl="0" fontAlgn="b">
                        <a:buNone/>
                      </a:pPr>
                      <a:r>
                        <a:rPr lang="en-US" sz="1400" b="0" i="0" u="none" strike="noStrike">
                          <a:solidFill>
                            <a:srgbClr val="000000"/>
                          </a:solidFill>
                          <a:effectLst/>
                          <a:latin typeface="Calibri" panose="020F0502020204030204" pitchFamily="34" charset="0"/>
                        </a:rPr>
                        <a:t>2.37%</a:t>
                      </a:r>
                    </a:p>
                  </a:txBody>
                  <a:tcPr marL="9525" marR="9525" marT="9525" marB="0" anchor="b">
                    <a:solidFill>
                      <a:schemeClr val="bg2"/>
                    </a:solidFill>
                  </a:tcPr>
                </a:tc>
                <a:extLst>
                  <a:ext uri="{0D108BD9-81ED-4DB2-BD59-A6C34878D82A}">
                    <a16:rowId xmlns:a16="http://schemas.microsoft.com/office/drawing/2014/main" val="2145051975"/>
                  </a:ext>
                </a:extLst>
              </a:tr>
              <a:tr h="243262">
                <a:tc>
                  <a:txBody>
                    <a:bodyPr/>
                    <a:lstStyle/>
                    <a:p>
                      <a:pPr algn="ctr">
                        <a:buNone/>
                      </a:pPr>
                      <a:r>
                        <a:rPr lang="en-US" sz="1400">
                          <a:effectLst/>
                          <a:latin typeface="Calibri" panose="020F0502020204030204" pitchFamily="34" charset="0"/>
                        </a:rPr>
                        <a:t>7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4.65%</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2.29%</a:t>
                      </a:r>
                    </a:p>
                  </a:txBody>
                  <a:tcPr marL="47625" marR="47625" marT="0" marB="0" anchor="ctr">
                    <a:solidFill>
                      <a:schemeClr val="bg2"/>
                    </a:solidFill>
                  </a:tcPr>
                </a:tc>
                <a:tc>
                  <a:txBody>
                    <a:bodyPr/>
                    <a:lstStyle/>
                    <a:p>
                      <a:pPr algn="ctr" rtl="0" fontAlgn="b">
                        <a:buNone/>
                      </a:pPr>
                      <a:r>
                        <a:rPr lang="en-US" sz="1400" b="0" i="0" u="none" strike="noStrike">
                          <a:solidFill>
                            <a:srgbClr val="000000"/>
                          </a:solidFill>
                          <a:effectLst/>
                          <a:latin typeface="Calibri" panose="020F0502020204030204" pitchFamily="34" charset="0"/>
                        </a:rPr>
                        <a:t>2.36%</a:t>
                      </a:r>
                    </a:p>
                  </a:txBody>
                  <a:tcPr marL="9525" marR="9525" marT="9525" marB="0" anchor="b">
                    <a:solidFill>
                      <a:schemeClr val="bg2"/>
                    </a:solidFill>
                  </a:tcPr>
                </a:tc>
                <a:extLst>
                  <a:ext uri="{0D108BD9-81ED-4DB2-BD59-A6C34878D82A}">
                    <a16:rowId xmlns:a16="http://schemas.microsoft.com/office/drawing/2014/main" val="1437253263"/>
                  </a:ext>
                </a:extLst>
              </a:tr>
              <a:tr h="243262">
                <a:tc>
                  <a:txBody>
                    <a:bodyPr/>
                    <a:lstStyle/>
                    <a:p>
                      <a:pPr algn="ctr">
                        <a:buNone/>
                      </a:pPr>
                      <a:r>
                        <a:rPr lang="en-US" sz="1400">
                          <a:effectLst/>
                          <a:latin typeface="Calibri" panose="020F0502020204030204" pitchFamily="34" charset="0"/>
                        </a:rPr>
                        <a:t>10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4.78%</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2.43%</a:t>
                      </a:r>
                    </a:p>
                  </a:txBody>
                  <a:tcPr marL="47625" marR="47625" marT="0" marB="0" anchor="ctr">
                    <a:solidFill>
                      <a:schemeClr val="bg2"/>
                    </a:solidFill>
                  </a:tcPr>
                </a:tc>
                <a:tc>
                  <a:txBody>
                    <a:bodyPr/>
                    <a:lstStyle/>
                    <a:p>
                      <a:pPr algn="ctr" rtl="0" fontAlgn="b">
                        <a:buNone/>
                      </a:pPr>
                      <a:r>
                        <a:rPr lang="en-US" sz="1400" b="0" i="0" u="none" strike="noStrike">
                          <a:solidFill>
                            <a:srgbClr val="000000"/>
                          </a:solidFill>
                          <a:effectLst/>
                          <a:latin typeface="Calibri" panose="020F0502020204030204" pitchFamily="34" charset="0"/>
                        </a:rPr>
                        <a:t>2.35%</a:t>
                      </a:r>
                    </a:p>
                  </a:txBody>
                  <a:tcPr marL="9525" marR="9525" marT="9525" marB="0" anchor="b">
                    <a:solidFill>
                      <a:schemeClr val="bg2"/>
                    </a:solidFill>
                  </a:tcPr>
                </a:tc>
                <a:extLst>
                  <a:ext uri="{0D108BD9-81ED-4DB2-BD59-A6C34878D82A}">
                    <a16:rowId xmlns:a16="http://schemas.microsoft.com/office/drawing/2014/main" val="4253530423"/>
                  </a:ext>
                </a:extLst>
              </a:tr>
              <a:tr h="243262">
                <a:tc>
                  <a:txBody>
                    <a:bodyPr/>
                    <a:lstStyle/>
                    <a:p>
                      <a:pPr algn="ctr">
                        <a:buNone/>
                      </a:pPr>
                      <a:r>
                        <a:rPr lang="en-US" sz="1400" dirty="0">
                          <a:effectLst/>
                          <a:latin typeface="Calibri" panose="020F0502020204030204" pitchFamily="34" charset="0"/>
                        </a:rPr>
                        <a:t>20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5.25%</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2.77%</a:t>
                      </a:r>
                    </a:p>
                  </a:txBody>
                  <a:tcPr marL="47625" marR="47625" marT="0" marB="0" anchor="ctr">
                    <a:solidFill>
                      <a:schemeClr val="bg2"/>
                    </a:solidFill>
                  </a:tcPr>
                </a:tc>
                <a:tc>
                  <a:txBody>
                    <a:bodyPr/>
                    <a:lstStyle/>
                    <a:p>
                      <a:pPr algn="ctr" rtl="0" fontAlgn="b">
                        <a:buNone/>
                      </a:pPr>
                      <a:r>
                        <a:rPr lang="en-US" sz="1400" b="0" i="0" u="none" strike="noStrike">
                          <a:solidFill>
                            <a:srgbClr val="000000"/>
                          </a:solidFill>
                          <a:effectLst/>
                          <a:latin typeface="Calibri" panose="020F0502020204030204" pitchFamily="34" charset="0"/>
                        </a:rPr>
                        <a:t>2.48%</a:t>
                      </a:r>
                    </a:p>
                  </a:txBody>
                  <a:tcPr marL="9525" marR="9525" marT="9525" marB="0" anchor="b">
                    <a:solidFill>
                      <a:schemeClr val="bg2"/>
                    </a:solidFill>
                  </a:tcPr>
                </a:tc>
                <a:extLst>
                  <a:ext uri="{0D108BD9-81ED-4DB2-BD59-A6C34878D82A}">
                    <a16:rowId xmlns:a16="http://schemas.microsoft.com/office/drawing/2014/main" val="2855909474"/>
                  </a:ext>
                </a:extLst>
              </a:tr>
              <a:tr h="243262">
                <a:tc>
                  <a:txBody>
                    <a:bodyPr/>
                    <a:lstStyle/>
                    <a:p>
                      <a:pPr algn="ctr">
                        <a:buNone/>
                      </a:pPr>
                      <a:r>
                        <a:rPr lang="en-US" sz="1400">
                          <a:effectLst/>
                          <a:latin typeface="Calibri" panose="020F0502020204030204" pitchFamily="34" charset="0"/>
                        </a:rPr>
                        <a:t>30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5.24%</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2.96%</a:t>
                      </a:r>
                    </a:p>
                  </a:txBody>
                  <a:tcPr marL="47625" marR="47625" marT="0" marB="0" anchor="ctr">
                    <a:solidFill>
                      <a:schemeClr val="bg2"/>
                    </a:solidFill>
                  </a:tcPr>
                </a:tc>
                <a:tc>
                  <a:txBody>
                    <a:bodyPr/>
                    <a:lstStyle/>
                    <a:p>
                      <a:pPr algn="ctr" rtl="0" fontAlgn="b">
                        <a:buNone/>
                      </a:pPr>
                      <a:r>
                        <a:rPr lang="en-US" sz="1400" b="0" i="0" u="none" strike="noStrike" dirty="0">
                          <a:solidFill>
                            <a:srgbClr val="000000"/>
                          </a:solidFill>
                          <a:effectLst/>
                          <a:latin typeface="Calibri" panose="020F0502020204030204" pitchFamily="34" charset="0"/>
                        </a:rPr>
                        <a:t>2.28%</a:t>
                      </a:r>
                    </a:p>
                  </a:txBody>
                  <a:tcPr marL="9525" marR="9525" marT="9525" marB="0" anchor="b">
                    <a:solidFill>
                      <a:schemeClr val="bg2"/>
                    </a:solidFill>
                  </a:tcPr>
                </a:tc>
                <a:extLst>
                  <a:ext uri="{0D108BD9-81ED-4DB2-BD59-A6C34878D82A}">
                    <a16:rowId xmlns:a16="http://schemas.microsoft.com/office/drawing/2014/main" val="590048102"/>
                  </a:ext>
                </a:extLst>
              </a:tr>
            </a:tbl>
          </a:graphicData>
        </a:graphic>
      </p:graphicFrame>
    </p:spTree>
    <p:extLst>
      <p:ext uri="{BB962C8B-B14F-4D97-AF65-F5344CB8AC3E}">
        <p14:creationId xmlns:p14="http://schemas.microsoft.com/office/powerpoint/2010/main" val="28942029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784240-D8D0-914D-9CF5-ABA8E3A18626}"/>
              </a:ext>
            </a:extLst>
          </p:cNvPr>
          <p:cNvSpPr>
            <a:spLocks noGrp="1"/>
          </p:cNvSpPr>
          <p:nvPr>
            <p:ph type="title"/>
          </p:nvPr>
        </p:nvSpPr>
        <p:spPr/>
        <p:txBody>
          <a:bodyPr/>
          <a:lstStyle/>
          <a:p>
            <a:r>
              <a:rPr lang="en-US" dirty="0">
                <a:ea typeface="ＭＳ Ｐゴシック" charset="0"/>
                <a:cs typeface="ＭＳ Ｐゴシック" charset="0"/>
              </a:rPr>
              <a:t> Real YTM:  Treasuries and TIPS (</a:t>
            </a:r>
            <a:r>
              <a:rPr lang="en-US" dirty="0">
                <a:highlight>
                  <a:srgbClr val="FFFF00"/>
                </a:highlight>
                <a:ea typeface="ＭＳ Ｐゴシック" charset="0"/>
                <a:cs typeface="ＭＳ Ｐゴシック" charset="0"/>
              </a:rPr>
              <a:t>Sept 2020</a:t>
            </a:r>
            <a:r>
              <a:rPr lang="en-US" dirty="0">
                <a:ea typeface="ＭＳ Ｐゴシック" charset="0"/>
                <a:cs typeface="ＭＳ Ｐゴシック" charset="0"/>
              </a:rPr>
              <a:t>)</a:t>
            </a:r>
            <a:endParaRPr lang="en-US" dirty="0"/>
          </a:p>
        </p:txBody>
      </p:sp>
      <p:sp>
        <p:nvSpPr>
          <p:cNvPr id="4" name="Slide Number Placeholder 3">
            <a:extLst>
              <a:ext uri="{FF2B5EF4-FFF2-40B4-BE49-F238E27FC236}">
                <a16:creationId xmlns:a16="http://schemas.microsoft.com/office/drawing/2014/main" id="{3855C9A1-8CBB-254A-AD58-8F1ADC1A5F33}"/>
              </a:ext>
            </a:extLst>
          </p:cNvPr>
          <p:cNvSpPr>
            <a:spLocks noGrp="1"/>
          </p:cNvSpPr>
          <p:nvPr>
            <p:ph type="sldNum" sz="quarter" idx="10"/>
          </p:nvPr>
        </p:nvSpPr>
        <p:spPr/>
        <p:txBody>
          <a:bodyPr/>
          <a:lstStyle/>
          <a:p>
            <a:fld id="{7B3E355C-57B9-BC4B-95D8-406A1F834537}" type="slidenum">
              <a:rPr lang="en-US" altLang="en-US" smtClean="0"/>
              <a:pPr/>
              <a:t>42</a:t>
            </a:fld>
            <a:endParaRPr lang="en-US" altLang="en-US" dirty="0"/>
          </a:p>
        </p:txBody>
      </p:sp>
      <p:sp>
        <p:nvSpPr>
          <p:cNvPr id="5" name="Footer Placeholder 4">
            <a:extLst>
              <a:ext uri="{FF2B5EF4-FFF2-40B4-BE49-F238E27FC236}">
                <a16:creationId xmlns:a16="http://schemas.microsoft.com/office/drawing/2014/main" id="{2D259C78-B50A-5E4E-BF6D-201A8E2780D3}"/>
              </a:ext>
            </a:extLst>
          </p:cNvPr>
          <p:cNvSpPr>
            <a:spLocks noGrp="1"/>
          </p:cNvSpPr>
          <p:nvPr>
            <p:ph type="ftr" sz="quarter" idx="11"/>
          </p:nvPr>
        </p:nvSpPr>
        <p:spPr/>
        <p:txBody>
          <a:bodyPr/>
          <a:lstStyle/>
          <a:p>
            <a:pPr>
              <a:defRPr/>
            </a:pPr>
            <a:r>
              <a:rPr lang="en-US"/>
              <a:t>Varying Rates of Return</a:t>
            </a:r>
            <a:endParaRPr lang="en-US" dirty="0"/>
          </a:p>
        </p:txBody>
      </p:sp>
      <p:graphicFrame>
        <p:nvGraphicFramePr>
          <p:cNvPr id="6" name="Chart 5">
            <a:extLst>
              <a:ext uri="{FF2B5EF4-FFF2-40B4-BE49-F238E27FC236}">
                <a16:creationId xmlns:a16="http://schemas.microsoft.com/office/drawing/2014/main" id="{91FAF786-00FB-0548-ADEF-6D43F54BA8A1}"/>
              </a:ext>
            </a:extLst>
          </p:cNvPr>
          <p:cNvGraphicFramePr>
            <a:graphicFrameLocks/>
          </p:cNvGraphicFramePr>
          <p:nvPr>
            <p:extLst>
              <p:ext uri="{D42A27DB-BD31-4B8C-83A1-F6EECF244321}">
                <p14:modId xmlns:p14="http://schemas.microsoft.com/office/powerpoint/2010/main" val="1659530333"/>
              </p:ext>
            </p:extLst>
          </p:nvPr>
        </p:nvGraphicFramePr>
        <p:xfrm>
          <a:off x="384048" y="685800"/>
          <a:ext cx="8001000" cy="39624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Table 6">
            <a:extLst>
              <a:ext uri="{FF2B5EF4-FFF2-40B4-BE49-F238E27FC236}">
                <a16:creationId xmlns:a16="http://schemas.microsoft.com/office/drawing/2014/main" id="{923BB2A3-5917-3547-A639-B759B2C9C4AB}"/>
              </a:ext>
            </a:extLst>
          </p:cNvPr>
          <p:cNvGraphicFramePr>
            <a:graphicFrameLocks noGrp="1"/>
          </p:cNvGraphicFramePr>
          <p:nvPr>
            <p:extLst>
              <p:ext uri="{D42A27DB-BD31-4B8C-83A1-F6EECF244321}">
                <p14:modId xmlns:p14="http://schemas.microsoft.com/office/powerpoint/2010/main" val="3869280772"/>
              </p:ext>
            </p:extLst>
          </p:nvPr>
        </p:nvGraphicFramePr>
        <p:xfrm>
          <a:off x="655320" y="4855118"/>
          <a:ext cx="7421881" cy="1405854"/>
        </p:xfrm>
        <a:graphic>
          <a:graphicData uri="http://schemas.openxmlformats.org/drawingml/2006/table">
            <a:tbl>
              <a:tblPr>
                <a:tableStyleId>{5C22544A-7EE6-4342-B048-85BDC9FD1C3A}</a:tableStyleId>
              </a:tblPr>
              <a:tblGrid>
                <a:gridCol w="1708211">
                  <a:extLst>
                    <a:ext uri="{9D8B030D-6E8A-4147-A177-3AD203B41FA5}">
                      <a16:colId xmlns:a16="http://schemas.microsoft.com/office/drawing/2014/main" val="373357105"/>
                    </a:ext>
                  </a:extLst>
                </a:gridCol>
                <a:gridCol w="2120538">
                  <a:extLst>
                    <a:ext uri="{9D8B030D-6E8A-4147-A177-3AD203B41FA5}">
                      <a16:colId xmlns:a16="http://schemas.microsoft.com/office/drawing/2014/main" val="888073814"/>
                    </a:ext>
                  </a:extLst>
                </a:gridCol>
                <a:gridCol w="1708211">
                  <a:extLst>
                    <a:ext uri="{9D8B030D-6E8A-4147-A177-3AD203B41FA5}">
                      <a16:colId xmlns:a16="http://schemas.microsoft.com/office/drawing/2014/main" val="1958936916"/>
                    </a:ext>
                  </a:extLst>
                </a:gridCol>
                <a:gridCol w="1884921">
                  <a:extLst>
                    <a:ext uri="{9D8B030D-6E8A-4147-A177-3AD203B41FA5}">
                      <a16:colId xmlns:a16="http://schemas.microsoft.com/office/drawing/2014/main" val="3861292673"/>
                    </a:ext>
                  </a:extLst>
                </a:gridCol>
              </a:tblGrid>
              <a:tr h="291429">
                <a:tc>
                  <a:txBody>
                    <a:bodyPr/>
                    <a:lstStyle/>
                    <a:p>
                      <a:pPr algn="ctr" fontAlgn="b"/>
                      <a:r>
                        <a:rPr lang="en-US" sz="1200" b="1" u="none" strike="noStrike" dirty="0">
                          <a:effectLst/>
                        </a:rPr>
                        <a:t>Term</a:t>
                      </a:r>
                      <a:endParaRPr lang="en-US" sz="1200" b="1" i="0" u="none" strike="noStrike" dirty="0">
                        <a:effectLst/>
                        <a:latin typeface="Verdana" panose="020B0604030504040204" pitchFamily="34" charset="0"/>
                      </a:endParaRPr>
                    </a:p>
                  </a:txBody>
                  <a:tcPr marL="10478" marR="10478" marT="9525" marB="0" anchor="b">
                    <a:solidFill>
                      <a:schemeClr val="accent1">
                        <a:lumMod val="40000"/>
                        <a:lumOff val="60000"/>
                      </a:schemeClr>
                    </a:solidFill>
                  </a:tcPr>
                </a:tc>
                <a:tc>
                  <a:txBody>
                    <a:bodyPr/>
                    <a:lstStyle/>
                    <a:p>
                      <a:pPr algn="ctr" fontAlgn="b"/>
                      <a:r>
                        <a:rPr lang="en-US" sz="1200" b="1" u="none" strike="noStrike" dirty="0">
                          <a:effectLst/>
                        </a:rPr>
                        <a:t>Treasury</a:t>
                      </a:r>
                      <a:endParaRPr lang="en-US" sz="1200" b="1" i="0" u="none" strike="noStrike" dirty="0">
                        <a:effectLst/>
                        <a:latin typeface="Verdana" panose="020B0604030504040204" pitchFamily="34" charset="0"/>
                      </a:endParaRPr>
                    </a:p>
                  </a:txBody>
                  <a:tcPr marL="10478" marR="10478" marT="9525" marB="0" anchor="b">
                    <a:solidFill>
                      <a:schemeClr val="accent1">
                        <a:lumMod val="40000"/>
                        <a:lumOff val="60000"/>
                      </a:schemeClr>
                    </a:solidFill>
                  </a:tcPr>
                </a:tc>
                <a:tc>
                  <a:txBody>
                    <a:bodyPr/>
                    <a:lstStyle/>
                    <a:p>
                      <a:pPr algn="ctr" fontAlgn="b"/>
                      <a:r>
                        <a:rPr lang="en-US" sz="1200" b="1" u="none" strike="noStrike" dirty="0">
                          <a:effectLst/>
                        </a:rPr>
                        <a:t>TIPS</a:t>
                      </a:r>
                      <a:endParaRPr lang="en-US" sz="1200" b="1" i="0" u="none" strike="noStrike" dirty="0">
                        <a:effectLst/>
                        <a:latin typeface="Verdana" panose="020B0604030504040204" pitchFamily="34" charset="0"/>
                      </a:endParaRPr>
                    </a:p>
                  </a:txBody>
                  <a:tcPr marL="10478" marR="10478" marT="9525" marB="0" anchor="b">
                    <a:solidFill>
                      <a:schemeClr val="accent1">
                        <a:lumMod val="40000"/>
                        <a:lumOff val="60000"/>
                      </a:schemeClr>
                    </a:solidFill>
                  </a:tcPr>
                </a:tc>
                <a:tc>
                  <a:txBody>
                    <a:bodyPr/>
                    <a:lstStyle/>
                    <a:p>
                      <a:pPr algn="ctr" fontAlgn="b"/>
                      <a:r>
                        <a:rPr lang="en-US" sz="1200" b="1" u="none" strike="noStrike" dirty="0">
                          <a:effectLst/>
                        </a:rPr>
                        <a:t>Implied Inflation</a:t>
                      </a:r>
                      <a:endParaRPr lang="en-US" sz="1200" b="1" i="0" u="none" strike="noStrike" dirty="0">
                        <a:effectLst/>
                        <a:latin typeface="Verdana" panose="020B0604030504040204" pitchFamily="34" charset="0"/>
                      </a:endParaRPr>
                    </a:p>
                  </a:txBody>
                  <a:tcPr marL="10478" marR="10478" marT="9525" marB="0" anchor="b">
                    <a:solidFill>
                      <a:schemeClr val="accent1">
                        <a:lumMod val="40000"/>
                        <a:lumOff val="60000"/>
                      </a:schemeClr>
                    </a:solidFill>
                  </a:tcPr>
                </a:tc>
                <a:extLst>
                  <a:ext uri="{0D108BD9-81ED-4DB2-BD59-A6C34878D82A}">
                    <a16:rowId xmlns:a16="http://schemas.microsoft.com/office/drawing/2014/main" val="3728475753"/>
                  </a:ext>
                </a:extLst>
              </a:tr>
              <a:tr h="213108">
                <a:tc>
                  <a:txBody>
                    <a:bodyPr/>
                    <a:lstStyle/>
                    <a:p>
                      <a:pPr algn="ctr" fontAlgn="b"/>
                      <a:r>
                        <a:rPr lang="en-US" sz="1400" u="none" strike="noStrike" dirty="0">
                          <a:effectLst/>
                        </a:rPr>
                        <a:t>5 YR</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0.24%</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-1.29%</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1.55%</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3918763232"/>
                  </a:ext>
                </a:extLst>
              </a:tr>
              <a:tr h="213108">
                <a:tc>
                  <a:txBody>
                    <a:bodyPr/>
                    <a:lstStyle/>
                    <a:p>
                      <a:pPr algn="ctr" fontAlgn="b"/>
                      <a:r>
                        <a:rPr lang="en-US" sz="1400" u="none" strike="noStrike">
                          <a:effectLst/>
                        </a:rPr>
                        <a:t>7 YR</a:t>
                      </a:r>
                      <a:endParaRPr lang="en-US" sz="1400" b="0" i="0" u="none" strike="noStrike">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0.43%</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-1.18%</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1.63%</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3303839115"/>
                  </a:ext>
                </a:extLst>
              </a:tr>
              <a:tr h="213108">
                <a:tc>
                  <a:txBody>
                    <a:bodyPr/>
                    <a:lstStyle/>
                    <a:p>
                      <a:pPr algn="ctr" fontAlgn="b"/>
                      <a:r>
                        <a:rPr lang="en-US" sz="1400" u="none" strike="noStrike" dirty="0">
                          <a:effectLst/>
                        </a:rPr>
                        <a:t>10 YR</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0.63%</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-1.02%</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1.67%</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4156231529"/>
                  </a:ext>
                </a:extLst>
              </a:tr>
              <a:tr h="213108">
                <a:tc>
                  <a:txBody>
                    <a:bodyPr/>
                    <a:lstStyle/>
                    <a:p>
                      <a:pPr algn="ctr" fontAlgn="b"/>
                      <a:r>
                        <a:rPr lang="en-US" sz="1400" u="none" strike="noStrike" dirty="0">
                          <a:effectLst/>
                        </a:rPr>
                        <a:t>20 YR</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1.13%</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-0.65%</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1.79%</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4242462844"/>
                  </a:ext>
                </a:extLst>
              </a:tr>
              <a:tr h="213108">
                <a:tc>
                  <a:txBody>
                    <a:bodyPr/>
                    <a:lstStyle/>
                    <a:p>
                      <a:pPr algn="ctr" fontAlgn="b"/>
                      <a:r>
                        <a:rPr lang="en-US" sz="1400" u="none" strike="noStrike" dirty="0">
                          <a:effectLst/>
                        </a:rPr>
                        <a:t>30 YR</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1.34%</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-0.39%</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1.74%</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182556989"/>
                  </a:ext>
                </a:extLst>
              </a:tr>
            </a:tbl>
          </a:graphicData>
        </a:graphic>
      </p:graphicFrame>
      <p:sp>
        <p:nvSpPr>
          <p:cNvPr id="2" name="Left Brace 1">
            <a:extLst>
              <a:ext uri="{FF2B5EF4-FFF2-40B4-BE49-F238E27FC236}">
                <a16:creationId xmlns:a16="http://schemas.microsoft.com/office/drawing/2014/main" id="{FF4006D2-804E-C04B-85F2-DF087BE1E18E}"/>
              </a:ext>
            </a:extLst>
          </p:cNvPr>
          <p:cNvSpPr/>
          <p:nvPr/>
        </p:nvSpPr>
        <p:spPr>
          <a:xfrm>
            <a:off x="381000" y="3124200"/>
            <a:ext cx="548640" cy="1524000"/>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Tree>
    <p:extLst>
      <p:ext uri="{BB962C8B-B14F-4D97-AF65-F5344CB8AC3E}">
        <p14:creationId xmlns:p14="http://schemas.microsoft.com/office/powerpoint/2010/main" val="78758057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98486092-C0ED-2973-0182-8A4A56205CC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3400" y="685800"/>
            <a:ext cx="8229600" cy="5410200"/>
          </a:xfrm>
          <a:prstGeom prst="rect">
            <a:avLst/>
          </a:prstGeom>
        </p:spPr>
      </p:pic>
      <p:sp>
        <p:nvSpPr>
          <p:cNvPr id="3" name="Title 2">
            <a:extLst>
              <a:ext uri="{FF2B5EF4-FFF2-40B4-BE49-F238E27FC236}">
                <a16:creationId xmlns:a16="http://schemas.microsoft.com/office/drawing/2014/main" id="{9B65EC4A-7029-8332-5AAA-1D9F768B9C3E}"/>
              </a:ext>
            </a:extLst>
          </p:cNvPr>
          <p:cNvSpPr>
            <a:spLocks noGrp="1"/>
          </p:cNvSpPr>
          <p:nvPr>
            <p:ph type="title"/>
          </p:nvPr>
        </p:nvSpPr>
        <p:spPr/>
        <p:txBody>
          <a:bodyPr/>
          <a:lstStyle/>
          <a:p>
            <a:r>
              <a:rPr lang="en-US" dirty="0"/>
              <a:t>Don’t Worry, the LT Trend is Cleary Downward</a:t>
            </a:r>
          </a:p>
        </p:txBody>
      </p:sp>
      <p:sp>
        <p:nvSpPr>
          <p:cNvPr id="4" name="Slide Number Placeholder 3">
            <a:extLst>
              <a:ext uri="{FF2B5EF4-FFF2-40B4-BE49-F238E27FC236}">
                <a16:creationId xmlns:a16="http://schemas.microsoft.com/office/drawing/2014/main" id="{ADBC2820-84DF-8E39-1864-C34C41E4DEB2}"/>
              </a:ext>
            </a:extLst>
          </p:cNvPr>
          <p:cNvSpPr>
            <a:spLocks noGrp="1"/>
          </p:cNvSpPr>
          <p:nvPr>
            <p:ph type="sldNum" sz="quarter" idx="10"/>
          </p:nvPr>
        </p:nvSpPr>
        <p:spPr/>
        <p:txBody>
          <a:bodyPr/>
          <a:lstStyle/>
          <a:p>
            <a:fld id="{7B3E355C-57B9-BC4B-95D8-406A1F834537}" type="slidenum">
              <a:rPr lang="en-US" altLang="en-US" smtClean="0"/>
              <a:pPr/>
              <a:t>43</a:t>
            </a:fld>
            <a:endParaRPr lang="en-US" altLang="en-US" dirty="0"/>
          </a:p>
        </p:txBody>
      </p:sp>
      <p:sp>
        <p:nvSpPr>
          <p:cNvPr id="5" name="Footer Placeholder 4">
            <a:extLst>
              <a:ext uri="{FF2B5EF4-FFF2-40B4-BE49-F238E27FC236}">
                <a16:creationId xmlns:a16="http://schemas.microsoft.com/office/drawing/2014/main" id="{CE7769D1-2184-8857-4C6F-A402AAB7CF0A}"/>
              </a:ext>
            </a:extLst>
          </p:cNvPr>
          <p:cNvSpPr>
            <a:spLocks noGrp="1"/>
          </p:cNvSpPr>
          <p:nvPr>
            <p:ph type="ftr" sz="quarter" idx="11"/>
          </p:nvPr>
        </p:nvSpPr>
        <p:spPr/>
        <p:txBody>
          <a:bodyPr/>
          <a:lstStyle/>
          <a:p>
            <a:pPr>
              <a:defRPr/>
            </a:pPr>
            <a:r>
              <a:rPr lang="en-US"/>
              <a:t>Varying Rates of Return</a:t>
            </a:r>
            <a:endParaRPr lang="en-US" dirty="0"/>
          </a:p>
        </p:txBody>
      </p:sp>
    </p:spTree>
    <p:extLst>
      <p:ext uri="{BB962C8B-B14F-4D97-AF65-F5344CB8AC3E}">
        <p14:creationId xmlns:p14="http://schemas.microsoft.com/office/powerpoint/2010/main" val="1061301959"/>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22080</TotalTime>
  <Words>2927</Words>
  <Application>Microsoft Macintosh PowerPoint</Application>
  <PresentationFormat>On-screen Show (4:3)</PresentationFormat>
  <Paragraphs>585</Paragraphs>
  <Slides>43</Slides>
  <Notes>26</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3</vt:i4>
      </vt:variant>
      <vt:variant>
        <vt:lpstr>Slide Titles</vt:lpstr>
      </vt:variant>
      <vt:variant>
        <vt:i4>43</vt:i4>
      </vt:variant>
    </vt:vector>
  </HeadingPairs>
  <TitlesOfParts>
    <vt:vector size="59" baseType="lpstr">
      <vt:lpstr>ＭＳ Ｐゴシック</vt:lpstr>
      <vt:lpstr>NSimSun</vt:lpstr>
      <vt:lpstr>Arial</vt:lpstr>
      <vt:lpstr>Book Antiqua</vt:lpstr>
      <vt:lpstr>Calibri</vt:lpstr>
      <vt:lpstr>Cambria Math</vt:lpstr>
      <vt:lpstr>Courier New</vt:lpstr>
      <vt:lpstr>Symbol</vt:lpstr>
      <vt:lpstr>Times New Roman</vt:lpstr>
      <vt:lpstr>Verdana</vt:lpstr>
      <vt:lpstr>Wingdings</vt:lpstr>
      <vt:lpstr>Wingdings 2</vt:lpstr>
      <vt:lpstr>CG Body - Standard</vt:lpstr>
      <vt:lpstr>Equation</vt:lpstr>
      <vt:lpstr>Worksheet</vt:lpstr>
      <vt:lpstr>Microsoft Excel Worksheet</vt:lpstr>
      <vt:lpstr>PowerPoint Presentation</vt:lpstr>
      <vt:lpstr>Overview</vt:lpstr>
      <vt:lpstr>Time Varying Rates of Return &amp; the Yield Curve</vt:lpstr>
      <vt:lpstr>Annualized Rates of Return</vt:lpstr>
      <vt:lpstr>Inflation</vt:lpstr>
      <vt:lpstr>4-Week T-Bill &amp; CPI</vt:lpstr>
      <vt:lpstr>CPI: Index Change 36 Years and 12-Month Inflation</vt:lpstr>
      <vt:lpstr>Real and Nominal Interest Rates</vt:lpstr>
      <vt:lpstr>Legal Application: Rental Inflation Escalation Clause Example</vt:lpstr>
      <vt:lpstr>Legal Application: Escalation Clauses</vt:lpstr>
      <vt:lpstr>Bond Definition</vt:lpstr>
      <vt:lpstr>Example of a U.S. Bond</vt:lpstr>
      <vt:lpstr>Bond Valuation</vt:lpstr>
      <vt:lpstr>Zero Coupon Bond</vt:lpstr>
      <vt:lpstr>Zero Coupon Bond Example</vt:lpstr>
      <vt:lpstr>Zero-Coupon Bond Example</vt:lpstr>
      <vt:lpstr>Coupon Bonds</vt:lpstr>
      <vt:lpstr>Coupon Bond Example</vt:lpstr>
      <vt:lpstr>Coupon Bond Example with Excel or Calculator</vt:lpstr>
      <vt:lpstr>Quotes, Conventions, and Confusion</vt:lpstr>
      <vt:lpstr>Term Structure of Interest Rates or Yield Curve</vt:lpstr>
      <vt:lpstr>Timing Varying Rates of Return</vt:lpstr>
      <vt:lpstr>Treasury Yield Curve: 2021-2026 (Sept)</vt:lpstr>
      <vt:lpstr>Treasury Yield Curve: 3-month, 10-year, and 30-year</vt:lpstr>
      <vt:lpstr>Using the Yield Curve to Calculate Holding Period Returns and Future Values</vt:lpstr>
      <vt:lpstr>Using the Yield Curve to Calculate Forward Rates</vt:lpstr>
      <vt:lpstr>Using the Yield Curve to Calculate Present Values</vt:lpstr>
      <vt:lpstr>YTM , Coupon Rate, and Bond Value</vt:lpstr>
      <vt:lpstr>Changes in Bond Price when YTM Changes</vt:lpstr>
      <vt:lpstr>Interest Rate Risk</vt:lpstr>
      <vt:lpstr>Interest Rate Risk: Duration</vt:lpstr>
      <vt:lpstr>Interest Rate Risk: Duration </vt:lpstr>
      <vt:lpstr>Macaulay and Modified Duration Example</vt:lpstr>
      <vt:lpstr>Modified Duration: Duration and Price Changes</vt:lpstr>
      <vt:lpstr>Changes in Bond Price when YTM Changes</vt:lpstr>
      <vt:lpstr>Bond Price Convexity: 30YR, 8% Coupon, YTM = 8%</vt:lpstr>
      <vt:lpstr>Maturity and Bond Price Volatility</vt:lpstr>
      <vt:lpstr>Coupon Rate and Bond Price Volatility</vt:lpstr>
      <vt:lpstr>Summary of Bond Concepts</vt:lpstr>
      <vt:lpstr>Treasury Inflation Protected Securities:  TIPS and I Bonds</vt:lpstr>
      <vt:lpstr> Real YTM:  Treasuries and TIPS (Sept 2026)</vt:lpstr>
      <vt:lpstr> Real YTM:  Treasuries and TIPS (Sept 2020)</vt:lpstr>
      <vt:lpstr>Don’t Worry, the LT Trend is Cleary Downward</vt:lpstr>
    </vt:vector>
  </TitlesOfParts>
  <Company>Fordham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XPUser</dc:creator>
  <cp:lastModifiedBy>Colon, Jeffrey M.</cp:lastModifiedBy>
  <cp:revision>513</cp:revision>
  <cp:lastPrinted>2019-09-18T17:49:05Z</cp:lastPrinted>
  <dcterms:created xsi:type="dcterms:W3CDTF">2011-02-09T01:02:55Z</dcterms:created>
  <dcterms:modified xsi:type="dcterms:W3CDTF">2026-09-13T17:38:09Z</dcterms:modified>
</cp:coreProperties>
</file>