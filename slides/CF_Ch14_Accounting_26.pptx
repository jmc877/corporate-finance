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notesMasterIdLst>
    <p:notesMasterId r:id="rId30"/>
  </p:notesMasterIdLst>
  <p:handoutMasterIdLst>
    <p:handoutMasterId r:id="rId31"/>
  </p:handoutMasterIdLst>
  <p:sldIdLst>
    <p:sldId id="441" r:id="rId2"/>
    <p:sldId id="298" r:id="rId3"/>
    <p:sldId id="345" r:id="rId4"/>
    <p:sldId id="329" r:id="rId5"/>
    <p:sldId id="342" r:id="rId6"/>
    <p:sldId id="300" r:id="rId7"/>
    <p:sldId id="302" r:id="rId8"/>
    <p:sldId id="301" r:id="rId9"/>
    <p:sldId id="344" r:id="rId10"/>
    <p:sldId id="303" r:id="rId11"/>
    <p:sldId id="346" r:id="rId12"/>
    <p:sldId id="304" r:id="rId13"/>
    <p:sldId id="359" r:id="rId14"/>
    <p:sldId id="340" r:id="rId15"/>
    <p:sldId id="305" r:id="rId16"/>
    <p:sldId id="322" r:id="rId17"/>
    <p:sldId id="331" r:id="rId18"/>
    <p:sldId id="332" r:id="rId19"/>
    <p:sldId id="337" r:id="rId20"/>
    <p:sldId id="338" r:id="rId21"/>
    <p:sldId id="442" r:id="rId22"/>
    <p:sldId id="443" r:id="rId23"/>
    <p:sldId id="444" r:id="rId24"/>
    <p:sldId id="445" r:id="rId25"/>
    <p:sldId id="347" r:id="rId26"/>
    <p:sldId id="364" r:id="rId27"/>
    <p:sldId id="370" r:id="rId28"/>
    <p:sldId id="368" r:id="rId29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042"/>
    <a:srgbClr val="FEFFB7"/>
    <a:srgbClr val="1A1A1A"/>
    <a:srgbClr val="F5FBAB"/>
    <a:srgbClr val="FBE6C0"/>
    <a:srgbClr val="FF0021"/>
    <a:srgbClr val="FF48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70"/>
    <p:restoredTop sz="94607"/>
  </p:normalViewPr>
  <p:slideViewPr>
    <p:cSldViewPr>
      <p:cViewPr varScale="1">
        <p:scale>
          <a:sx n="114" d="100"/>
          <a:sy n="114" d="100"/>
        </p:scale>
        <p:origin x="176" y="2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47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6288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undo custSel addSld modSld modMainMaster">
      <pc:chgData name="Colon, Jeffrey M." userId="615143b1-cdee-493d-9a9d-1565ce8666d9" providerId="ADAL" clId="{DC1DB158-BAB1-5930-B714-AEF472873853}" dt="2026-10-23T22:33:07.124" v="803" actId="14100"/>
      <pc:docMkLst>
        <pc:docMk/>
      </pc:docMkLst>
      <pc:sldChg chg="addSp delSp modSp mod">
        <pc:chgData name="Colon, Jeffrey M." userId="615143b1-cdee-493d-9a9d-1565ce8666d9" providerId="ADAL" clId="{DC1DB158-BAB1-5930-B714-AEF472873853}" dt="2026-10-23T21:33:45.555" v="736" actId="14100"/>
        <pc:sldMkLst>
          <pc:docMk/>
          <pc:sldMk cId="0" sldId="300"/>
        </pc:sldMkLst>
        <pc:spChg chg="mod">
          <ac:chgData name="Colon, Jeffrey M." userId="615143b1-cdee-493d-9a9d-1565ce8666d9" providerId="ADAL" clId="{DC1DB158-BAB1-5930-B714-AEF472873853}" dt="2026-10-23T21:29:54.544" v="716" actId="1076"/>
          <ac:spMkLst>
            <pc:docMk/>
            <pc:sldMk cId="0" sldId="300"/>
            <ac:spMk id="8" creationId="{B63753E4-769C-6A02-1D63-B6AE45F51F29}"/>
          </ac:spMkLst>
        </pc:spChg>
        <pc:spChg chg="mod">
          <ac:chgData name="Colon, Jeffrey M." userId="615143b1-cdee-493d-9a9d-1565ce8666d9" providerId="ADAL" clId="{DC1DB158-BAB1-5930-B714-AEF472873853}" dt="2026-10-23T21:27:39.019" v="708" actId="20577"/>
          <ac:spMkLst>
            <pc:docMk/>
            <pc:sldMk cId="0" sldId="300"/>
            <ac:spMk id="20483" creationId="{00000000-0000-0000-0000-000000000000}"/>
          </ac:spMkLst>
        </pc:spChg>
        <pc:picChg chg="add del mod">
          <ac:chgData name="Colon, Jeffrey M." userId="615143b1-cdee-493d-9a9d-1565ce8666d9" providerId="ADAL" clId="{DC1DB158-BAB1-5930-B714-AEF472873853}" dt="2026-10-23T21:33:19.968" v="731" actId="478"/>
          <ac:picMkLst>
            <pc:docMk/>
            <pc:sldMk cId="0" sldId="300"/>
            <ac:picMk id="3" creationId="{943C768E-1084-25B0-C007-989DE03A3D14}"/>
          </ac:picMkLst>
        </pc:picChg>
        <pc:picChg chg="del">
          <ac:chgData name="Colon, Jeffrey M." userId="615143b1-cdee-493d-9a9d-1565ce8666d9" providerId="ADAL" clId="{DC1DB158-BAB1-5930-B714-AEF472873853}" dt="2026-10-23T21:29:17.990" v="709" actId="478"/>
          <ac:picMkLst>
            <pc:docMk/>
            <pc:sldMk cId="0" sldId="300"/>
            <ac:picMk id="7" creationId="{7996F99F-8882-6F03-EC54-6D763ACD8706}"/>
          </ac:picMkLst>
        </pc:picChg>
        <pc:picChg chg="add mod">
          <ac:chgData name="Colon, Jeffrey M." userId="615143b1-cdee-493d-9a9d-1565ce8666d9" providerId="ADAL" clId="{DC1DB158-BAB1-5930-B714-AEF472873853}" dt="2026-10-23T21:33:45.555" v="736" actId="14100"/>
          <ac:picMkLst>
            <pc:docMk/>
            <pc:sldMk cId="0" sldId="300"/>
            <ac:picMk id="9" creationId="{90820B90-5BCD-D9E2-365B-33C736E024F6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10-23T21:34:47.220" v="748" actId="14100"/>
        <pc:sldMkLst>
          <pc:docMk/>
          <pc:sldMk cId="0" sldId="302"/>
        </pc:sldMkLst>
        <pc:spChg chg="mod">
          <ac:chgData name="Colon, Jeffrey M." userId="615143b1-cdee-493d-9a9d-1565ce8666d9" providerId="ADAL" clId="{DC1DB158-BAB1-5930-B714-AEF472873853}" dt="2026-10-23T21:32:16.094" v="722" actId="1076"/>
          <ac:spMkLst>
            <pc:docMk/>
            <pc:sldMk cId="0" sldId="302"/>
            <ac:spMk id="11" creationId="{6C03FCC0-BCE6-534A-9D38-CEA6F6A5026D}"/>
          </ac:spMkLst>
        </pc:spChg>
        <pc:spChg chg="mod">
          <ac:chgData name="Colon, Jeffrey M." userId="615143b1-cdee-493d-9a9d-1565ce8666d9" providerId="ADAL" clId="{DC1DB158-BAB1-5930-B714-AEF472873853}" dt="2026-10-23T21:31:34.008" v="719" actId="20577"/>
          <ac:spMkLst>
            <pc:docMk/>
            <pc:sldMk cId="0" sldId="302"/>
            <ac:spMk id="22531" creationId="{00000000-0000-0000-0000-000000000000}"/>
          </ac:spMkLst>
        </pc:spChg>
        <pc:picChg chg="add mod">
          <ac:chgData name="Colon, Jeffrey M." userId="615143b1-cdee-493d-9a9d-1565ce8666d9" providerId="ADAL" clId="{DC1DB158-BAB1-5930-B714-AEF472873853}" dt="2026-10-23T21:34:47.220" v="748" actId="14100"/>
          <ac:picMkLst>
            <pc:docMk/>
            <pc:sldMk cId="0" sldId="302"/>
            <ac:picMk id="3" creationId="{72E0D2EE-F606-C0AC-04C1-3BF94F69F441}"/>
          </ac:picMkLst>
        </pc:picChg>
        <pc:picChg chg="add mod">
          <ac:chgData name="Colon, Jeffrey M." userId="615143b1-cdee-493d-9a9d-1565ce8666d9" providerId="ADAL" clId="{DC1DB158-BAB1-5930-B714-AEF472873853}" dt="2026-10-23T21:34:43.082" v="747" actId="14100"/>
          <ac:picMkLst>
            <pc:docMk/>
            <pc:sldMk cId="0" sldId="302"/>
            <ac:picMk id="7" creationId="{2C8D5349-666A-6505-D210-E45C18591C5D}"/>
          </ac:picMkLst>
        </pc:picChg>
        <pc:picChg chg="del">
          <ac:chgData name="Colon, Jeffrey M." userId="615143b1-cdee-493d-9a9d-1565ce8666d9" providerId="ADAL" clId="{DC1DB158-BAB1-5930-B714-AEF472873853}" dt="2026-10-23T21:34:02.141" v="738" actId="478"/>
          <ac:picMkLst>
            <pc:docMk/>
            <pc:sldMk cId="0" sldId="302"/>
            <ac:picMk id="8" creationId="{0FF7FB63-2BE4-C092-D468-0B8B80574E76}"/>
          </ac:picMkLst>
        </pc:picChg>
        <pc:picChg chg="add del mod">
          <ac:chgData name="Colon, Jeffrey M." userId="615143b1-cdee-493d-9a9d-1565ce8666d9" providerId="ADAL" clId="{DC1DB158-BAB1-5930-B714-AEF472873853}" dt="2026-10-23T21:33:58.624" v="737" actId="1076"/>
          <ac:picMkLst>
            <pc:docMk/>
            <pc:sldMk cId="0" sldId="302"/>
            <ac:picMk id="10" creationId="{2C472B59-45BC-4EF5-9245-B99042AC9413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10-23T21:35:23.403" v="751" actId="14100"/>
        <pc:sldMkLst>
          <pc:docMk/>
          <pc:sldMk cId="0" sldId="303"/>
        </pc:sldMkLst>
        <pc:spChg chg="mod">
          <ac:chgData name="Colon, Jeffrey M." userId="615143b1-cdee-493d-9a9d-1565ce8666d9" providerId="ADAL" clId="{DC1DB158-BAB1-5930-B714-AEF472873853}" dt="2026-10-23T21:35:20.252" v="750" actId="1076"/>
          <ac:spMkLst>
            <pc:docMk/>
            <pc:sldMk cId="0" sldId="303"/>
            <ac:spMk id="8" creationId="{0AC00A2D-782B-CED8-A9C1-2D366FD6B60B}"/>
          </ac:spMkLst>
        </pc:spChg>
        <pc:spChg chg="mod">
          <ac:chgData name="Colon, Jeffrey M." userId="615143b1-cdee-493d-9a9d-1565ce8666d9" providerId="ADAL" clId="{DC1DB158-BAB1-5930-B714-AEF472873853}" dt="2026-10-23T21:32:37.486" v="726" actId="20577"/>
          <ac:spMkLst>
            <pc:docMk/>
            <pc:sldMk cId="0" sldId="303"/>
            <ac:spMk id="27651" creationId="{00000000-0000-0000-0000-000000000000}"/>
          </ac:spMkLst>
        </pc:spChg>
        <pc:picChg chg="add mod">
          <ac:chgData name="Colon, Jeffrey M." userId="615143b1-cdee-493d-9a9d-1565ce8666d9" providerId="ADAL" clId="{DC1DB158-BAB1-5930-B714-AEF472873853}" dt="2026-10-23T21:35:23.403" v="751" actId="14100"/>
          <ac:picMkLst>
            <pc:docMk/>
            <pc:sldMk cId="0" sldId="303"/>
            <ac:picMk id="2" creationId="{835DD909-C596-AC1D-FFE0-02E8559BC3E2}"/>
          </ac:picMkLst>
        </pc:picChg>
        <pc:picChg chg="del">
          <ac:chgData name="Colon, Jeffrey M." userId="615143b1-cdee-493d-9a9d-1565ce8666d9" providerId="ADAL" clId="{DC1DB158-BAB1-5930-B714-AEF472873853}" dt="2026-10-23T21:32:34.645" v="724" actId="478"/>
          <ac:picMkLst>
            <pc:docMk/>
            <pc:sldMk cId="0" sldId="303"/>
            <ac:picMk id="7" creationId="{1D2D8862-117B-D847-4DAA-EDDD1ED234EA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10-23T21:41:17.935" v="784" actId="14100"/>
        <pc:sldMkLst>
          <pc:docMk/>
          <pc:sldMk cId="0" sldId="304"/>
        </pc:sldMkLst>
        <pc:spChg chg="mod">
          <ac:chgData name="Colon, Jeffrey M." userId="615143b1-cdee-493d-9a9d-1565ce8666d9" providerId="ADAL" clId="{DC1DB158-BAB1-5930-B714-AEF472873853}" dt="2026-10-23T21:40:45.056" v="779" actId="1076"/>
          <ac:spMkLst>
            <pc:docMk/>
            <pc:sldMk cId="0" sldId="304"/>
            <ac:spMk id="8" creationId="{0D92D945-CD98-295C-3183-8689EE7F5DF8}"/>
          </ac:spMkLst>
        </pc:spChg>
        <pc:spChg chg="mod">
          <ac:chgData name="Colon, Jeffrey M." userId="615143b1-cdee-493d-9a9d-1565ce8666d9" providerId="ADAL" clId="{DC1DB158-BAB1-5930-B714-AEF472873853}" dt="2026-10-23T21:35:30.771" v="753" actId="20577"/>
          <ac:spMkLst>
            <pc:docMk/>
            <pc:sldMk cId="0" sldId="304"/>
            <ac:spMk id="30723" creationId="{00000000-0000-0000-0000-000000000000}"/>
          </ac:spMkLst>
        </pc:spChg>
        <pc:picChg chg="add mod">
          <ac:chgData name="Colon, Jeffrey M." userId="615143b1-cdee-493d-9a9d-1565ce8666d9" providerId="ADAL" clId="{DC1DB158-BAB1-5930-B714-AEF472873853}" dt="2026-10-23T21:41:17.935" v="784" actId="14100"/>
          <ac:picMkLst>
            <pc:docMk/>
            <pc:sldMk cId="0" sldId="304"/>
            <ac:picMk id="3" creationId="{D596632B-2169-ACB0-1043-2CF4CFA1145D}"/>
          </ac:picMkLst>
        </pc:picChg>
        <pc:picChg chg="del">
          <ac:chgData name="Colon, Jeffrey M." userId="615143b1-cdee-493d-9a9d-1565ce8666d9" providerId="ADAL" clId="{DC1DB158-BAB1-5930-B714-AEF472873853}" dt="2026-10-23T21:40:39.606" v="778" actId="478"/>
          <ac:picMkLst>
            <pc:docMk/>
            <pc:sldMk cId="0" sldId="304"/>
            <ac:picMk id="10" creationId="{60B1997F-C532-BEF4-670A-84605F4E2A82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10-23T21:38:18.504" v="762" actId="20577"/>
        <pc:sldMkLst>
          <pc:docMk/>
          <pc:sldMk cId="0" sldId="340"/>
        </pc:sldMkLst>
        <pc:spChg chg="mod">
          <ac:chgData name="Colon, Jeffrey M." userId="615143b1-cdee-493d-9a9d-1565ce8666d9" providerId="ADAL" clId="{DC1DB158-BAB1-5930-B714-AEF472873853}" dt="2026-10-23T21:38:18.504" v="762" actId="20577"/>
          <ac:spMkLst>
            <pc:docMk/>
            <pc:sldMk cId="0" sldId="340"/>
            <ac:spMk id="33795" creationId="{00000000-0000-0000-0000-000000000000}"/>
          </ac:spMkLst>
        </pc:spChg>
        <pc:picChg chg="add mod">
          <ac:chgData name="Colon, Jeffrey M." userId="615143b1-cdee-493d-9a9d-1565ce8666d9" providerId="ADAL" clId="{DC1DB158-BAB1-5930-B714-AEF472873853}" dt="2026-10-23T21:36:24.543" v="760" actId="14100"/>
          <ac:picMkLst>
            <pc:docMk/>
            <pc:sldMk cId="0" sldId="340"/>
            <ac:picMk id="4" creationId="{A23A45EA-ECD1-A5B6-65D5-C2629A6FB4F4}"/>
          </ac:picMkLst>
        </pc:picChg>
        <pc:picChg chg="del">
          <ac:chgData name="Colon, Jeffrey M." userId="615143b1-cdee-493d-9a9d-1565ce8666d9" providerId="ADAL" clId="{DC1DB158-BAB1-5930-B714-AEF472873853}" dt="2026-10-23T21:35:59.563" v="754" actId="478"/>
          <ac:picMkLst>
            <pc:docMk/>
            <pc:sldMk cId="0" sldId="340"/>
            <ac:picMk id="5" creationId="{29454E2F-D648-34DF-3252-A642B6F2FAF2}"/>
          </ac:picMkLst>
        </pc:picChg>
        <pc:picChg chg="del">
          <ac:chgData name="Colon, Jeffrey M." userId="615143b1-cdee-493d-9a9d-1565ce8666d9" providerId="ADAL" clId="{DC1DB158-BAB1-5930-B714-AEF472873853}" dt="2026-10-23T21:36:02.622" v="755" actId="478"/>
          <ac:picMkLst>
            <pc:docMk/>
            <pc:sldMk cId="0" sldId="340"/>
            <ac:picMk id="11" creationId="{2E04068E-789E-76DE-FE36-0BDF91BC5DED}"/>
          </ac:picMkLst>
        </pc:picChg>
      </pc:sldChg>
      <pc:sldChg chg="addSp delSp modSp mod">
        <pc:chgData name="Colon, Jeffrey M." userId="615143b1-cdee-493d-9a9d-1565ce8666d9" providerId="ADAL" clId="{DC1DB158-BAB1-5930-B714-AEF472873853}" dt="2026-10-23T21:39:12.998" v="777" actId="14100"/>
        <pc:sldMkLst>
          <pc:docMk/>
          <pc:sldMk cId="4001303907" sldId="359"/>
        </pc:sldMkLst>
        <pc:spChg chg="mod">
          <ac:chgData name="Colon, Jeffrey M." userId="615143b1-cdee-493d-9a9d-1565ce8666d9" providerId="ADAL" clId="{DC1DB158-BAB1-5930-B714-AEF472873853}" dt="2026-10-23T21:38:23.022" v="764" actId="20577"/>
          <ac:spMkLst>
            <pc:docMk/>
            <pc:sldMk cId="4001303907" sldId="359"/>
            <ac:spMk id="2" creationId="{00000000-0000-0000-0000-000000000000}"/>
          </ac:spMkLst>
        </pc:spChg>
        <pc:spChg chg="mod">
          <ac:chgData name="Colon, Jeffrey M." userId="615143b1-cdee-493d-9a9d-1565ce8666d9" providerId="ADAL" clId="{DC1DB158-BAB1-5930-B714-AEF472873853}" dt="2026-10-23T21:38:43.171" v="771" actId="20577"/>
          <ac:spMkLst>
            <pc:docMk/>
            <pc:sldMk cId="4001303907" sldId="359"/>
            <ac:spMk id="10" creationId="{E221DD2F-806C-4B41-93B7-1DBEB963E181}"/>
          </ac:spMkLst>
        </pc:spChg>
        <pc:picChg chg="add mod">
          <ac:chgData name="Colon, Jeffrey M." userId="615143b1-cdee-493d-9a9d-1565ce8666d9" providerId="ADAL" clId="{DC1DB158-BAB1-5930-B714-AEF472873853}" dt="2026-10-23T21:39:12.998" v="777" actId="14100"/>
          <ac:picMkLst>
            <pc:docMk/>
            <pc:sldMk cId="4001303907" sldId="359"/>
            <ac:picMk id="5" creationId="{21C7A8D6-0DF3-E6B0-9EEC-75CC37E07E75}"/>
          </ac:picMkLst>
        </pc:picChg>
        <pc:picChg chg="del">
          <ac:chgData name="Colon, Jeffrey M." userId="615143b1-cdee-493d-9a9d-1565ce8666d9" providerId="ADAL" clId="{DC1DB158-BAB1-5930-B714-AEF472873853}" dt="2026-10-23T21:38:31.002" v="765" actId="478"/>
          <ac:picMkLst>
            <pc:docMk/>
            <pc:sldMk cId="4001303907" sldId="359"/>
            <ac:picMk id="6" creationId="{FF177CA0-9DD3-04E1-1539-11665F739C1C}"/>
          </ac:picMkLst>
        </pc:picChg>
      </pc:sldChg>
      <pc:sldChg chg="modSp mod">
        <pc:chgData name="Colon, Jeffrey M." userId="615143b1-cdee-493d-9a9d-1565ce8666d9" providerId="ADAL" clId="{DC1DB158-BAB1-5930-B714-AEF472873853}" dt="2026-10-23T14:08:47.294" v="706" actId="20577"/>
        <pc:sldMkLst>
          <pc:docMk/>
          <pc:sldMk cId="3622871933" sldId="441"/>
        </pc:sldMkLst>
        <pc:spChg chg="mod">
          <ac:chgData name="Colon, Jeffrey M." userId="615143b1-cdee-493d-9a9d-1565ce8666d9" providerId="ADAL" clId="{DC1DB158-BAB1-5930-B714-AEF472873853}" dt="2026-10-23T14:08:47.294" v="706" actId="20577"/>
          <ac:spMkLst>
            <pc:docMk/>
            <pc:sldMk cId="3622871933" sldId="441"/>
            <ac:spMk id="6" creationId="{E9ED9786-58D6-4467-A340-9C08B3251F1F}"/>
          </ac:spMkLst>
        </pc:spChg>
      </pc:sldChg>
      <pc:sldChg chg="addSp delSp modSp new mod">
        <pc:chgData name="Colon, Jeffrey M." userId="615143b1-cdee-493d-9a9d-1565ce8666d9" providerId="ADAL" clId="{DC1DB158-BAB1-5930-B714-AEF472873853}" dt="2026-10-23T13:57:51.454" v="655" actId="113"/>
        <pc:sldMkLst>
          <pc:docMk/>
          <pc:sldMk cId="3307369199" sldId="443"/>
        </pc:sldMkLst>
        <pc:spChg chg="add mod">
          <ac:chgData name="Colon, Jeffrey M." userId="615143b1-cdee-493d-9a9d-1565ce8666d9" providerId="ADAL" clId="{DC1DB158-BAB1-5930-B714-AEF472873853}" dt="2026-10-23T13:57:51.454" v="655" actId="113"/>
          <ac:spMkLst>
            <pc:docMk/>
            <pc:sldMk cId="3307369199" sldId="443"/>
            <ac:spMk id="9" creationId="{AF258E07-2651-EDB7-4B1D-E2E9411769B7}"/>
          </ac:spMkLst>
        </pc:spChg>
      </pc:sldChg>
      <pc:sldChg chg="addSp delSp modSp new mod">
        <pc:chgData name="Colon, Jeffrey M." userId="615143b1-cdee-493d-9a9d-1565ce8666d9" providerId="ADAL" clId="{DC1DB158-BAB1-5930-B714-AEF472873853}" dt="2026-10-23T22:25:17.098" v="787" actId="20577"/>
        <pc:sldMkLst>
          <pc:docMk/>
          <pc:sldMk cId="2432885677" sldId="444"/>
        </pc:sldMkLst>
        <pc:spChg chg="del">
          <ac:chgData name="Colon, Jeffrey M." userId="615143b1-cdee-493d-9a9d-1565ce8666d9" providerId="ADAL" clId="{DC1DB158-BAB1-5930-B714-AEF472873853}" dt="2026-10-23T22:17:13.197" v="786"/>
          <ac:spMkLst>
            <pc:docMk/>
            <pc:sldMk cId="2432885677" sldId="444"/>
            <ac:spMk id="2" creationId="{550B2676-0FA0-4534-7F87-9CB900A22268}"/>
          </ac:spMkLst>
        </pc:spChg>
        <pc:spChg chg="mod">
          <ac:chgData name="Colon, Jeffrey M." userId="615143b1-cdee-493d-9a9d-1565ce8666d9" providerId="ADAL" clId="{DC1DB158-BAB1-5930-B714-AEF472873853}" dt="2026-10-23T22:25:17.098" v="787" actId="20577"/>
          <ac:spMkLst>
            <pc:docMk/>
            <pc:sldMk cId="2432885677" sldId="444"/>
            <ac:spMk id="3" creationId="{E421E361-A8FD-56F3-5B70-79BA893218CC}"/>
          </ac:spMkLst>
        </pc:spChg>
        <pc:picChg chg="add mod ord">
          <ac:chgData name="Colon, Jeffrey M." userId="615143b1-cdee-493d-9a9d-1565ce8666d9" providerId="ADAL" clId="{DC1DB158-BAB1-5930-B714-AEF472873853}" dt="2026-10-23T22:17:13.197" v="786"/>
          <ac:picMkLst>
            <pc:docMk/>
            <pc:sldMk cId="2432885677" sldId="444"/>
            <ac:picMk id="7" creationId="{0CA0AAE8-4CC9-E29A-12F1-8E09DB6D5A7C}"/>
          </ac:picMkLst>
        </pc:picChg>
      </pc:sldChg>
      <pc:sldChg chg="addSp delSp modSp add mod">
        <pc:chgData name="Colon, Jeffrey M." userId="615143b1-cdee-493d-9a9d-1565ce8666d9" providerId="ADAL" clId="{DC1DB158-BAB1-5930-B714-AEF472873853}" dt="2026-10-23T22:33:07.124" v="803" actId="14100"/>
        <pc:sldMkLst>
          <pc:docMk/>
          <pc:sldMk cId="3990114803" sldId="445"/>
        </pc:sldMkLst>
        <pc:spChg chg="add del mod">
          <ac:chgData name="Colon, Jeffrey M." userId="615143b1-cdee-493d-9a9d-1565ce8666d9" providerId="ADAL" clId="{DC1DB158-BAB1-5930-B714-AEF472873853}" dt="2026-10-23T22:29:21.643" v="791"/>
          <ac:spMkLst>
            <pc:docMk/>
            <pc:sldMk cId="3990114803" sldId="445"/>
            <ac:spMk id="6" creationId="{C8A828EB-9204-0E90-2E48-77286644BE00}"/>
          </ac:spMkLst>
        </pc:spChg>
        <pc:picChg chg="del">
          <ac:chgData name="Colon, Jeffrey M." userId="615143b1-cdee-493d-9a9d-1565ce8666d9" providerId="ADAL" clId="{DC1DB158-BAB1-5930-B714-AEF472873853}" dt="2026-10-23T22:25:27.780" v="789" actId="478"/>
          <ac:picMkLst>
            <pc:docMk/>
            <pc:sldMk cId="3990114803" sldId="445"/>
            <ac:picMk id="7" creationId="{987D242B-FB3F-0F1E-14D6-534118FB8264}"/>
          </ac:picMkLst>
        </pc:picChg>
        <pc:picChg chg="add mod ord">
          <ac:chgData name="Colon, Jeffrey M." userId="615143b1-cdee-493d-9a9d-1565ce8666d9" providerId="ADAL" clId="{DC1DB158-BAB1-5930-B714-AEF472873853}" dt="2026-10-23T22:32:54.302" v="800" actId="14100"/>
          <ac:picMkLst>
            <pc:docMk/>
            <pc:sldMk cId="3990114803" sldId="445"/>
            <ac:picMk id="9" creationId="{5B8AB1EA-7CDD-2FD1-EE84-4B39BECECF27}"/>
          </ac:picMkLst>
        </pc:picChg>
        <pc:picChg chg="add mod">
          <ac:chgData name="Colon, Jeffrey M." userId="615143b1-cdee-493d-9a9d-1565ce8666d9" providerId="ADAL" clId="{DC1DB158-BAB1-5930-B714-AEF472873853}" dt="2026-10-23T22:33:07.124" v="803" actId="14100"/>
          <ac:picMkLst>
            <pc:docMk/>
            <pc:sldMk cId="3990114803" sldId="445"/>
            <ac:picMk id="11" creationId="{5791B47C-5452-3A2E-AC02-248D2D379CBE}"/>
          </ac:picMkLst>
        </pc:picChg>
      </pc:sldChg>
      <pc:sldMasterChg chg="modSp mod">
        <pc:chgData name="Colon, Jeffrey M." userId="615143b1-cdee-493d-9a9d-1565ce8666d9" providerId="ADAL" clId="{DC1DB158-BAB1-5930-B714-AEF472873853}" dt="2026-10-23T14:08:33.391" v="704" actId="20577"/>
        <pc:sldMasterMkLst>
          <pc:docMk/>
          <pc:sldMasterMk cId="2038482612" sldId="2147483760"/>
        </pc:sldMasterMkLst>
        <pc:spChg chg="mod">
          <ac:chgData name="Colon, Jeffrey M." userId="615143b1-cdee-493d-9a9d-1565ce8666d9" providerId="ADAL" clId="{DC1DB158-BAB1-5930-B714-AEF472873853}" dt="2026-10-23T14:08:33.391" v="704" actId="20577"/>
          <ac:spMkLst>
            <pc:docMk/>
            <pc:sldMasterMk cId="2038482612" sldId="2147483760"/>
            <ac:spMk id="9" creationId="{00000000-0000-0000-0000-00000000000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F906A1B3-9ACC-2344-9538-309C90CA9A37}" type="slidenum">
              <a:rPr lang="en-US">
                <a:latin typeface="Calibri"/>
              </a:rPr>
              <a:pPr>
                <a:defRPr/>
              </a:pPr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8358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Calibri"/>
              </a:defRPr>
            </a:lvl1pPr>
          </a:lstStyle>
          <a:p>
            <a:pPr>
              <a:defRPr/>
            </a:pPr>
            <a:fld id="{D14AF6C4-53B4-9645-B01E-D4F4022AEB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680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34703CB-0EAF-3B44-880F-CE86F175A90E}" type="slidenum">
              <a:rPr lang="en-US" sz="1200">
                <a:latin typeface="Calibri"/>
              </a:rPr>
              <a:pPr eaLnBrk="1" hangingPunct="1"/>
              <a:t>2</a:t>
            </a:fld>
            <a:endParaRPr lang="en-US" sz="1200">
              <a:latin typeface="Calibri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12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4AF6C4-53B4-9645-B01E-D4F4022AEB3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12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8CDEE25-7132-634C-98FC-0F1E8C1CFC94}" type="slidenum">
              <a:rPr lang="en-US" sz="1200">
                <a:latin typeface="Calibri"/>
              </a:rPr>
              <a:pPr eaLnBrk="1" hangingPunct="1"/>
              <a:t>6</a:t>
            </a:fld>
            <a:endParaRPr lang="en-US" sz="1200">
              <a:latin typeface="Calibri"/>
            </a:endParaRPr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991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27F1F69-7C40-4147-8D8F-CF2F88AF620A}" type="slidenum">
              <a:rPr lang="en-US" sz="1200">
                <a:latin typeface="Calibri"/>
              </a:rPr>
              <a:pPr eaLnBrk="1" hangingPunct="1"/>
              <a:t>7</a:t>
            </a:fld>
            <a:endParaRPr lang="en-US" sz="1200">
              <a:latin typeface="Calibri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795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4897992-1A8F-1843-8B43-8A427BA14311}" type="slidenum">
              <a:rPr lang="en-US" sz="1200">
                <a:latin typeface="Calibri"/>
              </a:rPr>
              <a:pPr eaLnBrk="1" hangingPunct="1"/>
              <a:t>8</a:t>
            </a:fld>
            <a:endParaRPr lang="en-US" sz="1200">
              <a:latin typeface="Calibri"/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6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470089D-58F1-A34D-86AC-6F9780654E86}" type="slidenum">
              <a:rPr lang="en-US" sz="1200">
                <a:latin typeface="Calibri"/>
              </a:rPr>
              <a:pPr eaLnBrk="1" hangingPunct="1"/>
              <a:t>10</a:t>
            </a:fld>
            <a:endParaRPr lang="en-US" sz="1200">
              <a:latin typeface="Calibri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289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B656B76-B8F1-3840-99F0-3A0317B46367}" type="slidenum">
              <a:rPr lang="en-US" sz="1200">
                <a:latin typeface="Calibri"/>
              </a:rPr>
              <a:pPr eaLnBrk="1" hangingPunct="1"/>
              <a:t>12</a:t>
            </a:fld>
            <a:endParaRPr lang="en-US" sz="1200">
              <a:latin typeface="Calibri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57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F0584A5-83FC-1C47-A0ED-271B7F7DC46E}" type="slidenum">
              <a:rPr lang="en-US" sz="1200">
                <a:latin typeface="Calibri"/>
              </a:rPr>
              <a:pPr eaLnBrk="1" hangingPunct="1"/>
              <a:t>15</a:t>
            </a:fld>
            <a:endParaRPr lang="en-US" sz="1200">
              <a:latin typeface="Calibri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536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48F17E0-C651-484F-80D2-340EAA7C7953}" type="slidenum">
              <a:rPr lang="en-US" sz="1200">
                <a:latin typeface="Calibri"/>
              </a:rPr>
              <a:pPr eaLnBrk="1" hangingPunct="1"/>
              <a:t>16</a:t>
            </a:fld>
            <a:endParaRPr lang="en-US" sz="1200">
              <a:latin typeface="Calibri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6713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25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4AF6C4-53B4-9645-B01E-D4F4022AEB3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03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4AF6C4-53B4-9645-B01E-D4F4022AEB3E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85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6A4E500-42D5-5140-A037-7DABDB96194B}" type="slidenum">
              <a:rPr lang="en-US" sz="1200">
                <a:latin typeface="Calibri"/>
              </a:rPr>
              <a:pPr eaLnBrk="1" hangingPunct="1"/>
              <a:t>26</a:t>
            </a:fld>
            <a:endParaRPr lang="en-US" sz="1200">
              <a:latin typeface="Calibri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444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9144000" cy="30008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74734"/>
            <a:ext cx="28956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A9E68-7C1E-2840-BE01-6F2323EF3DB0}"/>
              </a:ext>
            </a:extLst>
          </p:cNvPr>
          <p:cNvSpPr txBox="1"/>
          <p:nvPr userDrawn="1"/>
        </p:nvSpPr>
        <p:spPr>
          <a:xfrm>
            <a:off x="782320" y="6624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793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48" y="533400"/>
            <a:ext cx="84582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18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165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165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5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41934"/>
            <a:ext cx="84582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ctr">
              <a:tabLst>
                <a:tab pos="296466" algn="l"/>
              </a:tabLst>
              <a:defRPr sz="20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385048" y="6471106"/>
            <a:ext cx="4572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970224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061030" y="537029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4491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381000" y="3886200"/>
            <a:ext cx="8382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50760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381000" y="39319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200854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822457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84048" y="805002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814835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3"/>
            <a:ext cx="84582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87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3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474821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4038600" y="3046413"/>
            <a:ext cx="9906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28800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57917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4019344" y="2692959"/>
            <a:ext cx="994787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4070503" y="3778177"/>
            <a:ext cx="1014887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99449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180753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141732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165973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50501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411480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56541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46434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762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762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46434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46434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62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6238" y="3302419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62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46434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4643438" y="3302418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46434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24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51174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384777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5556729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7310438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451174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13360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384777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5556729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7310438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651329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457200" y="1417320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57200" y="3065544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57200" y="4713767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417320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3065543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4713767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016345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22276" y="1397000"/>
            <a:ext cx="1738313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060576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335590" y="1397000"/>
            <a:ext cx="1738312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3698876" y="1397000"/>
            <a:ext cx="1736725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73891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422275" y="2954338"/>
            <a:ext cx="2147888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68564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6561140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514852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431801" y="4497388"/>
            <a:ext cx="2816225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3170239" y="4497388"/>
            <a:ext cx="2816225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5908676" y="4497388"/>
            <a:ext cx="2816225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716511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344304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2360778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3377252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133600" y="4393726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5410200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457200" y="1344304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57200" y="2357366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457200" y="3370428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457200" y="4383490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457200" y="5396552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889986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44196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22860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6753225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458789" y="3478213"/>
            <a:ext cx="7769225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3429000" y="3651252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16764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5562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7696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3281363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452438" y="3413125"/>
            <a:ext cx="8239125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75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611189" y="3460752"/>
            <a:ext cx="7769225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2535866" y="12954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0668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35814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530352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722376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9144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69342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15240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48006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2667000" y="5181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5991225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36576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351625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914401" y="129540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914401" y="1800013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914401" y="2304626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914401" y="2809239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914401" y="3313852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914401" y="3818465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914401" y="4323078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914401" y="4827691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457200" y="129540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457200" y="1800013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457200" y="2304626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457200" y="2809239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457200" y="3313852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457200" y="3818465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457200" y="4323078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457200" y="4827691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8229600" y="129540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8229600" y="1800013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8229600" y="2304626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8229600" y="2809239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8229600" y="3313852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8229600" y="3818465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8229600" y="4323078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8229600" y="4827691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911777" y="5332304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454575" y="5332304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8226975" y="5332304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911777" y="583692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454575" y="583692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8226975" y="583692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314482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1335024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457200" y="3744363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1905000" y="1348565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1905000" y="3763963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1905000" y="2199167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1905000" y="4619625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19400" y="1348565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19400" y="3763963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19400" y="2199167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19400" y="4619625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6436464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4646613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752475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2262459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6157271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752108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4646920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853523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441326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2552701" y="1911352"/>
            <a:ext cx="1919288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4648201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6770689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095755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320617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5301996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742511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41959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55238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648200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77132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565783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338328" y="1450181"/>
            <a:ext cx="259689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3273554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6208779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273552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208776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38328" y="2057403"/>
            <a:ext cx="2523744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1353904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7129272" y="1493520"/>
            <a:ext cx="1481328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57200" y="16002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57200" y="48768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457200" y="32385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191512" y="16002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91512" y="32385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91512" y="48768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6730282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684213" y="2635250"/>
            <a:ext cx="7777162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35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05156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457200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05156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457200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2109393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4384675" y="3341688"/>
            <a:ext cx="376238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835152" y="1417320"/>
            <a:ext cx="303580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266627" y="1417320"/>
            <a:ext cx="3054096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835152" y="1874520"/>
            <a:ext cx="329184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5028883" y="1874520"/>
            <a:ext cx="329184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3481349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6181725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484632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2667000" y="18288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2667000" y="242316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2667000" y="301752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2667000" y="361188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2667000" y="420624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2667000" y="48006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2514600" y="1981200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2514600" y="2570074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2514600" y="315894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2514600" y="3747822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2514600" y="4336696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2514600" y="492556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886240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396240" y="160020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621280" y="160020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96240" y="274828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621280" y="274828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96240" y="389636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2621280" y="389636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2266" y="504444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2627306" y="504444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760421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731520" y="1097281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362200" y="1371600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2362200" y="2474977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362200" y="3578353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2362200" y="4681728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731520" y="2200657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731520" y="3304033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731520" y="4407408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484837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5297488" y="3346450"/>
            <a:ext cx="4406900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76041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75406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2266951" y="3351213"/>
            <a:ext cx="4416425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3781426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762000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2276475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3789363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53038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68151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09600" y="21336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09600" y="33909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4648200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3169094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273552" y="1444752"/>
            <a:ext cx="2596896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370576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609600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370576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609600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70576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609600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5370576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609600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6264208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248400" y="1420504"/>
            <a:ext cx="2587752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02920" y="15544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502920" y="27482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502920" y="39420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502920" y="51358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4600620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304800" y="2362200"/>
            <a:ext cx="6117336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04800" y="3491484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304800" y="4620768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6411433" y="1417320"/>
            <a:ext cx="210312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4391025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774061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157097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157097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2774061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4391025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6411433" y="1861185"/>
            <a:ext cx="2103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524657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3068639" y="1981202"/>
            <a:ext cx="2536825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457201" y="1982790"/>
            <a:ext cx="2530475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5684839" y="1981202"/>
            <a:ext cx="2871787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5680886" y="1983087"/>
            <a:ext cx="287574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3068559" y="1983087"/>
            <a:ext cx="2674468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4038600"/>
            <a:ext cx="80772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457200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4585778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1417320"/>
            <a:ext cx="5193792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656263" y="1417326"/>
            <a:ext cx="3035808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1983087"/>
            <a:ext cx="2674468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457200" y="1981200"/>
            <a:ext cx="2473180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3144323" y="1988239"/>
            <a:ext cx="238753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343400"/>
            <a:ext cx="80772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5762431" y="1987175"/>
            <a:ext cx="2794197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1800897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5507039" y="1755775"/>
            <a:ext cx="679450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 eaLnBrk="0" hangingPunct="0">
              <a:lnSpc>
                <a:spcPct val="95000"/>
              </a:lnSpc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2993735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477838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2993735" y="1290638"/>
            <a:ext cx="237744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6300383" y="1290638"/>
            <a:ext cx="237744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477838" y="1290638"/>
            <a:ext cx="237744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569278" y="173126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569278" y="235712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569278" y="2982976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69278" y="3608832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569278" y="4234688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569278" y="548640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569278" y="486054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3085175" y="174345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3085175" y="236931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3085175" y="2995168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3085175" y="3621024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3085175" y="4246880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3085175" y="549859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3085175" y="487273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6300383" y="174345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6300383" y="236931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6300383" y="2995168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6300383" y="3621024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6300383" y="4246880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6300383" y="549859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6300383" y="487273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0126580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5349876" y="1497015"/>
            <a:ext cx="679450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7082028" y="330708"/>
            <a:ext cx="640080" cy="2569464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117336" y="1981200"/>
            <a:ext cx="2569464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3810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3810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3810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0574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0574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0574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37338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37338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37338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5981047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909638" y="2395538"/>
            <a:ext cx="768350" cy="6381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066926" y="3590927"/>
            <a:ext cx="752475" cy="6254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3234532" y="4814095"/>
            <a:ext cx="698500" cy="595313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3881706" y="4986243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79117" y="1441358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1612733" y="2622986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2755736" y="3804614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491669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712789" y="1782765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712789" y="5300665"/>
            <a:ext cx="7969250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712789" y="4129090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712789" y="2955925"/>
            <a:ext cx="7969250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708691" y="1501649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708691" y="5019704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708691" y="3847017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708691" y="2674336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8136746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477838" y="3294065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477838" y="4670425"/>
            <a:ext cx="7988300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477838" y="6046790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582996" y="1290644"/>
            <a:ext cx="1870718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89650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511428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332064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2068960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7200" y="343666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57200" y="480248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1582996" y="2068960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1582996" y="344150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1582996" y="480732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33206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333206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333206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511428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11428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11428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6896505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6896505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896505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20151431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151064" y="1277938"/>
            <a:ext cx="6618287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160589" y="1568450"/>
            <a:ext cx="6608762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-167481" y="3604420"/>
            <a:ext cx="4665662" cy="1270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2584450" y="1576388"/>
            <a:ext cx="5530850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468313" y="1860550"/>
            <a:ext cx="8069262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468314" y="1277938"/>
            <a:ext cx="1692275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473075" y="1277938"/>
            <a:ext cx="16764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159965" y="1282931"/>
            <a:ext cx="6372290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01612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344159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16517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59064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471802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514350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86707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29255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641992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4540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56897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99445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727088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769635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812183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548056" y="1548247"/>
            <a:ext cx="645582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401427" y="1278089"/>
            <a:ext cx="645582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533400" y="1905000"/>
            <a:ext cx="155448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5198427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1555750" y="1828802"/>
            <a:ext cx="7131050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447675" y="2189163"/>
            <a:ext cx="1098550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442914" y="1819275"/>
            <a:ext cx="8234362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512764" y="1566865"/>
            <a:ext cx="884237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512764" y="1939925"/>
            <a:ext cx="88423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442913" y="2200275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442913" y="5486400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1555751" y="1468440"/>
            <a:ext cx="7102475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1546226" y="1828800"/>
            <a:ext cx="649288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1546225" y="1835813"/>
            <a:ext cx="64591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203314" y="1835813"/>
            <a:ext cx="64688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850206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3497094" y="1835813"/>
            <a:ext cx="64202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139118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795736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5437760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084651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731540" y="1835813"/>
            <a:ext cx="64689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383292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8025320" y="1835813"/>
            <a:ext cx="65316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469240" y="223026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469240" y="259557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469240" y="296088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469240" y="332619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469240" y="369150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469240" y="405681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469240" y="5152742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469240" y="442212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469240" y="478743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1562267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20331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285020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349709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41391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4795736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543776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608465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673154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7383292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80253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1546225" y="232170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1546225" y="268701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1546225" y="305232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1546225" y="341763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1546225" y="3782940"/>
            <a:ext cx="4572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1546225" y="414825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1546225" y="451356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1546225" y="487887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1546225" y="5244182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3436620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3048000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5355067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4966447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6581772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1779589" y="5981700"/>
            <a:ext cx="5495925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92288" y="5453937"/>
            <a:ext cx="54864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66756"/>
            <a:ext cx="54864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042020"/>
            <a:ext cx="54864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769503" y="0"/>
            <a:ext cx="7604994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3289690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52441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52441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2441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003443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7003443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7003443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7003443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52441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8732757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59380" y="1419225"/>
            <a:ext cx="2532185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7902452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75052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848278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1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773265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7888285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076450" y="2667000"/>
            <a:ext cx="6629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066925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5505450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067306" y="2743200"/>
            <a:ext cx="6638544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aseline="0">
                <a:latin typeface="Arial" pitchFamily="34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5612" y="1108074"/>
            <a:ext cx="1170432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5615" y="2722996"/>
            <a:ext cx="1525587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05450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067306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067306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5505450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067306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505450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4667172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76987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76985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67882" y="1246188"/>
            <a:ext cx="8188325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197969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197967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3850124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3850124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5491888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5491886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144042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7144042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576987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576985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197969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197967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3850124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3850124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5491888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5491886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7144042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7144042" y="3962402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7668314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41325" y="14398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438151" y="18970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441325" y="32686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438151" y="37258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260858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477901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6949440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481328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4724400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481328" y="4800600"/>
            <a:ext cx="621792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43815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7219927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20806012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1576558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450850" y="6020181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45085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113838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3776826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5439814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710280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113838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11383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3776826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377682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5439814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439814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10280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50815755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5123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205322111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2070935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Accounting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0836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Accounting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369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3C724D-B57F-F94F-8F6D-BE1CC47DC0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19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9144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610600" y="643663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3124200" y="6442488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Accounting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72409" y="6423029"/>
            <a:ext cx="23622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700" b="1" dirty="0">
                <a:latin typeface="+mn-lt"/>
              </a:rPr>
              <a:t>CF_Ch14_Accounting_26</a:t>
            </a:r>
          </a:p>
        </p:txBody>
      </p:sp>
    </p:spTree>
    <p:extLst>
      <p:ext uri="{BB962C8B-B14F-4D97-AF65-F5344CB8AC3E}">
        <p14:creationId xmlns:p14="http://schemas.microsoft.com/office/powerpoint/2010/main" val="203848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796" r:id="rId36"/>
    <p:sldLayoutId id="2147483797" r:id="rId37"/>
    <p:sldLayoutId id="2147483798" r:id="rId38"/>
    <p:sldLayoutId id="2147483799" r:id="rId39"/>
    <p:sldLayoutId id="2147483800" r:id="rId40"/>
    <p:sldLayoutId id="2147483801" r:id="rId41"/>
    <p:sldLayoutId id="2147483802" r:id="rId42"/>
    <p:sldLayoutId id="2147483803" r:id="rId43"/>
    <p:sldLayoutId id="2147483804" r:id="rId44"/>
    <p:sldLayoutId id="2147483805" r:id="rId45"/>
    <p:sldLayoutId id="2147483806" r:id="rId46"/>
    <p:sldLayoutId id="2147483807" r:id="rId47"/>
    <p:sldLayoutId id="2147483808" r:id="rId48"/>
    <p:sldLayoutId id="2147483809" r:id="rId49"/>
    <p:sldLayoutId id="2147483810" r:id="rId50"/>
    <p:sldLayoutId id="2147483811" r:id="rId51"/>
    <p:sldLayoutId id="2147483812" r:id="rId52"/>
    <p:sldLayoutId id="2147483813" r:id="rId53"/>
    <p:sldLayoutId id="2147483814" r:id="rId54"/>
    <p:sldLayoutId id="2147483815" r:id="rId55"/>
    <p:sldLayoutId id="2147483816" r:id="rId56"/>
    <p:sldLayoutId id="21474838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B908C-B5CB-4D61-9AAA-0E6FA8ADA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527EB-3756-C241-BFD3-DBB1E111190F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6835F-3425-4D22-A3BF-7A8DB7F9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-128"/>
              </a:rPr>
              <a:t>Accounting to Finance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D9786-58D6-4467-A340-9C08B3251F1F}"/>
              </a:ext>
            </a:extLst>
          </p:cNvPr>
          <p:cNvSpPr/>
          <p:nvPr/>
        </p:nvSpPr>
        <p:spPr>
          <a:xfrm>
            <a:off x="641839" y="2111043"/>
            <a:ext cx="808892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Corporate Finance</a:t>
            </a:r>
          </a:p>
          <a:p>
            <a:pPr algn="ctr"/>
            <a:r>
              <a:rPr lang="en-US" sz="2700" b="1" dirty="0"/>
              <a:t>Financial Statements to Economic Cash Flows</a:t>
            </a:r>
          </a:p>
          <a:p>
            <a:pPr algn="ctr"/>
            <a:endParaRPr lang="en-US" sz="2700" b="1" dirty="0"/>
          </a:p>
          <a:p>
            <a:pPr algn="ctr"/>
            <a:endParaRPr lang="en-US" b="1" dirty="0">
              <a:ea typeface="ＭＳ Ｐゴシック" charset="0"/>
              <a:cs typeface="ＭＳ Ｐゴシック" charset="0"/>
            </a:endParaRPr>
          </a:p>
          <a:p>
            <a:pPr algn="ctr"/>
            <a:endParaRPr lang="en-US" b="1" dirty="0"/>
          </a:p>
          <a:p>
            <a:pPr algn="ctr">
              <a:buNone/>
            </a:pPr>
            <a:r>
              <a:rPr lang="en-US" b="1" dirty="0"/>
              <a:t>Fall 2026</a:t>
            </a:r>
          </a:p>
          <a:p>
            <a:pPr algn="ctr"/>
            <a:r>
              <a:rPr lang="en-US" b="1" dirty="0"/>
              <a:t>Prof. Jeffrey Colón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87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ea typeface="ＭＳ Ｐゴシック" charset="0"/>
                <a:cs typeface="ＭＳ Ｐゴシック" charset="0"/>
              </a:rPr>
              <a:t>Importance of Understanding Financial Statements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May be required to be reported (10-K, 10-Q)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Often reported in the media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Understand strengths and limitations in order to value a firm or investment project from financials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Financial contracts (</a:t>
            </a:r>
            <a:r>
              <a:rPr lang="en-US" sz="1800" b="1" dirty="0">
                <a:ea typeface="ＭＳ Ｐゴシック" charset="0"/>
              </a:rPr>
              <a:t>debt</a:t>
            </a:r>
            <a:r>
              <a:rPr lang="en-US" sz="1800" dirty="0">
                <a:ea typeface="ＭＳ Ｐゴシック" charset="0"/>
              </a:rPr>
              <a:t> and derivative instruments) may refer to financials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Regulatory rules may refer to financials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Managers may care a lot about financials</a:t>
            </a:r>
          </a:p>
          <a:p>
            <a:pPr lvl="2" eaLnBrk="1" hangingPunct="1"/>
            <a:r>
              <a:rPr lang="en-US" sz="1800" i="1" dirty="0">
                <a:ea typeface="ＭＳ Ｐゴシック" charset="0"/>
              </a:rPr>
              <a:t>Manager compensation</a:t>
            </a:r>
          </a:p>
          <a:p>
            <a:pPr lvl="2"/>
            <a:r>
              <a:rPr lang="en-US" sz="1800" dirty="0"/>
              <a:t>“Show me the incentives and I will show you the outcome.” Charlie Munger</a:t>
            </a:r>
          </a:p>
          <a:p>
            <a:pPr lvl="2"/>
            <a:endParaRPr lang="en-US" sz="1800" dirty="0">
              <a:ea typeface="ＭＳ Ｐゴシック" charset="0"/>
            </a:endParaRPr>
          </a:p>
          <a:p>
            <a:pPr marL="0" indent="0">
              <a:buNone/>
            </a:pPr>
            <a:endParaRPr lang="en-US" sz="2150" dirty="0">
              <a:ea typeface="ＭＳ Ｐゴシック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latin typeface="+mn-lt"/>
                <a:ea typeface="ＭＳ Ｐゴシック" charset="0"/>
                <a:cs typeface="ＭＳ Ｐゴシック" charset="0"/>
              </a:rPr>
              <a:t>Financial Statements</a:t>
            </a:r>
            <a:endParaRPr lang="en-US" dirty="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Generally Accepted Accounting Principles (US GAAP)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Standard Setting</a:t>
            </a:r>
          </a:p>
          <a:p>
            <a:pPr lvl="1" eaLnBrk="1" hangingPunct="1"/>
            <a:r>
              <a:rPr lang="en-US" sz="2000" b="1" dirty="0">
                <a:ea typeface="ＭＳ Ｐゴシック" charset="0"/>
              </a:rPr>
              <a:t>FASB</a:t>
            </a:r>
            <a:r>
              <a:rPr lang="en-US" sz="2000" dirty="0">
                <a:ea typeface="ＭＳ Ｐゴシック" charset="0"/>
              </a:rPr>
              <a:t>, Emerging Issues Task Force, AICPA, and the SEC</a:t>
            </a:r>
          </a:p>
          <a:p>
            <a:pPr lvl="1" eaLnBrk="1" hangingPunct="1"/>
            <a:r>
              <a:rPr lang="en-US" sz="2000" dirty="0">
                <a:ea typeface="ＭＳ Ｐゴシック" charset="0"/>
              </a:rPr>
              <a:t>Before 7/1/09, hodgepodge of various statements and standards: FAS, FIN, </a:t>
            </a:r>
            <a:r>
              <a:rPr lang="en-US" sz="2000" dirty="0" err="1">
                <a:ea typeface="ＭＳ Ｐゴシック" charset="0"/>
              </a:rPr>
              <a:t>FTB</a:t>
            </a:r>
            <a:r>
              <a:rPr lang="en-US" sz="2000" dirty="0">
                <a:ea typeface="ＭＳ Ｐゴシック" charset="0"/>
              </a:rPr>
              <a:t>, </a:t>
            </a:r>
            <a:r>
              <a:rPr lang="en-US" sz="2000" dirty="0" err="1">
                <a:ea typeface="ＭＳ Ｐゴシック" charset="0"/>
              </a:rPr>
              <a:t>EITF</a:t>
            </a:r>
            <a:r>
              <a:rPr lang="en-US" sz="2000" dirty="0">
                <a:ea typeface="ＭＳ Ｐゴシック" charset="0"/>
              </a:rPr>
              <a:t>, APB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Accounting Standards Codification (7/1/09)</a:t>
            </a:r>
          </a:p>
          <a:p>
            <a:pPr lvl="1" eaLnBrk="1" hangingPunct="1"/>
            <a:r>
              <a:rPr lang="en-US" sz="2000" dirty="0">
                <a:ea typeface="ＭＳ Ｐゴシック" charset="0"/>
              </a:rPr>
              <a:t>Topic--Subtopic—Section</a:t>
            </a:r>
          </a:p>
          <a:p>
            <a:pPr lvl="2" eaLnBrk="1" hangingPunct="1"/>
            <a:r>
              <a:rPr lang="en-US" sz="1800" dirty="0">
                <a:ea typeface="ＭＳ Ｐゴシック" charset="0"/>
              </a:rPr>
              <a:t>820—15—1</a:t>
            </a:r>
          </a:p>
          <a:p>
            <a:pPr lvl="2" eaLnBrk="1" hangingPunct="1"/>
            <a:r>
              <a:rPr lang="en-US" sz="1800" dirty="0">
                <a:ea typeface="ＭＳ Ｐゴシック" charset="0"/>
                <a:sym typeface="Wingdings" charset="0"/>
              </a:rPr>
              <a:t>Fair Value Measurement—Scope—Overall Guidance</a:t>
            </a:r>
            <a:endParaRPr lang="en-US" sz="1800" dirty="0">
              <a:ea typeface="ＭＳ Ｐゴシック" charset="0"/>
            </a:endParaRPr>
          </a:p>
          <a:p>
            <a:pPr lvl="1" eaLnBrk="1" hangingPunct="1"/>
            <a:r>
              <a:rPr lang="en-US" sz="2000" dirty="0">
                <a:ea typeface="ＭＳ Ｐゴシック" charset="0"/>
              </a:rPr>
              <a:t>Accounting Standards Update (ASU)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 lvl="2" eaLnBrk="1" hangingPunct="1"/>
            <a:r>
              <a:rPr lang="en-US" sz="1600" dirty="0">
                <a:ea typeface="ＭＳ Ｐゴシック" charset="0"/>
                <a:cs typeface="ＭＳ Ｐゴシック" charset="0"/>
              </a:rPr>
              <a:t>ASU 2010-06, Fair Value Measurements and Disclosures (Topic 82)</a:t>
            </a:r>
          </a:p>
          <a:p>
            <a:r>
              <a:rPr lang="en-US" sz="2150" dirty="0">
                <a:ea typeface="ＭＳ Ｐゴシック" charset="0"/>
              </a:rPr>
              <a:t>SEC Requirements</a:t>
            </a:r>
          </a:p>
          <a:p>
            <a:pPr lvl="1"/>
            <a:r>
              <a:rPr lang="en-US" sz="2000" dirty="0">
                <a:ea typeface="ＭＳ Ｐゴシック" charset="0"/>
              </a:rPr>
              <a:t>Regulations </a:t>
            </a:r>
            <a:r>
              <a:rPr lang="en-US" sz="2000" b="1" dirty="0">
                <a:ea typeface="ＭＳ Ｐゴシック" charset="0"/>
              </a:rPr>
              <a:t>S-X</a:t>
            </a:r>
            <a:r>
              <a:rPr lang="en-US" sz="2000" dirty="0">
                <a:ea typeface="ＭＳ Ｐゴシック" charset="0"/>
              </a:rPr>
              <a:t> (17 CFR </a:t>
            </a:r>
            <a:r>
              <a:rPr lang="en-US" sz="2000" dirty="0"/>
              <a:t>§§ 2</a:t>
            </a:r>
            <a:r>
              <a:rPr lang="en-US" sz="2000" dirty="0">
                <a:ea typeface="ＭＳ Ｐゴシック" charset="0"/>
              </a:rPr>
              <a:t>10 </a:t>
            </a:r>
            <a:r>
              <a:rPr lang="en-US" sz="2000" i="1" dirty="0">
                <a:ea typeface="ＭＳ Ｐゴシック" charset="0"/>
              </a:rPr>
              <a:t>et seq</a:t>
            </a:r>
            <a:r>
              <a:rPr lang="en-US" sz="2000" dirty="0">
                <a:ea typeface="ＭＳ Ｐゴシック" charset="0"/>
              </a:rPr>
              <a:t>.); </a:t>
            </a:r>
            <a:r>
              <a:rPr lang="en-US" sz="2000" b="1" dirty="0">
                <a:ea typeface="ＭＳ Ｐゴシック" charset="0"/>
              </a:rPr>
              <a:t>S-K</a:t>
            </a:r>
            <a:r>
              <a:rPr lang="en-US" sz="2000" dirty="0">
                <a:ea typeface="ＭＳ Ｐゴシック" charset="0"/>
              </a:rPr>
              <a:t> (17 CFR </a:t>
            </a:r>
            <a:r>
              <a:rPr lang="en-US" sz="2000" dirty="0"/>
              <a:t>§§ 229.300 </a:t>
            </a:r>
            <a:r>
              <a:rPr lang="en-US" sz="2000" i="1" dirty="0"/>
              <a:t>et seq</a:t>
            </a:r>
            <a:r>
              <a:rPr lang="en-US" sz="2000" dirty="0"/>
              <a:t>.)</a:t>
            </a:r>
          </a:p>
          <a:p>
            <a:pPr lvl="1"/>
            <a:r>
              <a:rPr lang="en-US" sz="2000" dirty="0">
                <a:ea typeface="ＭＳ Ｐゴシック" charset="0"/>
              </a:rPr>
              <a:t>Staff Accounting Bulletins, Interpretive Releases, etc.</a:t>
            </a:r>
          </a:p>
          <a:p>
            <a:pPr lvl="1"/>
            <a:r>
              <a:rPr lang="en-US" sz="2000" dirty="0">
                <a:ea typeface="ＭＳ Ｐゴシック" charset="0"/>
              </a:rPr>
              <a:t>Compliance and disclosure interpretations</a:t>
            </a:r>
          </a:p>
          <a:p>
            <a:pPr lvl="1"/>
            <a:r>
              <a:rPr lang="en-US" sz="2000" dirty="0">
                <a:ea typeface="ＭＳ Ｐゴシック" charset="0"/>
              </a:rPr>
              <a:t>Example: Item 7: </a:t>
            </a:r>
            <a:r>
              <a:rPr lang="en-US" sz="2000" i="1" dirty="0">
                <a:ea typeface="ＭＳ Ｐゴシック" charset="0"/>
              </a:rPr>
              <a:t>Management Discussion and Analysis of Financial Condition and Results of Operations</a:t>
            </a:r>
          </a:p>
          <a:p>
            <a:endParaRPr lang="en-US" sz="1750" dirty="0">
              <a:ea typeface="ＭＳ Ｐゴシック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GAAP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8B8EC-6E7D-BA45-9F85-F85AC1B723C1}"/>
              </a:ext>
            </a:extLst>
          </p:cNvPr>
          <p:cNvSpPr txBox="1"/>
          <p:nvPr/>
        </p:nvSpPr>
        <p:spPr>
          <a:xfrm>
            <a:off x="589280" y="6593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Balance Sheet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Income Statement</a:t>
            </a:r>
          </a:p>
          <a:p>
            <a:pPr eaLnBrk="1" hangingPunct="1"/>
            <a:r>
              <a:rPr lang="en-US" sz="2400" b="1" dirty="0">
                <a:ea typeface="ＭＳ Ｐゴシック" charset="0"/>
                <a:cs typeface="ＭＳ Ｐゴシック" charset="0"/>
              </a:rPr>
              <a:t>Statement of Cash Flows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Consolidated Statement of Common </a:t>
            </a:r>
            <a:r>
              <a:rPr lang="en-US" sz="2400" dirty="0" err="1">
                <a:ea typeface="ＭＳ Ｐゴシック" charset="0"/>
                <a:cs typeface="ＭＳ Ｐゴシック" charset="0"/>
              </a:rPr>
              <a:t>SHs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’ 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Equity</a:t>
            </a:r>
          </a:p>
          <a:p>
            <a:r>
              <a:rPr lang="en-US" sz="2150" b="1" dirty="0">
                <a:ea typeface="ＭＳ Ｐゴシック" charset="0"/>
              </a:rPr>
              <a:t>Notes</a:t>
            </a:r>
          </a:p>
          <a:p>
            <a:pPr lvl="1" eaLnBrk="1" hangingPunct="1"/>
            <a:endParaRPr lang="en-US" sz="2000" dirty="0">
              <a:ea typeface="ＭＳ Ｐゴシック" charset="0"/>
            </a:endParaRPr>
          </a:p>
          <a:p>
            <a:pPr lvl="1" eaLnBrk="1" hangingPunct="1">
              <a:buFont typeface="Wingdings" charset="0"/>
              <a:buNone/>
            </a:pPr>
            <a:endParaRPr lang="en-US" dirty="0">
              <a:ea typeface="ＭＳ Ｐゴシック" charset="0"/>
            </a:endParaRPr>
          </a:p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Components of Financial Statements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384048" y="533051"/>
            <a:ext cx="8458200" cy="5812064"/>
          </a:xfrm>
        </p:spPr>
        <p:txBody>
          <a:bodyPr/>
          <a:lstStyle/>
          <a:p>
            <a:pPr eaLnBrk="1" hangingPunct="1"/>
            <a:r>
              <a:rPr lang="en-US" sz="2400" i="1" dirty="0">
                <a:ea typeface="ＭＳ Ｐゴシック" charset="0"/>
                <a:cs typeface="ＭＳ Ｐゴシック" charset="0"/>
              </a:rPr>
              <a:t>Snapshot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of a firm’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s financial condition at a moment in time prepared in accordance with GAAP/</a:t>
            </a:r>
            <a:r>
              <a:rPr lang="en-US" altLang="ja-JP" sz="2400" dirty="0" err="1">
                <a:ea typeface="ＭＳ Ｐゴシック" charset="0"/>
                <a:cs typeface="ＭＳ Ｐゴシック" charset="0"/>
              </a:rPr>
              <a:t>IFRS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.</a:t>
            </a:r>
          </a:p>
          <a:p>
            <a:pPr eaLnBrk="1" hangingPunct="1"/>
            <a:endParaRPr lang="en-US" sz="2400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buFontTx/>
              <a:buNone/>
            </a:pPr>
            <a:r>
              <a:rPr lang="en-US" sz="2400" b="1" u="sng" dirty="0">
                <a:ea typeface="ＭＳ Ｐゴシック" charset="0"/>
                <a:cs typeface="ＭＳ Ｐゴシック" charset="0"/>
              </a:rPr>
              <a:t>Components of a Balance Sheet  </a:t>
            </a:r>
          </a:p>
          <a:p>
            <a:pPr lvl="1" eaLnBrk="1" hangingPunct="1"/>
            <a:r>
              <a:rPr lang="en-US" sz="2000" b="1" dirty="0">
                <a:ea typeface="ＭＳ Ｐゴシック" charset="0"/>
              </a:rPr>
              <a:t>Assets</a:t>
            </a:r>
            <a:r>
              <a:rPr lang="en-US" sz="2000" dirty="0">
                <a:ea typeface="ＭＳ Ｐゴシック" charset="0"/>
              </a:rPr>
              <a:t>:  resources/investments</a:t>
            </a:r>
          </a:p>
          <a:p>
            <a:pPr lvl="1" eaLnBrk="1" hangingPunct="1"/>
            <a:r>
              <a:rPr lang="en-US" sz="2000" b="1" dirty="0">
                <a:ea typeface="ＭＳ Ｐゴシック" charset="0"/>
              </a:rPr>
              <a:t>Liabilities</a:t>
            </a:r>
            <a:r>
              <a:rPr lang="en-US" sz="2000" dirty="0">
                <a:ea typeface="ＭＳ Ｐゴシック" charset="0"/>
              </a:rPr>
              <a:t>:  </a:t>
            </a:r>
          </a:p>
          <a:p>
            <a:pPr lvl="1" eaLnBrk="1" hangingPunct="1"/>
            <a:r>
              <a:rPr lang="en-US" sz="2000" b="1" dirty="0">
                <a:ea typeface="ＭＳ Ｐゴシック" charset="0"/>
              </a:rPr>
              <a:t>Shareholders’ Equity</a:t>
            </a:r>
            <a:r>
              <a:rPr lang="en-US" sz="2000" dirty="0">
                <a:ea typeface="ＭＳ Ｐゴシック" charset="0"/>
              </a:rPr>
              <a:t>:</a:t>
            </a:r>
          </a:p>
          <a:p>
            <a:pPr lvl="1" eaLnBrk="1" hangingPunct="1"/>
            <a:endParaRPr lang="en-US" sz="2000" b="1" dirty="0">
              <a:ea typeface="ＭＳ Ｐゴシック" charset="0"/>
            </a:endParaRPr>
          </a:p>
          <a:p>
            <a:pPr eaLnBrk="1" hangingPunct="1"/>
            <a:r>
              <a:rPr lang="en-US" sz="2400" b="1" dirty="0">
                <a:ea typeface="ＭＳ Ｐゴシック" charset="0"/>
                <a:cs typeface="ＭＳ Ｐゴシック" charset="0"/>
              </a:rPr>
              <a:t>Assets = Liabilities + Shareholders’ Equity</a:t>
            </a:r>
          </a:p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Balance Sheet</a:t>
            </a:r>
          </a:p>
        </p:txBody>
      </p:sp>
      <p:sp>
        <p:nvSpPr>
          <p:cNvPr id="19461" name="AutoShape 4"/>
          <p:cNvSpPr>
            <a:spLocks/>
          </p:cNvSpPr>
          <p:nvPr/>
        </p:nvSpPr>
        <p:spPr bwMode="auto">
          <a:xfrm>
            <a:off x="3335338" y="2653951"/>
            <a:ext cx="533400" cy="685800"/>
          </a:xfrm>
          <a:prstGeom prst="rightBrace">
            <a:avLst>
              <a:gd name="adj1" fmla="val 10714"/>
              <a:gd name="adj2" fmla="val 4629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</a:endParaRPr>
          </a:p>
        </p:txBody>
      </p:sp>
      <p:sp>
        <p:nvSpPr>
          <p:cNvPr id="19462" name="Text Box 5"/>
          <p:cNvSpPr txBox="1">
            <a:spLocks noChangeArrowheads="1"/>
          </p:cNvSpPr>
          <p:nvPr/>
        </p:nvSpPr>
        <p:spPr bwMode="auto">
          <a:xfrm>
            <a:off x="3886200" y="2742851"/>
            <a:ext cx="365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>
                <a:latin typeface="Calibri"/>
              </a:rPr>
              <a:t>claims on resources/financing</a:t>
            </a:r>
            <a:endParaRPr lang="en-US" dirty="0">
              <a:latin typeface="Calibri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animBg="1"/>
      <p:bldP spid="194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>
                <a:ea typeface="ＭＳ Ｐゴシック" charset="0"/>
                <a:cs typeface="ＭＳ Ｐゴシック" charset="0"/>
                <a:sym typeface="Monotype Sorts" charset="0"/>
              </a:rPr>
              <a:t>   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2026 Balance Sheet (Assets)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753E4-769C-6A02-1D63-B6AE45F51F29}"/>
              </a:ext>
            </a:extLst>
          </p:cNvPr>
          <p:cNvSpPr txBox="1"/>
          <p:nvPr/>
        </p:nvSpPr>
        <p:spPr>
          <a:xfrm>
            <a:off x="3352800" y="533400"/>
            <a:ext cx="21804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‘000,000s, except par value &amp; share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820B90-5BCD-D9E2-365B-33C736E02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82" y="748844"/>
            <a:ext cx="8458200" cy="511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2026 Balance Sheet (L &amp; SH Equity)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472B59-45BC-4EF5-9245-B99042AC9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-2057400"/>
            <a:ext cx="3200400" cy="520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03FCC0-BCE6-534A-9D38-CEA6F6A5026D}"/>
              </a:ext>
            </a:extLst>
          </p:cNvPr>
          <p:cNvSpPr txBox="1"/>
          <p:nvPr/>
        </p:nvSpPr>
        <p:spPr>
          <a:xfrm>
            <a:off x="2866205" y="578512"/>
            <a:ext cx="21804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‘000,000s, except par value &amp; share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E0D2EE-F606-C0AC-04C1-3BF94F69F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565356"/>
            <a:ext cx="2679700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8D5349-666A-6505-D210-E45C18591C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022556"/>
            <a:ext cx="8458200" cy="52569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Cash v. accrual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Assets that don’</a:t>
            </a:r>
            <a:r>
              <a:rPr lang="en-US" altLang="ja-JP" sz="2800" dirty="0">
                <a:ea typeface="ＭＳ Ｐゴシック" charset="0"/>
                <a:cs typeface="ＭＳ Ｐゴシック" charset="0"/>
              </a:rPr>
              <a:t>t appear on the BS</a:t>
            </a:r>
          </a:p>
          <a:p>
            <a:pPr lvl="1" eaLnBrk="1" hangingPunct="1"/>
            <a:r>
              <a:rPr lang="en-US" sz="2400" b="1" dirty="0">
                <a:ea typeface="ＭＳ Ｐゴシック" charset="0"/>
              </a:rPr>
              <a:t>Self-created intangibles</a:t>
            </a:r>
          </a:p>
          <a:p>
            <a:pPr lvl="2"/>
            <a:r>
              <a:rPr lang="en-US" sz="2400" b="1" dirty="0">
                <a:ea typeface="ＭＳ Ｐゴシック" charset="0"/>
              </a:rPr>
              <a:t>Brands, Goodwill, Software, Employee Training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Liabilities that don’</a:t>
            </a:r>
            <a:r>
              <a:rPr lang="en-US" altLang="ja-JP" sz="2800" dirty="0">
                <a:ea typeface="ＭＳ Ｐゴシック" charset="0"/>
                <a:cs typeface="ＭＳ Ｐゴシック" charset="0"/>
              </a:rPr>
              <a:t>t appear on the BS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Liquidity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Retained earnings</a:t>
            </a:r>
            <a:r>
              <a:rPr lang="en-US" sz="2800" dirty="0">
                <a:solidFill>
                  <a:srgbClr val="FF0021"/>
                </a:solidFill>
                <a:ea typeface="ＭＳ Ｐゴシック" charset="0"/>
                <a:cs typeface="ＭＳ Ｐゴシック" charset="0"/>
              </a:rPr>
              <a:t> ≠ 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cash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Estimates/contingencies </a:t>
            </a:r>
          </a:p>
          <a:p>
            <a:pPr eaLnBrk="1" hangingPunct="1"/>
            <a:r>
              <a:rPr lang="en-US" sz="2800" i="1" dirty="0">
                <a:ea typeface="ＭＳ Ｐゴシック" charset="0"/>
                <a:cs typeface="ＭＳ Ｐゴシック" charset="0"/>
              </a:rPr>
              <a:t>Book Value</a:t>
            </a:r>
          </a:p>
          <a:p>
            <a:pPr lvl="1" eaLnBrk="1" hangingPunct="1"/>
            <a:r>
              <a:rPr lang="en-US" sz="2400" b="1" i="1" dirty="0">
                <a:ea typeface="ＭＳ Ｐゴシック" charset="0"/>
              </a:rPr>
              <a:t>Fair market value v. historical cost</a:t>
            </a:r>
            <a:endParaRPr lang="en-US" sz="2400" dirty="0">
              <a:ea typeface="ＭＳ Ｐゴシック" charset="0"/>
            </a:endParaRPr>
          </a:p>
          <a:p>
            <a:pPr lvl="1" eaLnBrk="1" hangingPunct="1"/>
            <a:endParaRPr lang="en-US" sz="1800" dirty="0">
              <a:ea typeface="ＭＳ Ｐゴシック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Balance Sheet Concerns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4581" name="Oval 4"/>
          <p:cNvSpPr>
            <a:spLocks noChangeArrowheads="1"/>
          </p:cNvSpPr>
          <p:nvPr/>
        </p:nvSpPr>
        <p:spPr bwMode="auto">
          <a:xfrm>
            <a:off x="762000" y="5029200"/>
            <a:ext cx="4724400" cy="457200"/>
          </a:xfrm>
          <a:prstGeom prst="ellipse">
            <a:avLst/>
          </a:prstGeom>
          <a:noFill/>
          <a:ln w="28575">
            <a:solidFill>
              <a:srgbClr val="FF002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3200" dirty="0">
                <a:ea typeface="ＭＳ Ｐゴシック" charset="0"/>
                <a:cs typeface="ＭＳ Ｐゴシック" charset="0"/>
              </a:rPr>
              <a:t>Shows firm’</a:t>
            </a:r>
            <a:r>
              <a:rPr lang="en-US" altLang="ja-JP" sz="3200" dirty="0">
                <a:ea typeface="ＭＳ Ｐゴシック" charset="0"/>
                <a:cs typeface="ＭＳ Ｐゴシック" charset="0"/>
              </a:rPr>
              <a:t>s net profit/loss over given period and how it was earned:</a:t>
            </a:r>
          </a:p>
          <a:p>
            <a:pPr lvl="1" eaLnBrk="1" hangingPunct="1"/>
            <a:r>
              <a:rPr lang="en-US" sz="2800" dirty="0">
                <a:ea typeface="ＭＳ Ｐゴシック" charset="0"/>
              </a:rPr>
              <a:t>Revenues</a:t>
            </a:r>
          </a:p>
          <a:p>
            <a:pPr lvl="1" eaLnBrk="1" hangingPunct="1"/>
            <a:r>
              <a:rPr lang="en-US" sz="2800" dirty="0">
                <a:ea typeface="ＭＳ Ｐゴシック" charset="0"/>
              </a:rPr>
              <a:t>Costs/Expenses</a:t>
            </a:r>
          </a:p>
          <a:p>
            <a:pPr lvl="1" eaLnBrk="1" hangingPunct="1"/>
            <a:r>
              <a:rPr lang="en-US" sz="2800" dirty="0">
                <a:ea typeface="ＭＳ Ｐゴシック" charset="0"/>
              </a:rPr>
              <a:t>Interest/Dividends</a:t>
            </a:r>
          </a:p>
          <a:p>
            <a:pPr lvl="1" eaLnBrk="1" hangingPunct="1"/>
            <a:r>
              <a:rPr lang="en-US" sz="2800" dirty="0">
                <a:ea typeface="ＭＳ Ｐゴシック" charset="0"/>
              </a:rPr>
              <a:t>Income Taxes</a:t>
            </a:r>
          </a:p>
          <a:p>
            <a:pPr eaLnBrk="1" hangingPunct="1"/>
            <a:r>
              <a:rPr lang="en-US" sz="3200" dirty="0">
                <a:ea typeface="ＭＳ Ｐゴシック" charset="0"/>
                <a:cs typeface="ＭＳ Ｐゴシック" charset="0"/>
              </a:rPr>
              <a:t>Measures </a:t>
            </a:r>
            <a:r>
              <a:rPr lang="en-US" sz="3200" b="1" i="1" dirty="0">
                <a:ea typeface="ＭＳ Ｐゴシック" charset="0"/>
                <a:cs typeface="ＭＳ Ｐゴシック" charset="0"/>
              </a:rPr>
              <a:t>flows</a:t>
            </a:r>
            <a:r>
              <a:rPr lang="en-US" sz="3200" dirty="0">
                <a:ea typeface="ＭＳ Ｐゴシック" charset="0"/>
                <a:cs typeface="ＭＳ Ｐゴシック" charset="0"/>
              </a:rPr>
              <a:t> not stock</a:t>
            </a:r>
          </a:p>
          <a:p>
            <a:pPr eaLnBrk="1" hangingPunct="1"/>
            <a:r>
              <a:rPr lang="en-US" sz="3200" dirty="0">
                <a:ea typeface="ＭＳ Ｐゴシック" charset="0"/>
                <a:cs typeface="ＭＳ Ｐゴシック" charset="0"/>
              </a:rPr>
              <a:t>Also referred to </a:t>
            </a:r>
            <a:r>
              <a:rPr lang="en-US" sz="3200">
                <a:ea typeface="ＭＳ Ｐゴシック" charset="0"/>
                <a:cs typeface="ＭＳ Ｐゴシック" charset="0"/>
              </a:rPr>
              <a:t>as a P</a:t>
            </a:r>
            <a:r>
              <a:rPr lang="en-US" sz="3200" dirty="0">
                <a:ea typeface="ＭＳ Ｐゴシック" charset="0"/>
                <a:cs typeface="ＭＳ Ｐゴシック" charset="0"/>
              </a:rPr>
              <a:t>&amp;L Statement</a:t>
            </a:r>
          </a:p>
        </p:txBody>
      </p:sp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Income Statement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buFont typeface="Wingdings" charset="0"/>
              <a:buNone/>
            </a:pPr>
            <a:r>
              <a:rPr lang="en-US">
                <a:ea typeface="ＭＳ Ｐゴシック" charset="0"/>
              </a:rPr>
              <a:t> 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2026 Income Statement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5343525" y="8667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C00A2D-782B-CED8-A9C1-2D366FD6B60B}"/>
              </a:ext>
            </a:extLst>
          </p:cNvPr>
          <p:cNvSpPr txBox="1"/>
          <p:nvPr/>
        </p:nvSpPr>
        <p:spPr>
          <a:xfrm>
            <a:off x="6019800" y="533400"/>
            <a:ext cx="7489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5DD909-C596-AC1D-FFE0-02E8559BC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748844"/>
            <a:ext cx="8458200" cy="55757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a typeface="ＭＳ Ｐゴシック" charset="0"/>
                <a:cs typeface="ＭＳ Ｐゴシック" charset="0"/>
              </a:rPr>
              <a:t>Shows changes in Cash (BS) over period</a:t>
            </a:r>
          </a:p>
          <a:p>
            <a:pPr lvl="1"/>
            <a:r>
              <a:rPr lang="en-US" sz="2000" dirty="0">
                <a:ea typeface="ＭＳ Ｐゴシック" charset="0"/>
              </a:rPr>
              <a:t>Flow, not stock</a:t>
            </a: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Difference between Net Income and Cash Flow?</a:t>
            </a: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CFs separated by activity:</a:t>
            </a:r>
          </a:p>
          <a:p>
            <a:pPr lvl="1"/>
            <a:r>
              <a:rPr lang="en-US" sz="2000" dirty="0">
                <a:ea typeface="ＭＳ Ｐゴシック" charset="0"/>
              </a:rPr>
              <a:t>Operating Activities</a:t>
            </a:r>
          </a:p>
          <a:p>
            <a:pPr lvl="1"/>
            <a:r>
              <a:rPr lang="en-US" sz="2000" dirty="0">
                <a:ea typeface="ＭＳ Ｐゴシック" charset="0"/>
              </a:rPr>
              <a:t>Investing Activities</a:t>
            </a:r>
          </a:p>
          <a:p>
            <a:pPr lvl="1"/>
            <a:r>
              <a:rPr lang="en-US" sz="2000" dirty="0">
                <a:ea typeface="ＭＳ Ｐゴシック" charset="0"/>
              </a:rPr>
              <a:t>Financing Activities</a:t>
            </a:r>
          </a:p>
        </p:txBody>
      </p:sp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ＭＳ Ｐゴシック" charset="0"/>
                <a:cs typeface="ＭＳ Ｐゴシック" charset="0"/>
              </a:rPr>
              <a:t>Statement of Cash Flows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2026 Statement of Cash Flows:  Operating  &amp; Investing Activities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2D945-CD98-295C-3183-8689EE7F5DF8}"/>
              </a:ext>
            </a:extLst>
          </p:cNvPr>
          <p:cNvSpPr txBox="1"/>
          <p:nvPr/>
        </p:nvSpPr>
        <p:spPr>
          <a:xfrm>
            <a:off x="4724400" y="504085"/>
            <a:ext cx="7489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96632B-2169-ACB0-1043-2CF4CFA11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36" y="816553"/>
            <a:ext cx="8264912" cy="52794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50387"/>
            <a:ext cx="8458200" cy="365127"/>
          </a:xfrm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2026 Statement of Cash Flows: Financing Activities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21DD2F-806C-4B41-93B7-1DBEB963E181}"/>
              </a:ext>
            </a:extLst>
          </p:cNvPr>
          <p:cNvSpPr txBox="1"/>
          <p:nvPr/>
        </p:nvSpPr>
        <p:spPr>
          <a:xfrm>
            <a:off x="5943600" y="661086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2026	    2025      2024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7770D-CCA7-230D-B30B-404B2212D689}"/>
              </a:ext>
            </a:extLst>
          </p:cNvPr>
          <p:cNvSpPr txBox="1"/>
          <p:nvPr/>
        </p:nvSpPr>
        <p:spPr>
          <a:xfrm>
            <a:off x="4800600" y="697086"/>
            <a:ext cx="7489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7A8D6-0DF3-E6B0-9EEC-75CC37E07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30418"/>
            <a:ext cx="8607552" cy="513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03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934"/>
            <a:ext cx="8458200" cy="365127"/>
          </a:xfrm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2026</a:t>
            </a:r>
            <a:r>
              <a:rPr lang="en-US" dirty="0">
                <a:ea typeface="ＭＳ Ｐゴシック" charset="0"/>
                <a:cs typeface="ＭＳ Ｐゴシック" charset="0"/>
              </a:rPr>
              <a:t>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</a:t>
            </a:r>
            <a:r>
              <a:rPr lang="en-US" b="1" dirty="0">
                <a:ea typeface="ＭＳ Ｐゴシック" charset="0"/>
                <a:cs typeface="ＭＳ Ｐゴシック" charset="0"/>
              </a:rPr>
              <a:t>Consolidated Statement of Common Shareholders</a:t>
            </a:r>
            <a:r>
              <a:rPr lang="ja-JP" altLang="en-US" b="1" dirty="0"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Equity</a:t>
            </a:r>
            <a:endParaRPr lang="en-US" b="1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B8B4B0-2AC3-48CF-98EB-547B868B2B61}"/>
              </a:ext>
            </a:extLst>
          </p:cNvPr>
          <p:cNvSpPr txBox="1"/>
          <p:nvPr/>
        </p:nvSpPr>
        <p:spPr>
          <a:xfrm>
            <a:off x="152400" y="9053"/>
            <a:ext cx="7489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A45EA-ECD1-A5B6-65D5-C2629A6FB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82" y="609600"/>
            <a:ext cx="8388765" cy="56503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Finance focuses on Cash Flows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Accountants focus on current valuation through the lenses of the BS, IS, and </a:t>
            </a:r>
            <a:r>
              <a:rPr lang="en-US" sz="2400" dirty="0" err="1">
                <a:ea typeface="ＭＳ Ｐゴシック" charset="0"/>
                <a:cs typeface="ＭＳ Ｐゴシック" charset="0"/>
              </a:rPr>
              <a:t>SoCF</a:t>
            </a:r>
            <a:endParaRPr lang="en-US" sz="2400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Important Differences: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Accruals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 </a:t>
            </a:r>
          </a:p>
          <a:p>
            <a:pPr lvl="1" eaLnBrk="1" hangingPunct="1"/>
            <a:r>
              <a:rPr lang="en-US" sz="2000" b="1" dirty="0">
                <a:ea typeface="ＭＳ Ｐゴシック" charset="0"/>
              </a:rPr>
              <a:t>long-term (depreciation), </a:t>
            </a:r>
            <a:r>
              <a:rPr lang="en-US" sz="2000" dirty="0">
                <a:ea typeface="ＭＳ Ｐゴシック" charset="0"/>
              </a:rPr>
              <a:t>and </a:t>
            </a:r>
          </a:p>
          <a:p>
            <a:pPr lvl="1" eaLnBrk="1" hangingPunct="1"/>
            <a:r>
              <a:rPr lang="en-US" sz="2000" dirty="0">
                <a:ea typeface="ＭＳ Ｐゴシック" charset="0"/>
              </a:rPr>
              <a:t>short-term (changes in working capital, </a:t>
            </a:r>
            <a:r>
              <a:rPr lang="en-US" sz="2000" i="1" dirty="0">
                <a:ea typeface="ＭＳ Ｐゴシック" charset="0"/>
              </a:rPr>
              <a:t>e.g., </a:t>
            </a:r>
            <a:r>
              <a:rPr lang="en-US" sz="2000" dirty="0">
                <a:ea typeface="ＭＳ Ｐゴシック" charset="0"/>
              </a:rPr>
              <a:t>accounts receivable</a:t>
            </a:r>
            <a:r>
              <a:rPr lang="en-US" sz="2000" i="1" dirty="0">
                <a:ea typeface="ＭＳ Ｐゴシック" charset="0"/>
              </a:rPr>
              <a:t>,</a:t>
            </a:r>
            <a:r>
              <a:rPr lang="en-US" sz="2000" dirty="0">
                <a:ea typeface="ＭＳ Ｐゴシック" charset="0"/>
              </a:rPr>
              <a:t> and corporate income taxes)</a:t>
            </a: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Finance and Accounting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Accrual vs. cash method of accounting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Sales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Payables, such as interest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Capital expenditures vs. expenses</a:t>
            </a:r>
          </a:p>
          <a:p>
            <a:pPr marL="342900" indent="-342900"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342900" indent="-342900"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Depreciation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Accounting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Economic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Tax (SL v. accelerated)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Useful life, salvage value, and conventions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Depreciation is </a:t>
            </a:r>
            <a:r>
              <a:rPr lang="en-US" sz="2000" i="1" dirty="0">
                <a:ea typeface="ＭＳ Ｐゴシック" charset="0"/>
              </a:rPr>
              <a:t>NOT</a:t>
            </a:r>
            <a:r>
              <a:rPr lang="en-US" sz="2000" dirty="0">
                <a:ea typeface="ＭＳ Ｐゴシック" charset="0"/>
              </a:rPr>
              <a:t> a CF, but it affects taxes, a CF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Cash Flows (Finance) vs. Accruals (Accounting)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Classification of Securities with readily determinable fair value</a:t>
            </a:r>
          </a:p>
          <a:p>
            <a:pPr lvl="1" eaLnBrk="1" hangingPunct="1"/>
            <a:r>
              <a:rPr lang="en-US" sz="2400" i="1" dirty="0">
                <a:ea typeface="ＭＳ Ｐゴシック" charset="0"/>
              </a:rPr>
              <a:t>Marketable Securities</a:t>
            </a:r>
            <a:r>
              <a:rPr lang="en-US" sz="2400" dirty="0">
                <a:ea typeface="ＭＳ Ｐゴシック" charset="0"/>
              </a:rPr>
              <a:t>:  liquid assets that the company can and intends to convert into cash, when necessary, but usually within 1 year (current asset)</a:t>
            </a:r>
          </a:p>
          <a:p>
            <a:pPr lvl="1" eaLnBrk="1" hangingPunct="1"/>
            <a:r>
              <a:rPr lang="en-US" sz="2400" i="1" dirty="0">
                <a:ea typeface="ＭＳ Ｐゴシック" charset="0"/>
              </a:rPr>
              <a:t>Investment In Securities</a:t>
            </a:r>
            <a:r>
              <a:rPr lang="en-US" sz="2400" dirty="0">
                <a:ea typeface="ＭＳ Ｐゴシック" charset="0"/>
              </a:rPr>
              <a:t>: noncurrent asset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Valuation at Acquisition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Initially booked at </a:t>
            </a:r>
            <a:r>
              <a:rPr lang="en-US" sz="2400" i="1" dirty="0">
                <a:ea typeface="ＭＳ Ｐゴシック" charset="0"/>
              </a:rPr>
              <a:t>cost</a:t>
            </a:r>
          </a:p>
          <a:p>
            <a:pPr eaLnBrk="1" hangingPunct="1">
              <a:buFontTx/>
              <a:buNone/>
            </a:pPr>
            <a:r>
              <a:rPr lang="en-US" sz="3600" i="1" dirty="0"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Fair Value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4163" indent="-284163" eaLnBrk="1" hangingPunct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Trading Securities (TS)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dirty="0">
                <a:ea typeface="ＭＳ Ｐゴシック" charset="0"/>
              </a:rPr>
              <a:t>Held for short-term profit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Shown on the BS at </a:t>
            </a:r>
            <a:r>
              <a:rPr lang="en-US" sz="2000" b="1" i="1" dirty="0">
                <a:solidFill>
                  <a:srgbClr val="FF0000"/>
                </a:solidFill>
                <a:ea typeface="ＭＳ Ｐゴシック" charset="0"/>
              </a:rPr>
              <a:t>FV</a:t>
            </a: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 with changes in FV reported in the IS</a:t>
            </a:r>
          </a:p>
          <a:p>
            <a:pPr marL="284163" indent="-284163" eaLnBrk="1" hangingPunct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Securities Available for Sale (AFS)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dirty="0">
                <a:ea typeface="ＭＳ Ｐゴシック" charset="0"/>
              </a:rPr>
              <a:t>Neither TS nor HTM; acquired for operating rather than ST potential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Shown on the BS at </a:t>
            </a:r>
            <a:r>
              <a:rPr lang="en-US" sz="2000" b="1" i="1" dirty="0">
                <a:solidFill>
                  <a:srgbClr val="FF0000"/>
                </a:solidFill>
                <a:ea typeface="ＭＳ Ｐゴシック" charset="0"/>
              </a:rPr>
              <a:t>FV</a:t>
            </a: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 with changes in FV reported SHs </a:t>
            </a:r>
            <a:r>
              <a:rPr lang="en-US" altLang="ja-JP" sz="2000" b="1" dirty="0">
                <a:solidFill>
                  <a:srgbClr val="FF0000"/>
                </a:solidFill>
                <a:ea typeface="ＭＳ Ｐゴシック" charset="0"/>
              </a:rPr>
              <a:t>Equity in Comprehensive Income</a:t>
            </a:r>
          </a:p>
          <a:p>
            <a:pPr marL="284163" indent="-284163" eaLnBrk="1" hangingPunct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Debt Held to Maturity</a:t>
            </a:r>
            <a:r>
              <a:rPr lang="en-US" sz="2400" b="1" i="1" dirty="0">
                <a:ea typeface="ＭＳ Ｐゴシック" charset="0"/>
                <a:cs typeface="ＭＳ Ｐゴシック" charset="0"/>
              </a:rPr>
              <a:t> 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(HTM)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dirty="0">
                <a:ea typeface="ＭＳ Ｐゴシック" charset="0"/>
              </a:rPr>
              <a:t>Debt securities that a firm intends to hold to maturity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Shown on the BS at </a:t>
            </a:r>
            <a:r>
              <a:rPr lang="en-US" sz="2000" b="1" i="1" dirty="0">
                <a:solidFill>
                  <a:srgbClr val="FF0000"/>
                </a:solidFill>
                <a:ea typeface="ＭＳ Ｐゴシック" charset="0"/>
              </a:rPr>
              <a:t>amortized cost</a:t>
            </a:r>
            <a:r>
              <a:rPr lang="en-US" sz="2000" dirty="0">
                <a:ea typeface="ＭＳ Ｐゴシック" charset="0"/>
              </a:rPr>
              <a:t> (premium or discount amortized over the life of the bond as an adjustment to interest)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dirty="0">
                <a:ea typeface="ＭＳ Ｐゴシック" charset="0"/>
              </a:rPr>
              <a:t>Changes in FV not reported in IS or BS unless security value is permanently impaired</a:t>
            </a:r>
          </a:p>
          <a:p>
            <a:pPr marL="284163" indent="-284163" eaLnBrk="1" hangingPunct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Direct Investment Loans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b="1" dirty="0">
                <a:ea typeface="ＭＳ Ｐゴシック" charset="0"/>
              </a:rPr>
              <a:t>HFI:  </a:t>
            </a: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shown at amortized cost</a:t>
            </a:r>
            <a:r>
              <a:rPr lang="en-US" sz="2000" dirty="0">
                <a:ea typeface="ＭＳ Ｐゴシック" charset="0"/>
              </a:rPr>
              <a:t>, with </a:t>
            </a:r>
            <a:r>
              <a:rPr lang="en-US" sz="2000" i="1" dirty="0">
                <a:ea typeface="ＭＳ Ｐゴシック" charset="0"/>
              </a:rPr>
              <a:t>impairment</a:t>
            </a:r>
            <a:r>
              <a:rPr lang="en-US" sz="2000" dirty="0">
                <a:ea typeface="ＭＳ Ｐゴシック" charset="0"/>
              </a:rPr>
              <a:t> recognized for probable credit losses (delay in timing and amount of E(CF) due to events incurred as of measurement date)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b="1" dirty="0">
                <a:ea typeface="ＭＳ Ｐゴシック" charset="0"/>
              </a:rPr>
              <a:t>HFS:  </a:t>
            </a: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lower-of-cost-or-FV</a:t>
            </a:r>
            <a:r>
              <a:rPr lang="en-US" sz="2000" dirty="0">
                <a:ea typeface="ＭＳ Ｐゴシック" charset="0"/>
              </a:rPr>
              <a:t>, with losses recognized in income</a:t>
            </a:r>
            <a:endParaRPr lang="en-US" sz="2000" b="1" dirty="0">
              <a:ea typeface="ＭＳ Ｐゴシック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ＭＳ Ｐゴシック" charset="0"/>
                <a:cs typeface="ＭＳ Ｐゴシック" charset="0"/>
              </a:rPr>
              <a:t>FV</a:t>
            </a:r>
            <a:r>
              <a:rPr lang="en-US" dirty="0">
                <a:ea typeface="ＭＳ Ｐゴシック" charset="0"/>
                <a:cs typeface="ＭＳ Ｐゴシック" charset="0"/>
              </a:rPr>
              <a:t>: Valuation after Acquisition FASB 115 (Topics 320 and 820)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8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8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28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8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86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28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28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86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286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73038" indent="-173038" eaLnBrk="1" hangingPunct="1">
              <a:lnSpc>
                <a:spcPct val="9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Fair Value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: </a:t>
            </a:r>
          </a:p>
          <a:p>
            <a:pPr marL="517525" lvl="1" indent="-171450" eaLnBrk="1" hangingPunct="1">
              <a:lnSpc>
                <a:spcPct val="90000"/>
              </a:lnSpc>
            </a:pPr>
            <a:r>
              <a:rPr lang="ja-JP" altLang="en-US" sz="2000">
                <a:ea typeface="ＭＳ Ｐゴシック" charset="0"/>
              </a:rPr>
              <a:t>“</a:t>
            </a:r>
            <a:r>
              <a:rPr lang="en-US" altLang="ja-JP" sz="2000" dirty="0">
                <a:latin typeface="Helvetica" charset="0"/>
                <a:ea typeface="ＭＳ Ｐゴシック" charset="0"/>
              </a:rPr>
              <a:t>price that would be received to</a:t>
            </a:r>
            <a:r>
              <a:rPr lang="en-US" altLang="ja-JP" sz="2000" i="1" dirty="0">
                <a:latin typeface="Helvetica" charset="0"/>
                <a:ea typeface="ＭＳ Ｐゴシック" charset="0"/>
              </a:rPr>
              <a:t> sell </a:t>
            </a:r>
            <a:r>
              <a:rPr lang="en-US" altLang="ja-JP" sz="2000" dirty="0">
                <a:latin typeface="Helvetica" charset="0"/>
                <a:ea typeface="ＭＳ Ｐゴシック" charset="0"/>
              </a:rPr>
              <a:t>an asset or paid to transfer a liability in an orderly transaction between market participants at the measurement date.</a:t>
            </a:r>
            <a:r>
              <a:rPr lang="ja-JP" altLang="en-US" sz="2000">
                <a:latin typeface="Helvetica" charset="0"/>
                <a:ea typeface="ＭＳ Ｐゴシック" charset="0"/>
              </a:rPr>
              <a:t>”</a:t>
            </a:r>
            <a:r>
              <a:rPr lang="en-US" altLang="ja-JP" sz="2000" dirty="0">
                <a:latin typeface="Helvetica" charset="0"/>
                <a:ea typeface="ＭＳ Ｐゴシック" charset="0"/>
              </a:rPr>
              <a:t> SFAS 157, par. 5.</a:t>
            </a:r>
            <a:r>
              <a:rPr lang="en-US" altLang="ja-JP" sz="2000" dirty="0">
                <a:ea typeface="ＭＳ Ｐゴシック" charset="0"/>
              </a:rPr>
              <a:t>  (Topic 820-10-35-2)</a:t>
            </a:r>
          </a:p>
          <a:p>
            <a:pPr marL="173038" indent="-173038" eaLnBrk="1" hangingPunct="1">
              <a:lnSpc>
                <a:spcPct val="9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Level 1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:  inputs based on prices on active markets of identical asset or liability</a:t>
            </a:r>
          </a:p>
          <a:p>
            <a:pPr marL="173038" indent="-173038" eaLnBrk="1" hangingPunct="1">
              <a:lnSpc>
                <a:spcPct val="9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Level 2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: quoted prices of similar instruments in active markets or identical instruments in inactive markets, or market information on valuation parameters (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e.g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., yield curves, interest rates)</a:t>
            </a:r>
          </a:p>
          <a:p>
            <a:pPr marL="173038" indent="-173038" eaLnBrk="1" hangingPunct="1">
              <a:lnSpc>
                <a:spcPct val="9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Level 3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:  inputs that are not currently observable, such as the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firm’</a:t>
            </a:r>
            <a:r>
              <a:rPr lang="en-US" altLang="ja-JP" sz="2400" i="1" dirty="0">
                <a:ea typeface="ＭＳ Ｐゴシック" charset="0"/>
                <a:cs typeface="ＭＳ Ｐゴシック" charset="0"/>
              </a:rPr>
              <a:t>s own assumptions 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regarding valuation parameters that participants would use</a:t>
            </a:r>
            <a:r>
              <a:rPr lang="en-US" altLang="ja-JP" sz="2400" i="1" dirty="0">
                <a:ea typeface="ＭＳ Ｐゴシック" charset="0"/>
                <a:cs typeface="ＭＳ Ｐゴシック" charset="0"/>
              </a:rPr>
              <a:t>, e.g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., expected CFs, discount rates.</a:t>
            </a: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Fair Value Hierarchy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Level Designations and Typical Instruments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pic>
        <p:nvPicPr>
          <p:cNvPr id="45061" name="Picture 4" descr="Snapshot 2009-03-16 21-49-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48" y="685800"/>
            <a:ext cx="8458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C43E53-C38E-1E2C-782D-2E2EC8A1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SVB Balance Sheet (2022)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0CE0E-CCF3-C244-C044-49EE1DF71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351C7-2E87-AD24-FE73-84D4189D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pic>
        <p:nvPicPr>
          <p:cNvPr id="9" name="Picture 8" descr="A screenshot of a financial statement&#10;&#10;AI-generated content may be incorrect.">
            <a:extLst>
              <a:ext uri="{FF2B5EF4-FFF2-40B4-BE49-F238E27FC236}">
                <a16:creationId xmlns:a16="http://schemas.microsoft.com/office/drawing/2014/main" id="{B5BE0BCE-B69B-57CD-4F70-A795DA3A7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41" y="581879"/>
            <a:ext cx="8458200" cy="2770921"/>
          </a:xfrm>
          <a:prstGeom prst="rect">
            <a:avLst/>
          </a:prstGeom>
        </p:spPr>
      </p:pic>
      <p:pic>
        <p:nvPicPr>
          <p:cNvPr id="21" name="Content Placeholder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B110DC-FC7D-27DE-0D1F-EF9CEBB00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4048" y="3429000"/>
            <a:ext cx="8458200" cy="1743472"/>
          </a:xfr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18B9506-3236-C0E3-1077-4A9528C51AA4}"/>
              </a:ext>
            </a:extLst>
          </p:cNvPr>
          <p:cNvSpPr txBox="1"/>
          <p:nvPr/>
        </p:nvSpPr>
        <p:spPr>
          <a:xfrm>
            <a:off x="369840" y="5280880"/>
            <a:ext cx="831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SVB showed cash, AFS, and HTM with a value of around 120Bi.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SH equity was 16Bi</a:t>
            </a:r>
          </a:p>
        </p:txBody>
      </p:sp>
    </p:spTree>
    <p:extLst>
      <p:ext uri="{BB962C8B-B14F-4D97-AF65-F5344CB8AC3E}">
        <p14:creationId xmlns:p14="http://schemas.microsoft.com/office/powerpoint/2010/main" val="192424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6EC3FA-0452-64FD-89C1-A4E3EC311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SVB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CB645-0EE7-0035-AD9E-AA43B6A4A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6AAF9-7A0C-2483-91B6-CEC0442C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pic>
        <p:nvPicPr>
          <p:cNvPr id="6" name="Content Placeholder 6" descr="A screenshot of a report&#10;&#10;AI-generated content may be incorrect.">
            <a:extLst>
              <a:ext uri="{FF2B5EF4-FFF2-40B4-BE49-F238E27FC236}">
                <a16:creationId xmlns:a16="http://schemas.microsoft.com/office/drawing/2014/main" id="{0B3AD2D5-64D1-0F14-65AA-7CD919977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4048" y="4641351"/>
            <a:ext cx="8316959" cy="1615483"/>
          </a:xfrm>
        </p:spPr>
      </p:pic>
      <p:pic>
        <p:nvPicPr>
          <p:cNvPr id="8" name="Picture 7" descr="A screenshot of a report&#10;&#10;AI-generated content may be incorrect.">
            <a:extLst>
              <a:ext uri="{FF2B5EF4-FFF2-40B4-BE49-F238E27FC236}">
                <a16:creationId xmlns:a16="http://schemas.microsoft.com/office/drawing/2014/main" id="{53BF1F72-0B63-9D1D-626C-9CAB28A8C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26" y="1794646"/>
            <a:ext cx="8634674" cy="16343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258E07-2651-EDB7-4B1D-E2E9411769B7}"/>
              </a:ext>
            </a:extLst>
          </p:cNvPr>
          <p:cNvSpPr txBox="1"/>
          <p:nvPr/>
        </p:nvSpPr>
        <p:spPr>
          <a:xfrm>
            <a:off x="293641" y="594317"/>
            <a:ext cx="8316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SVB’s FV of the HTM securities was 76Bi versus 91Bi on the balance sheet.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Had the HTM been instead AFS, the 15Bi of loss would have been recognized in Other Comprehensive Income and would have wiped out virtually all the equity</a:t>
            </a:r>
            <a:r>
              <a:rPr lang="en-US" b="1" dirty="0"/>
              <a:t> book </a:t>
            </a:r>
            <a:r>
              <a:rPr lang="en-US" dirty="0"/>
              <a:t>value.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3E52D-FCA3-DCCE-96A4-E3653313EA23}"/>
              </a:ext>
            </a:extLst>
          </p:cNvPr>
          <p:cNvSpPr txBox="1"/>
          <p:nvPr/>
        </p:nvSpPr>
        <p:spPr>
          <a:xfrm>
            <a:off x="293641" y="3579028"/>
            <a:ext cx="831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FV of cash, AFS and HTM (115Bi) was around 66% of the deposits due under 1 </a:t>
            </a:r>
            <a:r>
              <a:rPr lang="en-US"/>
              <a:t>year (173Bi) making </a:t>
            </a:r>
            <a:r>
              <a:rPr lang="en-US" dirty="0"/>
              <a:t>it susceptible to a run. </a:t>
            </a:r>
          </a:p>
        </p:txBody>
      </p:sp>
    </p:spTree>
    <p:extLst>
      <p:ext uri="{BB962C8B-B14F-4D97-AF65-F5344CB8AC3E}">
        <p14:creationId xmlns:p14="http://schemas.microsoft.com/office/powerpoint/2010/main" val="3307369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A0AAE8-4CC9-E29A-12F1-8E09DB6D5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667" y="533400"/>
            <a:ext cx="8229215" cy="581183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421E361-A8FD-56F3-5B70-79BA89321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Fordham’s Financials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64629-79C7-517A-03D0-4D09D86FE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CB931-3649-D36F-D8F2-4268FC1E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885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BDF42-096E-4712-5757-76065213C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6FD4EF-4106-2C56-642C-FC70CD17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Fordham’s Financials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BDD65-D8DB-5C5B-4678-DE713C088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49051-1DD7-2B98-95D9-9EEE3505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8AB1EA-7CDD-2FD1-EE84-4B39BECEC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" y="3774785"/>
            <a:ext cx="8458200" cy="24736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91B47C-5452-3A2E-AC02-248D2D379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598019"/>
            <a:ext cx="8458200" cy="295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14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a typeface="ＭＳ Ｐゴシック" charset="0"/>
                <a:cs typeface="ＭＳ Ｐゴシック" charset="0"/>
              </a:rPr>
              <a:t>Why can’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t we just use earnings for our </a:t>
            </a:r>
            <a:r>
              <a:rPr lang="en-US" altLang="ja-JP" sz="2400" dirty="0" err="1">
                <a:ea typeface="ＭＳ Ｐゴシック" charset="0"/>
                <a:cs typeface="ＭＳ Ｐゴシック" charset="0"/>
              </a:rPr>
              <a:t>NPV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 analysis?</a:t>
            </a: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Going from Financials to Finance</a:t>
            </a:r>
          </a:p>
        </p:txBody>
      </p:sp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ea typeface="ＭＳ Ｐゴシック" charset="0"/>
                <a:cs typeface="ＭＳ Ｐゴシック" charset="0"/>
              </a:rPr>
              <a:t>Cash Flows (Finance) vs. Accruals (Accounting)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Unlevered Free Cash Flow: Accounting to Finance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242813" name="Group 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029639"/>
              </p:ext>
            </p:extLst>
          </p:nvPr>
        </p:nvGraphicFramePr>
        <p:xfrm>
          <a:off x="1143000" y="685800"/>
          <a:ext cx="7315200" cy="52577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EBIT (Earnings </a:t>
                      </a:r>
                      <a:r>
                        <a:rPr kumimoji="0" 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before Interest and Taxes)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anchor="b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 Depreciation/Amort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anchor="b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 Capital Expenditures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anchor="b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8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 Taxes (EBIT – Tax Rate)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anchor="b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-Increases (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+Decreases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) in Working Capital (Inv, Pay) 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anchor="b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0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____________________________________________________________________________________________________________</a:t>
                      </a:r>
                      <a:endParaRPr kumimoji="0" lang="en-US" sz="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= Unlevered Free Cash Flow 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6572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5D1E63-7149-4341-957F-2B116C3A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FCF</a:t>
            </a:r>
            <a:r>
              <a:rPr lang="en-US" dirty="0"/>
              <a:t> Analysis: </a:t>
            </a:r>
            <a:r>
              <a:rPr lang="en-US" i="1" dirty="0"/>
              <a:t>Owen v. </a:t>
            </a:r>
            <a:r>
              <a:rPr lang="en-US" i="1" dirty="0" err="1"/>
              <a:t>ESG</a:t>
            </a:r>
            <a:r>
              <a:rPr lang="en-US" b="0" dirty="0"/>
              <a:t>, </a:t>
            </a:r>
            <a:r>
              <a:rPr lang="en-US" dirty="0"/>
              <a:t>Del. Ch. Ct. 2015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B81E0-BABF-304F-9C18-B354A8F7B5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E71ED-D5E3-BE4B-B44F-13CCB246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476861-1E49-A048-9280-695E1542B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10195"/>
            <a:ext cx="8683752" cy="581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49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JC Penny (2/3/18)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7227384-69EC-5840-AF21-0861899E7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" y="762000"/>
            <a:ext cx="8458200" cy="175260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BCAC74-6525-CF43-AB51-A3EF09A1DA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857"/>
          <a:stretch/>
        </p:blipFill>
        <p:spPr>
          <a:xfrm>
            <a:off x="430543" y="2505105"/>
            <a:ext cx="8627007" cy="1073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70E0BA-B2F0-4C41-B202-1B175BBEA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9" y="3578210"/>
            <a:ext cx="8627007" cy="15453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D2B83A-527F-8A43-96FB-2B6281938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98" y="5269170"/>
            <a:ext cx="8191501" cy="85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56939"/>
      </p:ext>
    </p:extLst>
  </p:cSld>
  <p:clrMapOvr>
    <a:masterClrMapping/>
  </p:clrMapOvr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20410</TotalTime>
  <Words>1263</Words>
  <Application>Microsoft Macintosh PowerPoint</Application>
  <PresentationFormat>On-screen Show (4:3)</PresentationFormat>
  <Paragraphs>231</Paragraphs>
  <Slides>28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ＭＳ Ｐゴシック</vt:lpstr>
      <vt:lpstr>NSimSun</vt:lpstr>
      <vt:lpstr>Arial</vt:lpstr>
      <vt:lpstr>Calibri</vt:lpstr>
      <vt:lpstr>Courier New</vt:lpstr>
      <vt:lpstr>Helvetica</vt:lpstr>
      <vt:lpstr>Times New Roman</vt:lpstr>
      <vt:lpstr>Wingdings</vt:lpstr>
      <vt:lpstr>Wingdings 2</vt:lpstr>
      <vt:lpstr>CG Body - Standard</vt:lpstr>
      <vt:lpstr>PowerPoint Presentation</vt:lpstr>
      <vt:lpstr>Financial Statements</vt:lpstr>
      <vt:lpstr>GAAP</vt:lpstr>
      <vt:lpstr>Components of Financial Statements</vt:lpstr>
      <vt:lpstr>Balance Sheet</vt:lpstr>
      <vt:lpstr>Costco’s FY 2026 Balance Sheet (Assets)</vt:lpstr>
      <vt:lpstr>Costco’s FY 2026 Balance Sheet (L &amp; SH Equity)</vt:lpstr>
      <vt:lpstr>Balance Sheet Concerns</vt:lpstr>
      <vt:lpstr>Income Statement</vt:lpstr>
      <vt:lpstr>Costco’s FY 2026 Income Statement</vt:lpstr>
      <vt:lpstr>Statement of Cash Flows</vt:lpstr>
      <vt:lpstr>Costco’s FY 2026 Statement of Cash Flows:  Operating  &amp; Investing Activities</vt:lpstr>
      <vt:lpstr>Costco’s FY 2026 Statement of Cash Flows: Financing Activities</vt:lpstr>
      <vt:lpstr>Costco’s FY 2026’s Consolidated Statement of Common Shareholders’Equity</vt:lpstr>
      <vt:lpstr>Finance and Accounting</vt:lpstr>
      <vt:lpstr>Cash Flows (Finance) vs. Accruals (Accounting)</vt:lpstr>
      <vt:lpstr>Fair Value</vt:lpstr>
      <vt:lpstr>FV: Valuation after Acquisition FASB 115 (Topics 320 and 820)</vt:lpstr>
      <vt:lpstr>Fair Value Hierarchy</vt:lpstr>
      <vt:lpstr>Level Designations and Typical Instruments</vt:lpstr>
      <vt:lpstr>SVB Balance Sheet (2022)</vt:lpstr>
      <vt:lpstr>SVB 2022</vt:lpstr>
      <vt:lpstr>Fordham’s Financials</vt:lpstr>
      <vt:lpstr>Fordham’s Financials</vt:lpstr>
      <vt:lpstr>Cash Flows (Finance) vs. Accruals (Accounting)</vt:lpstr>
      <vt:lpstr>Unlevered Free Cash Flow: Accounting to Finance</vt:lpstr>
      <vt:lpstr>FCF Analysis: Owen v. ESG, Del. Ch. Ct. 2015</vt:lpstr>
      <vt:lpstr>JC Penny (2/3/18)</vt:lpstr>
    </vt:vector>
  </TitlesOfParts>
  <Company>Fordham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XPUser</dc:creator>
  <cp:lastModifiedBy>Colon, Jeffrey M.</cp:lastModifiedBy>
  <cp:revision>342</cp:revision>
  <cp:lastPrinted>2021-10-24T02:13:45Z</cp:lastPrinted>
  <dcterms:created xsi:type="dcterms:W3CDTF">2010-03-20T00:16:08Z</dcterms:created>
  <dcterms:modified xsi:type="dcterms:W3CDTF">2026-10-23T22:33:09Z</dcterms:modified>
</cp:coreProperties>
</file>