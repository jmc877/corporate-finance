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4" r:id="rId1"/>
  </p:sldMasterIdLst>
  <p:notesMasterIdLst>
    <p:notesMasterId r:id="rId14"/>
  </p:notesMasterIdLst>
  <p:handoutMasterIdLst>
    <p:handoutMasterId r:id="rId15"/>
  </p:handoutMasterIdLst>
  <p:sldIdLst>
    <p:sldId id="274" r:id="rId2"/>
    <p:sldId id="257" r:id="rId3"/>
    <p:sldId id="282" r:id="rId4"/>
    <p:sldId id="273" r:id="rId5"/>
    <p:sldId id="258" r:id="rId6"/>
    <p:sldId id="260" r:id="rId7"/>
    <p:sldId id="281" r:id="rId8"/>
    <p:sldId id="275" r:id="rId9"/>
    <p:sldId id="280" r:id="rId10"/>
    <p:sldId id="277" r:id="rId11"/>
    <p:sldId id="278" r:id="rId12"/>
    <p:sldId id="279" r:id="rId13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6"/>
    <p:restoredTop sz="94692"/>
  </p:normalViewPr>
  <p:slideViewPr>
    <p:cSldViewPr>
      <p:cViewPr varScale="1">
        <p:scale>
          <a:sx n="164" d="100"/>
          <a:sy n="164" d="100"/>
        </p:scale>
        <p:origin x="104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560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560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 smtClean="0">
                <a:ea typeface="ＭＳ Ｐゴシック" charset="-128"/>
              </a:defRPr>
            </a:lvl1pPr>
          </a:lstStyle>
          <a:p>
            <a:pPr>
              <a:defRPr/>
            </a:pPr>
            <a:fld id="{BE43B805-0079-42FE-82D7-F7A0D04354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90440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55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967" tIns="46484" rIns="92967" bIns="4648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 smtClean="0">
                <a:ea typeface="ＭＳ Ｐゴシック" charset="-128"/>
              </a:defRPr>
            </a:lvl1pPr>
          </a:lstStyle>
          <a:p>
            <a:pPr>
              <a:defRPr/>
            </a:pPr>
            <a:fld id="{F5478BAE-0C14-4993-A937-8057DFCCEA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914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5478BAE-0C14-4993-A937-8057DFCCEA2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3619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D9F1330-B93D-4E80-B9F0-C5AB6EA7FFD9}" type="slidenum">
              <a:rPr lang="en-US">
                <a:ea typeface="ＭＳ Ｐゴシック" pitchFamily="34" charset="-128"/>
              </a:rPr>
              <a:pPr/>
              <a:t>2</a:t>
            </a:fld>
            <a:endParaRPr lang="en-US">
              <a:ea typeface="ＭＳ Ｐゴシック" pitchFamily="34" charset="-128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Arial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352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52ED9F9-A628-4DDF-AD06-23938A18C4B9}" type="slidenum">
              <a:rPr lang="en-US">
                <a:ea typeface="ＭＳ Ｐゴシック" pitchFamily="34" charset="-128"/>
              </a:rPr>
              <a:pPr/>
              <a:t>4</a:t>
            </a:fld>
            <a:endParaRPr lang="en-US">
              <a:ea typeface="ＭＳ Ｐゴシック" pitchFamily="34" charset="-128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263525"/>
            <a:ext cx="4640263" cy="3479800"/>
          </a:xfrm>
          <a:ln w="12699" cap="flat">
            <a:solidFill>
              <a:schemeClr val="tx1"/>
            </a:solidFill>
          </a:ln>
        </p:spPr>
      </p:sp>
      <p:sp>
        <p:nvSpPr>
          <p:cNvPr id="25604" name="Rectangle 3"/>
          <p:cNvSpPr>
            <a:spLocks noChangeArrowheads="1"/>
          </p:cNvSpPr>
          <p:nvPr/>
        </p:nvSpPr>
        <p:spPr bwMode="auto">
          <a:xfrm>
            <a:off x="2165350" y="1588"/>
            <a:ext cx="2703513" cy="246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3069" tIns="46536" rIns="93069" bIns="46536">
            <a:spAutoFit/>
          </a:bodyPr>
          <a:lstStyle/>
          <a:p>
            <a:pPr defTabSz="925513" eaLnBrk="0" hangingPunct="0"/>
            <a:r>
              <a:rPr lang="en-US" sz="1000">
                <a:latin typeface="Times New Roman" pitchFamily="18" charset="0"/>
              </a:rPr>
              <a:t>2. Forwards and Futures  </a:t>
            </a:r>
            <a:r>
              <a:rPr lang="en-US" sz="1000">
                <a:latin typeface="Symbol" pitchFamily="18" charset="2"/>
              </a:rPr>
              <a:t>®</a:t>
            </a:r>
            <a:r>
              <a:rPr lang="en-US" sz="1000">
                <a:latin typeface="Times New Roman" pitchFamily="18" charset="0"/>
              </a:rPr>
              <a:t>  2.1 Asset and Cash</a:t>
            </a:r>
          </a:p>
        </p:txBody>
      </p:sp>
      <p:sp>
        <p:nvSpPr>
          <p:cNvPr id="25605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33363" y="3979863"/>
            <a:ext cx="6543675" cy="4794250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223" tIns="45611" rIns="91223" bIns="45611"/>
          <a:lstStyle/>
          <a:p>
            <a:pPr eaLnBrk="1" hangingPunct="1"/>
            <a:endParaRPr lang="en-US">
              <a:latin typeface="Arial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0142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F7BC73A-5CB4-4633-8BD2-77714DA19CDD}" type="slidenum">
              <a:rPr lang="en-US">
                <a:ea typeface="ＭＳ Ｐゴシック" pitchFamily="34" charset="-128"/>
              </a:rPr>
              <a:pPr/>
              <a:t>5</a:t>
            </a:fld>
            <a:endParaRPr lang="en-US">
              <a:ea typeface="ＭＳ Ｐゴシック" pitchFamily="34" charset="-128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Arial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241128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89A6A28-E639-4E1E-A971-7BD35BF81E41}" type="slidenum">
              <a:rPr lang="en-US">
                <a:ea typeface="ＭＳ Ｐゴシック" pitchFamily="34" charset="-128"/>
              </a:rPr>
              <a:pPr/>
              <a:t>6</a:t>
            </a:fld>
            <a:endParaRPr lang="en-US">
              <a:ea typeface="ＭＳ Ｐゴシック" pitchFamily="34" charset="-128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Arial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55711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5478BAE-0C14-4993-A937-8057DFCCEA2E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0008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4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382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18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165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165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5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4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296466" algn="l"/>
              </a:tabLst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6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200" b="1" smtClean="0"/>
            </a:lvl1pPr>
          </a:lstStyle>
          <a:p>
            <a:pPr>
              <a:defRPr/>
            </a:pPr>
            <a:r>
              <a:rPr lang="en-US" dirty="0"/>
              <a:t>Debt</a:t>
            </a:r>
            <a:endParaRPr lang="en-US" b="1" dirty="0"/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2048075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30" y="537029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471390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449060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122873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2065977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4048" y="805002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814835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3"/>
            <a:ext cx="84582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64549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3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356281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464143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4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3" y="3778177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2016204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474229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3417805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1693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793072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5330838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6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6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6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1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4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40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2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1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9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6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863411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8736061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9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2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75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9" y="3460752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3430378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1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1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1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1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1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1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1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1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7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7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516425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7387155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861434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6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1" y="1911352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1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9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6356635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9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3"/>
            <a:ext cx="2523744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3566609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8856939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35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95518532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049028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67770638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6610608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91504632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1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6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1148092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4677330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42739220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8320403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9" y="1981202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1" y="1982790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9" y="1981202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6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6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3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1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08599013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9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 eaLnBrk="0" hangingPunct="0">
              <a:lnSpc>
                <a:spcPct val="95000"/>
              </a:lnSpc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93358908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6" y="1497015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30916169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8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6" y="3590927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5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6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7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3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6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1572621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9" y="1782765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9" y="5300665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9" y="4129090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9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7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6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4239716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5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90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4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3887229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4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9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20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4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5" y="1282931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7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5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9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16544920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2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4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4" y="1566865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4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1" y="1468440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6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4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6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4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1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40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40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40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40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40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40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40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40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40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2904447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9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7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6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21459363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1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1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1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3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3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3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3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1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6236235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80" y="1419225"/>
            <a:ext cx="2532185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31710876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2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6387990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96385716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aseline="0">
                <a:latin typeface="Arial" pitchFamily="34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78910815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5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2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9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7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4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4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6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2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2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5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9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7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4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4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6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2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2" y="3962402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71779813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1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1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4900191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66849819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49583384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87869733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09566734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519091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5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6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8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6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9"/>
            <a:ext cx="2362200" cy="365125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600" dirty="0">
                <a:latin typeface="+mn-lt"/>
              </a:rPr>
              <a:t>CT</a:t>
            </a:r>
            <a:r>
              <a:rPr lang="en-US" sz="600" baseline="0" dirty="0">
                <a:latin typeface="+mn-lt"/>
              </a:rPr>
              <a:t>_Debt_20</a:t>
            </a:r>
            <a:endParaRPr lang="en-US" sz="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89930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  <p:sldLayoutId id="2147483757" r:id="rId53"/>
    <p:sldLayoutId id="2147483758" r:id="rId54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3200" dirty="0">
                <a:ea typeface="ＭＳ Ｐゴシック" pitchFamily="34" charset="-128"/>
              </a:rPr>
              <a:t>Retained Earnings</a:t>
            </a:r>
          </a:p>
          <a:p>
            <a:pPr eaLnBrk="1" hangingPunct="1"/>
            <a:r>
              <a:rPr lang="en-US" sz="3200" dirty="0">
                <a:ea typeface="ＭＳ Ｐゴシック" pitchFamily="34" charset="-128"/>
              </a:rPr>
              <a:t>Debt</a:t>
            </a:r>
          </a:p>
          <a:p>
            <a:pPr lvl="1" eaLnBrk="1" hangingPunct="1"/>
            <a:r>
              <a:rPr lang="en-US" sz="2800" dirty="0">
                <a:ea typeface="ＭＳ Ｐゴシック" pitchFamily="34" charset="-128"/>
              </a:rPr>
              <a:t>ST</a:t>
            </a:r>
          </a:p>
          <a:p>
            <a:pPr lvl="1" eaLnBrk="1" hangingPunct="1"/>
            <a:r>
              <a:rPr lang="en-US" sz="2800" dirty="0">
                <a:ea typeface="ＭＳ Ｐゴシック" pitchFamily="34" charset="-128"/>
              </a:rPr>
              <a:t>LT</a:t>
            </a:r>
          </a:p>
          <a:p>
            <a:pPr lvl="1" eaLnBrk="1" hangingPunct="1"/>
            <a:r>
              <a:rPr lang="en-US" sz="2800" dirty="0">
                <a:ea typeface="ＭＳ Ｐゴシック" pitchFamily="34" charset="-128"/>
              </a:rPr>
              <a:t>Hybrids</a:t>
            </a:r>
          </a:p>
          <a:p>
            <a:pPr eaLnBrk="1" hangingPunct="1"/>
            <a:r>
              <a:rPr lang="en-US" sz="3200" dirty="0">
                <a:ea typeface="ＭＳ Ｐゴシック" pitchFamily="34" charset="-128"/>
              </a:rPr>
              <a:t>Stock</a:t>
            </a:r>
          </a:p>
          <a:p>
            <a:pPr lvl="1" eaLnBrk="1" hangingPunct="1"/>
            <a:r>
              <a:rPr lang="en-US" sz="2800" dirty="0">
                <a:ea typeface="ＭＳ Ｐゴシック" pitchFamily="34" charset="-128"/>
              </a:rPr>
              <a:t>Preferred</a:t>
            </a:r>
          </a:p>
          <a:p>
            <a:pPr lvl="1" eaLnBrk="1" hangingPunct="1"/>
            <a:r>
              <a:rPr lang="en-US" sz="2800" dirty="0">
                <a:ea typeface="ＭＳ Ｐゴシック" pitchFamily="34" charset="-128"/>
              </a:rPr>
              <a:t>Hybrids</a:t>
            </a:r>
          </a:p>
          <a:p>
            <a:pPr lvl="1" eaLnBrk="1" hangingPunct="1"/>
            <a:r>
              <a:rPr lang="en-US" sz="2800" dirty="0">
                <a:ea typeface="ＭＳ Ｐゴシック" pitchFamily="34" charset="-128"/>
              </a:rPr>
              <a:t>Common</a:t>
            </a:r>
          </a:p>
        </p:txBody>
      </p:sp>
      <p:sp>
        <p:nvSpPr>
          <p:cNvPr id="13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dirty="0">
                <a:ea typeface="ＭＳ Ｐゴシック" pitchFamily="34" charset="-128"/>
              </a:rPr>
              <a:t>Financing the Firm</a:t>
            </a:r>
            <a:endParaRPr lang="en-US" sz="2400" dirty="0">
              <a:ea typeface="ＭＳ Ｐゴシック" pitchFamily="34" charset="-128"/>
            </a:endParaRPr>
          </a:p>
        </p:txBody>
      </p:sp>
      <p:sp>
        <p:nvSpPr>
          <p:cNvPr id="13317" name="Text Box 4"/>
          <p:cNvSpPr txBox="1">
            <a:spLocks noChangeArrowheads="1"/>
          </p:cNvSpPr>
          <p:nvPr/>
        </p:nvSpPr>
        <p:spPr bwMode="auto">
          <a:xfrm>
            <a:off x="5029200" y="2438400"/>
            <a:ext cx="3233738" cy="146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-Periodic Income</a:t>
            </a:r>
          </a:p>
          <a:p>
            <a:r>
              <a:rPr lang="en-US"/>
              <a:t>-Liquidation Proceeds</a:t>
            </a:r>
          </a:p>
          <a:p>
            <a:r>
              <a:rPr lang="en-US"/>
              <a:t>-Risks of Default and priorities</a:t>
            </a:r>
          </a:p>
          <a:p>
            <a:r>
              <a:rPr lang="en-US"/>
              <a:t>-Voting and Control</a:t>
            </a:r>
          </a:p>
          <a:p>
            <a:r>
              <a:rPr lang="en-US"/>
              <a:t>-Tax</a:t>
            </a:r>
          </a:p>
        </p:txBody>
      </p:sp>
      <p:sp>
        <p:nvSpPr>
          <p:cNvPr id="13318" name="AutoShape 5"/>
          <p:cNvSpPr>
            <a:spLocks/>
          </p:cNvSpPr>
          <p:nvPr/>
        </p:nvSpPr>
        <p:spPr bwMode="auto">
          <a:xfrm>
            <a:off x="4343400" y="1447800"/>
            <a:ext cx="304800" cy="3429000"/>
          </a:xfrm>
          <a:prstGeom prst="rightBrace">
            <a:avLst>
              <a:gd name="adj1" fmla="val 9375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b="1">
                <a:ea typeface="ＭＳ Ｐゴシック" pitchFamily="34" charset="-128"/>
              </a:rPr>
              <a:t>Bonds</a:t>
            </a:r>
            <a:r>
              <a:rPr lang="en-US" sz="2400">
                <a:ea typeface="ＭＳ Ｐゴシック" pitchFamily="34" charset="-128"/>
              </a:rPr>
              <a:t> (</a:t>
            </a:r>
            <a:r>
              <a:rPr lang="en-US" sz="2400" i="1">
                <a:ea typeface="ＭＳ Ｐゴシック" pitchFamily="34" charset="-128"/>
              </a:rPr>
              <a:t>secured</a:t>
            </a:r>
            <a:r>
              <a:rPr lang="en-US" sz="2400">
                <a:ea typeface="ＭＳ Ｐゴシック" pitchFamily="34" charset="-128"/>
              </a:rPr>
              <a:t>, LT, &amp; I), </a:t>
            </a:r>
            <a:r>
              <a:rPr lang="en-US" sz="2400" b="1">
                <a:ea typeface="ＭＳ Ｐゴシック" pitchFamily="34" charset="-128"/>
              </a:rPr>
              <a:t>Debentures</a:t>
            </a:r>
            <a:r>
              <a:rPr lang="en-US" sz="2400">
                <a:ea typeface="ＭＳ Ｐゴシック" pitchFamily="34" charset="-128"/>
              </a:rPr>
              <a:t> (</a:t>
            </a:r>
            <a:r>
              <a:rPr lang="en-US" sz="2400" i="1">
                <a:ea typeface="ＭＳ Ｐゴシック" pitchFamily="34" charset="-128"/>
              </a:rPr>
              <a:t>unsecured</a:t>
            </a:r>
            <a:r>
              <a:rPr lang="en-US" sz="2400">
                <a:ea typeface="ＭＳ Ｐゴシック" pitchFamily="34" charset="-128"/>
              </a:rPr>
              <a:t>, LT, &amp; I), and </a:t>
            </a:r>
            <a:r>
              <a:rPr lang="en-US" sz="2400" b="1">
                <a:ea typeface="ＭＳ Ｐゴシック" pitchFamily="34" charset="-128"/>
              </a:rPr>
              <a:t>Notes </a:t>
            </a:r>
            <a:r>
              <a:rPr lang="en-US" sz="2400">
                <a:ea typeface="ＭＳ Ｐゴシック" pitchFamily="34" charset="-128"/>
              </a:rPr>
              <a:t>(unsecured, intermediate, &amp; I(?))</a:t>
            </a:r>
          </a:p>
          <a:p>
            <a:pPr eaLnBrk="1" hangingPunct="1">
              <a:lnSpc>
                <a:spcPct val="90000"/>
              </a:lnSpc>
            </a:pPr>
            <a:r>
              <a:rPr lang="en-US" sz="2400">
                <a:ea typeface="ＭＳ Ｐゴシック" pitchFamily="34" charset="-128"/>
              </a:rPr>
              <a:t>Registered v. bearer</a:t>
            </a:r>
          </a:p>
          <a:p>
            <a:pPr eaLnBrk="1" hangingPunct="1">
              <a:lnSpc>
                <a:spcPct val="90000"/>
              </a:lnSpc>
            </a:pPr>
            <a:r>
              <a:rPr lang="en-US" sz="2400">
                <a:ea typeface="ＭＳ Ｐゴシック" pitchFamily="34" charset="-128"/>
              </a:rPr>
              <a:t>Rate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>
                <a:ea typeface="ＭＳ Ｐゴシック" pitchFamily="34" charset="-128"/>
              </a:rPr>
              <a:t>Fixed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>
                <a:ea typeface="ＭＳ Ｐゴシック" pitchFamily="34" charset="-128"/>
              </a:rPr>
              <a:t>Floating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>
                <a:ea typeface="ＭＳ Ｐゴシック" pitchFamily="34" charset="-128"/>
              </a:rPr>
              <a:t>Zero Coupon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>
                <a:ea typeface="ＭＳ Ｐゴシック" pitchFamily="34" charset="-128"/>
              </a:rPr>
              <a:t>Convertible</a:t>
            </a:r>
          </a:p>
          <a:p>
            <a:pPr eaLnBrk="1" hangingPunct="1">
              <a:lnSpc>
                <a:spcPct val="90000"/>
              </a:lnSpc>
            </a:pPr>
            <a:r>
              <a:rPr lang="en-US" sz="2400">
                <a:ea typeface="ＭＳ Ｐゴシック" pitchFamily="34" charset="-128"/>
              </a:rPr>
              <a:t>Seniority</a:t>
            </a:r>
          </a:p>
          <a:p>
            <a:pPr eaLnBrk="1" hangingPunct="1">
              <a:lnSpc>
                <a:spcPct val="90000"/>
              </a:lnSpc>
            </a:pPr>
            <a:r>
              <a:rPr lang="en-US" sz="2400">
                <a:ea typeface="ＭＳ Ｐゴシック" pitchFamily="34" charset="-128"/>
              </a:rPr>
              <a:t>Security</a:t>
            </a:r>
          </a:p>
          <a:p>
            <a:pPr eaLnBrk="1" hangingPunct="1">
              <a:lnSpc>
                <a:spcPct val="90000"/>
              </a:lnSpc>
            </a:pPr>
            <a:r>
              <a:rPr lang="en-US" sz="2400">
                <a:ea typeface="ＭＳ Ｐゴシック" pitchFamily="34" charset="-128"/>
              </a:rPr>
              <a:t>Ratings</a:t>
            </a:r>
          </a:p>
          <a:p>
            <a:pPr eaLnBrk="1" hangingPunct="1">
              <a:lnSpc>
                <a:spcPct val="90000"/>
              </a:lnSpc>
            </a:pPr>
            <a:r>
              <a:rPr lang="en-US" sz="2400">
                <a:ea typeface="ＭＳ Ｐゴシック" pitchFamily="34" charset="-128"/>
              </a:rPr>
              <a:t>Maturity</a:t>
            </a:r>
          </a:p>
          <a:p>
            <a:pPr eaLnBrk="1" hangingPunct="1">
              <a:lnSpc>
                <a:spcPct val="90000"/>
              </a:lnSpc>
            </a:pPr>
            <a:r>
              <a:rPr lang="en-US" sz="2400">
                <a:ea typeface="ＭＳ Ｐゴシック" pitchFamily="34" charset="-128"/>
              </a:rPr>
              <a:t>Promise to pay</a:t>
            </a:r>
          </a:p>
          <a:p>
            <a:pPr eaLnBrk="1" hangingPunct="1">
              <a:lnSpc>
                <a:spcPct val="90000"/>
              </a:lnSpc>
            </a:pPr>
            <a:r>
              <a:rPr lang="en-US" sz="2400">
                <a:ea typeface="ＭＳ Ｐゴシック" pitchFamily="34" charset="-128"/>
              </a:rPr>
              <a:t>Upside and downside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dirty="0">
                <a:ea typeface="ＭＳ Ｐゴシック" pitchFamily="34" charset="-128"/>
              </a:rPr>
              <a:t>Debt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i="1" dirty="0"/>
              <a:t>Loans </a:t>
            </a:r>
            <a:r>
              <a:rPr lang="en-US" sz="2400" dirty="0"/>
              <a:t>vs. Se</a:t>
            </a:r>
            <a:r>
              <a:rPr lang="en-US" sz="2400" i="1" dirty="0"/>
              <a:t>curities</a:t>
            </a:r>
          </a:p>
          <a:p>
            <a:r>
              <a:rPr lang="en-US" sz="2400" dirty="0"/>
              <a:t>Revolving Credit Loans (revolving credit facility)</a:t>
            </a:r>
          </a:p>
          <a:p>
            <a:pPr lvl="1"/>
            <a:r>
              <a:rPr lang="en-US" sz="2250" dirty="0"/>
              <a:t>Line of credit to loan a borrower up to a fixed amount</a:t>
            </a:r>
          </a:p>
          <a:p>
            <a:pPr lvl="1"/>
            <a:r>
              <a:rPr lang="en-US" sz="2250" dirty="0"/>
              <a:t>Lender can a single lender or group of lenders</a:t>
            </a:r>
          </a:p>
          <a:p>
            <a:pPr lvl="1"/>
            <a:r>
              <a:rPr lang="en-US" sz="2250" dirty="0"/>
              <a:t>Facility fee is paid to keep open line of credit</a:t>
            </a:r>
          </a:p>
          <a:p>
            <a:pPr lvl="1"/>
            <a:r>
              <a:rPr lang="en-US" sz="2250" dirty="0"/>
              <a:t>Generally done by lower tier of investment grade companies; if not investment grade, pledge of receivables &amp; inventories</a:t>
            </a:r>
          </a:p>
          <a:p>
            <a:pPr lvl="1"/>
            <a:r>
              <a:rPr lang="en-US" sz="2250" dirty="0"/>
              <a:t>Floating rate (</a:t>
            </a:r>
            <a:r>
              <a:rPr lang="en-US" sz="2250" strike="sngStrike" dirty="0"/>
              <a:t>LIBOR</a:t>
            </a:r>
            <a:r>
              <a:rPr lang="en-US" sz="2250" dirty="0"/>
              <a:t>/SOFR)</a:t>
            </a:r>
          </a:p>
          <a:p>
            <a:r>
              <a:rPr lang="en-US" sz="2400" dirty="0"/>
              <a:t>Term Loans</a:t>
            </a:r>
          </a:p>
          <a:p>
            <a:pPr lvl="1"/>
            <a:r>
              <a:rPr lang="en-US" sz="2250" dirty="0"/>
              <a:t>Tranche A</a:t>
            </a:r>
          </a:p>
          <a:p>
            <a:pPr lvl="2"/>
            <a:r>
              <a:rPr lang="en-US" sz="2250" dirty="0"/>
              <a:t>Extended by group of commercial lenders as pro rata participants in a syndication; can be packaged w/ revolving credit facility; generally have meaningful amortization</a:t>
            </a:r>
          </a:p>
          <a:p>
            <a:pPr lvl="1"/>
            <a:r>
              <a:rPr lang="en-US" sz="2250" dirty="0"/>
              <a:t>Tranche B</a:t>
            </a:r>
          </a:p>
          <a:p>
            <a:pPr lvl="2"/>
            <a:r>
              <a:rPr lang="en-US" sz="2250" dirty="0"/>
              <a:t>Extended by institutional investors (HFs); higher yields; less amortization</a:t>
            </a:r>
          </a:p>
          <a:p>
            <a:r>
              <a:rPr lang="en-US" sz="2400" i="1" dirty="0"/>
              <a:t>Leverage loan </a:t>
            </a:r>
          </a:p>
          <a:p>
            <a:r>
              <a:rPr lang="en-US" sz="2400" i="1" dirty="0"/>
              <a:t>Syndication</a:t>
            </a:r>
            <a:endParaRPr lang="en-US" sz="24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Loans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333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5" name="Rectangle 21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eaLnBrk="1" hangingPunct="1"/>
            <a:r>
              <a:rPr lang="en-US" sz="2400" baseline="-25000" dirty="0">
                <a:solidFill>
                  <a:srgbClr val="9900CC"/>
                </a:solidFill>
                <a:latin typeface="+mn-lt"/>
                <a:ea typeface="ＭＳ Ｐゴシック" pitchFamily="34" charset="-128"/>
              </a:rPr>
              <a:t>LEND CASH (Risky Debt)</a:t>
            </a:r>
            <a:r>
              <a:rPr lang="en-US" sz="2400" baseline="-25000" dirty="0">
                <a:latin typeface="+mn-lt"/>
                <a:ea typeface="ＭＳ Ｐゴシック" pitchFamily="34" charset="-128"/>
              </a:rPr>
              <a:t>:  Profit/Loss Diagram</a:t>
            </a:r>
          </a:p>
        </p:txBody>
      </p:sp>
      <p:sp>
        <p:nvSpPr>
          <p:cNvPr id="16387" name="Rectangle 2"/>
          <p:cNvSpPr>
            <a:spLocks noChangeArrowheads="1"/>
          </p:cNvSpPr>
          <p:nvPr/>
        </p:nvSpPr>
        <p:spPr bwMode="auto">
          <a:xfrm>
            <a:off x="753208" y="1291157"/>
            <a:ext cx="2057400" cy="1314450"/>
          </a:xfrm>
          <a:prstGeom prst="rect">
            <a:avLst/>
          </a:prstGeom>
          <a:solidFill>
            <a:srgbClr val="99FFFF"/>
          </a:solidFill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600" b="1" dirty="0"/>
              <a:t>Face = 100</a:t>
            </a:r>
          </a:p>
          <a:p>
            <a:pPr eaLnBrk="0" hangingPunct="0">
              <a:spcBef>
                <a:spcPct val="50000"/>
              </a:spcBef>
            </a:pPr>
            <a:r>
              <a:rPr lang="en-US" sz="1600" b="1" dirty="0"/>
              <a:t>Term = 1</a:t>
            </a:r>
          </a:p>
          <a:p>
            <a:pPr eaLnBrk="0" hangingPunct="0">
              <a:spcBef>
                <a:spcPct val="50000"/>
              </a:spcBef>
            </a:pPr>
            <a:r>
              <a:rPr lang="en-US" sz="1600" b="1" dirty="0"/>
              <a:t>Interest Rate= 15%</a:t>
            </a:r>
            <a:r>
              <a:rPr lang="en-US" sz="1600" b="1" dirty="0">
                <a:latin typeface="Symbol" pitchFamily="18" charset="2"/>
              </a:rPr>
              <a:t>  </a:t>
            </a:r>
          </a:p>
        </p:txBody>
      </p:sp>
      <p:sp>
        <p:nvSpPr>
          <p:cNvPr id="16388" name="Rectangle 3"/>
          <p:cNvSpPr>
            <a:spLocks noChangeArrowheads="1"/>
          </p:cNvSpPr>
          <p:nvPr/>
        </p:nvSpPr>
        <p:spPr bwMode="auto">
          <a:xfrm>
            <a:off x="6096000" y="3990974"/>
            <a:ext cx="236220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600" b="1"/>
              <a:t>Future  Asset  Price</a:t>
            </a:r>
          </a:p>
        </p:txBody>
      </p:sp>
      <p:sp>
        <p:nvSpPr>
          <p:cNvPr id="16389" name="Line 4"/>
          <p:cNvSpPr>
            <a:spLocks noChangeShapeType="1"/>
          </p:cNvSpPr>
          <p:nvPr/>
        </p:nvSpPr>
        <p:spPr bwMode="auto">
          <a:xfrm flipV="1">
            <a:off x="5791200" y="3810000"/>
            <a:ext cx="0" cy="76200"/>
          </a:xfrm>
          <a:prstGeom prst="line">
            <a:avLst/>
          </a:prstGeom>
          <a:noFill/>
          <a:ln w="12699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0" name="Line 5"/>
          <p:cNvSpPr>
            <a:spLocks noChangeShapeType="1"/>
          </p:cNvSpPr>
          <p:nvPr/>
        </p:nvSpPr>
        <p:spPr bwMode="auto">
          <a:xfrm flipV="1">
            <a:off x="7010400" y="3810000"/>
            <a:ext cx="0" cy="76200"/>
          </a:xfrm>
          <a:prstGeom prst="line">
            <a:avLst/>
          </a:prstGeom>
          <a:noFill/>
          <a:ln w="12699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1" name="Line 6"/>
          <p:cNvSpPr>
            <a:spLocks noChangeShapeType="1"/>
          </p:cNvSpPr>
          <p:nvPr/>
        </p:nvSpPr>
        <p:spPr bwMode="auto">
          <a:xfrm flipV="1">
            <a:off x="3352800" y="3810000"/>
            <a:ext cx="0" cy="76200"/>
          </a:xfrm>
          <a:prstGeom prst="line">
            <a:avLst/>
          </a:prstGeom>
          <a:noFill/>
          <a:ln w="12699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2" name="Line 7"/>
          <p:cNvSpPr>
            <a:spLocks noChangeShapeType="1"/>
          </p:cNvSpPr>
          <p:nvPr/>
        </p:nvSpPr>
        <p:spPr bwMode="auto">
          <a:xfrm flipV="1">
            <a:off x="2133600" y="3810000"/>
            <a:ext cx="0" cy="76200"/>
          </a:xfrm>
          <a:prstGeom prst="line">
            <a:avLst/>
          </a:prstGeom>
          <a:noFill/>
          <a:ln w="12699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3" name="Line 8"/>
          <p:cNvSpPr>
            <a:spLocks noChangeShapeType="1"/>
          </p:cNvSpPr>
          <p:nvPr/>
        </p:nvSpPr>
        <p:spPr bwMode="auto">
          <a:xfrm>
            <a:off x="4572000" y="2667000"/>
            <a:ext cx="76200" cy="0"/>
          </a:xfrm>
          <a:prstGeom prst="line">
            <a:avLst/>
          </a:prstGeom>
          <a:noFill/>
          <a:ln w="12699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4" name="Line 9"/>
          <p:cNvSpPr>
            <a:spLocks noChangeShapeType="1"/>
          </p:cNvSpPr>
          <p:nvPr/>
        </p:nvSpPr>
        <p:spPr bwMode="auto">
          <a:xfrm>
            <a:off x="4572000" y="5105400"/>
            <a:ext cx="76200" cy="0"/>
          </a:xfrm>
          <a:prstGeom prst="line">
            <a:avLst/>
          </a:prstGeom>
          <a:noFill/>
          <a:ln w="12699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3018" name="Rectangle 10"/>
          <p:cNvSpPr>
            <a:spLocks noChangeArrowheads="1"/>
          </p:cNvSpPr>
          <p:nvPr/>
        </p:nvSpPr>
        <p:spPr bwMode="auto">
          <a:xfrm>
            <a:off x="1905000" y="3543300"/>
            <a:ext cx="9144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400">
                <a:effectLst>
                  <a:outerShdw blurRad="38100" dist="38100" dir="2700000" algn="tl">
                    <a:srgbClr val="DDDDDD"/>
                  </a:outerShdw>
                </a:effectLst>
                <a:latin typeface="Arial" charset="0"/>
                <a:ea typeface="+mn-ea"/>
              </a:rPr>
              <a:t> </a:t>
            </a:r>
            <a:r>
              <a:rPr lang="en-US" sz="1400">
                <a:latin typeface="Arial" charset="0"/>
                <a:ea typeface="+mn-ea"/>
              </a:rPr>
              <a:t>50</a:t>
            </a:r>
          </a:p>
        </p:txBody>
      </p:sp>
      <p:sp>
        <p:nvSpPr>
          <p:cNvPr id="43019" name="Rectangle 11"/>
          <p:cNvSpPr>
            <a:spLocks noChangeArrowheads="1"/>
          </p:cNvSpPr>
          <p:nvPr/>
        </p:nvSpPr>
        <p:spPr bwMode="auto">
          <a:xfrm>
            <a:off x="3124200" y="3543300"/>
            <a:ext cx="685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400">
                <a:effectLst>
                  <a:outerShdw blurRad="38100" dist="38100" dir="2700000" algn="tl">
                    <a:srgbClr val="DDDDDD"/>
                  </a:outerShdw>
                </a:effectLst>
                <a:latin typeface="Arial" charset="0"/>
                <a:ea typeface="+mn-ea"/>
              </a:rPr>
              <a:t> </a:t>
            </a:r>
            <a:r>
              <a:rPr lang="en-US" sz="1400">
                <a:latin typeface="Arial" charset="0"/>
                <a:ea typeface="+mn-ea"/>
              </a:rPr>
              <a:t>75</a:t>
            </a:r>
          </a:p>
        </p:txBody>
      </p:sp>
      <p:sp>
        <p:nvSpPr>
          <p:cNvPr id="16397" name="Rectangle 12"/>
          <p:cNvSpPr>
            <a:spLocks noChangeArrowheads="1"/>
          </p:cNvSpPr>
          <p:nvPr/>
        </p:nvSpPr>
        <p:spPr bwMode="auto">
          <a:xfrm>
            <a:off x="4610100" y="2533650"/>
            <a:ext cx="5334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400"/>
              <a:t>25</a:t>
            </a:r>
          </a:p>
        </p:txBody>
      </p:sp>
      <p:sp>
        <p:nvSpPr>
          <p:cNvPr id="16398" name="Rectangle 13"/>
          <p:cNvSpPr>
            <a:spLocks noChangeArrowheads="1"/>
          </p:cNvSpPr>
          <p:nvPr/>
        </p:nvSpPr>
        <p:spPr bwMode="auto">
          <a:xfrm>
            <a:off x="5562600" y="3543300"/>
            <a:ext cx="762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400"/>
              <a:t>125</a:t>
            </a:r>
          </a:p>
        </p:txBody>
      </p:sp>
      <p:sp>
        <p:nvSpPr>
          <p:cNvPr id="16399" name="Rectangle 14"/>
          <p:cNvSpPr>
            <a:spLocks noChangeArrowheads="1"/>
          </p:cNvSpPr>
          <p:nvPr/>
        </p:nvSpPr>
        <p:spPr bwMode="auto">
          <a:xfrm>
            <a:off x="6762750" y="3543300"/>
            <a:ext cx="685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400"/>
              <a:t>150</a:t>
            </a:r>
          </a:p>
        </p:txBody>
      </p:sp>
      <p:sp>
        <p:nvSpPr>
          <p:cNvPr id="16400" name="Rectangle 15"/>
          <p:cNvSpPr>
            <a:spLocks noChangeArrowheads="1"/>
          </p:cNvSpPr>
          <p:nvPr/>
        </p:nvSpPr>
        <p:spPr bwMode="auto">
          <a:xfrm>
            <a:off x="4610100" y="4953000"/>
            <a:ext cx="6096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400"/>
              <a:t>-25</a:t>
            </a:r>
          </a:p>
        </p:txBody>
      </p:sp>
      <p:sp>
        <p:nvSpPr>
          <p:cNvPr id="16401" name="Line 16"/>
          <p:cNvSpPr>
            <a:spLocks noChangeShapeType="1"/>
          </p:cNvSpPr>
          <p:nvPr/>
        </p:nvSpPr>
        <p:spPr bwMode="auto">
          <a:xfrm>
            <a:off x="933450" y="3886200"/>
            <a:ext cx="7277100" cy="0"/>
          </a:xfrm>
          <a:prstGeom prst="line">
            <a:avLst/>
          </a:prstGeom>
          <a:noFill/>
          <a:ln w="12699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2" name="Line 17"/>
          <p:cNvSpPr>
            <a:spLocks noChangeShapeType="1"/>
          </p:cNvSpPr>
          <p:nvPr/>
        </p:nvSpPr>
        <p:spPr bwMode="auto">
          <a:xfrm flipV="1">
            <a:off x="4552951" y="2286000"/>
            <a:ext cx="19049" cy="3563792"/>
          </a:xfrm>
          <a:prstGeom prst="line">
            <a:avLst/>
          </a:prstGeom>
          <a:noFill/>
          <a:ln w="12699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3" name="Rectangle 19"/>
          <p:cNvSpPr>
            <a:spLocks noChangeArrowheads="1"/>
          </p:cNvSpPr>
          <p:nvPr/>
        </p:nvSpPr>
        <p:spPr bwMode="auto">
          <a:xfrm>
            <a:off x="4191123" y="5977865"/>
            <a:ext cx="665162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600" b="1" dirty="0">
                <a:solidFill>
                  <a:schemeClr val="hlink"/>
                </a:solidFill>
              </a:rPr>
              <a:t>Loss</a:t>
            </a:r>
            <a:endParaRPr lang="en-US" sz="1600" b="1" dirty="0"/>
          </a:p>
        </p:txBody>
      </p:sp>
      <p:sp>
        <p:nvSpPr>
          <p:cNvPr id="16404" name="Rectangle 20"/>
          <p:cNvSpPr>
            <a:spLocks noChangeArrowheads="1"/>
          </p:cNvSpPr>
          <p:nvPr/>
        </p:nvSpPr>
        <p:spPr bwMode="auto">
          <a:xfrm>
            <a:off x="4186238" y="1352550"/>
            <a:ext cx="74612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600" b="1"/>
              <a:t>Profit</a:t>
            </a:r>
          </a:p>
        </p:txBody>
      </p:sp>
      <p:sp>
        <p:nvSpPr>
          <p:cNvPr id="16406" name="Line 22"/>
          <p:cNvSpPr>
            <a:spLocks noChangeShapeType="1"/>
          </p:cNvSpPr>
          <p:nvPr/>
        </p:nvSpPr>
        <p:spPr bwMode="auto">
          <a:xfrm flipH="1">
            <a:off x="3352800" y="3124200"/>
            <a:ext cx="1905000" cy="220980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7" name="Line 23"/>
          <p:cNvSpPr>
            <a:spLocks noChangeShapeType="1"/>
          </p:cNvSpPr>
          <p:nvPr/>
        </p:nvSpPr>
        <p:spPr bwMode="auto">
          <a:xfrm flipV="1">
            <a:off x="5257800" y="3124200"/>
            <a:ext cx="2895600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800" dirty="0">
                <a:ea typeface="ＭＳ Ｐゴシック" pitchFamily="34" charset="-128"/>
              </a:rPr>
              <a:t>TIA of ‘39 (public offerings, ’33 Act)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Contract between </a:t>
            </a:r>
            <a:r>
              <a:rPr lang="en-US" sz="2400" b="1" dirty="0">
                <a:ea typeface="ＭＳ Ｐゴシック" pitchFamily="34" charset="-128"/>
              </a:rPr>
              <a:t>issuer and trustee for the benefit of the bond holders</a:t>
            </a:r>
            <a:r>
              <a:rPr lang="en-US" sz="2400" dirty="0">
                <a:ea typeface="ＭＳ Ｐゴシック" pitchFamily="34" charset="-128"/>
              </a:rPr>
              <a:t>.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Trustee administers interest &amp; principal payments and monitors the issuer to make sure that other obligations are being satisfied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Note: promise to pay that runs to bondholders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Indenture: Additional promises that run to trustee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Model Debenture Provisions (‘65, ‘67, ‘83, &amp; ‘00)</a:t>
            </a:r>
          </a:p>
          <a:p>
            <a:pPr>
              <a:lnSpc>
                <a:spcPct val="90000"/>
              </a:lnSpc>
            </a:pPr>
            <a:r>
              <a:rPr lang="en-US" sz="2950" dirty="0">
                <a:ea typeface="ＭＳ Ｐゴシック" pitchFamily="34" charset="-128"/>
              </a:rPr>
              <a:t>Indenture serves: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1: To alleviate collective action problem in default situations.  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2: To protect issuer from enforcement actions of bondholders with small stakes looking for side payments.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3: As a “paying agent”—the issuer remits payments to the trustee, who keeps the bondholders list, and then forwards the checks. </a:t>
            </a:r>
          </a:p>
        </p:txBody>
      </p:sp>
      <p:sp>
        <p:nvSpPr>
          <p:cNvPr id="17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dirty="0">
                <a:ea typeface="ＭＳ Ｐゴシック" pitchFamily="34" charset="-128"/>
              </a:rPr>
              <a:t>Trust Indenture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 dirty="0">
                <a:ea typeface="ＭＳ Ｐゴシック" pitchFamily="34" charset="-128"/>
              </a:rPr>
              <a:t>Are trustees fiduciaries? (</a:t>
            </a:r>
            <a:r>
              <a:rPr lang="en-US" sz="2800" u="sng" dirty="0">
                <a:ea typeface="ＭＳ Ｐゴシック" pitchFamily="34" charset="-128"/>
              </a:rPr>
              <a:t>Elliot Associates)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Mostly no—duties defined by indenture—but maybe in cases of conflict</a:t>
            </a:r>
          </a:p>
          <a:p>
            <a:pPr eaLnBrk="1" hangingPunct="1">
              <a:lnSpc>
                <a:spcPct val="90000"/>
              </a:lnSpc>
            </a:pPr>
            <a:r>
              <a:rPr lang="en-US" sz="2800" dirty="0">
                <a:ea typeface="ＭＳ Ｐゴシック" pitchFamily="34" charset="-128"/>
              </a:rPr>
              <a:t>TIA ’39 (amended ’90)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Sleeping trustee (315):  </a:t>
            </a:r>
          </a:p>
          <a:p>
            <a:pPr lvl="2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after default, prudent person rule</a:t>
            </a:r>
          </a:p>
          <a:p>
            <a:pPr lvl="2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Must give notice of defaults w/ 90 days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Conflict of Interest (310)—T can be lender but must resign when default occurs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Amendments and Waivers (316)</a:t>
            </a:r>
          </a:p>
          <a:p>
            <a:pPr lvl="2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51% majority can waive defaults other than payment defaults</a:t>
            </a:r>
          </a:p>
          <a:p>
            <a:pPr lvl="2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75% can consent to interest nonpayment for up to 3 years</a:t>
            </a:r>
          </a:p>
          <a:p>
            <a:pPr lvl="2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100% majority to lower principal or interest deferral after 3 </a:t>
            </a:r>
            <a:r>
              <a:rPr lang="en-US" sz="2400" dirty="0" err="1">
                <a:ea typeface="ＭＳ Ｐゴシック" pitchFamily="34" charset="-128"/>
              </a:rPr>
              <a:t>yrs</a:t>
            </a:r>
            <a:r>
              <a:rPr lang="en-US" sz="2400" dirty="0">
                <a:ea typeface="ＭＳ Ｐゴシック" pitchFamily="34" charset="-128"/>
              </a:rPr>
              <a:t> [Holdouts?]</a:t>
            </a:r>
          </a:p>
        </p:txBody>
      </p:sp>
      <p:sp>
        <p:nvSpPr>
          <p:cNvPr id="184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dirty="0">
                <a:ea typeface="ＭＳ Ｐゴシック" pitchFamily="34" charset="-128"/>
              </a:rPr>
              <a:t>Indenture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000" b="1" dirty="0"/>
              <a:t>Public Debt</a:t>
            </a:r>
          </a:p>
          <a:p>
            <a:pPr lvl="1"/>
            <a:r>
              <a:rPr lang="en-US" sz="1850" dirty="0"/>
              <a:t>Subject to registration requirements in the Securities Act of 1933</a:t>
            </a:r>
          </a:p>
          <a:p>
            <a:pPr lvl="1"/>
            <a:r>
              <a:rPr lang="en-US" sz="1850" dirty="0"/>
              <a:t>Issued with a trust indenture under the Trust Indenture Act of 1939.</a:t>
            </a:r>
          </a:p>
          <a:p>
            <a:pPr lvl="1"/>
            <a:r>
              <a:rPr lang="en-US" sz="1850" dirty="0"/>
              <a:t>Shelf registration under Rule 415 of the ‘33 Act</a:t>
            </a:r>
          </a:p>
          <a:p>
            <a:r>
              <a:rPr lang="en-US" sz="2000" b="1" dirty="0"/>
              <a:t>Private Debt</a:t>
            </a:r>
          </a:p>
          <a:p>
            <a:pPr lvl="1"/>
            <a:r>
              <a:rPr lang="en-US" sz="1850" dirty="0"/>
              <a:t>Requirements of ‘33 Act (Sec. 4(2) and ‘39 Act (sec. 304)) are avoided if offer and sale of bonds limited to small number of sophisticated investors</a:t>
            </a:r>
          </a:p>
          <a:p>
            <a:pPr lvl="2"/>
            <a:r>
              <a:rPr lang="en-US" sz="1850" b="1" dirty="0"/>
              <a:t>Rule 506(b)</a:t>
            </a:r>
          </a:p>
          <a:p>
            <a:pPr lvl="3"/>
            <a:r>
              <a:rPr lang="en-US" sz="1700" dirty="0"/>
              <a:t>No general solicitation</a:t>
            </a:r>
          </a:p>
          <a:p>
            <a:pPr lvl="3"/>
            <a:r>
              <a:rPr lang="en-US" sz="1700" dirty="0"/>
              <a:t>Can sell to unlimited number of </a:t>
            </a:r>
            <a:r>
              <a:rPr lang="en-US" sz="1700" b="1" i="1" dirty="0"/>
              <a:t>accredited investors</a:t>
            </a:r>
            <a:r>
              <a:rPr lang="en-US" sz="1700" dirty="0"/>
              <a:t> and up to 35 other purchasers, who must be </a:t>
            </a:r>
            <a:r>
              <a:rPr lang="en-US" sz="1700" b="1" i="1" dirty="0"/>
              <a:t>sophisticated</a:t>
            </a:r>
            <a:r>
              <a:rPr lang="en-US" sz="1700" i="1" dirty="0"/>
              <a:t>—</a:t>
            </a:r>
            <a:r>
              <a:rPr lang="en-US" sz="1700" dirty="0"/>
              <a:t>unsophisticated must be supplied with detailed disclosure documents</a:t>
            </a:r>
          </a:p>
          <a:p>
            <a:pPr lvl="3"/>
            <a:r>
              <a:rPr lang="en-US" sz="1700" b="1" i="1" dirty="0"/>
              <a:t>Accredited Investor:  </a:t>
            </a:r>
            <a:r>
              <a:rPr lang="en-US" sz="1700" dirty="0"/>
              <a:t>Banks, </a:t>
            </a:r>
            <a:r>
              <a:rPr lang="en-US" sz="1700" dirty="0" err="1"/>
              <a:t>S&amp;L</a:t>
            </a:r>
            <a:r>
              <a:rPr lang="en-US" sz="1700" dirty="0"/>
              <a:t>, Insurance Co, Mutual Fund, Natural Person with net wealth in excess of $1mm.</a:t>
            </a:r>
          </a:p>
          <a:p>
            <a:pPr lvl="2"/>
            <a:r>
              <a:rPr lang="en-US" sz="1850" dirty="0"/>
              <a:t>Rule 506(c)</a:t>
            </a:r>
          </a:p>
          <a:p>
            <a:pPr lvl="3"/>
            <a:r>
              <a:rPr lang="en-US" sz="1700" dirty="0"/>
              <a:t>General solicitation but </a:t>
            </a:r>
            <a:r>
              <a:rPr lang="en-US" sz="1700" b="1" dirty="0"/>
              <a:t>all investors must be accredited</a:t>
            </a:r>
            <a:r>
              <a:rPr lang="en-US" sz="1700" dirty="0"/>
              <a:t>.</a:t>
            </a:r>
          </a:p>
          <a:p>
            <a:pPr lvl="1"/>
            <a:r>
              <a:rPr lang="en-US" sz="2000" b="1" dirty="0"/>
              <a:t>Rule 144A</a:t>
            </a:r>
            <a:r>
              <a:rPr lang="en-US" sz="2000" dirty="0"/>
              <a:t>: limits resales to </a:t>
            </a:r>
            <a:r>
              <a:rPr lang="en-US" sz="2000" b="1" dirty="0"/>
              <a:t>qualified institutional buyers (QIB)</a:t>
            </a:r>
            <a:r>
              <a:rPr lang="en-US" sz="2000" dirty="0"/>
              <a:t>—permits trading of PPN among QIBs</a:t>
            </a:r>
          </a:p>
          <a:p>
            <a:pPr lvl="1"/>
            <a:r>
              <a:rPr lang="en-US" sz="2000" b="1" dirty="0"/>
              <a:t>Regulation S</a:t>
            </a:r>
          </a:p>
          <a:p>
            <a:pPr lvl="1"/>
            <a:r>
              <a:rPr lang="en-US" sz="2000" dirty="0">
                <a:ea typeface="ＭＳ Ｐゴシック" pitchFamily="34" charset="-128"/>
              </a:rPr>
              <a:t>Private Placement Memorandum (OM) and Commitment Letter</a:t>
            </a:r>
            <a:endParaRPr lang="en-US" sz="185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 and Private Offerings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865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400" dirty="0">
                <a:ea typeface="ＭＳ Ｐゴシック" pitchFamily="34" charset="-128"/>
              </a:rPr>
              <a:t>Mortgage bonds</a:t>
            </a:r>
          </a:p>
          <a:p>
            <a:pPr eaLnBrk="1" hangingPunct="1"/>
            <a:r>
              <a:rPr lang="en-US" sz="2400" dirty="0">
                <a:ea typeface="ＭＳ Ｐゴシック" pitchFamily="34" charset="-128"/>
              </a:rPr>
              <a:t>Subordination</a:t>
            </a:r>
          </a:p>
          <a:p>
            <a:pPr lvl="1" eaLnBrk="1" hangingPunct="1"/>
            <a:r>
              <a:rPr lang="en-US" sz="2000" dirty="0">
                <a:ea typeface="ＭＳ Ｐゴシック" pitchFamily="34" charset="-128"/>
              </a:rPr>
              <a:t>Complete (senior must be paid first) and insolvency (inchoate)</a:t>
            </a:r>
          </a:p>
          <a:p>
            <a:pPr eaLnBrk="1" hangingPunct="1"/>
            <a:r>
              <a:rPr lang="en-US" sz="2400" dirty="0">
                <a:ea typeface="ＭＳ Ｐゴシック" pitchFamily="34" charset="-128"/>
              </a:rPr>
              <a:t>Asset Securitization</a:t>
            </a:r>
          </a:p>
          <a:p>
            <a:pPr lvl="1" eaLnBrk="1" hangingPunct="1"/>
            <a:r>
              <a:rPr lang="en-US" sz="2000" dirty="0" err="1">
                <a:ea typeface="ＭＳ Ｐゴシック" pitchFamily="34" charset="-128"/>
              </a:rPr>
              <a:t>SPVs</a:t>
            </a:r>
            <a:endParaRPr lang="en-US" sz="2000" dirty="0">
              <a:ea typeface="ＭＳ Ｐゴシック" pitchFamily="34" charset="-128"/>
            </a:endParaRPr>
          </a:p>
          <a:p>
            <a:pPr lvl="1" eaLnBrk="1" hangingPunct="1"/>
            <a:r>
              <a:rPr lang="en-US" sz="2000" dirty="0">
                <a:ea typeface="ＭＳ Ｐゴシック" pitchFamily="34" charset="-128"/>
              </a:rPr>
              <a:t>MBS, receivables, etc.</a:t>
            </a:r>
          </a:p>
          <a:p>
            <a:pPr lvl="1" eaLnBrk="1" hangingPunct="1"/>
            <a:r>
              <a:rPr lang="en-US" sz="2000" dirty="0">
                <a:ea typeface="ＭＳ Ｐゴシック" pitchFamily="34" charset="-128"/>
              </a:rPr>
              <a:t>Accounting “sale”</a:t>
            </a:r>
          </a:p>
          <a:p>
            <a:pPr lvl="1" eaLnBrk="1" hangingPunct="1"/>
            <a:r>
              <a:rPr lang="en-US" sz="2000" dirty="0">
                <a:ea typeface="ＭＳ Ｐゴシック" pitchFamily="34" charset="-128"/>
              </a:rPr>
              <a:t>Bankruptcy remote</a:t>
            </a:r>
          </a:p>
          <a:p>
            <a:pPr eaLnBrk="1" hangingPunct="1"/>
            <a:r>
              <a:rPr lang="en-US" sz="2400" dirty="0">
                <a:ea typeface="ＭＳ Ｐゴシック" pitchFamily="34" charset="-128"/>
              </a:rPr>
              <a:t>Leasing</a:t>
            </a:r>
          </a:p>
          <a:p>
            <a:pPr lvl="1" eaLnBrk="1" hangingPunct="1"/>
            <a:r>
              <a:rPr lang="en-US" sz="2000" dirty="0">
                <a:ea typeface="ＭＳ Ｐゴシック" pitchFamily="34" charset="-128"/>
              </a:rPr>
              <a:t>Ownership (depreciation deductions)</a:t>
            </a:r>
          </a:p>
          <a:p>
            <a:pPr lvl="1" eaLnBrk="1" hangingPunct="1"/>
            <a:r>
              <a:rPr lang="en-US" sz="2000" dirty="0">
                <a:ea typeface="ＭＳ Ｐゴシック" pitchFamily="34" charset="-128"/>
              </a:rPr>
              <a:t>Leveraged lease</a:t>
            </a:r>
          </a:p>
          <a:p>
            <a:pPr lvl="1" eaLnBrk="1" hangingPunct="1"/>
            <a:r>
              <a:rPr lang="en-US" sz="2000" dirty="0">
                <a:ea typeface="ＭＳ Ｐゴシック" pitchFamily="34" charset="-128"/>
              </a:rPr>
              <a:t>Sale leaseback</a:t>
            </a:r>
          </a:p>
          <a:p>
            <a:pPr eaLnBrk="1" hangingPunct="1"/>
            <a:r>
              <a:rPr lang="en-US" sz="2400" dirty="0">
                <a:ea typeface="ＭＳ Ｐゴシック" pitchFamily="34" charset="-128"/>
              </a:rPr>
              <a:t>Factoring</a:t>
            </a:r>
            <a:endParaRPr lang="en-US" dirty="0">
              <a:ea typeface="ＭＳ Ｐゴシック" pitchFamily="34" charset="-128"/>
            </a:endParaRPr>
          </a:p>
          <a:p>
            <a:pPr eaLnBrk="1" hangingPunct="1"/>
            <a:endParaRPr lang="en-US" sz="2400" dirty="0">
              <a:ea typeface="ＭＳ Ｐゴシック" pitchFamily="34" charset="-128"/>
            </a:endParaRP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dirty="0">
                <a:ea typeface="ＭＳ Ｐゴシック" pitchFamily="34" charset="-128"/>
              </a:rPr>
              <a:t>Debt:  Seniority and Security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>
                <a:ea typeface="ＭＳ Ｐゴシック" pitchFamily="34" charset="-128"/>
              </a:rPr>
              <a:t>Call, redemption, sinking fund, and refunding</a:t>
            </a:r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i="1" dirty="0">
                <a:ea typeface="ＭＳ Ｐゴシック" pitchFamily="34" charset="-128"/>
              </a:rPr>
              <a:t>Morgan Stanley v. ADM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/>
        </p:nvCxnSpPr>
        <p:spPr bwMode="auto">
          <a:xfrm rot="5400000">
            <a:off x="-723106" y="3772693"/>
            <a:ext cx="4191000" cy="1588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>
            <a:outerShdw dist="20000" dir="5400000" rotWithShape="0">
              <a:srgbClr val="808080">
                <a:alpha val="37999"/>
              </a:srgbClr>
            </a:outerShdw>
          </a:effectLst>
        </p:spPr>
      </p:cxnSp>
      <p:cxnSp>
        <p:nvCxnSpPr>
          <p:cNvPr id="9" name="Straight Arrow Connector 8"/>
          <p:cNvCxnSpPr>
            <a:cxnSpLocks noChangeShapeType="1"/>
          </p:cNvCxnSpPr>
          <p:nvPr/>
        </p:nvCxnSpPr>
        <p:spPr bwMode="auto">
          <a:xfrm>
            <a:off x="1449388" y="1676400"/>
            <a:ext cx="1676400" cy="3175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dist="20000" dir="5400000" rotWithShape="0">
              <a:srgbClr val="808080">
                <a:alpha val="37999"/>
              </a:srgbClr>
            </a:outerShdw>
          </a:effectLst>
        </p:spPr>
      </p:cxnSp>
      <p:cxnSp>
        <p:nvCxnSpPr>
          <p:cNvPr id="11" name="Straight Arrow Connector 10"/>
          <p:cNvCxnSpPr>
            <a:cxnSpLocks noChangeShapeType="1"/>
          </p:cNvCxnSpPr>
          <p:nvPr/>
        </p:nvCxnSpPr>
        <p:spPr bwMode="auto">
          <a:xfrm>
            <a:off x="1373188" y="2286000"/>
            <a:ext cx="1676400" cy="3175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dist="20000" dir="5400000" rotWithShape="0">
              <a:srgbClr val="808080">
                <a:alpha val="37999"/>
              </a:srgbClr>
            </a:outerShdw>
          </a:effectLst>
        </p:spPr>
      </p:cxnSp>
      <p:cxnSp>
        <p:nvCxnSpPr>
          <p:cNvPr id="12" name="Straight Arrow Connector 11"/>
          <p:cNvCxnSpPr>
            <a:cxnSpLocks noChangeShapeType="1"/>
          </p:cNvCxnSpPr>
          <p:nvPr/>
        </p:nvCxnSpPr>
        <p:spPr bwMode="auto">
          <a:xfrm>
            <a:off x="1373188" y="2971800"/>
            <a:ext cx="1676400" cy="3175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dist="20000" dir="5400000" rotWithShape="0">
              <a:srgbClr val="808080">
                <a:alpha val="37999"/>
              </a:srgbClr>
            </a:outerShdw>
          </a:effectLst>
        </p:spPr>
      </p:cxnSp>
      <p:cxnSp>
        <p:nvCxnSpPr>
          <p:cNvPr id="13" name="Straight Arrow Connector 12"/>
          <p:cNvCxnSpPr>
            <a:cxnSpLocks noChangeShapeType="1"/>
          </p:cNvCxnSpPr>
          <p:nvPr/>
        </p:nvCxnSpPr>
        <p:spPr bwMode="auto">
          <a:xfrm>
            <a:off x="1373188" y="3810000"/>
            <a:ext cx="1676400" cy="3175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dist="20000" dir="5400000" rotWithShape="0">
              <a:srgbClr val="808080">
                <a:alpha val="37999"/>
              </a:srgbClr>
            </a:outerShdw>
          </a:effectLst>
        </p:spPr>
      </p:cxnSp>
      <p:sp>
        <p:nvSpPr>
          <p:cNvPr id="19466" name="TextBox 13"/>
          <p:cNvSpPr txBox="1">
            <a:spLocks noChangeArrowheads="1"/>
          </p:cNvSpPr>
          <p:nvPr/>
        </p:nvSpPr>
        <p:spPr bwMode="auto">
          <a:xfrm>
            <a:off x="3124200" y="1524000"/>
            <a:ext cx="4803775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May ‘81: Issue 16% SF Debentures (125mm)</a:t>
            </a:r>
          </a:p>
        </p:txBody>
      </p:sp>
      <p:sp>
        <p:nvSpPr>
          <p:cNvPr id="19467" name="TextBox 14"/>
          <p:cNvSpPr txBox="1">
            <a:spLocks noChangeArrowheads="1"/>
          </p:cNvSpPr>
          <p:nvPr/>
        </p:nvSpPr>
        <p:spPr bwMode="auto">
          <a:xfrm>
            <a:off x="3125788" y="2133600"/>
            <a:ext cx="4724400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May ‘82: Issue 50mm Zeroes (Face 500mm)</a:t>
            </a:r>
          </a:p>
        </p:txBody>
      </p:sp>
      <p:sp>
        <p:nvSpPr>
          <p:cNvPr id="19468" name="TextBox 15"/>
          <p:cNvSpPr txBox="1">
            <a:spLocks noChangeArrowheads="1"/>
          </p:cNvSpPr>
          <p:nvPr/>
        </p:nvSpPr>
        <p:spPr bwMode="auto">
          <a:xfrm>
            <a:off x="3049588" y="2819400"/>
            <a:ext cx="5199062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March ‘83: Issue 86mm (Face 263mm) of STARs</a:t>
            </a:r>
          </a:p>
        </p:txBody>
      </p:sp>
      <p:sp>
        <p:nvSpPr>
          <p:cNvPr id="19469" name="TextBox 16"/>
          <p:cNvSpPr txBox="1">
            <a:spLocks noChangeArrowheads="1"/>
          </p:cNvSpPr>
          <p:nvPr/>
        </p:nvSpPr>
        <p:spPr bwMode="auto">
          <a:xfrm>
            <a:off x="3049588" y="3581400"/>
            <a:ext cx="4276725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Jan. and June ‘83: Issue 147mm of CS</a:t>
            </a:r>
          </a:p>
        </p:txBody>
      </p:sp>
      <p:sp>
        <p:nvSpPr>
          <p:cNvPr id="19470" name="TextBox 17"/>
          <p:cNvSpPr txBox="1">
            <a:spLocks noChangeArrowheads="1"/>
          </p:cNvSpPr>
          <p:nvPr/>
        </p:nvSpPr>
        <p:spPr bwMode="auto">
          <a:xfrm>
            <a:off x="3124200" y="4258335"/>
            <a:ext cx="601980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May 5, 31 ‘83: MS purchases 16mm of ADM debentures</a:t>
            </a:r>
          </a:p>
          <a:p>
            <a:r>
              <a:rPr lang="en-US" dirty="0"/>
              <a:t>For 1,252 and 1,200 per 1,000 face</a:t>
            </a:r>
          </a:p>
        </p:txBody>
      </p:sp>
      <p:cxnSp>
        <p:nvCxnSpPr>
          <p:cNvPr id="19" name="Straight Arrow Connector 18"/>
          <p:cNvCxnSpPr>
            <a:cxnSpLocks noChangeShapeType="1"/>
          </p:cNvCxnSpPr>
          <p:nvPr/>
        </p:nvCxnSpPr>
        <p:spPr bwMode="auto">
          <a:xfrm>
            <a:off x="1371600" y="4495800"/>
            <a:ext cx="1676400" cy="158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dist="20000" dir="5400000" rotWithShape="0">
              <a:srgbClr val="808080">
                <a:alpha val="37999"/>
              </a:srgbClr>
            </a:outerShdw>
          </a:effectLst>
        </p:spPr>
      </p:cxnSp>
      <p:cxnSp>
        <p:nvCxnSpPr>
          <p:cNvPr id="20" name="Straight Arrow Connector 19"/>
          <p:cNvCxnSpPr>
            <a:cxnSpLocks noChangeShapeType="1"/>
          </p:cNvCxnSpPr>
          <p:nvPr/>
        </p:nvCxnSpPr>
        <p:spPr bwMode="auto">
          <a:xfrm>
            <a:off x="1371600" y="5183187"/>
            <a:ext cx="1676400" cy="1588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dist="20000" dir="5400000" rotWithShape="0">
              <a:srgbClr val="808080">
                <a:alpha val="37999"/>
              </a:srgbClr>
            </a:outerShdw>
          </a:effectLst>
        </p:spPr>
      </p:cxnSp>
      <p:sp>
        <p:nvSpPr>
          <p:cNvPr id="19473" name="TextBox 20"/>
          <p:cNvSpPr txBox="1">
            <a:spLocks noChangeArrowheads="1"/>
          </p:cNvSpPr>
          <p:nvPr/>
        </p:nvSpPr>
        <p:spPr bwMode="auto">
          <a:xfrm>
            <a:off x="3124200" y="5030787"/>
            <a:ext cx="579120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June 1 ‘83: ADM announces call of 16% debentures for</a:t>
            </a:r>
          </a:p>
          <a:p>
            <a:r>
              <a:rPr lang="en-US"/>
              <a:t>1,139.5 per 1,000 face.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 sz="2400">
                <a:ea typeface="ＭＳ Ｐゴシック" pitchFamily="34" charset="-128"/>
              </a:rPr>
              <a:t>   </a:t>
            </a:r>
          </a:p>
        </p:txBody>
      </p:sp>
      <p:sp>
        <p:nvSpPr>
          <p:cNvPr id="204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i="1" dirty="0">
                <a:ea typeface="ＭＳ Ｐゴシック" pitchFamily="34" charset="-128"/>
              </a:rPr>
              <a:t>Sharon Steel Corp. v. Chase</a:t>
            </a:r>
            <a:endParaRPr lang="en-US" sz="2400" i="1" dirty="0">
              <a:ea typeface="ＭＳ Ｐゴシック" pitchFamily="34" charset="-128"/>
            </a:endParaRPr>
          </a:p>
        </p:txBody>
      </p:sp>
      <p:sp>
        <p:nvSpPr>
          <p:cNvPr id="20485" name="Rectangle 4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762500" y="838200"/>
            <a:ext cx="4174998" cy="54117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/>
          <a:lstStyle/>
          <a:p>
            <a:pPr marL="119063" indent="-119063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Beg. 79: sell FE for 345M and w/12 months liquidate (3/79)</a:t>
            </a:r>
          </a:p>
          <a:p>
            <a:pPr marL="119063" indent="-119063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7/79: sale of OG for 135M; 18/share dividend and set aside of 155M for BHs</a:t>
            </a:r>
          </a:p>
          <a:p>
            <a:pPr marL="119063" indent="-119063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11/79: APA w/ SS to buy UV for 107 in cash and 411 FACE of sub. Debentures.  </a:t>
            </a:r>
          </a:p>
          <a:p>
            <a:pPr marL="119063" indent="-119063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UV assets: MB + 322M $$</a:t>
            </a:r>
          </a:p>
          <a:p>
            <a:pPr marL="119063" indent="-119063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Successor Obligation Clause</a:t>
            </a:r>
          </a:p>
          <a:p>
            <a:pPr marL="119063" indent="-119063" eaLnBrk="1" hangingPunct="1">
              <a:lnSpc>
                <a:spcPct val="90000"/>
              </a:lnSpc>
            </a:pPr>
            <a:r>
              <a:rPr lang="en-US" sz="2400" dirty="0">
                <a:ea typeface="ＭＳ Ｐゴシック" pitchFamily="34" charset="-128"/>
              </a:rPr>
              <a:t>Redemption Premium</a:t>
            </a:r>
          </a:p>
        </p:txBody>
      </p:sp>
      <p:sp>
        <p:nvSpPr>
          <p:cNvPr id="20486" name="Rectangle 5"/>
          <p:cNvSpPr>
            <a:spLocks noChangeArrowheads="1"/>
          </p:cNvSpPr>
          <p:nvPr/>
        </p:nvSpPr>
        <p:spPr bwMode="auto">
          <a:xfrm>
            <a:off x="1905000" y="3200400"/>
            <a:ext cx="838200" cy="6858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800" b="1" dirty="0"/>
              <a:t>UV</a:t>
            </a:r>
          </a:p>
        </p:txBody>
      </p:sp>
      <p:sp>
        <p:nvSpPr>
          <p:cNvPr id="20487" name="Oval 6"/>
          <p:cNvSpPr>
            <a:spLocks noChangeArrowheads="1"/>
          </p:cNvSpPr>
          <p:nvPr/>
        </p:nvSpPr>
        <p:spPr bwMode="auto">
          <a:xfrm>
            <a:off x="228600" y="4572000"/>
            <a:ext cx="762000" cy="609600"/>
          </a:xfrm>
          <a:prstGeom prst="ellipse">
            <a:avLst/>
          </a:prstGeom>
          <a:solidFill>
            <a:srgbClr val="FF99CC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b="1"/>
              <a:t>FE</a:t>
            </a:r>
          </a:p>
        </p:txBody>
      </p:sp>
      <p:sp>
        <p:nvSpPr>
          <p:cNvPr id="20488" name="Oval 7"/>
          <p:cNvSpPr>
            <a:spLocks noChangeArrowheads="1"/>
          </p:cNvSpPr>
          <p:nvPr/>
        </p:nvSpPr>
        <p:spPr bwMode="auto">
          <a:xfrm>
            <a:off x="1828800" y="1676400"/>
            <a:ext cx="990600" cy="914400"/>
          </a:xfrm>
          <a:prstGeom prst="ellipse">
            <a:avLst/>
          </a:prstGeom>
          <a:solidFill>
            <a:srgbClr val="E3B27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000" b="1"/>
              <a:t>UV</a:t>
            </a:r>
          </a:p>
          <a:p>
            <a:pPr algn="ctr" eaLnBrk="0" hangingPunct="0"/>
            <a:r>
              <a:rPr lang="en-US" sz="2000" b="1"/>
              <a:t>SHs</a:t>
            </a:r>
            <a:endParaRPr lang="en-US" sz="2400" b="1"/>
          </a:p>
        </p:txBody>
      </p:sp>
      <p:cxnSp>
        <p:nvCxnSpPr>
          <p:cNvPr id="20489" name="AutoShape 8"/>
          <p:cNvCxnSpPr>
            <a:cxnSpLocks noChangeShapeType="1"/>
            <a:stCxn id="20488" idx="4"/>
            <a:endCxn id="20486" idx="0"/>
          </p:cNvCxnSpPr>
          <p:nvPr/>
        </p:nvCxnSpPr>
        <p:spPr bwMode="auto">
          <a:xfrm>
            <a:off x="2324100" y="2590800"/>
            <a:ext cx="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</p:cxnSp>
      <p:sp>
        <p:nvSpPr>
          <p:cNvPr id="20490" name="Oval 9"/>
          <p:cNvSpPr>
            <a:spLocks noChangeArrowheads="1"/>
          </p:cNvSpPr>
          <p:nvPr/>
        </p:nvSpPr>
        <p:spPr bwMode="auto">
          <a:xfrm>
            <a:off x="1828800" y="4572000"/>
            <a:ext cx="990600" cy="533400"/>
          </a:xfrm>
          <a:prstGeom prst="ellipse">
            <a:avLst/>
          </a:prstGeom>
          <a:solidFill>
            <a:srgbClr val="FF99CC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b="1"/>
              <a:t>OG</a:t>
            </a:r>
            <a:endParaRPr lang="en-US"/>
          </a:p>
        </p:txBody>
      </p:sp>
      <p:sp>
        <p:nvSpPr>
          <p:cNvPr id="20491" name="Oval 10"/>
          <p:cNvSpPr>
            <a:spLocks noChangeArrowheads="1"/>
          </p:cNvSpPr>
          <p:nvPr/>
        </p:nvSpPr>
        <p:spPr bwMode="auto">
          <a:xfrm>
            <a:off x="3276600" y="4572000"/>
            <a:ext cx="990600" cy="533400"/>
          </a:xfrm>
          <a:prstGeom prst="ellipse">
            <a:avLst/>
          </a:prstGeom>
          <a:solidFill>
            <a:srgbClr val="FF99CC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b="1"/>
              <a:t>MB</a:t>
            </a:r>
          </a:p>
        </p:txBody>
      </p:sp>
      <p:cxnSp>
        <p:nvCxnSpPr>
          <p:cNvPr id="20492" name="AutoShape 11"/>
          <p:cNvCxnSpPr>
            <a:cxnSpLocks noChangeShapeType="1"/>
            <a:stCxn id="20486" idx="2"/>
            <a:endCxn id="20487" idx="0"/>
          </p:cNvCxnSpPr>
          <p:nvPr/>
        </p:nvCxnSpPr>
        <p:spPr bwMode="auto">
          <a:xfrm rot="5400000">
            <a:off x="1123950" y="3371850"/>
            <a:ext cx="685800" cy="171450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</p:spPr>
      </p:cxnSp>
      <p:cxnSp>
        <p:nvCxnSpPr>
          <p:cNvPr id="20493" name="AutoShape 12"/>
          <p:cNvCxnSpPr>
            <a:cxnSpLocks noChangeShapeType="1"/>
            <a:stCxn id="20486" idx="2"/>
            <a:endCxn id="20490" idx="0"/>
          </p:cNvCxnSpPr>
          <p:nvPr/>
        </p:nvCxnSpPr>
        <p:spPr bwMode="auto">
          <a:xfrm rot="5400000">
            <a:off x="1981200" y="4229100"/>
            <a:ext cx="685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494" name="AutoShape 13"/>
          <p:cNvCxnSpPr>
            <a:cxnSpLocks noChangeShapeType="1"/>
            <a:stCxn id="20486" idx="2"/>
            <a:endCxn id="20491" idx="0"/>
          </p:cNvCxnSpPr>
          <p:nvPr/>
        </p:nvCxnSpPr>
        <p:spPr bwMode="auto">
          <a:xfrm rot="16200000" flipH="1">
            <a:off x="2705100" y="3505200"/>
            <a:ext cx="685800" cy="144780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</p:spPr>
      </p:cxnSp>
      <p:sp>
        <p:nvSpPr>
          <p:cNvPr id="20495" name="Rectangle 14"/>
          <p:cNvSpPr>
            <a:spLocks noChangeArrowheads="1"/>
          </p:cNvSpPr>
          <p:nvPr/>
        </p:nvSpPr>
        <p:spPr bwMode="auto">
          <a:xfrm>
            <a:off x="228600" y="5334000"/>
            <a:ext cx="142875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0" hangingPunct="0"/>
            <a:r>
              <a:rPr lang="en-US" b="1"/>
              <a:t>61% Rev</a:t>
            </a:r>
          </a:p>
          <a:p>
            <a:pPr eaLnBrk="0" hangingPunct="0"/>
            <a:r>
              <a:rPr lang="en-US" b="1"/>
              <a:t>81% Profits</a:t>
            </a:r>
          </a:p>
          <a:p>
            <a:pPr eaLnBrk="0" hangingPunct="0"/>
            <a:r>
              <a:rPr lang="en-US" b="1"/>
              <a:t>44% BV</a:t>
            </a:r>
          </a:p>
        </p:txBody>
      </p:sp>
      <p:sp>
        <p:nvSpPr>
          <p:cNvPr id="20496" name="Rectangle 15"/>
          <p:cNvSpPr>
            <a:spLocks noChangeArrowheads="1"/>
          </p:cNvSpPr>
          <p:nvPr/>
        </p:nvSpPr>
        <p:spPr bwMode="auto">
          <a:xfrm>
            <a:off x="1752600" y="5257800"/>
            <a:ext cx="130175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0" hangingPunct="0"/>
            <a:r>
              <a:rPr lang="en-US" b="1"/>
              <a:t>2% Rev</a:t>
            </a:r>
          </a:p>
          <a:p>
            <a:pPr eaLnBrk="0" hangingPunct="0"/>
            <a:r>
              <a:rPr lang="en-US" b="1"/>
              <a:t>6% Profits</a:t>
            </a:r>
          </a:p>
          <a:p>
            <a:pPr eaLnBrk="0" hangingPunct="0"/>
            <a:r>
              <a:rPr lang="en-US" b="1"/>
              <a:t>5% BV</a:t>
            </a:r>
          </a:p>
        </p:txBody>
      </p:sp>
      <p:sp>
        <p:nvSpPr>
          <p:cNvPr id="20497" name="Rectangle 16"/>
          <p:cNvSpPr>
            <a:spLocks noChangeArrowheads="1"/>
          </p:cNvSpPr>
          <p:nvPr/>
        </p:nvSpPr>
        <p:spPr bwMode="auto">
          <a:xfrm>
            <a:off x="3067050" y="5257800"/>
            <a:ext cx="142875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0" hangingPunct="0"/>
            <a:r>
              <a:rPr lang="en-US" b="1"/>
              <a:t>38% Rev</a:t>
            </a:r>
          </a:p>
          <a:p>
            <a:pPr eaLnBrk="0" hangingPunct="0"/>
            <a:r>
              <a:rPr lang="en-US" b="1"/>
              <a:t>13% Profits</a:t>
            </a:r>
          </a:p>
          <a:p>
            <a:pPr eaLnBrk="0" hangingPunct="0"/>
            <a:r>
              <a:rPr lang="en-US" b="1"/>
              <a:t>34% BV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 sz="2400">
                <a:ea typeface="ＭＳ Ｐゴシック" pitchFamily="34" charset="-128"/>
              </a:rPr>
              <a:t>   </a:t>
            </a:r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i="1" dirty="0">
                <a:ea typeface="ＭＳ Ｐゴシック" pitchFamily="34" charset="-128"/>
              </a:rPr>
              <a:t>Met Life v. RJR Nabisco</a:t>
            </a:r>
            <a:endParaRPr lang="en-US" sz="2400" i="1" dirty="0">
              <a:ea typeface="ＭＳ Ｐゴシック" pitchFamily="34" charset="-128"/>
            </a:endParaRPr>
          </a:p>
        </p:txBody>
      </p:sp>
      <p:sp>
        <p:nvSpPr>
          <p:cNvPr id="21509" name="Rectangle 4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103813" y="990600"/>
            <a:ext cx="3738435" cy="502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/>
          <a:lstStyle/>
          <a:p>
            <a:pPr eaLnBrk="1" hangingPunct="1"/>
            <a:r>
              <a:rPr lang="en-US" sz="2400">
                <a:ea typeface="ＭＳ Ｐゴシック" pitchFamily="34" charset="-128"/>
              </a:rPr>
              <a:t>2/89:  TO for 74% of RJR CS and Prf (18Bi paid out)</a:t>
            </a:r>
          </a:p>
          <a:p>
            <a:pPr eaLnBrk="1" hangingPunct="1"/>
            <a:r>
              <a:rPr lang="en-US" sz="2400">
                <a:ea typeface="ＭＳ Ｐゴシック" pitchFamily="34" charset="-128"/>
              </a:rPr>
              <a:t>4/89: remaining stock acquired for 4.1Bi of PIK Prf and 1.8Bi for convertible debentures</a:t>
            </a:r>
          </a:p>
          <a:p>
            <a:pPr eaLnBrk="1" hangingPunct="1"/>
            <a:r>
              <a:rPr lang="en-US" sz="2400">
                <a:ea typeface="ＭＳ Ｐゴシック" pitchFamily="34" charset="-128"/>
              </a:rPr>
              <a:t>Creation of 19Bi of new debt</a:t>
            </a:r>
          </a:p>
        </p:txBody>
      </p:sp>
      <p:sp>
        <p:nvSpPr>
          <p:cNvPr id="21510" name="Rectangle 5"/>
          <p:cNvSpPr>
            <a:spLocks noChangeArrowheads="1"/>
          </p:cNvSpPr>
          <p:nvPr/>
        </p:nvSpPr>
        <p:spPr bwMode="auto">
          <a:xfrm>
            <a:off x="304800" y="3200400"/>
            <a:ext cx="1524000" cy="83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800" b="1" dirty="0" err="1"/>
              <a:t>KKR</a:t>
            </a:r>
            <a:endParaRPr lang="en-US" sz="2800" b="1" dirty="0"/>
          </a:p>
        </p:txBody>
      </p:sp>
      <p:cxnSp>
        <p:nvCxnSpPr>
          <p:cNvPr id="21511" name="AutoShape 6"/>
          <p:cNvCxnSpPr>
            <a:cxnSpLocks noChangeShapeType="1"/>
            <a:endCxn id="21510" idx="0"/>
          </p:cNvCxnSpPr>
          <p:nvPr/>
        </p:nvCxnSpPr>
        <p:spPr bwMode="auto">
          <a:xfrm>
            <a:off x="1066800" y="2590800"/>
            <a:ext cx="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</p:cxnSp>
      <p:sp>
        <p:nvSpPr>
          <p:cNvPr id="21512" name="Rectangle 7"/>
          <p:cNvSpPr>
            <a:spLocks noChangeArrowheads="1"/>
          </p:cNvSpPr>
          <p:nvPr/>
        </p:nvSpPr>
        <p:spPr bwMode="auto">
          <a:xfrm>
            <a:off x="2362200" y="3200400"/>
            <a:ext cx="1447800" cy="838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1"/>
              <a:t>RJR</a:t>
            </a:r>
            <a:endParaRPr lang="en-US" sz="2800" b="1"/>
          </a:p>
        </p:txBody>
      </p:sp>
      <p:sp>
        <p:nvSpPr>
          <p:cNvPr id="21513" name="Oval 8"/>
          <p:cNvSpPr>
            <a:spLocks noChangeArrowheads="1"/>
          </p:cNvSpPr>
          <p:nvPr/>
        </p:nvSpPr>
        <p:spPr bwMode="auto">
          <a:xfrm>
            <a:off x="2590800" y="1676400"/>
            <a:ext cx="838200" cy="914400"/>
          </a:xfrm>
          <a:prstGeom prst="ellipse">
            <a:avLst/>
          </a:prstGeom>
          <a:solidFill>
            <a:srgbClr val="E3B27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000" b="1"/>
              <a:t>RJR</a:t>
            </a:r>
          </a:p>
          <a:p>
            <a:pPr algn="ctr" eaLnBrk="0" hangingPunct="0"/>
            <a:r>
              <a:rPr lang="en-US" sz="2000" b="1"/>
              <a:t>SHs</a:t>
            </a:r>
            <a:endParaRPr lang="en-US" sz="2400" b="1"/>
          </a:p>
        </p:txBody>
      </p:sp>
      <p:cxnSp>
        <p:nvCxnSpPr>
          <p:cNvPr id="21514" name="AutoShape 9"/>
          <p:cNvCxnSpPr>
            <a:cxnSpLocks noChangeShapeType="1"/>
            <a:stCxn id="21513" idx="4"/>
            <a:endCxn id="21512" idx="0"/>
          </p:cNvCxnSpPr>
          <p:nvPr/>
        </p:nvCxnSpPr>
        <p:spPr bwMode="auto">
          <a:xfrm>
            <a:off x="3009900" y="2590800"/>
            <a:ext cx="7620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</p:cxnSp>
      <p:pic>
        <p:nvPicPr>
          <p:cNvPr id="21515" name="Picture 10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9600" y="1981200"/>
            <a:ext cx="895350" cy="50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1516" name="Line 11"/>
          <p:cNvSpPr>
            <a:spLocks noChangeShapeType="1"/>
          </p:cNvSpPr>
          <p:nvPr/>
        </p:nvSpPr>
        <p:spPr bwMode="auto">
          <a:xfrm>
            <a:off x="457200" y="4495800"/>
            <a:ext cx="6096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517" name="Line 12"/>
          <p:cNvSpPr>
            <a:spLocks noChangeShapeType="1"/>
          </p:cNvSpPr>
          <p:nvPr/>
        </p:nvSpPr>
        <p:spPr bwMode="auto">
          <a:xfrm>
            <a:off x="1676400" y="2895600"/>
            <a:ext cx="1066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518" name="Rectangle 13"/>
          <p:cNvSpPr>
            <a:spLocks noChangeArrowheads="1"/>
          </p:cNvSpPr>
          <p:nvPr/>
        </p:nvSpPr>
        <p:spPr bwMode="auto">
          <a:xfrm>
            <a:off x="1524000" y="2209800"/>
            <a:ext cx="116205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b="1"/>
              <a:t>Premium</a:t>
            </a:r>
          </a:p>
          <a:p>
            <a:pPr algn="ctr" eaLnBrk="0" hangingPunct="0"/>
            <a:r>
              <a:rPr lang="en-US" b="1"/>
              <a:t>TO</a:t>
            </a:r>
          </a:p>
        </p:txBody>
      </p:sp>
      <p:sp>
        <p:nvSpPr>
          <p:cNvPr id="21519" name="Oval 14"/>
          <p:cNvSpPr>
            <a:spLocks noChangeArrowheads="1"/>
          </p:cNvSpPr>
          <p:nvPr/>
        </p:nvSpPr>
        <p:spPr bwMode="auto">
          <a:xfrm>
            <a:off x="3200400" y="4724400"/>
            <a:ext cx="838200" cy="609600"/>
          </a:xfrm>
          <a:prstGeom prst="ellipse">
            <a:avLst/>
          </a:prstGeom>
          <a:solidFill>
            <a:srgbClr val="FF99CC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b="1"/>
              <a:t>Assets</a:t>
            </a:r>
          </a:p>
        </p:txBody>
      </p:sp>
      <p:sp>
        <p:nvSpPr>
          <p:cNvPr id="21520" name="Oval 15"/>
          <p:cNvSpPr>
            <a:spLocks noChangeArrowheads="1"/>
          </p:cNvSpPr>
          <p:nvPr/>
        </p:nvSpPr>
        <p:spPr bwMode="auto">
          <a:xfrm>
            <a:off x="1981200" y="4724400"/>
            <a:ext cx="990600" cy="533400"/>
          </a:xfrm>
          <a:prstGeom prst="ellipse">
            <a:avLst/>
          </a:prstGeom>
          <a:solidFill>
            <a:srgbClr val="FF99CC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b="1"/>
              <a:t>Assets</a:t>
            </a:r>
            <a:endParaRPr lang="en-US"/>
          </a:p>
        </p:txBody>
      </p:sp>
      <p:sp>
        <p:nvSpPr>
          <p:cNvPr id="21521" name="Line 16"/>
          <p:cNvSpPr>
            <a:spLocks noChangeShapeType="1"/>
          </p:cNvSpPr>
          <p:nvPr/>
        </p:nvSpPr>
        <p:spPr bwMode="auto">
          <a:xfrm flipH="1">
            <a:off x="2514600" y="4038600"/>
            <a:ext cx="5334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522" name="Line 17"/>
          <p:cNvSpPr>
            <a:spLocks noChangeShapeType="1"/>
          </p:cNvSpPr>
          <p:nvPr/>
        </p:nvSpPr>
        <p:spPr bwMode="auto">
          <a:xfrm>
            <a:off x="3048000" y="4038600"/>
            <a:ext cx="609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523" name="Line 18"/>
          <p:cNvSpPr>
            <a:spLocks noChangeShapeType="1"/>
          </p:cNvSpPr>
          <p:nvPr/>
        </p:nvSpPr>
        <p:spPr bwMode="auto">
          <a:xfrm>
            <a:off x="2514600" y="5410200"/>
            <a:ext cx="6096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524" name="Rectangle 19"/>
          <p:cNvSpPr>
            <a:spLocks noChangeArrowheads="1"/>
          </p:cNvSpPr>
          <p:nvPr/>
        </p:nvSpPr>
        <p:spPr bwMode="auto">
          <a:xfrm>
            <a:off x="2057400" y="5562600"/>
            <a:ext cx="175260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0" hangingPunct="0"/>
            <a:r>
              <a:rPr lang="en-US" sz="2000" b="1"/>
              <a:t>Sale of Assets</a:t>
            </a:r>
          </a:p>
        </p:txBody>
      </p:sp>
      <p:sp>
        <p:nvSpPr>
          <p:cNvPr id="21525" name="Line 20"/>
          <p:cNvSpPr>
            <a:spLocks noChangeShapeType="1"/>
          </p:cNvSpPr>
          <p:nvPr/>
        </p:nvSpPr>
        <p:spPr bwMode="auto">
          <a:xfrm flipV="1">
            <a:off x="3124200" y="2362200"/>
            <a:ext cx="53340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526" name="Oval 21"/>
          <p:cNvSpPr>
            <a:spLocks noChangeArrowheads="1"/>
          </p:cNvSpPr>
          <p:nvPr/>
        </p:nvSpPr>
        <p:spPr bwMode="auto">
          <a:xfrm>
            <a:off x="3505200" y="1676400"/>
            <a:ext cx="838200" cy="914400"/>
          </a:xfrm>
          <a:prstGeom prst="ellipse">
            <a:avLst/>
          </a:prstGeom>
          <a:solidFill>
            <a:srgbClr val="F4EDB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000" b="1"/>
              <a:t>Met</a:t>
            </a:r>
          </a:p>
          <a:p>
            <a:pPr algn="ctr" eaLnBrk="0" hangingPunct="0"/>
            <a:r>
              <a:rPr lang="en-US" sz="2000" b="1"/>
              <a:t>Life</a:t>
            </a:r>
          </a:p>
          <a:p>
            <a:pPr algn="ctr" eaLnBrk="0" hangingPunct="0"/>
            <a:r>
              <a:rPr lang="en-US" sz="2000" b="1"/>
              <a:t>BH</a:t>
            </a:r>
            <a:endParaRPr lang="en-US" sz="2400" b="1"/>
          </a:p>
        </p:txBody>
      </p:sp>
      <p:pic>
        <p:nvPicPr>
          <p:cNvPr id="21527" name="Picture 2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209800" y="2971800"/>
            <a:ext cx="1752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3" name="Rectangle 14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>
                <a:ea typeface="ＭＳ Ｐゴシック" pitchFamily="34" charset="-128"/>
              </a:rPr>
              <a:t>  </a:t>
            </a:r>
          </a:p>
        </p:txBody>
      </p:sp>
      <p:sp>
        <p:nvSpPr>
          <p:cNvPr id="22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400" b="1" dirty="0">
                <a:ea typeface="ＭＳ Ｐゴシック" pitchFamily="34" charset="-128"/>
              </a:rPr>
              <a:t>Hostile Take Overs and LBOs</a:t>
            </a:r>
            <a:endParaRPr lang="en-US" sz="2400" dirty="0">
              <a:ea typeface="ＭＳ Ｐゴシック" pitchFamily="34" charset="-128"/>
            </a:endParaRPr>
          </a:p>
        </p:txBody>
      </p:sp>
      <p:sp>
        <p:nvSpPr>
          <p:cNvPr id="22532" name="Rectangle 3"/>
          <p:cNvSpPr>
            <a:spLocks noChangeArrowheads="1"/>
          </p:cNvSpPr>
          <p:nvPr/>
        </p:nvSpPr>
        <p:spPr bwMode="auto">
          <a:xfrm>
            <a:off x="685800" y="3200400"/>
            <a:ext cx="1524000" cy="8382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800" b="1" dirty="0" err="1"/>
              <a:t>NewCo</a:t>
            </a:r>
            <a:endParaRPr lang="en-US" sz="2800" b="1" dirty="0"/>
          </a:p>
        </p:txBody>
      </p:sp>
      <p:cxnSp>
        <p:nvCxnSpPr>
          <p:cNvPr id="22533" name="AutoShape 4"/>
          <p:cNvCxnSpPr>
            <a:cxnSpLocks noChangeShapeType="1"/>
            <a:endCxn id="22532" idx="0"/>
          </p:cNvCxnSpPr>
          <p:nvPr/>
        </p:nvCxnSpPr>
        <p:spPr bwMode="auto">
          <a:xfrm>
            <a:off x="1447800" y="2590800"/>
            <a:ext cx="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</p:cxnSp>
      <p:sp>
        <p:nvSpPr>
          <p:cNvPr id="22534" name="Rectangle 5"/>
          <p:cNvSpPr>
            <a:spLocks noChangeArrowheads="1"/>
          </p:cNvSpPr>
          <p:nvPr/>
        </p:nvSpPr>
        <p:spPr bwMode="auto">
          <a:xfrm>
            <a:off x="2743200" y="3200400"/>
            <a:ext cx="1447800" cy="8382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1"/>
              <a:t>Low</a:t>
            </a:r>
          </a:p>
          <a:p>
            <a:pPr algn="ctr" eaLnBrk="0" hangingPunct="0"/>
            <a:r>
              <a:rPr lang="en-US" sz="2400" b="1"/>
              <a:t>Debt Co</a:t>
            </a:r>
            <a:endParaRPr lang="en-US" sz="2800" b="1"/>
          </a:p>
        </p:txBody>
      </p:sp>
      <p:sp>
        <p:nvSpPr>
          <p:cNvPr id="22535" name="Oval 6"/>
          <p:cNvSpPr>
            <a:spLocks noChangeArrowheads="1"/>
          </p:cNvSpPr>
          <p:nvPr/>
        </p:nvSpPr>
        <p:spPr bwMode="auto">
          <a:xfrm>
            <a:off x="2971800" y="1676400"/>
            <a:ext cx="990600" cy="914400"/>
          </a:xfrm>
          <a:prstGeom prst="ellipse">
            <a:avLst/>
          </a:prstGeom>
          <a:solidFill>
            <a:srgbClr val="E3B27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000" b="1"/>
              <a:t>Low</a:t>
            </a:r>
          </a:p>
          <a:p>
            <a:pPr algn="ctr" eaLnBrk="0" hangingPunct="0"/>
            <a:r>
              <a:rPr lang="en-US" sz="2000" b="1"/>
              <a:t>Debt</a:t>
            </a:r>
          </a:p>
          <a:p>
            <a:pPr algn="ctr" eaLnBrk="0" hangingPunct="0"/>
            <a:r>
              <a:rPr lang="en-US" sz="2000" b="1"/>
              <a:t>SHs</a:t>
            </a:r>
            <a:endParaRPr lang="en-US" sz="2400" b="1"/>
          </a:p>
        </p:txBody>
      </p:sp>
      <p:cxnSp>
        <p:nvCxnSpPr>
          <p:cNvPr id="22536" name="AutoShape 7"/>
          <p:cNvCxnSpPr>
            <a:cxnSpLocks noChangeShapeType="1"/>
            <a:stCxn id="22535" idx="4"/>
            <a:endCxn id="22534" idx="0"/>
          </p:cNvCxnSpPr>
          <p:nvPr/>
        </p:nvCxnSpPr>
        <p:spPr bwMode="auto">
          <a:xfrm>
            <a:off x="3467100" y="2590800"/>
            <a:ext cx="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</p:cxnSp>
      <p:pic>
        <p:nvPicPr>
          <p:cNvPr id="22537" name="Picture 8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90600" y="1981200"/>
            <a:ext cx="895350" cy="50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538" name="Line 9"/>
          <p:cNvSpPr>
            <a:spLocks noChangeShapeType="1"/>
          </p:cNvSpPr>
          <p:nvPr/>
        </p:nvSpPr>
        <p:spPr bwMode="auto">
          <a:xfrm>
            <a:off x="457200" y="4419600"/>
            <a:ext cx="6096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539" name="Rectangle 10"/>
          <p:cNvSpPr>
            <a:spLocks noChangeArrowheads="1"/>
          </p:cNvSpPr>
          <p:nvPr/>
        </p:nvSpPr>
        <p:spPr bwMode="auto">
          <a:xfrm>
            <a:off x="0" y="4648200"/>
            <a:ext cx="17526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0" hangingPunct="0"/>
            <a:r>
              <a:rPr lang="en-US" sz="2000" b="1"/>
              <a:t>Borrow $</a:t>
            </a:r>
          </a:p>
        </p:txBody>
      </p:sp>
      <p:sp>
        <p:nvSpPr>
          <p:cNvPr id="22540" name="Line 11"/>
          <p:cNvSpPr>
            <a:spLocks noChangeShapeType="1"/>
          </p:cNvSpPr>
          <p:nvPr/>
        </p:nvSpPr>
        <p:spPr bwMode="auto">
          <a:xfrm>
            <a:off x="2057400" y="2895600"/>
            <a:ext cx="1066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541" name="Rectangle 12"/>
          <p:cNvSpPr>
            <a:spLocks noChangeArrowheads="1"/>
          </p:cNvSpPr>
          <p:nvPr/>
        </p:nvSpPr>
        <p:spPr bwMode="auto">
          <a:xfrm>
            <a:off x="1905000" y="2209800"/>
            <a:ext cx="116205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b="1"/>
              <a:t>Premium</a:t>
            </a:r>
          </a:p>
          <a:p>
            <a:pPr algn="ctr" eaLnBrk="0" hangingPunct="0"/>
            <a:r>
              <a:rPr lang="en-US" b="1"/>
              <a:t>TO</a:t>
            </a:r>
          </a:p>
        </p:txBody>
      </p:sp>
      <p:sp>
        <p:nvSpPr>
          <p:cNvPr id="22542" name="Oval 13"/>
          <p:cNvSpPr>
            <a:spLocks noChangeArrowheads="1"/>
          </p:cNvSpPr>
          <p:nvPr/>
        </p:nvSpPr>
        <p:spPr bwMode="auto">
          <a:xfrm>
            <a:off x="3581400" y="4724400"/>
            <a:ext cx="838200" cy="609600"/>
          </a:xfrm>
          <a:prstGeom prst="ellipse">
            <a:avLst/>
          </a:prstGeom>
          <a:solidFill>
            <a:srgbClr val="FF99CC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b="1"/>
              <a:t>Assets</a:t>
            </a:r>
          </a:p>
        </p:txBody>
      </p:sp>
      <p:sp>
        <p:nvSpPr>
          <p:cNvPr id="22544" name="Rectangle 15"/>
          <p:cNvSpPr>
            <a:spLocks noChangeArrowheads="1"/>
          </p:cNvSpPr>
          <p:nvPr/>
        </p:nvSpPr>
        <p:spPr bwMode="auto">
          <a:xfrm>
            <a:off x="5410200" y="990600"/>
            <a:ext cx="1219200" cy="2667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1"/>
              <a:t>Assets</a:t>
            </a:r>
          </a:p>
        </p:txBody>
      </p:sp>
      <p:sp>
        <p:nvSpPr>
          <p:cNvPr id="22545" name="Rectangle 16"/>
          <p:cNvSpPr>
            <a:spLocks noChangeArrowheads="1"/>
          </p:cNvSpPr>
          <p:nvPr/>
        </p:nvSpPr>
        <p:spPr bwMode="auto">
          <a:xfrm>
            <a:off x="6629400" y="990600"/>
            <a:ext cx="1219200" cy="914400"/>
          </a:xfrm>
          <a:prstGeom prst="rect">
            <a:avLst/>
          </a:prstGeom>
          <a:solidFill>
            <a:srgbClr val="FF6A8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800" b="1"/>
              <a:t>Liab</a:t>
            </a:r>
          </a:p>
        </p:txBody>
      </p:sp>
      <p:sp>
        <p:nvSpPr>
          <p:cNvPr id="22546" name="Rectangle 17"/>
          <p:cNvSpPr>
            <a:spLocks noChangeArrowheads="1"/>
          </p:cNvSpPr>
          <p:nvPr/>
        </p:nvSpPr>
        <p:spPr bwMode="auto">
          <a:xfrm>
            <a:off x="6629400" y="1905000"/>
            <a:ext cx="1219200" cy="1752600"/>
          </a:xfrm>
          <a:prstGeom prst="rect">
            <a:avLst/>
          </a:prstGeom>
          <a:solidFill>
            <a:srgbClr val="66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000" b="1"/>
              <a:t>Old SHs</a:t>
            </a:r>
          </a:p>
          <a:p>
            <a:pPr algn="ctr" eaLnBrk="0" hangingPunct="0"/>
            <a:r>
              <a:rPr lang="en-US" sz="2000" b="1"/>
              <a:t>Equity</a:t>
            </a:r>
            <a:endParaRPr lang="en-US" sz="2800" b="1"/>
          </a:p>
        </p:txBody>
      </p:sp>
      <p:sp>
        <p:nvSpPr>
          <p:cNvPr id="22547" name="Rectangle 18"/>
          <p:cNvSpPr>
            <a:spLocks noChangeArrowheads="1"/>
          </p:cNvSpPr>
          <p:nvPr/>
        </p:nvSpPr>
        <p:spPr bwMode="auto">
          <a:xfrm>
            <a:off x="5486400" y="3962400"/>
            <a:ext cx="1216152" cy="23018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1" dirty="0"/>
              <a:t>Assets</a:t>
            </a:r>
          </a:p>
        </p:txBody>
      </p:sp>
      <p:sp>
        <p:nvSpPr>
          <p:cNvPr id="22548" name="Rectangle 19"/>
          <p:cNvSpPr>
            <a:spLocks noChangeArrowheads="1"/>
          </p:cNvSpPr>
          <p:nvPr/>
        </p:nvSpPr>
        <p:spPr bwMode="auto">
          <a:xfrm>
            <a:off x="6705600" y="3962400"/>
            <a:ext cx="1219200" cy="2133600"/>
          </a:xfrm>
          <a:prstGeom prst="rect">
            <a:avLst/>
          </a:prstGeom>
          <a:solidFill>
            <a:srgbClr val="FF6A8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800" b="1"/>
              <a:t>Liab</a:t>
            </a:r>
          </a:p>
        </p:txBody>
      </p:sp>
      <p:sp>
        <p:nvSpPr>
          <p:cNvPr id="22549" name="Rectangle 20"/>
          <p:cNvSpPr>
            <a:spLocks noChangeArrowheads="1"/>
          </p:cNvSpPr>
          <p:nvPr/>
        </p:nvSpPr>
        <p:spPr bwMode="auto">
          <a:xfrm>
            <a:off x="6705600" y="5867400"/>
            <a:ext cx="1219200" cy="396875"/>
          </a:xfrm>
          <a:prstGeom prst="rect">
            <a:avLst/>
          </a:prstGeom>
          <a:solidFill>
            <a:srgbClr val="F4EDB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400" b="1" dirty="0"/>
              <a:t>Manage</a:t>
            </a:r>
          </a:p>
          <a:p>
            <a:pPr algn="ctr" eaLnBrk="0" hangingPunct="0"/>
            <a:r>
              <a:rPr lang="en-US" sz="1400" b="1" dirty="0"/>
              <a:t>Equity</a:t>
            </a:r>
            <a:endParaRPr lang="en-US" sz="1600" b="1" dirty="0"/>
          </a:p>
        </p:txBody>
      </p:sp>
      <p:sp>
        <p:nvSpPr>
          <p:cNvPr id="22550" name="Line 21"/>
          <p:cNvSpPr>
            <a:spLocks noChangeShapeType="1"/>
          </p:cNvSpPr>
          <p:nvPr/>
        </p:nvSpPr>
        <p:spPr bwMode="auto">
          <a:xfrm>
            <a:off x="4572000" y="859064"/>
            <a:ext cx="0" cy="548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551" name="Oval 22"/>
          <p:cNvSpPr>
            <a:spLocks noChangeArrowheads="1"/>
          </p:cNvSpPr>
          <p:nvPr/>
        </p:nvSpPr>
        <p:spPr bwMode="auto">
          <a:xfrm>
            <a:off x="2362200" y="4724400"/>
            <a:ext cx="990600" cy="533400"/>
          </a:xfrm>
          <a:prstGeom prst="ellipse">
            <a:avLst/>
          </a:prstGeom>
          <a:solidFill>
            <a:srgbClr val="FF99CC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b="1"/>
              <a:t>Assets</a:t>
            </a:r>
            <a:endParaRPr lang="en-US"/>
          </a:p>
        </p:txBody>
      </p:sp>
      <p:sp>
        <p:nvSpPr>
          <p:cNvPr id="22552" name="Line 23"/>
          <p:cNvSpPr>
            <a:spLocks noChangeShapeType="1"/>
          </p:cNvSpPr>
          <p:nvPr/>
        </p:nvSpPr>
        <p:spPr bwMode="auto">
          <a:xfrm flipH="1">
            <a:off x="2895600" y="4038600"/>
            <a:ext cx="5334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553" name="Line 24"/>
          <p:cNvSpPr>
            <a:spLocks noChangeShapeType="1"/>
          </p:cNvSpPr>
          <p:nvPr/>
        </p:nvSpPr>
        <p:spPr bwMode="auto">
          <a:xfrm>
            <a:off x="3429000" y="4038600"/>
            <a:ext cx="609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554" name="Line 25"/>
          <p:cNvSpPr>
            <a:spLocks noChangeShapeType="1"/>
          </p:cNvSpPr>
          <p:nvPr/>
        </p:nvSpPr>
        <p:spPr bwMode="auto">
          <a:xfrm>
            <a:off x="2895600" y="5410200"/>
            <a:ext cx="6096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555" name="Rectangle 26"/>
          <p:cNvSpPr>
            <a:spLocks noChangeArrowheads="1"/>
          </p:cNvSpPr>
          <p:nvPr/>
        </p:nvSpPr>
        <p:spPr bwMode="auto">
          <a:xfrm>
            <a:off x="2438400" y="5562600"/>
            <a:ext cx="175260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0" hangingPunct="0"/>
            <a:r>
              <a:rPr lang="en-US" sz="2000" b="1"/>
              <a:t>Sale of Assets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5479</TotalTime>
  <Words>1045</Words>
  <Application>Microsoft Macintosh PowerPoint</Application>
  <PresentationFormat>On-screen Show (4:3)</PresentationFormat>
  <Paragraphs>213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ＭＳ Ｐゴシック</vt:lpstr>
      <vt:lpstr>NSimSun</vt:lpstr>
      <vt:lpstr>Arial</vt:lpstr>
      <vt:lpstr>Calibri</vt:lpstr>
      <vt:lpstr>Courier New</vt:lpstr>
      <vt:lpstr>Symbol</vt:lpstr>
      <vt:lpstr>Times New Roman</vt:lpstr>
      <vt:lpstr>Wingdings</vt:lpstr>
      <vt:lpstr>Wingdings 2</vt:lpstr>
      <vt:lpstr>CG Body - Standard</vt:lpstr>
      <vt:lpstr>Financing the Firm</vt:lpstr>
      <vt:lpstr>Debt</vt:lpstr>
      <vt:lpstr>Loans</vt:lpstr>
      <vt:lpstr>LEND CASH (Risky Debt):  Profit/Loss Diagram</vt:lpstr>
      <vt:lpstr>Trust Indenture</vt:lpstr>
      <vt:lpstr>Indenture</vt:lpstr>
      <vt:lpstr>Public and Private Offerings </vt:lpstr>
      <vt:lpstr>Debt:  Seniority and Security</vt:lpstr>
      <vt:lpstr>Morgan Stanley v. ADM</vt:lpstr>
      <vt:lpstr>Sharon Steel Corp. v. Chase</vt:lpstr>
      <vt:lpstr>Met Life v. RJR Nabisco</vt:lpstr>
      <vt:lpstr>Hostile Take Overs and LBOs</vt:lpstr>
    </vt:vector>
  </TitlesOfParts>
  <Company>Fordham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Debt</dc:title>
  <dc:creator>XPUser</dc:creator>
  <cp:lastModifiedBy>Colon, Jeffrey M.</cp:lastModifiedBy>
  <cp:revision>65</cp:revision>
  <cp:lastPrinted>2024-11-07T01:20:17Z</cp:lastPrinted>
  <dcterms:created xsi:type="dcterms:W3CDTF">2010-03-27T17:47:01Z</dcterms:created>
  <dcterms:modified xsi:type="dcterms:W3CDTF">2025-11-10T14:33:06Z</dcterms:modified>
</cp:coreProperties>
</file>