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8" r:id="rId1"/>
  </p:sldMasterIdLst>
  <p:notesMasterIdLst>
    <p:notesMasterId r:id="rId29"/>
  </p:notesMasterIdLst>
  <p:handoutMasterIdLst>
    <p:handoutMasterId r:id="rId30"/>
  </p:handoutMasterIdLst>
  <p:sldIdLst>
    <p:sldId id="441" r:id="rId2"/>
    <p:sldId id="373" r:id="rId3"/>
    <p:sldId id="309" r:id="rId4"/>
    <p:sldId id="323" r:id="rId5"/>
    <p:sldId id="328" r:id="rId6"/>
    <p:sldId id="317" r:id="rId7"/>
    <p:sldId id="325" r:id="rId8"/>
    <p:sldId id="324" r:id="rId9"/>
    <p:sldId id="322" r:id="rId10"/>
    <p:sldId id="326" r:id="rId11"/>
    <p:sldId id="327" r:id="rId12"/>
    <p:sldId id="371" r:id="rId13"/>
    <p:sldId id="311" r:id="rId14"/>
    <p:sldId id="313" r:id="rId15"/>
    <p:sldId id="314" r:id="rId16"/>
    <p:sldId id="312" r:id="rId17"/>
    <p:sldId id="316" r:id="rId18"/>
    <p:sldId id="329" r:id="rId19"/>
    <p:sldId id="378" r:id="rId20"/>
    <p:sldId id="330" r:id="rId21"/>
    <p:sldId id="331" r:id="rId22"/>
    <p:sldId id="332" r:id="rId23"/>
    <p:sldId id="380" r:id="rId24"/>
    <p:sldId id="379" r:id="rId25"/>
    <p:sldId id="377" r:id="rId26"/>
    <p:sldId id="372" r:id="rId27"/>
    <p:sldId id="374" r:id="rId28"/>
  </p:sldIdLst>
  <p:sldSz cx="9144000" cy="6858000" type="screen4x3"/>
  <p:notesSz cx="7010400" cy="9236075"/>
  <p:defaultTextStyle>
    <a:defPPr>
      <a:defRPr lang="en-US"/>
    </a:defPPr>
    <a:lvl1pPr algn="l"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21"/>
    <a:srgbClr val="FF48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82B226-E3BE-A244-BD42-4E08103C71D7}" v="2" dt="2025-10-26T11:08:04.7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698"/>
    <p:restoredTop sz="94641"/>
  </p:normalViewPr>
  <p:slideViewPr>
    <p:cSldViewPr>
      <p:cViewPr varScale="1">
        <p:scale>
          <a:sx n="173" d="100"/>
          <a:sy n="173" d="100"/>
        </p:scale>
        <p:origin x="208" y="776"/>
      </p:cViewPr>
      <p:guideLst>
        <p:guide orient="horz" pos="2160"/>
        <p:guide pos="2880"/>
      </p:guideLst>
    </p:cSldViewPr>
  </p:slideViewPr>
  <p:outlineViewPr>
    <p:cViewPr>
      <p:scale>
        <a:sx n="33" d="100"/>
        <a:sy n="33" d="100"/>
      </p:scale>
      <p:origin x="0" y="2286"/>
    </p:cViewPr>
  </p:outlineViewPr>
  <p:notesTextViewPr>
    <p:cViewPr>
      <p:scale>
        <a:sx n="100" d="100"/>
        <a:sy n="100" d="100"/>
      </p:scale>
      <p:origin x="0" y="0"/>
    </p:cViewPr>
  </p:notesTextViewPr>
  <p:sorterViewPr>
    <p:cViewPr>
      <p:scale>
        <a:sx n="154" d="100"/>
        <a:sy n="154" d="100"/>
      </p:scale>
      <p:origin x="0" y="11232"/>
    </p:cViewPr>
  </p:sorterViewPr>
  <p:notesViewPr>
    <p:cSldViewPr>
      <p:cViewPr varScale="1">
        <p:scale>
          <a:sx n="83" d="100"/>
          <a:sy n="83" d="100"/>
        </p:scale>
        <p:origin x="-2214" y="-78"/>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addSld modSld sldOrd modMainMaster">
      <pc:chgData name="Colon, Jeffrey M." userId="615143b1-cdee-493d-9a9d-1565ce8666d9" providerId="ADAL" clId="{DC1DB158-BAB1-5930-B714-AEF472873853}" dt="2025-10-26T11:07:32.046" v="12" actId="20577"/>
      <pc:docMkLst>
        <pc:docMk/>
      </pc:docMkLst>
      <pc:sldChg chg="modSp add mod ord">
        <pc:chgData name="Colon, Jeffrey M." userId="615143b1-cdee-493d-9a9d-1565ce8666d9" providerId="ADAL" clId="{DC1DB158-BAB1-5930-B714-AEF472873853}" dt="2025-10-26T11:06:58.436" v="10" actId="20577"/>
        <pc:sldMkLst>
          <pc:docMk/>
          <pc:sldMk cId="3622871933" sldId="441"/>
        </pc:sldMkLst>
        <pc:spChg chg="mod">
          <ac:chgData name="Colon, Jeffrey M." userId="615143b1-cdee-493d-9a9d-1565ce8666d9" providerId="ADAL" clId="{DC1DB158-BAB1-5930-B714-AEF472873853}" dt="2025-10-26T11:06:58.436" v="10" actId="20577"/>
          <ac:spMkLst>
            <pc:docMk/>
            <pc:sldMk cId="3622871933" sldId="441"/>
            <ac:spMk id="6" creationId="{E9ED9786-58D6-4467-A340-9C08B3251F1F}"/>
          </ac:spMkLst>
        </pc:spChg>
      </pc:sldChg>
      <pc:sldMasterChg chg="modSp mod">
        <pc:chgData name="Colon, Jeffrey M." userId="615143b1-cdee-493d-9a9d-1565ce8666d9" providerId="ADAL" clId="{DC1DB158-BAB1-5930-B714-AEF472873853}" dt="2025-10-26T11:07:32.046" v="12" actId="20577"/>
        <pc:sldMasterMkLst>
          <pc:docMk/>
          <pc:sldMasterMk cId="397839321" sldId="2147483838"/>
        </pc:sldMasterMkLst>
        <pc:spChg chg="mod">
          <ac:chgData name="Colon, Jeffrey M." userId="615143b1-cdee-493d-9a9d-1565ce8666d9" providerId="ADAL" clId="{DC1DB158-BAB1-5930-B714-AEF472873853}" dt="2025-10-26T11:07:32.046" v="12" actId="20577"/>
          <ac:spMkLst>
            <pc:docMk/>
            <pc:sldMasterMk cId="397839321" sldId="2147483838"/>
            <ac:spMk id="9"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bwMode="auto">
          <a:xfrm>
            <a:off x="2" y="0"/>
            <a:ext cx="3037628" cy="461172"/>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defTabSz="930275">
              <a:defRPr sz="1200">
                <a:latin typeface="Arial" charset="0"/>
                <a:ea typeface="+mn-ea"/>
                <a:cs typeface="+mn-cs"/>
              </a:defRPr>
            </a:lvl1pPr>
          </a:lstStyle>
          <a:p>
            <a:pPr>
              <a:defRPr/>
            </a:pPr>
            <a:endParaRPr lang="en-US" dirty="0">
              <a:latin typeface="Calibri" pitchFamily="34" charset="0"/>
            </a:endParaRPr>
          </a:p>
        </p:txBody>
      </p:sp>
      <p:sp>
        <p:nvSpPr>
          <p:cNvPr id="99331" name="Rectangle 3"/>
          <p:cNvSpPr>
            <a:spLocks noGrp="1" noChangeArrowheads="1"/>
          </p:cNvSpPr>
          <p:nvPr>
            <p:ph type="dt" sz="quarter" idx="1"/>
          </p:nvPr>
        </p:nvSpPr>
        <p:spPr bwMode="auto">
          <a:xfrm>
            <a:off x="3971183" y="0"/>
            <a:ext cx="3037628" cy="461172"/>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algn="r" defTabSz="930275">
              <a:defRPr sz="1200">
                <a:latin typeface="Arial" charset="0"/>
                <a:ea typeface="+mn-ea"/>
                <a:cs typeface="+mn-cs"/>
              </a:defRPr>
            </a:lvl1pPr>
          </a:lstStyle>
          <a:p>
            <a:pPr>
              <a:defRPr/>
            </a:pPr>
            <a:endParaRPr lang="en-US" dirty="0">
              <a:latin typeface="Calibri" pitchFamily="34" charset="0"/>
            </a:endParaRPr>
          </a:p>
        </p:txBody>
      </p:sp>
      <p:sp>
        <p:nvSpPr>
          <p:cNvPr id="99332" name="Rectangle 4"/>
          <p:cNvSpPr>
            <a:spLocks noGrp="1" noChangeArrowheads="1"/>
          </p:cNvSpPr>
          <p:nvPr>
            <p:ph type="ftr" sz="quarter" idx="2"/>
          </p:nvPr>
        </p:nvSpPr>
        <p:spPr bwMode="auto">
          <a:xfrm>
            <a:off x="2" y="8773324"/>
            <a:ext cx="3037628" cy="461172"/>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defTabSz="930275">
              <a:defRPr sz="1200">
                <a:latin typeface="Arial" charset="0"/>
                <a:ea typeface="+mn-ea"/>
                <a:cs typeface="+mn-cs"/>
              </a:defRPr>
            </a:lvl1pPr>
          </a:lstStyle>
          <a:p>
            <a:pPr>
              <a:defRPr/>
            </a:pPr>
            <a:endParaRPr lang="en-US" dirty="0">
              <a:latin typeface="Calibri" pitchFamily="34" charset="0"/>
            </a:endParaRPr>
          </a:p>
        </p:txBody>
      </p:sp>
      <p:sp>
        <p:nvSpPr>
          <p:cNvPr id="99333" name="Rectangle 5"/>
          <p:cNvSpPr>
            <a:spLocks noGrp="1" noChangeArrowheads="1"/>
          </p:cNvSpPr>
          <p:nvPr>
            <p:ph type="sldNum" sz="quarter" idx="3"/>
          </p:nvPr>
        </p:nvSpPr>
        <p:spPr bwMode="auto">
          <a:xfrm>
            <a:off x="3971183" y="8773324"/>
            <a:ext cx="3037628" cy="461172"/>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algn="r" defTabSz="930275">
              <a:defRPr sz="1200" smtClean="0">
                <a:ea typeface="ＭＳ Ｐゴシック" charset="-128"/>
              </a:defRPr>
            </a:lvl1pPr>
          </a:lstStyle>
          <a:p>
            <a:pPr>
              <a:defRPr/>
            </a:pPr>
            <a:fld id="{D93F0BA4-0227-4A56-A031-B23A180DC51A}" type="slidenum">
              <a:rPr lang="en-US">
                <a:latin typeface="Calibri" pitchFamily="34" charset="0"/>
              </a:rPr>
              <a:pPr>
                <a:defRPr/>
              </a:pPr>
              <a:t>‹#›</a:t>
            </a:fld>
            <a:endParaRPr lang="en-US" dirty="0">
              <a:latin typeface="Calibri" pitchFamily="34" charset="0"/>
            </a:endParaRPr>
          </a:p>
        </p:txBody>
      </p:sp>
    </p:spTree>
    <p:extLst>
      <p:ext uri="{BB962C8B-B14F-4D97-AF65-F5344CB8AC3E}">
        <p14:creationId xmlns:p14="http://schemas.microsoft.com/office/powerpoint/2010/main" val="4367486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2" y="0"/>
            <a:ext cx="3037628" cy="461172"/>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defTabSz="930275">
              <a:defRPr sz="1200">
                <a:latin typeface="Calibri" pitchFamily="34" charset="0"/>
                <a:ea typeface="+mn-ea"/>
                <a:cs typeface="+mn-cs"/>
              </a:defRPr>
            </a:lvl1pPr>
          </a:lstStyle>
          <a:p>
            <a:pPr>
              <a:defRPr/>
            </a:pPr>
            <a:endParaRPr lang="en-US" dirty="0"/>
          </a:p>
        </p:txBody>
      </p:sp>
      <p:sp>
        <p:nvSpPr>
          <p:cNvPr id="4099" name="Rectangle 3"/>
          <p:cNvSpPr>
            <a:spLocks noGrp="1" noChangeArrowheads="1"/>
          </p:cNvSpPr>
          <p:nvPr>
            <p:ph type="dt" idx="1"/>
          </p:nvPr>
        </p:nvSpPr>
        <p:spPr bwMode="auto">
          <a:xfrm>
            <a:off x="3971183" y="0"/>
            <a:ext cx="3037628" cy="461172"/>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algn="r" defTabSz="930275">
              <a:defRPr sz="1200">
                <a:latin typeface="Calibri" pitchFamily="34" charset="0"/>
                <a:ea typeface="+mn-ea"/>
                <a:cs typeface="+mn-cs"/>
              </a:defRPr>
            </a:lvl1pPr>
          </a:lstStyle>
          <a:p>
            <a:pPr>
              <a:defRPr/>
            </a:pPr>
            <a:endParaRPr lang="en-US" dirty="0"/>
          </a:p>
        </p:txBody>
      </p:sp>
      <p:sp>
        <p:nvSpPr>
          <p:cNvPr id="23556" name="Rectangle 4"/>
          <p:cNvSpPr>
            <a:spLocks noGrp="1" noRot="1" noChangeAspect="1" noChangeArrowheads="1" noTextEdit="1"/>
          </p:cNvSpPr>
          <p:nvPr>
            <p:ph type="sldImg" idx="2"/>
          </p:nvPr>
        </p:nvSpPr>
        <p:spPr bwMode="auto">
          <a:xfrm>
            <a:off x="1195388" y="693738"/>
            <a:ext cx="4619625" cy="3463925"/>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701359" y="4387453"/>
            <a:ext cx="5607685" cy="4155287"/>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102" name="Rectangle 6"/>
          <p:cNvSpPr>
            <a:spLocks noGrp="1" noChangeArrowheads="1"/>
          </p:cNvSpPr>
          <p:nvPr>
            <p:ph type="ftr" sz="quarter" idx="4"/>
          </p:nvPr>
        </p:nvSpPr>
        <p:spPr bwMode="auto">
          <a:xfrm>
            <a:off x="2" y="8773324"/>
            <a:ext cx="3037628" cy="461172"/>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defTabSz="930275">
              <a:defRPr sz="1200">
                <a:latin typeface="Calibri" pitchFamily="34" charset="0"/>
                <a:ea typeface="+mn-ea"/>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3971183" y="8773324"/>
            <a:ext cx="3037628" cy="461172"/>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algn="r" defTabSz="930275">
              <a:defRPr sz="1200" smtClean="0">
                <a:latin typeface="Calibri" pitchFamily="34" charset="0"/>
                <a:ea typeface="ＭＳ Ｐゴシック" charset="-128"/>
              </a:defRPr>
            </a:lvl1pPr>
          </a:lstStyle>
          <a:p>
            <a:pPr>
              <a:defRPr/>
            </a:pPr>
            <a:fld id="{68437AE7-F356-4DF9-B81E-85DDEC9B81F9}" type="slidenum">
              <a:rPr lang="en-US" smtClean="0"/>
              <a:pPr>
                <a:defRPr/>
              </a:pPr>
              <a:t>‹#›</a:t>
            </a:fld>
            <a:endParaRPr lang="en-US" dirty="0"/>
          </a:p>
        </p:txBody>
      </p:sp>
    </p:spTree>
    <p:extLst>
      <p:ext uri="{BB962C8B-B14F-4D97-AF65-F5344CB8AC3E}">
        <p14:creationId xmlns:p14="http://schemas.microsoft.com/office/powerpoint/2010/main" val="25332287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Calibri" pitchFamily="34"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8437AE7-F356-4DF9-B81E-85DDEC9B81F9}" type="slidenum">
              <a:rPr lang="en-US" smtClean="0"/>
              <a:pPr>
                <a:defRPr/>
              </a:pPr>
              <a:t>17</a:t>
            </a:fld>
            <a:endParaRPr lang="en-US" dirty="0"/>
          </a:p>
        </p:txBody>
      </p:sp>
    </p:spTree>
    <p:extLst>
      <p:ext uri="{BB962C8B-B14F-4D97-AF65-F5344CB8AC3E}">
        <p14:creationId xmlns:p14="http://schemas.microsoft.com/office/powerpoint/2010/main" val="1327182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dirty="0">
              <a:latin typeface="Calibri" panose="020F0502020204030204" pitchFamily="34"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4"/>
            <a:ext cx="2895600" cy="288925"/>
          </a:xfrm>
        </p:spPr>
        <p:txBody>
          <a:bodyPr/>
          <a:lstStyle>
            <a:lvl1pPr>
              <a:defRPr smtClean="0"/>
            </a:lvl1pPr>
          </a:lstStyle>
          <a:p>
            <a:pPr>
              <a:defRPr/>
            </a:pPr>
            <a:r>
              <a:rPr lang="en-US"/>
              <a:t>Valuation Delaware</a:t>
            </a:r>
            <a:endParaRPr lang="en-US" dirty="0"/>
          </a:p>
        </p:txBody>
      </p:sp>
    </p:spTree>
    <p:extLst>
      <p:ext uri="{BB962C8B-B14F-4D97-AF65-F5344CB8AC3E}">
        <p14:creationId xmlns:p14="http://schemas.microsoft.com/office/powerpoint/2010/main" val="68873904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4"/>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165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6"/>
            <a:ext cx="4572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a:t>Valuation Delaware</a:t>
            </a:r>
            <a:endParaRPr lang="en-US" dirty="0"/>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3096533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381000" y="3"/>
            <a:ext cx="8461248"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9" name="Content Placeholder 10"/>
          <p:cNvSpPr>
            <a:spLocks noGrp="1"/>
          </p:cNvSpPr>
          <p:nvPr>
            <p:ph sz="quarter" idx="16"/>
          </p:nvPr>
        </p:nvSpPr>
        <p:spPr>
          <a:xfrm>
            <a:off x="381000" y="835132"/>
            <a:ext cx="4114800" cy="5491091"/>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4648200" y="835132"/>
            <a:ext cx="4194048" cy="5485238"/>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Valuation Delaware</a:t>
            </a:r>
          </a:p>
        </p:txBody>
      </p:sp>
      <p:sp>
        <p:nvSpPr>
          <p:cNvPr id="2" name="TextBox 1"/>
          <p:cNvSpPr txBox="1"/>
          <p:nvPr userDrawn="1"/>
        </p:nvSpPr>
        <p:spPr>
          <a:xfrm>
            <a:off x="2061030" y="537029"/>
            <a:ext cx="184731" cy="300082"/>
          </a:xfrm>
          <a:prstGeom prst="rect">
            <a:avLst/>
          </a:prstGeom>
          <a:noFill/>
        </p:spPr>
        <p:txBody>
          <a:bodyPr wrap="none" rtlCol="0">
            <a:spAutoFit/>
          </a:bodyPr>
          <a:lstStyle/>
          <a:p>
            <a:endParaRPr lang="en-US" sz="1350" dirty="0">
              <a:latin typeface="Calibri" panose="020F0502020204030204" pitchFamily="34" charset="0"/>
            </a:endParaRP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3242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20936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38775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674604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Valuation Delaware</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3"/>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Tree>
    <p:extLst>
      <p:ext uri="{BB962C8B-B14F-4D97-AF65-F5344CB8AC3E}">
        <p14:creationId xmlns:p14="http://schemas.microsoft.com/office/powerpoint/2010/main" val="2099771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536934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dirty="0">
              <a:latin typeface="Calibri" panose="020F0502020204030204" pitchFamily="34"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376184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4"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dirty="0">
              <a:latin typeface="Calibri" panose="020F0502020204030204" pitchFamily="34" charset="0"/>
              <a:ea typeface="+mn-ea"/>
            </a:endParaRPr>
          </a:p>
        </p:txBody>
      </p:sp>
      <p:sp>
        <p:nvSpPr>
          <p:cNvPr id="12" name="Right Arrow 11"/>
          <p:cNvSpPr/>
          <p:nvPr userDrawn="1"/>
        </p:nvSpPr>
        <p:spPr bwMode="auto">
          <a:xfrm rot="10800000">
            <a:off x="4070503" y="3778177"/>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dirty="0">
              <a:latin typeface="Calibri" panose="020F0502020204030204" pitchFamily="34"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834308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dirty="0">
              <a:latin typeface="Calibri" panose="020F0502020204030204" pitchFamily="34" charset="0"/>
              <a:ea typeface="+mn-ea"/>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1217253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dirty="0">
              <a:latin typeface="Calibri" panose="020F0502020204030204" pitchFamily="34" charset="0"/>
              <a:ea typeface="+mn-ea"/>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635949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Valuation Delaware</a:t>
            </a:r>
            <a:endParaRPr lang="en-US" dirty="0"/>
          </a:p>
        </p:txBody>
      </p:sp>
    </p:spTree>
    <p:extLst>
      <p:ext uri="{BB962C8B-B14F-4D97-AF65-F5344CB8AC3E}">
        <p14:creationId xmlns:p14="http://schemas.microsoft.com/office/powerpoint/2010/main" val="1937929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20401115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2116191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6"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6"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6"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1"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4"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0"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2"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1"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39"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6"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236945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9435786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16" name="Line 115"/>
          <p:cNvSpPr>
            <a:spLocks noChangeShapeType="1"/>
          </p:cNvSpPr>
          <p:nvPr userDrawn="1"/>
        </p:nvSpPr>
        <p:spPr bwMode="gray">
          <a:xfrm>
            <a:off x="22860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17" name="Line 118"/>
          <p:cNvSpPr>
            <a:spLocks noChangeShapeType="1"/>
          </p:cNvSpPr>
          <p:nvPr/>
        </p:nvSpPr>
        <p:spPr bwMode="gray">
          <a:xfrm>
            <a:off x="6753225"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grpSp>
        <p:nvGrpSpPr>
          <p:cNvPr id="18" name="Group 123"/>
          <p:cNvGrpSpPr>
            <a:grpSpLocks/>
          </p:cNvGrpSpPr>
          <p:nvPr userDrawn="1"/>
        </p:nvGrpSpPr>
        <p:grpSpPr bwMode="auto">
          <a:xfrm>
            <a:off x="458789"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sp>
        <p:nvSpPr>
          <p:cNvPr id="66" name="Line 125"/>
          <p:cNvSpPr>
            <a:spLocks noChangeShapeType="1"/>
          </p:cNvSpPr>
          <p:nvPr userDrawn="1"/>
        </p:nvSpPr>
        <p:spPr bwMode="gray">
          <a:xfrm>
            <a:off x="3429000" y="3651252"/>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dirty="0">
              <a:solidFill>
                <a:srgbClr val="4D4D4D"/>
              </a:solidFill>
              <a:latin typeface="Calibri" panose="020F0502020204030204" pitchFamily="34" charset="0"/>
            </a:endParaRPr>
          </a:p>
        </p:txBody>
      </p:sp>
      <p:grpSp>
        <p:nvGrpSpPr>
          <p:cNvPr id="72" name="Group 123"/>
          <p:cNvGrpSpPr>
            <a:grpSpLocks/>
          </p:cNvGrpSpPr>
          <p:nvPr userDrawn="1"/>
        </p:nvGrpSpPr>
        <p:grpSpPr bwMode="auto">
          <a:xfrm>
            <a:off x="611189" y="3460752"/>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14013249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1"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1"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1"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1"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1"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1"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1"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1"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7"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7"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2752932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4957776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dirty="0">
              <a:latin typeface="Calibri" panose="020F0502020204030204" pitchFamily="34" charset="0"/>
            </a:endParaRPr>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dirty="0">
              <a:latin typeface="Calibri" panose="020F0502020204030204" pitchFamily="34" charset="0"/>
            </a:endParaRPr>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1537131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6"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dirty="0">
              <a:latin typeface="Calibri" panose="020F0502020204030204" pitchFamily="34" charset="0"/>
            </a:endParaRPr>
          </a:p>
        </p:txBody>
      </p:sp>
      <p:sp>
        <p:nvSpPr>
          <p:cNvPr id="12" name="Freeform 4"/>
          <p:cNvSpPr>
            <a:spLocks/>
          </p:cNvSpPr>
          <p:nvPr userDrawn="1"/>
        </p:nvSpPr>
        <p:spPr bwMode="auto">
          <a:xfrm>
            <a:off x="2552701" y="1911352"/>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dirty="0">
              <a:latin typeface="Calibri" panose="020F0502020204030204" pitchFamily="34" charset="0"/>
            </a:endParaRPr>
          </a:p>
        </p:txBody>
      </p:sp>
      <p:sp>
        <p:nvSpPr>
          <p:cNvPr id="13" name="Freeform 4"/>
          <p:cNvSpPr>
            <a:spLocks/>
          </p:cNvSpPr>
          <p:nvPr userDrawn="1"/>
        </p:nvSpPr>
        <p:spPr bwMode="auto">
          <a:xfrm>
            <a:off x="4648201"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dirty="0">
              <a:latin typeface="Calibri" panose="020F0502020204030204" pitchFamily="34" charset="0"/>
            </a:endParaRPr>
          </a:p>
        </p:txBody>
      </p:sp>
      <p:sp>
        <p:nvSpPr>
          <p:cNvPr id="14" name="Freeform 4"/>
          <p:cNvSpPr>
            <a:spLocks/>
          </p:cNvSpPr>
          <p:nvPr userDrawn="1"/>
        </p:nvSpPr>
        <p:spPr bwMode="auto">
          <a:xfrm>
            <a:off x="6770689"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dirty="0">
              <a:latin typeface="Calibri" panose="020F0502020204030204" pitchFamily="34" charset="0"/>
            </a:endParaRPr>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18498231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79"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6841447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6792431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dirty="0">
              <a:latin typeface="Calibri" panose="020F0502020204030204" pitchFamily="34"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6461463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dirty="0">
              <a:latin typeface="Calibri" panose="020F0502020204030204" pitchFamily="34" charset="0"/>
            </a:endParaRPr>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206029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4700847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1916524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1462282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dirty="0">
              <a:latin typeface="Calibri" panose="020F0502020204030204" pitchFamily="34"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dirty="0">
              <a:latin typeface="Calibri" panose="020F0502020204030204" pitchFamily="34" charset="0"/>
              <a:ea typeface="+mn-ea"/>
            </a:endParaRPr>
          </a:p>
        </p:txBody>
      </p:sp>
      <p:sp>
        <p:nvSpPr>
          <p:cNvPr id="13" name="AutoShape 5"/>
          <p:cNvSpPr>
            <a:spLocks noChangeArrowheads="1"/>
          </p:cNvSpPr>
          <p:nvPr userDrawn="1"/>
        </p:nvSpPr>
        <p:spPr bwMode="auto">
          <a:xfrm rot="5400000">
            <a:off x="75406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dirty="0">
              <a:latin typeface="Calibri" panose="020F0502020204030204" pitchFamily="34" charset="0"/>
              <a:ea typeface="+mn-ea"/>
            </a:endParaRPr>
          </a:p>
        </p:txBody>
      </p:sp>
      <p:sp>
        <p:nvSpPr>
          <p:cNvPr id="14" name="AutoShape 6"/>
          <p:cNvSpPr>
            <a:spLocks noChangeArrowheads="1"/>
          </p:cNvSpPr>
          <p:nvPr userDrawn="1"/>
        </p:nvSpPr>
        <p:spPr bwMode="auto">
          <a:xfrm rot="5400000">
            <a:off x="2266951"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dirty="0">
              <a:latin typeface="Calibri" panose="020F0502020204030204" pitchFamily="34" charset="0"/>
              <a:ea typeface="+mn-ea"/>
            </a:endParaRPr>
          </a:p>
        </p:txBody>
      </p:sp>
      <p:sp>
        <p:nvSpPr>
          <p:cNvPr id="15" name="AutoShape 7"/>
          <p:cNvSpPr>
            <a:spLocks noChangeArrowheads="1"/>
          </p:cNvSpPr>
          <p:nvPr userDrawn="1"/>
        </p:nvSpPr>
        <p:spPr bwMode="auto">
          <a:xfrm rot="5400000">
            <a:off x="3781426"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dirty="0">
              <a:latin typeface="Calibri" panose="020F0502020204030204" pitchFamily="34"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20365759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8767646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4787080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20259766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39" y="1981202"/>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dirty="0">
              <a:latin typeface="Calibri" panose="020F0502020204030204" pitchFamily="34" charset="0"/>
            </a:endParaRPr>
          </a:p>
        </p:txBody>
      </p:sp>
      <p:sp>
        <p:nvSpPr>
          <p:cNvPr id="17" name="Freeform 13"/>
          <p:cNvSpPr>
            <a:spLocks/>
          </p:cNvSpPr>
          <p:nvPr userDrawn="1"/>
        </p:nvSpPr>
        <p:spPr bwMode="auto">
          <a:xfrm>
            <a:off x="457201" y="1982790"/>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dirty="0">
              <a:latin typeface="Calibri" panose="020F0502020204030204" pitchFamily="34" charset="0"/>
            </a:endParaRPr>
          </a:p>
        </p:txBody>
      </p:sp>
      <p:sp>
        <p:nvSpPr>
          <p:cNvPr id="21" name="Freeform 14"/>
          <p:cNvSpPr>
            <a:spLocks/>
          </p:cNvSpPr>
          <p:nvPr userDrawn="1"/>
        </p:nvSpPr>
        <p:spPr bwMode="auto">
          <a:xfrm>
            <a:off x="5684839" y="1981202"/>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dirty="0">
              <a:latin typeface="Calibri" panose="020F0502020204030204" pitchFamily="34" charset="0"/>
            </a:endParaRPr>
          </a:p>
        </p:txBody>
      </p:sp>
      <p:sp>
        <p:nvSpPr>
          <p:cNvPr id="28" name="Text Placeholder 12"/>
          <p:cNvSpPr>
            <a:spLocks noGrp="1"/>
          </p:cNvSpPr>
          <p:nvPr>
            <p:ph type="body" sz="quarter" idx="16"/>
          </p:nvPr>
        </p:nvSpPr>
        <p:spPr bwMode="gray">
          <a:xfrm>
            <a:off x="5680886"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6"/>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3"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1"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6259188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39"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dirty="0">
              <a:latin typeface="Calibri" panose="020F0502020204030204" pitchFamily="34"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147720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5"/>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dirty="0">
              <a:latin typeface="Calibri" panose="020F0502020204030204" pitchFamily="34"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7224663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8"/>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6" y="3590927"/>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5"/>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6"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7"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3"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13660752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dirty="0">
              <a:latin typeface="Calibri" panose="020F0502020204030204" pitchFamily="34" charset="0"/>
              <a:ea typeface="+mn-ea"/>
            </a:endParaRPr>
          </a:p>
        </p:txBody>
      </p:sp>
      <p:sp>
        <p:nvSpPr>
          <p:cNvPr id="8" name="Parallelogram 7"/>
          <p:cNvSpPr/>
          <p:nvPr userDrawn="1"/>
        </p:nvSpPr>
        <p:spPr bwMode="auto">
          <a:xfrm>
            <a:off x="712789" y="5300665"/>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dirty="0">
              <a:latin typeface="Calibri" panose="020F0502020204030204" pitchFamily="34" charset="0"/>
              <a:ea typeface="+mn-ea"/>
            </a:endParaRPr>
          </a:p>
        </p:txBody>
      </p:sp>
      <p:sp>
        <p:nvSpPr>
          <p:cNvPr id="14" name="Parallelogram 13"/>
          <p:cNvSpPr/>
          <p:nvPr userDrawn="1"/>
        </p:nvSpPr>
        <p:spPr bwMode="auto">
          <a:xfrm>
            <a:off x="712789" y="4129090"/>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dirty="0">
              <a:latin typeface="Calibri" panose="020F0502020204030204" pitchFamily="34"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dirty="0">
              <a:latin typeface="Calibri" panose="020F0502020204030204" pitchFamily="34"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4"/>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7"/>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6"/>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13740605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5"/>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0"/>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4"/>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1574164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4"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dirty="0">
              <a:solidFill>
                <a:schemeClr val="bg1"/>
              </a:solidFill>
              <a:latin typeface="Calibri" panose="020F0502020204030204" pitchFamily="34"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0"/>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dirty="0">
              <a:solidFill>
                <a:schemeClr val="bg1"/>
              </a:solidFill>
              <a:latin typeface="Calibri" panose="020F0502020204030204" pitchFamily="34" charset="0"/>
            </a:endParaRPr>
          </a:p>
        </p:txBody>
      </p:sp>
      <p:sp>
        <p:nvSpPr>
          <p:cNvPr id="61" name="Rectangle 31"/>
          <p:cNvSpPr>
            <a:spLocks noChangeArrowheads="1"/>
          </p:cNvSpPr>
          <p:nvPr userDrawn="1"/>
        </p:nvSpPr>
        <p:spPr bwMode="auto">
          <a:xfrm>
            <a:off x="468314"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dirty="0">
              <a:solidFill>
                <a:schemeClr val="bg1"/>
              </a:solidFill>
              <a:latin typeface="Calibri" panose="020F0502020204030204" pitchFamily="34"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1"/>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89"/>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19582062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2"/>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dirty="0">
              <a:latin typeface="Calibri" panose="020F0502020204030204" pitchFamily="34"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dirty="0">
              <a:latin typeface="Calibri" panose="020F0502020204030204" pitchFamily="34"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4" y="1566865"/>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dirty="0">
                <a:solidFill>
                  <a:srgbClr val="000000"/>
                </a:solidFill>
                <a:latin typeface="Calibri" panose="020F0502020204030204" pitchFamily="34" charset="0"/>
                <a:ea typeface="+mn-ea"/>
              </a:rPr>
              <a:t>WEEK NUMBER</a:t>
            </a:r>
          </a:p>
        </p:txBody>
      </p:sp>
      <p:sp>
        <p:nvSpPr>
          <p:cNvPr id="96" name="TextBox 37"/>
          <p:cNvSpPr txBox="1">
            <a:spLocks noChangeArrowheads="1"/>
          </p:cNvSpPr>
          <p:nvPr userDrawn="1"/>
        </p:nvSpPr>
        <p:spPr bwMode="auto">
          <a:xfrm>
            <a:off x="512764"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dirty="0">
                <a:solidFill>
                  <a:srgbClr val="000000"/>
                </a:solidFill>
                <a:latin typeface="Calibri" panose="020F0502020204030204" pitchFamily="34"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1" y="1468440"/>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dirty="0">
              <a:latin typeface="Calibri" panose="020F0502020204030204" pitchFamily="34" charset="0"/>
            </a:endParaRPr>
          </a:p>
        </p:txBody>
      </p:sp>
      <p:cxnSp>
        <p:nvCxnSpPr>
          <p:cNvPr id="100" name="Straight Connector 42"/>
          <p:cNvCxnSpPr>
            <a:cxnSpLocks noChangeShapeType="1"/>
          </p:cNvCxnSpPr>
          <p:nvPr userDrawn="1"/>
        </p:nvCxnSpPr>
        <p:spPr bwMode="auto">
          <a:xfrm>
            <a:off x="1546226"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4"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6"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4"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0"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0"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0"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0"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0"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0"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0"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0"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0"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194438824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89"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7"/>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6"/>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12133797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1"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1"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1"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3"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3"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3"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3"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1"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9633467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0"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94763953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2"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2995126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6251862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3" name="TextBox 13"/>
          <p:cNvSpPr txBox="1">
            <a:spLocks noChangeArrowheads="1"/>
          </p:cNvSpPr>
          <p:nvPr userDrawn="1"/>
        </p:nvSpPr>
        <p:spPr bwMode="auto">
          <a:xfrm>
            <a:off x="2066925"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dirty="0">
                <a:solidFill>
                  <a:srgbClr val="B01C2E"/>
                </a:solidFill>
                <a:latin typeface="Calibri" panose="020F0502020204030204" pitchFamily="34" charset="0"/>
                <a:ea typeface="+mn-ea"/>
              </a:rPr>
              <a:t>Specialization</a:t>
            </a:r>
          </a:p>
        </p:txBody>
      </p:sp>
      <p:sp>
        <p:nvSpPr>
          <p:cNvPr id="14" name="TextBox 14"/>
          <p:cNvSpPr txBox="1">
            <a:spLocks noChangeArrowheads="1"/>
          </p:cNvSpPr>
          <p:nvPr userDrawn="1"/>
        </p:nvSpPr>
        <p:spPr bwMode="auto">
          <a:xfrm>
            <a:off x="5505450"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dirty="0">
                <a:solidFill>
                  <a:srgbClr val="B01C2E"/>
                </a:solidFill>
                <a:latin typeface="Calibri" panose="020F0502020204030204" pitchFamily="34"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Calibri" panose="020F0502020204030204" pitchFamily="34" charset="0"/>
              </a:defRPr>
            </a:lvl2pPr>
            <a:lvl3pPr marL="171450" indent="-171450">
              <a:buClr>
                <a:srgbClr val="B01C2E"/>
              </a:buClr>
              <a:buFont typeface="Wingdings 2" pitchFamily="18" charset="2"/>
              <a:buChar char="¡"/>
              <a:defRPr sz="750" baseline="0">
                <a:latin typeface="Calibri" panose="020F0502020204030204" pitchFamily="34" charset="0"/>
              </a:defRPr>
            </a:lvl3pPr>
            <a:lvl4pPr marL="342900" indent="-171450">
              <a:buClr>
                <a:srgbClr val="B01C2E"/>
              </a:buClr>
              <a:buFont typeface="Arial" pitchFamily="34" charset="0"/>
              <a:buChar char="–"/>
              <a:defRPr sz="750" baseline="0">
                <a:latin typeface="Calibri" panose="020F0502020204030204" pitchFamily="34" charset="0"/>
              </a:defRPr>
            </a:lvl4pPr>
            <a:lvl5pPr marL="514350" indent="-171450">
              <a:buClr>
                <a:srgbClr val="B01C2E"/>
              </a:buClr>
              <a:buFont typeface="Arial" pitchFamily="34" charset="0"/>
              <a:buChar char="–"/>
              <a:defRPr sz="750" baseline="0">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4018858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7"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5"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2"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6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7" y="1589235"/>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4"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4"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8"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6"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2"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2"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7"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5"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6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7"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4"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4"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6"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2"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2" y="3962402"/>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9722200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Calibri" panose="020F0502020204030204" pitchFamily="34" charset="0"/>
                <a:ea typeface="+mn-ea"/>
                <a:cs typeface="+mn-cs"/>
              </a:rPr>
              <a:t>PARTNERS</a:t>
            </a:r>
          </a:p>
        </p:txBody>
      </p:sp>
      <p:sp>
        <p:nvSpPr>
          <p:cNvPr id="11" name="Line 22"/>
          <p:cNvSpPr>
            <a:spLocks noChangeShapeType="1"/>
          </p:cNvSpPr>
          <p:nvPr/>
        </p:nvSpPr>
        <p:spPr bwMode="auto">
          <a:xfrm>
            <a:off x="438151"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Calibri" panose="020F0502020204030204" pitchFamily="34" charset="0"/>
                <a:ea typeface="+mn-ea"/>
                <a:cs typeface="+mn-cs"/>
              </a:rPr>
              <a:t>ASSOCIATES</a:t>
            </a:r>
          </a:p>
        </p:txBody>
      </p:sp>
      <p:sp>
        <p:nvSpPr>
          <p:cNvPr id="13" name="Line 24"/>
          <p:cNvSpPr>
            <a:spLocks noChangeShapeType="1"/>
          </p:cNvSpPr>
          <p:nvPr/>
        </p:nvSpPr>
        <p:spPr bwMode="auto">
          <a:xfrm>
            <a:off x="438151"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Valuation Delaware</a:t>
            </a:r>
          </a:p>
        </p:txBody>
      </p:sp>
    </p:spTree>
    <p:extLst>
      <p:ext uri="{BB962C8B-B14F-4D97-AF65-F5344CB8AC3E}">
        <p14:creationId xmlns:p14="http://schemas.microsoft.com/office/powerpoint/2010/main" val="88888259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7342410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3606855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3907223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169549855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Valuation Delaware</a:t>
            </a:r>
          </a:p>
        </p:txBody>
      </p:sp>
    </p:spTree>
    <p:extLst>
      <p:ext uri="{BB962C8B-B14F-4D97-AF65-F5344CB8AC3E}">
        <p14:creationId xmlns:p14="http://schemas.microsoft.com/office/powerpoint/2010/main" val="4262397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Valuation Delaware</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19792736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228600" y="838200"/>
            <a:ext cx="41529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33900" y="838200"/>
            <a:ext cx="41529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33900" y="3619500"/>
            <a:ext cx="41529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p:txBody>
          <a:bodyPr/>
          <a:lstStyle>
            <a:lvl1pPr>
              <a:defRPr/>
            </a:lvl1pPr>
          </a:lstStyle>
          <a:p>
            <a:pPr>
              <a:defRPr/>
            </a:pPr>
            <a:r>
              <a:rPr lang="en-US"/>
              <a:t>Valuation Delaware</a:t>
            </a:r>
          </a:p>
        </p:txBody>
      </p:sp>
      <p:sp>
        <p:nvSpPr>
          <p:cNvPr id="7" name="Slide Number Placeholder 6"/>
          <p:cNvSpPr>
            <a:spLocks noGrp="1"/>
          </p:cNvSpPr>
          <p:nvPr>
            <p:ph type="sldNum" sz="quarter" idx="11"/>
          </p:nvPr>
        </p:nvSpPr>
        <p:spPr/>
        <p:txBody>
          <a:bodyPr/>
          <a:lstStyle>
            <a:lvl1pPr>
              <a:defRPr/>
            </a:lvl1pPr>
          </a:lstStyle>
          <a:p>
            <a:fld id="{F2C4C756-7A50-674A-9077-94CB1A736BC0}" type="slidenum">
              <a:rPr lang="en-US" altLang="en-US"/>
              <a:pPr/>
              <a:t>‹#›</a:t>
            </a:fld>
            <a:endParaRPr lang="en-US" altLang="en-US"/>
          </a:p>
        </p:txBody>
      </p:sp>
    </p:spTree>
    <p:extLst>
      <p:ext uri="{BB962C8B-B14F-4D97-AF65-F5344CB8AC3E}">
        <p14:creationId xmlns:p14="http://schemas.microsoft.com/office/powerpoint/2010/main" val="31657387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228600" y="838200"/>
            <a:ext cx="4152900" cy="54102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533900" y="838200"/>
            <a:ext cx="41529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5" name="Footer Placeholder 4"/>
          <p:cNvSpPr>
            <a:spLocks noGrp="1"/>
          </p:cNvSpPr>
          <p:nvPr>
            <p:ph type="ftr" sz="quarter" idx="10"/>
          </p:nvPr>
        </p:nvSpPr>
        <p:spPr/>
        <p:txBody>
          <a:bodyPr/>
          <a:lstStyle>
            <a:lvl1pPr>
              <a:defRPr/>
            </a:lvl1pPr>
          </a:lstStyle>
          <a:p>
            <a:pPr>
              <a:defRPr/>
            </a:pPr>
            <a:r>
              <a:rPr lang="en-US"/>
              <a:t>Valuation Delaware</a:t>
            </a:r>
          </a:p>
        </p:txBody>
      </p:sp>
      <p:sp>
        <p:nvSpPr>
          <p:cNvPr id="6" name="Slide Number Placeholder 5"/>
          <p:cNvSpPr>
            <a:spLocks noGrp="1"/>
          </p:cNvSpPr>
          <p:nvPr>
            <p:ph type="sldNum" sz="quarter" idx="11"/>
          </p:nvPr>
        </p:nvSpPr>
        <p:spPr/>
        <p:txBody>
          <a:bodyPr/>
          <a:lstStyle>
            <a:lvl1pPr>
              <a:defRPr/>
            </a:lvl1pPr>
          </a:lstStyle>
          <a:p>
            <a:fld id="{2DEAFEB1-6434-3F44-A249-27DCAE44D34B}" type="slidenum">
              <a:rPr lang="en-US" altLang="en-US"/>
              <a:pPr/>
              <a:t>‹#›</a:t>
            </a:fld>
            <a:endParaRPr lang="en-US" altLang="en-US"/>
          </a:p>
        </p:txBody>
      </p:sp>
    </p:spTree>
    <p:extLst>
      <p:ext uri="{BB962C8B-B14F-4D97-AF65-F5344CB8AC3E}">
        <p14:creationId xmlns:p14="http://schemas.microsoft.com/office/powerpoint/2010/main" val="166485825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371600"/>
            <a:ext cx="4038600" cy="4754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4754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a:lvl1pPr>
          </a:lstStyle>
          <a:p>
            <a:pPr>
              <a:defRPr/>
            </a:pPr>
            <a:r>
              <a:rPr lang="en-US"/>
              <a:t>Valuation Delaware</a:t>
            </a:r>
            <a:endParaRPr lang="en-US" dirty="0"/>
          </a:p>
        </p:txBody>
      </p:sp>
      <p:sp>
        <p:nvSpPr>
          <p:cNvPr id="6" name="Slide Number Placeholder 5"/>
          <p:cNvSpPr>
            <a:spLocks noGrp="1"/>
          </p:cNvSpPr>
          <p:nvPr>
            <p:ph type="sldNum" sz="quarter" idx="11"/>
          </p:nvPr>
        </p:nvSpPr>
        <p:spPr/>
        <p:txBody>
          <a:bodyPr/>
          <a:lstStyle>
            <a:lvl1pPr>
              <a:defRPr smtClean="0">
                <a:latin typeface="Calibri" pitchFamily="34" charset="0"/>
              </a:defRPr>
            </a:lvl1pPr>
          </a:lstStyle>
          <a:p>
            <a:pPr>
              <a:defRPr/>
            </a:pPr>
            <a:fld id="{F27B48BD-7B74-448B-9C41-98D8C47BAE25}" type="slidenum">
              <a:rPr lang="en-US" smtClean="0"/>
              <a:pPr>
                <a:defRPr/>
              </a:pPr>
              <a:t>‹#›</a:t>
            </a:fld>
            <a:endParaRPr lang="en-US" dirty="0"/>
          </a:p>
        </p:txBody>
      </p:sp>
    </p:spTree>
    <p:extLst>
      <p:ext uri="{BB962C8B-B14F-4D97-AF65-F5344CB8AC3E}">
        <p14:creationId xmlns:p14="http://schemas.microsoft.com/office/powerpoint/2010/main" val="1498228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 name="Slide Number Placeholder 9"/>
          <p:cNvSpPr>
            <a:spLocks noGrp="1"/>
          </p:cNvSpPr>
          <p:nvPr>
            <p:ph type="sldNum" sz="quarter" idx="4"/>
          </p:nvPr>
        </p:nvSpPr>
        <p:spPr>
          <a:xfrm>
            <a:off x="8610600" y="6436635"/>
            <a:ext cx="457200" cy="365125"/>
          </a:xfrm>
          <a:prstGeom prst="rect">
            <a:avLst/>
          </a:prstGeom>
        </p:spPr>
        <p:txBody>
          <a:bodyPr vert="horz" wrap="square" lIns="91440" tIns="45720" rIns="91440" bIns="45720" numCol="1" anchor="ctr" anchorCtr="0" compatLnSpc="1">
            <a:prstTxWarp prst="textNoShape">
              <a:avLst/>
            </a:prstTxWarp>
          </a:bodyPr>
          <a:lstStyle>
            <a:lvl1pPr>
              <a:defRPr sz="6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88"/>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600" smtClean="0">
                <a:solidFill>
                  <a:srgbClr val="898989"/>
                </a:solidFill>
                <a:latin typeface="+mn-lt"/>
                <a:ea typeface="+mn-ea"/>
              </a:defRPr>
            </a:lvl1pPr>
          </a:lstStyle>
          <a:p>
            <a:pPr>
              <a:defRPr/>
            </a:pPr>
            <a:r>
              <a:rPr lang="en-US"/>
              <a:t>Valuation Delaware</a:t>
            </a:r>
            <a:endParaRPr lang="en-US" dirty="0"/>
          </a:p>
        </p:txBody>
      </p:sp>
      <p:sp>
        <p:nvSpPr>
          <p:cNvPr id="9" name="Footer Placeholder 3"/>
          <p:cNvSpPr txBox="1">
            <a:spLocks/>
          </p:cNvSpPr>
          <p:nvPr userDrawn="1"/>
        </p:nvSpPr>
        <p:spPr>
          <a:xfrm>
            <a:off x="72409" y="6423029"/>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CF_Ch15_ValCases_25</a:t>
            </a:r>
          </a:p>
        </p:txBody>
      </p:sp>
    </p:spTree>
    <p:extLst>
      <p:ext uri="{BB962C8B-B14F-4D97-AF65-F5344CB8AC3E}">
        <p14:creationId xmlns:p14="http://schemas.microsoft.com/office/powerpoint/2010/main" val="397839321"/>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 id="2147483856" r:id="rId18"/>
    <p:sldLayoutId id="2147483857" r:id="rId19"/>
    <p:sldLayoutId id="2147483858" r:id="rId20"/>
    <p:sldLayoutId id="2147483859" r:id="rId21"/>
    <p:sldLayoutId id="2147483860" r:id="rId22"/>
    <p:sldLayoutId id="2147483861" r:id="rId23"/>
    <p:sldLayoutId id="2147483862" r:id="rId24"/>
    <p:sldLayoutId id="2147483863" r:id="rId25"/>
    <p:sldLayoutId id="2147483864" r:id="rId26"/>
    <p:sldLayoutId id="2147483865" r:id="rId27"/>
    <p:sldLayoutId id="2147483866" r:id="rId28"/>
    <p:sldLayoutId id="2147483867" r:id="rId29"/>
    <p:sldLayoutId id="2147483868" r:id="rId30"/>
    <p:sldLayoutId id="2147483869" r:id="rId31"/>
    <p:sldLayoutId id="2147483870" r:id="rId32"/>
    <p:sldLayoutId id="2147483871" r:id="rId33"/>
    <p:sldLayoutId id="2147483872" r:id="rId34"/>
    <p:sldLayoutId id="2147483873" r:id="rId35"/>
    <p:sldLayoutId id="2147483874" r:id="rId36"/>
    <p:sldLayoutId id="2147483875" r:id="rId37"/>
    <p:sldLayoutId id="2147483876" r:id="rId38"/>
    <p:sldLayoutId id="2147483877" r:id="rId39"/>
    <p:sldLayoutId id="2147483878" r:id="rId40"/>
    <p:sldLayoutId id="2147483879" r:id="rId41"/>
    <p:sldLayoutId id="2147483880" r:id="rId42"/>
    <p:sldLayoutId id="2147483881" r:id="rId43"/>
    <p:sldLayoutId id="2147483882" r:id="rId44"/>
    <p:sldLayoutId id="2147483883" r:id="rId45"/>
    <p:sldLayoutId id="2147483884" r:id="rId46"/>
    <p:sldLayoutId id="2147483885" r:id="rId47"/>
    <p:sldLayoutId id="2147483886" r:id="rId48"/>
    <p:sldLayoutId id="2147483887" r:id="rId49"/>
    <p:sldLayoutId id="2147483888" r:id="rId50"/>
    <p:sldLayoutId id="2147483889" r:id="rId51"/>
    <p:sldLayoutId id="2147483890" r:id="rId52"/>
    <p:sldLayoutId id="2147483891" r:id="rId53"/>
    <p:sldLayoutId id="2147483892" r:id="rId54"/>
    <p:sldLayoutId id="2147483893" r:id="rId55"/>
    <p:sldLayoutId id="2147483894" r:id="rId56"/>
    <p:sldLayoutId id="2147483895" r:id="rId57"/>
    <p:sldLayoutId id="2147483896" r:id="rId58"/>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6B908C-B5CB-4D61-9AAA-0E6FA8ADABD9}"/>
              </a:ext>
            </a:extLst>
          </p:cNvPr>
          <p:cNvSpPr>
            <a:spLocks noGrp="1"/>
          </p:cNvSpPr>
          <p:nvPr>
            <p:ph type="sldNum" sz="quarter" idx="10"/>
          </p:nvPr>
        </p:nvSpPr>
        <p:spPr/>
        <p:txBody>
          <a:bodyPr/>
          <a:lstStyle/>
          <a:p>
            <a:fld id="{395527EB-3756-C241-BFD3-DBB1E111190F}" type="slidenum">
              <a:rPr lang="en-US" altLang="en-US" smtClean="0"/>
              <a:pPr/>
              <a:t>1</a:t>
            </a:fld>
            <a:endParaRPr lang="en-US" altLang="en-US"/>
          </a:p>
        </p:txBody>
      </p:sp>
      <p:sp>
        <p:nvSpPr>
          <p:cNvPr id="4" name="Footer Placeholder 3">
            <a:extLst>
              <a:ext uri="{FF2B5EF4-FFF2-40B4-BE49-F238E27FC236}">
                <a16:creationId xmlns:a16="http://schemas.microsoft.com/office/drawing/2014/main" id="{5F26835F-3425-4D22-A3BF-7A8DB7F9F478}"/>
              </a:ext>
            </a:extLst>
          </p:cNvPr>
          <p:cNvSpPr>
            <a:spLocks noGrp="1"/>
          </p:cNvSpPr>
          <p:nvPr>
            <p:ph type="ftr" sz="quarter" idx="11"/>
          </p:nvPr>
        </p:nvSpPr>
        <p:spPr/>
        <p:txBody>
          <a:bodyPr/>
          <a:lstStyle/>
          <a:p>
            <a:pPr>
              <a:defRPr/>
            </a:pPr>
            <a:r>
              <a:rPr lang="en-US">
                <a:ea typeface="ＭＳ Ｐゴシック" charset="-128"/>
              </a:rPr>
              <a:t>Valuation Delaware</a:t>
            </a:r>
            <a:endParaRPr lang="en-US" dirty="0">
              <a:ea typeface="ＭＳ Ｐゴシック" charset="-128"/>
            </a:endParaRPr>
          </a:p>
        </p:txBody>
      </p:sp>
      <p:sp>
        <p:nvSpPr>
          <p:cNvPr id="6" name="Rectangle 5">
            <a:extLst>
              <a:ext uri="{FF2B5EF4-FFF2-40B4-BE49-F238E27FC236}">
                <a16:creationId xmlns:a16="http://schemas.microsoft.com/office/drawing/2014/main" id="{E9ED9786-58D6-4467-A340-9C08B3251F1F}"/>
              </a:ext>
            </a:extLst>
          </p:cNvPr>
          <p:cNvSpPr/>
          <p:nvPr/>
        </p:nvSpPr>
        <p:spPr>
          <a:xfrm>
            <a:off x="641839" y="2111043"/>
            <a:ext cx="8088922" cy="2585323"/>
          </a:xfrm>
          <a:prstGeom prst="rect">
            <a:avLst/>
          </a:prstGeom>
        </p:spPr>
        <p:txBody>
          <a:bodyPr wrap="square">
            <a:spAutoFit/>
          </a:bodyPr>
          <a:lstStyle/>
          <a:p>
            <a:pPr algn="ctr"/>
            <a:r>
              <a:rPr lang="en-US" sz="3600" b="1" dirty="0"/>
              <a:t>Corporate Finance</a:t>
            </a:r>
          </a:p>
          <a:p>
            <a:pPr algn="ctr"/>
            <a:r>
              <a:rPr lang="en-US" sz="2700" b="1" dirty="0"/>
              <a:t>Appraisal</a:t>
            </a:r>
          </a:p>
          <a:p>
            <a:pPr algn="ctr"/>
            <a:endParaRPr lang="en-US" sz="2700" b="1" dirty="0"/>
          </a:p>
          <a:p>
            <a:pPr algn="ctr"/>
            <a:endParaRPr lang="en-US" b="1" dirty="0">
              <a:ea typeface="ＭＳ Ｐゴシック" charset="0"/>
              <a:cs typeface="ＭＳ Ｐゴシック" charset="0"/>
            </a:endParaRPr>
          </a:p>
          <a:p>
            <a:pPr algn="ctr"/>
            <a:endParaRPr lang="en-US" b="1" dirty="0"/>
          </a:p>
          <a:p>
            <a:pPr algn="ctr">
              <a:buNone/>
            </a:pPr>
            <a:r>
              <a:rPr lang="en-US" b="1" dirty="0"/>
              <a:t>Fall 2025</a:t>
            </a:r>
          </a:p>
          <a:p>
            <a:pPr algn="ctr"/>
            <a:r>
              <a:rPr lang="en-US" b="1" dirty="0"/>
              <a:t>Prof. Jeffrey Colón</a:t>
            </a:r>
            <a:endParaRPr lang="en-US" dirty="0"/>
          </a:p>
        </p:txBody>
      </p:sp>
    </p:spTree>
    <p:extLst>
      <p:ext uri="{BB962C8B-B14F-4D97-AF65-F5344CB8AC3E}">
        <p14:creationId xmlns:p14="http://schemas.microsoft.com/office/powerpoint/2010/main" val="362287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34352A-2C51-991B-D008-2550E91C5CAD}"/>
              </a:ext>
            </a:extLst>
          </p:cNvPr>
          <p:cNvSpPr>
            <a:spLocks noGrp="1"/>
          </p:cNvSpPr>
          <p:nvPr>
            <p:ph idx="1"/>
          </p:nvPr>
        </p:nvSpPr>
        <p:spPr/>
        <p:txBody>
          <a:bodyPr/>
          <a:lstStyle/>
          <a:p>
            <a:r>
              <a:rPr lang="en-US" dirty="0"/>
              <a:t>Merger</a:t>
            </a:r>
          </a:p>
          <a:p>
            <a:endParaRPr lang="en-US" dirty="0"/>
          </a:p>
          <a:p>
            <a:endParaRPr lang="en-US" dirty="0"/>
          </a:p>
          <a:p>
            <a:r>
              <a:rPr lang="en-US" dirty="0"/>
              <a:t>Stock Acquisition</a:t>
            </a:r>
          </a:p>
        </p:txBody>
      </p:sp>
      <p:sp>
        <p:nvSpPr>
          <p:cNvPr id="3" name="Title 2">
            <a:extLst>
              <a:ext uri="{FF2B5EF4-FFF2-40B4-BE49-F238E27FC236}">
                <a16:creationId xmlns:a16="http://schemas.microsoft.com/office/drawing/2014/main" id="{2C0C1D3F-A53D-4943-03AE-5D57ED2AD460}"/>
              </a:ext>
            </a:extLst>
          </p:cNvPr>
          <p:cNvSpPr>
            <a:spLocks noGrp="1"/>
          </p:cNvSpPr>
          <p:nvPr>
            <p:ph type="title"/>
          </p:nvPr>
        </p:nvSpPr>
        <p:spPr/>
        <p:txBody>
          <a:bodyPr/>
          <a:lstStyle/>
          <a:p>
            <a:r>
              <a:rPr lang="en-US" dirty="0"/>
              <a:t>Corporate Acquisition Alternatives: Merger v. Stock Acquisition</a:t>
            </a:r>
          </a:p>
        </p:txBody>
      </p:sp>
      <p:sp>
        <p:nvSpPr>
          <p:cNvPr id="4" name="Slide Number Placeholder 3">
            <a:extLst>
              <a:ext uri="{FF2B5EF4-FFF2-40B4-BE49-F238E27FC236}">
                <a16:creationId xmlns:a16="http://schemas.microsoft.com/office/drawing/2014/main" id="{4DC05FE1-31C9-4BF2-5CA3-6AAF3A1EB288}"/>
              </a:ext>
            </a:extLst>
          </p:cNvPr>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
        <p:nvSpPr>
          <p:cNvPr id="5" name="Footer Placeholder 4">
            <a:extLst>
              <a:ext uri="{FF2B5EF4-FFF2-40B4-BE49-F238E27FC236}">
                <a16:creationId xmlns:a16="http://schemas.microsoft.com/office/drawing/2014/main" id="{D63B4429-A604-D505-66B7-00D3BB73A35C}"/>
              </a:ext>
            </a:extLst>
          </p:cNvPr>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179374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6"/>
          <p:cNvSpPr>
            <a:spLocks noGrp="1"/>
          </p:cNvSpPr>
          <p:nvPr>
            <p:ph idx="1"/>
          </p:nvPr>
        </p:nvSpPr>
        <p:spPr/>
        <p:txBody>
          <a:bodyPr/>
          <a:lstStyle/>
          <a:p>
            <a:pPr marL="292100" indent="0">
              <a:buFontTx/>
              <a:buNone/>
            </a:pPr>
            <a:r>
              <a:rPr lang="en-US" sz="2400" dirty="0">
                <a:latin typeface="+mn-lt"/>
                <a:ea typeface="ＭＳ Ｐゴシック" pitchFamily="34" charset="-128"/>
              </a:rPr>
              <a:t>After the Court determines the stockholders entitled to an appraisal, the appraisal proceeding shall be conducted in accordance with the rules of the Court of Chancery, including any rules specifically governing appraisal proceedings. Through such proceeding the Court shall determine the </a:t>
            </a:r>
            <a:r>
              <a:rPr lang="en-US" sz="2400" b="1" i="1" u="sng" dirty="0">
                <a:latin typeface="+mn-lt"/>
                <a:ea typeface="ＭＳ Ｐゴシック" pitchFamily="34" charset="-128"/>
              </a:rPr>
              <a:t>fair value</a:t>
            </a:r>
            <a:r>
              <a:rPr lang="en-US" sz="2400" b="1" i="1" dirty="0">
                <a:latin typeface="+mn-lt"/>
                <a:ea typeface="ＭＳ Ｐゴシック" pitchFamily="34" charset="-128"/>
              </a:rPr>
              <a:t> </a:t>
            </a:r>
            <a:r>
              <a:rPr lang="en-US" sz="2400" dirty="0">
                <a:latin typeface="+mn-lt"/>
                <a:ea typeface="ＭＳ Ｐゴシック" pitchFamily="34" charset="-128"/>
              </a:rPr>
              <a:t>of the shares </a:t>
            </a:r>
            <a:r>
              <a:rPr lang="en-US" sz="2400" b="1" i="1" u="sng" dirty="0">
                <a:latin typeface="+mn-lt"/>
                <a:ea typeface="ＭＳ Ｐゴシック" pitchFamily="34" charset="-128"/>
              </a:rPr>
              <a:t>exclusive of any element of value arising from the accomplishment or expectation of the merger</a:t>
            </a:r>
            <a:r>
              <a:rPr lang="en-US" sz="2400" b="1" i="1" dirty="0">
                <a:latin typeface="+mn-lt"/>
                <a:ea typeface="ＭＳ Ｐゴシック" pitchFamily="34" charset="-128"/>
              </a:rPr>
              <a:t> or consolidation</a:t>
            </a:r>
            <a:r>
              <a:rPr lang="en-US" sz="2400" b="1" dirty="0">
                <a:latin typeface="+mn-lt"/>
                <a:ea typeface="ＭＳ Ｐゴシック" pitchFamily="34" charset="-128"/>
              </a:rPr>
              <a:t>, </a:t>
            </a:r>
            <a:r>
              <a:rPr lang="en-US" b="1" i="1" dirty="0">
                <a:solidFill>
                  <a:srgbClr val="333333"/>
                </a:solidFill>
                <a:effectLst/>
                <a:latin typeface="+mn-lt"/>
              </a:rPr>
              <a:t>conversion, transfer, domestication or continuance</a:t>
            </a:r>
            <a:r>
              <a:rPr lang="en-US" sz="2400" b="1" i="1" dirty="0">
                <a:latin typeface="+mn-lt"/>
                <a:ea typeface="ＭＳ Ｐゴシック" pitchFamily="34" charset="-128"/>
              </a:rPr>
              <a:t> together with interest</a:t>
            </a:r>
            <a:r>
              <a:rPr lang="en-US" sz="2400" dirty="0">
                <a:latin typeface="+mn-lt"/>
                <a:ea typeface="ＭＳ Ｐゴシック" pitchFamily="34" charset="-128"/>
              </a:rPr>
              <a:t>, if any, to be paid upon the amount determined to be the fair value</a:t>
            </a:r>
            <a:r>
              <a:rPr lang="en-US" sz="2400" b="1" i="1" dirty="0">
                <a:latin typeface="+mn-lt"/>
                <a:ea typeface="ＭＳ Ｐゴシック" pitchFamily="34" charset="-128"/>
              </a:rPr>
              <a:t>.</a:t>
            </a:r>
            <a:r>
              <a:rPr lang="en-US" sz="2400" b="1" dirty="0">
                <a:latin typeface="+mn-lt"/>
                <a:ea typeface="ＭＳ Ｐゴシック" pitchFamily="34" charset="-128"/>
              </a:rPr>
              <a:t> In determining such fair value, the Court shall take into account </a:t>
            </a:r>
            <a:r>
              <a:rPr lang="en-US" sz="2400" b="1" i="1" dirty="0">
                <a:latin typeface="+mn-lt"/>
                <a:ea typeface="ＭＳ Ｐゴシック" pitchFamily="34" charset="-128"/>
              </a:rPr>
              <a:t>all relevant factors</a:t>
            </a:r>
            <a:r>
              <a:rPr lang="en-US" sz="2400" b="1" dirty="0">
                <a:latin typeface="+mn-lt"/>
                <a:ea typeface="ＭＳ Ｐゴシック" pitchFamily="34" charset="-128"/>
              </a:rPr>
              <a:t>.  </a:t>
            </a:r>
            <a:r>
              <a:rPr lang="en-US" sz="2400" dirty="0">
                <a:latin typeface="+mn-lt"/>
                <a:ea typeface="ＭＳ Ｐゴシック" pitchFamily="34" charset="-128"/>
              </a:rPr>
              <a:t>DGCL </a:t>
            </a:r>
            <a:r>
              <a:rPr lang="en-US" dirty="0">
                <a:latin typeface="+mn-lt"/>
              </a:rPr>
              <a:t>§  </a:t>
            </a:r>
            <a:r>
              <a:rPr lang="en-US" sz="2400" dirty="0">
                <a:latin typeface="+mn-lt"/>
                <a:ea typeface="ＭＳ Ｐゴシック" pitchFamily="34" charset="-128"/>
              </a:rPr>
              <a:t>262(h)</a:t>
            </a:r>
            <a:r>
              <a:rPr lang="en-US" sz="2400" i="1" dirty="0">
                <a:latin typeface="+mn-lt"/>
                <a:ea typeface="ＭＳ Ｐゴシック" pitchFamily="34" charset="-128"/>
              </a:rPr>
              <a:t> </a:t>
            </a:r>
          </a:p>
          <a:p>
            <a:pPr marL="292100" indent="0"/>
            <a:endParaRPr lang="en-US" dirty="0">
              <a:latin typeface="+mn-lt"/>
              <a:ea typeface="ＭＳ Ｐゴシック" pitchFamily="34" charset="-128"/>
            </a:endParaRPr>
          </a:p>
        </p:txBody>
      </p:sp>
      <p:sp>
        <p:nvSpPr>
          <p:cNvPr id="14338" name="Title 5"/>
          <p:cNvSpPr>
            <a:spLocks noGrp="1"/>
          </p:cNvSpPr>
          <p:nvPr>
            <p:ph type="title"/>
          </p:nvPr>
        </p:nvSpPr>
        <p:spPr/>
        <p:txBody>
          <a:bodyPr/>
          <a:lstStyle/>
          <a:p>
            <a:r>
              <a:rPr lang="en-US" b="1" dirty="0">
                <a:ea typeface="ＭＳ Ｐゴシック" pitchFamily="34" charset="-128"/>
              </a:rPr>
              <a:t>Valuation in Delaware</a:t>
            </a:r>
          </a:p>
        </p:txBody>
      </p:sp>
      <p:sp>
        <p:nvSpPr>
          <p:cNvPr id="14341" name="Slide Number Placeholder 4"/>
          <p:cNvSpPr>
            <a:spLocks noGrp="1"/>
          </p:cNvSpPr>
          <p:nvPr>
            <p:ph type="sldNum" sz="quarter" idx="10"/>
          </p:nvPr>
        </p:nvSpPr>
        <p:spPr>
          <a:noFill/>
        </p:spPr>
        <p:txBody>
          <a:bodyPr/>
          <a:lstStyle/>
          <a:p>
            <a:fld id="{241153CF-D798-457F-8936-45F2EEB46D3A}" type="slidenum">
              <a:rPr lang="en-US">
                <a:latin typeface="Calibri" pitchFamily="34" charset="0"/>
                <a:ea typeface="ＭＳ Ｐゴシック" pitchFamily="34" charset="-128"/>
              </a:rPr>
              <a:pPr/>
              <a:t>3</a:t>
            </a:fld>
            <a:endParaRPr lang="en-US" dirty="0">
              <a:latin typeface="Calibri" pitchFamily="34" charset="0"/>
              <a:ea typeface="ＭＳ Ｐゴシック" pitchFamily="34" charset="-128"/>
            </a:endParaRPr>
          </a:p>
        </p:txBody>
      </p:sp>
      <p:sp>
        <p:nvSpPr>
          <p:cNvPr id="4" name="Footer Placeholder 3"/>
          <p:cNvSpPr>
            <a:spLocks noGrp="1"/>
          </p:cNvSpPr>
          <p:nvPr>
            <p:ph type="ftr" sz="quarter" idx="11"/>
          </p:nvPr>
        </p:nvSpPr>
        <p:spPr/>
        <p:txBody>
          <a:bodyPr/>
          <a:lstStyle/>
          <a:p>
            <a:pPr>
              <a:defRPr/>
            </a:pPr>
            <a:r>
              <a:rPr lang="en-US"/>
              <a:t>Valuation Delaware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Market Out Exception (appraisal </a:t>
            </a:r>
            <a:r>
              <a:rPr lang="en-US" i="1" dirty="0"/>
              <a:t>not</a:t>
            </a:r>
            <a:r>
              <a:rPr lang="en-US" dirty="0"/>
              <a:t> available):</a:t>
            </a:r>
          </a:p>
          <a:p>
            <a:pPr lvl="1"/>
            <a:r>
              <a:rPr lang="en-US" dirty="0"/>
              <a:t>Shares listed on national securities exchange, or</a:t>
            </a:r>
          </a:p>
          <a:p>
            <a:pPr lvl="1"/>
            <a:r>
              <a:rPr lang="en-US" dirty="0"/>
              <a:t>Shares held by more than 2,000 holders</a:t>
            </a:r>
          </a:p>
          <a:p>
            <a:pPr lvl="1"/>
            <a:r>
              <a:rPr lang="en-US" dirty="0"/>
              <a:t>No appraisal for shareholders of surviving corporation in a merger if shareholders of surviving did not have to vote for approval.  </a:t>
            </a:r>
            <a:r>
              <a:rPr lang="en-US" dirty="0">
                <a:ea typeface="ＭＳ Ｐゴシック" pitchFamily="34" charset="-128"/>
              </a:rPr>
              <a:t>DGCL </a:t>
            </a:r>
            <a:r>
              <a:rPr lang="en-US" dirty="0"/>
              <a:t>§ </a:t>
            </a:r>
            <a:r>
              <a:rPr lang="en-US" dirty="0">
                <a:ea typeface="ＭＳ Ｐゴシック" pitchFamily="34" charset="-128"/>
              </a:rPr>
              <a:t>262(b)(1).</a:t>
            </a:r>
            <a:r>
              <a:rPr lang="en-US" i="1" dirty="0">
                <a:ea typeface="ＭＳ Ｐゴシック" pitchFamily="34" charset="-128"/>
              </a:rPr>
              <a:t> </a:t>
            </a:r>
            <a:endParaRPr lang="en-US" dirty="0"/>
          </a:p>
          <a:p>
            <a:pPr lvl="1"/>
            <a:endParaRPr lang="en-US" dirty="0"/>
          </a:p>
          <a:p>
            <a:r>
              <a:rPr lang="en-US" dirty="0"/>
              <a:t>Exceptions to Market Out Exception (appraisal </a:t>
            </a:r>
            <a:r>
              <a:rPr lang="en-US" i="1" dirty="0"/>
              <a:t>is</a:t>
            </a:r>
            <a:r>
              <a:rPr lang="en-US" dirty="0"/>
              <a:t> available) if shareholders receive anything except:</a:t>
            </a:r>
          </a:p>
          <a:p>
            <a:pPr lvl="1"/>
            <a:r>
              <a:rPr lang="en-US" dirty="0"/>
              <a:t>Stock of surviving in merger (or shares of converted entity or entity resulting from transfer, domestication, or continuance if such entity is a corporation)</a:t>
            </a:r>
          </a:p>
          <a:p>
            <a:pPr lvl="1"/>
            <a:r>
              <a:rPr lang="en-US" dirty="0"/>
              <a:t>Stock of any other corporation whose shares will be listed on a national securities exchange or held by more than 2,000 holders. </a:t>
            </a:r>
            <a:r>
              <a:rPr lang="en-US" dirty="0">
                <a:ea typeface="ＭＳ Ｐゴシック" pitchFamily="34" charset="-128"/>
              </a:rPr>
              <a:t>DGCL </a:t>
            </a:r>
            <a:r>
              <a:rPr lang="en-US" dirty="0"/>
              <a:t>§ </a:t>
            </a:r>
            <a:r>
              <a:rPr lang="en-US" dirty="0">
                <a:ea typeface="ＭＳ Ｐゴシック" pitchFamily="34" charset="-128"/>
              </a:rPr>
              <a:t>262(b)(2)</a:t>
            </a:r>
            <a:r>
              <a:rPr lang="en-US" i="1" dirty="0">
                <a:ea typeface="ＭＳ Ｐゴシック" pitchFamily="34" charset="-128"/>
              </a:rPr>
              <a:t>.</a:t>
            </a:r>
            <a:br>
              <a:rPr lang="en-US" i="1" dirty="0">
                <a:ea typeface="ＭＳ Ｐゴシック" pitchFamily="34" charset="-128"/>
              </a:rPr>
            </a:br>
            <a:endParaRPr lang="en-US" i="1" dirty="0">
              <a:ea typeface="ＭＳ Ｐゴシック" pitchFamily="34" charset="-128"/>
            </a:endParaRPr>
          </a:p>
          <a:p>
            <a:r>
              <a:rPr lang="en-US" dirty="0">
                <a:ea typeface="ＭＳ Ｐゴシック" pitchFamily="34" charset="-128"/>
              </a:rPr>
              <a:t>Par-Sub mergers under </a:t>
            </a:r>
            <a:r>
              <a:rPr lang="en-US" dirty="0"/>
              <a:t>§ </a:t>
            </a:r>
            <a:r>
              <a:rPr lang="en-US" dirty="0">
                <a:ea typeface="ＭＳ Ｐゴシック" pitchFamily="34" charset="-128"/>
              </a:rPr>
              <a:t>253</a:t>
            </a:r>
            <a:r>
              <a:rPr lang="en-US" i="1" dirty="0">
                <a:ea typeface="ＭＳ Ｐゴシック" pitchFamily="34" charset="-128"/>
              </a:rPr>
              <a:t>. </a:t>
            </a:r>
            <a:r>
              <a:rPr lang="en-US" dirty="0">
                <a:ea typeface="ＭＳ Ｐゴシック" pitchFamily="34" charset="-128"/>
              </a:rPr>
              <a:t>DGCL </a:t>
            </a:r>
            <a:r>
              <a:rPr lang="en-US" dirty="0"/>
              <a:t>§ </a:t>
            </a:r>
            <a:r>
              <a:rPr lang="en-US" dirty="0">
                <a:ea typeface="ＭＳ Ｐゴシック" pitchFamily="34" charset="-128"/>
              </a:rPr>
              <a:t>262(b)(3)</a:t>
            </a:r>
            <a:r>
              <a:rPr lang="en-US" i="1" dirty="0">
                <a:ea typeface="ＭＳ Ｐゴシック" pitchFamily="34" charset="-128"/>
              </a:rPr>
              <a:t>.</a:t>
            </a:r>
            <a:endParaRPr lang="en-US" dirty="0"/>
          </a:p>
          <a:p>
            <a:pPr lvl="1"/>
            <a:endParaRPr lang="en-US" dirty="0"/>
          </a:p>
        </p:txBody>
      </p:sp>
      <p:sp>
        <p:nvSpPr>
          <p:cNvPr id="3" name="Title 2"/>
          <p:cNvSpPr>
            <a:spLocks noGrp="1"/>
          </p:cNvSpPr>
          <p:nvPr>
            <p:ph type="title"/>
          </p:nvPr>
        </p:nvSpPr>
        <p:spPr/>
        <p:txBody>
          <a:bodyPr/>
          <a:lstStyle/>
          <a:p>
            <a:r>
              <a:rPr lang="en-US" dirty="0"/>
              <a:t>Delaware: Appraisal Rights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5" name="Footer Placeholder 4"/>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227068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 y="533400"/>
            <a:ext cx="8763000" cy="5811838"/>
          </a:xfrm>
        </p:spPr>
      </p:pic>
      <p:sp>
        <p:nvSpPr>
          <p:cNvPr id="3" name="Title 2"/>
          <p:cNvSpPr>
            <a:spLocks noGrp="1"/>
          </p:cNvSpPr>
          <p:nvPr>
            <p:ph type="title"/>
          </p:nvPr>
        </p:nvSpPr>
        <p:spPr/>
        <p:txBody>
          <a:bodyPr/>
          <a:lstStyle/>
          <a:p>
            <a:r>
              <a:rPr lang="en-US" b="1" dirty="0"/>
              <a:t>Some Appraisal Decisions (‘10-’17)</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5" name="Footer Placeholder 4"/>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666522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Some Appraisal Decisions (‘10-’17)</a:t>
            </a:r>
          </a:p>
        </p:txBody>
      </p:sp>
      <p:sp>
        <p:nvSpPr>
          <p:cNvPr id="5" name="Slide Number Placeholder 4"/>
          <p:cNvSpPr>
            <a:spLocks noGrp="1"/>
          </p:cNvSpPr>
          <p:nvPr>
            <p:ph type="sldNum" sz="quarter" idx="10"/>
          </p:nvPr>
        </p:nvSpPr>
        <p:spPr/>
        <p:txBody>
          <a:bodyPr/>
          <a:lstStyle/>
          <a:p>
            <a:pPr>
              <a:defRPr/>
            </a:pPr>
            <a:endParaRPr lang="en-US" dirty="0">
              <a:latin typeface="Calibri" pitchFamily="34" charset="0"/>
            </a:endParaRPr>
          </a:p>
          <a:p>
            <a:pPr>
              <a:defRPr/>
            </a:pPr>
            <a:fld id="{AA148A6B-0753-47DD-85B6-E3470AECA717}" type="slidenum">
              <a:rPr lang="en-US" smtClean="0">
                <a:latin typeface="Calibri" pitchFamily="34" charset="0"/>
              </a:rPr>
              <a:pPr>
                <a:defRPr/>
              </a:pPr>
              <a:t>6</a:t>
            </a:fld>
            <a:endParaRPr lang="en-US" dirty="0">
              <a:latin typeface="Calibri" pitchFamily="34" charset="0"/>
            </a:endParaRPr>
          </a:p>
        </p:txBody>
      </p:sp>
      <p:sp>
        <p:nvSpPr>
          <p:cNvPr id="4" name="Footer Placeholder 3"/>
          <p:cNvSpPr>
            <a:spLocks noGrp="1"/>
          </p:cNvSpPr>
          <p:nvPr>
            <p:ph type="ftr" sz="quarter" idx="11"/>
          </p:nvPr>
        </p:nvSpPr>
        <p:spPr/>
        <p:txBody>
          <a:bodyPr/>
          <a:lstStyle/>
          <a:p>
            <a:pPr>
              <a:defRPr/>
            </a:pPr>
            <a:r>
              <a:rPr lang="en-US"/>
              <a:t>Valuation Delaware</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457200"/>
            <a:ext cx="8686800" cy="5791200"/>
          </a:xfrm>
          <a:prstGeom prst="rect">
            <a:avLst/>
          </a:prstGeom>
        </p:spPr>
      </p:pic>
    </p:spTree>
    <p:extLst>
      <p:ext uri="{BB962C8B-B14F-4D97-AF65-F5344CB8AC3E}">
        <p14:creationId xmlns:p14="http://schemas.microsoft.com/office/powerpoint/2010/main" val="4246916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i="1" dirty="0"/>
              <a:t>Contrary to the critics of appraisal, we find no evidence that bidders lower their up-front price so they can afford to pay off dissenting shareholders post-sale. Furthermore, threat of appraisal does not appear to impact method of payment, likelihood of closing, or limit the amount of takeover activity. Instead, we find that shareholders of Delaware targets receive marginally higher acquisition premiums following events that strengthen the appraisal remedy in Delaware. In general, our results are consistent with appraisal providing ex-ante protection in settings where public investors are most at risk.</a:t>
            </a:r>
          </a:p>
        </p:txBody>
      </p:sp>
      <p:sp>
        <p:nvSpPr>
          <p:cNvPr id="3" name="Title 2"/>
          <p:cNvSpPr>
            <a:spLocks noGrp="1"/>
          </p:cNvSpPr>
          <p:nvPr>
            <p:ph type="title"/>
          </p:nvPr>
        </p:nvSpPr>
        <p:spPr/>
        <p:txBody>
          <a:bodyPr/>
          <a:lstStyle/>
          <a:p>
            <a:r>
              <a:rPr lang="en-US" dirty="0"/>
              <a:t>Delaware Appraisal</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
        <p:nvSpPr>
          <p:cNvPr id="5" name="Footer Placeholder 4"/>
          <p:cNvSpPr>
            <a:spLocks noGrp="1"/>
          </p:cNvSpPr>
          <p:nvPr>
            <p:ph type="ftr" sz="quarter" idx="11"/>
          </p:nvPr>
        </p:nvSpPr>
        <p:spPr/>
        <p:txBody>
          <a:bodyPr/>
          <a:lstStyle/>
          <a:p>
            <a:pPr>
              <a:defRPr/>
            </a:pPr>
            <a:r>
              <a:rPr lang="en-US"/>
              <a:t>Valuation Delaware</a:t>
            </a:r>
            <a:endParaRPr lang="en-US" dirty="0"/>
          </a:p>
        </p:txBody>
      </p:sp>
      <p:sp>
        <p:nvSpPr>
          <p:cNvPr id="6" name="TextBox 5"/>
          <p:cNvSpPr txBox="1"/>
          <p:nvPr/>
        </p:nvSpPr>
        <p:spPr>
          <a:xfrm>
            <a:off x="2590800" y="4343400"/>
            <a:ext cx="5114605" cy="276999"/>
          </a:xfrm>
          <a:prstGeom prst="rect">
            <a:avLst/>
          </a:prstGeom>
          <a:noFill/>
        </p:spPr>
        <p:txBody>
          <a:bodyPr wrap="none" rtlCol="0">
            <a:spAutoFit/>
          </a:bodyPr>
          <a:lstStyle/>
          <a:p>
            <a:r>
              <a:rPr lang="en-US" sz="1200" dirty="0"/>
              <a:t>Boone, </a:t>
            </a:r>
            <a:r>
              <a:rPr lang="en-US" sz="1200" i="1" dirty="0"/>
              <a:t>Mergers Negotiations in the Shadow of Judicial Appraisal </a:t>
            </a:r>
            <a:r>
              <a:rPr lang="en-US" sz="1200" dirty="0"/>
              <a:t>(2017)</a:t>
            </a:r>
          </a:p>
        </p:txBody>
      </p:sp>
    </p:spTree>
    <p:extLst>
      <p:ext uri="{BB962C8B-B14F-4D97-AF65-F5344CB8AC3E}">
        <p14:creationId xmlns:p14="http://schemas.microsoft.com/office/powerpoint/2010/main" val="1539316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1" y="533400"/>
            <a:ext cx="8537448" cy="5638800"/>
          </a:xfrm>
        </p:spPr>
      </p:pic>
      <p:sp>
        <p:nvSpPr>
          <p:cNvPr id="3" name="Title 2"/>
          <p:cNvSpPr>
            <a:spLocks noGrp="1"/>
          </p:cNvSpPr>
          <p:nvPr>
            <p:ph type="title"/>
          </p:nvPr>
        </p:nvSpPr>
        <p:spPr/>
        <p:txBody>
          <a:bodyPr/>
          <a:lstStyle/>
          <a:p>
            <a:r>
              <a:rPr lang="en-US" dirty="0"/>
              <a:t>Delaware Appraisal</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
        <p:nvSpPr>
          <p:cNvPr id="5" name="Footer Placeholder 4"/>
          <p:cNvSpPr>
            <a:spLocks noGrp="1"/>
          </p:cNvSpPr>
          <p:nvPr>
            <p:ph type="ftr" sz="quarter" idx="11"/>
          </p:nvPr>
        </p:nvSpPr>
        <p:spPr/>
        <p:txBody>
          <a:bodyPr/>
          <a:lstStyle/>
          <a:p>
            <a:pPr>
              <a:defRPr/>
            </a:pPr>
            <a:r>
              <a:rPr lang="en-US"/>
              <a:t>Valuation Delaware</a:t>
            </a:r>
            <a:endParaRPr lang="en-US" dirty="0"/>
          </a:p>
        </p:txBody>
      </p:sp>
      <p:sp>
        <p:nvSpPr>
          <p:cNvPr id="7" name="TextBox 6"/>
          <p:cNvSpPr txBox="1"/>
          <p:nvPr/>
        </p:nvSpPr>
        <p:spPr>
          <a:xfrm>
            <a:off x="3429000" y="6150835"/>
            <a:ext cx="5114605" cy="276999"/>
          </a:xfrm>
          <a:prstGeom prst="rect">
            <a:avLst/>
          </a:prstGeom>
          <a:noFill/>
        </p:spPr>
        <p:txBody>
          <a:bodyPr wrap="none" rtlCol="0">
            <a:spAutoFit/>
          </a:bodyPr>
          <a:lstStyle/>
          <a:p>
            <a:r>
              <a:rPr lang="en-US" sz="1200" dirty="0"/>
              <a:t>Boone, </a:t>
            </a:r>
            <a:r>
              <a:rPr lang="en-US" sz="1200" i="1" dirty="0"/>
              <a:t>Mergers Negotiations in the Shadow of Judicial Appraisal </a:t>
            </a:r>
            <a:r>
              <a:rPr lang="en-US" sz="1200" dirty="0"/>
              <a:t>(2017)</a:t>
            </a:r>
          </a:p>
        </p:txBody>
      </p:sp>
    </p:spTree>
    <p:extLst>
      <p:ext uri="{BB962C8B-B14F-4D97-AF65-F5344CB8AC3E}">
        <p14:creationId xmlns:p14="http://schemas.microsoft.com/office/powerpoint/2010/main" val="1311440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175" y="504085"/>
            <a:ext cx="8458200" cy="5148639"/>
          </a:xfrm>
        </p:spPr>
      </p:pic>
      <p:sp>
        <p:nvSpPr>
          <p:cNvPr id="3" name="Title 2"/>
          <p:cNvSpPr>
            <a:spLocks noGrp="1"/>
          </p:cNvSpPr>
          <p:nvPr>
            <p:ph type="title"/>
          </p:nvPr>
        </p:nvSpPr>
        <p:spPr/>
        <p:txBody>
          <a:bodyPr/>
          <a:lstStyle/>
          <a:p>
            <a:r>
              <a:rPr lang="en-US" dirty="0"/>
              <a:t>Delaware Appraisal</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
        <p:nvSpPr>
          <p:cNvPr id="5" name="Footer Placeholder 4"/>
          <p:cNvSpPr>
            <a:spLocks noGrp="1"/>
          </p:cNvSpPr>
          <p:nvPr>
            <p:ph type="ftr" sz="quarter" idx="11"/>
          </p:nvPr>
        </p:nvSpPr>
        <p:spPr/>
        <p:txBody>
          <a:bodyPr/>
          <a:lstStyle/>
          <a:p>
            <a:pPr>
              <a:defRPr/>
            </a:pPr>
            <a:r>
              <a:rPr lang="en-US"/>
              <a:t>Valuation Delaware</a:t>
            </a:r>
            <a:endParaRPr lang="en-US" dirty="0"/>
          </a:p>
        </p:txBody>
      </p:sp>
      <p:sp>
        <p:nvSpPr>
          <p:cNvPr id="6" name="TextBox 5"/>
          <p:cNvSpPr txBox="1"/>
          <p:nvPr/>
        </p:nvSpPr>
        <p:spPr>
          <a:xfrm>
            <a:off x="2590800" y="6068465"/>
            <a:ext cx="5114605" cy="276999"/>
          </a:xfrm>
          <a:prstGeom prst="rect">
            <a:avLst/>
          </a:prstGeom>
          <a:noFill/>
        </p:spPr>
        <p:txBody>
          <a:bodyPr wrap="none" rtlCol="0">
            <a:spAutoFit/>
          </a:bodyPr>
          <a:lstStyle/>
          <a:p>
            <a:r>
              <a:rPr lang="en-US" sz="1200" dirty="0"/>
              <a:t>Boone, </a:t>
            </a:r>
            <a:r>
              <a:rPr lang="en-US" sz="1200" i="1" dirty="0"/>
              <a:t>Mergers Negotiations in the Shadow of Judicial Appraisal </a:t>
            </a:r>
            <a:r>
              <a:rPr lang="en-US" sz="1200" dirty="0"/>
              <a:t>(2017)</a:t>
            </a:r>
          </a:p>
        </p:txBody>
      </p:sp>
    </p:spTree>
    <p:extLst>
      <p:ext uri="{BB962C8B-B14F-4D97-AF65-F5344CB8AC3E}">
        <p14:creationId xmlns:p14="http://schemas.microsoft.com/office/powerpoint/2010/main" val="1269325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If the target shares were publicly traded, there is </a:t>
            </a:r>
            <a:r>
              <a:rPr lang="en-US" b="1" dirty="0"/>
              <a:t>no appraisal </a:t>
            </a:r>
            <a:r>
              <a:rPr lang="en-US" dirty="0"/>
              <a:t>remedy unless:</a:t>
            </a:r>
          </a:p>
          <a:p>
            <a:pPr lvl="1"/>
            <a:r>
              <a:rPr lang="en-US" dirty="0"/>
              <a:t>(1) The total number of shares entitled to appraisal exceeds 1% of the outstanding shares of the class or series eligible for appraisal, </a:t>
            </a:r>
          </a:p>
          <a:p>
            <a:pPr lvl="1"/>
            <a:r>
              <a:rPr lang="en-US" dirty="0"/>
              <a:t>(2) the value of the consideration provided in the merger, consolidation conversion, transfer, domestication or continuance for such total number of shares exceeds $1 million, or </a:t>
            </a:r>
          </a:p>
          <a:p>
            <a:pPr lvl="1"/>
            <a:r>
              <a:rPr lang="en-US" dirty="0"/>
              <a:t>(3) the merger was approved pursuant to § 253 or § 267.  DGCL § 262(g).</a:t>
            </a:r>
          </a:p>
          <a:p>
            <a:pPr lvl="1"/>
            <a:endParaRPr lang="en-US" dirty="0"/>
          </a:p>
          <a:p>
            <a:pPr marL="171450" lvl="1" defTabSz="685800">
              <a:buFont typeface="Wingdings 2" pitchFamily="18" charset="2"/>
              <a:buChar char=""/>
            </a:pPr>
            <a:r>
              <a:rPr lang="en-US" sz="2400" dirty="0"/>
              <a:t>A surviving corporation can pay cash to the dissenting shareholders before judgment, thus stopping the accrual of interest on the amount paid.  Interest will only accrue on the sum of (a) the difference, if any, between the amount so paid and the fair value of the shares as determined by the Court of Chancery, and (b) interest already accrued at the time of the payment. DGCL </a:t>
            </a:r>
            <a:r>
              <a:rPr kumimoji="0" lang="en-US" sz="2400" b="0" i="0" u="none" strike="noStrike" kern="1200" cap="none" spc="0" normalizeH="0" baseline="0" noProof="0" dirty="0">
                <a:ln>
                  <a:noFill/>
                </a:ln>
                <a:solidFill>
                  <a:prstClr val="black"/>
                </a:solidFill>
                <a:effectLst/>
                <a:uLnTx/>
                <a:uFillTx/>
                <a:latin typeface="Calibri" charset="0"/>
                <a:cs typeface="Calibri" charset="0"/>
              </a:rPr>
              <a:t>§ </a:t>
            </a:r>
            <a:r>
              <a:rPr lang="en-US" sz="2400" dirty="0"/>
              <a:t>262(h).</a:t>
            </a:r>
          </a:p>
          <a:p>
            <a:endParaRPr lang="en-US" dirty="0"/>
          </a:p>
        </p:txBody>
      </p:sp>
      <p:sp>
        <p:nvSpPr>
          <p:cNvPr id="3" name="Title 2"/>
          <p:cNvSpPr>
            <a:spLocks noGrp="1"/>
          </p:cNvSpPr>
          <p:nvPr>
            <p:ph type="title"/>
          </p:nvPr>
        </p:nvSpPr>
        <p:spPr/>
        <p:txBody>
          <a:bodyPr/>
          <a:lstStyle/>
          <a:p>
            <a:r>
              <a:rPr lang="en-US" dirty="0"/>
              <a:t>Delaware Appraisal: 2016 Changes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
        <p:nvSpPr>
          <p:cNvPr id="5" name="Footer Placeholder 4"/>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897612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 y="533400"/>
            <a:ext cx="8689848" cy="2559384"/>
          </a:xfrm>
        </p:spPr>
      </p:pic>
      <p:sp>
        <p:nvSpPr>
          <p:cNvPr id="3" name="Title 2"/>
          <p:cNvSpPr>
            <a:spLocks noGrp="1"/>
          </p:cNvSpPr>
          <p:nvPr>
            <p:ph type="title"/>
          </p:nvPr>
        </p:nvSpPr>
        <p:spPr/>
        <p:txBody>
          <a:bodyPr/>
          <a:lstStyle/>
          <a:p>
            <a:r>
              <a:rPr lang="en-US" dirty="0"/>
              <a:t>Delaware Appraisal: 2016 Changes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
        <p:nvSpPr>
          <p:cNvPr id="5" name="Footer Placeholder 4"/>
          <p:cNvSpPr>
            <a:spLocks noGrp="1"/>
          </p:cNvSpPr>
          <p:nvPr>
            <p:ph type="ftr" sz="quarter" idx="11"/>
          </p:nvPr>
        </p:nvSpPr>
        <p:spPr/>
        <p:txBody>
          <a:bodyPr/>
          <a:lstStyle/>
          <a:p>
            <a:pPr>
              <a:defRPr/>
            </a:pPr>
            <a:r>
              <a:rPr lang="en-US"/>
              <a:t>Valuation Delaware</a:t>
            </a: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648" y="3352799"/>
            <a:ext cx="8763000" cy="2831271"/>
          </a:xfrm>
          <a:prstGeom prst="rect">
            <a:avLst/>
          </a:prstGeom>
        </p:spPr>
      </p:pic>
      <p:sp>
        <p:nvSpPr>
          <p:cNvPr id="8" name="Rectangle 7"/>
          <p:cNvSpPr/>
          <p:nvPr/>
        </p:nvSpPr>
        <p:spPr>
          <a:xfrm>
            <a:off x="2667000" y="6182475"/>
            <a:ext cx="4238661" cy="261610"/>
          </a:xfrm>
          <a:prstGeom prst="rect">
            <a:avLst/>
          </a:prstGeom>
        </p:spPr>
        <p:txBody>
          <a:bodyPr wrap="none">
            <a:spAutoFit/>
          </a:bodyPr>
          <a:lstStyle/>
          <a:p>
            <a:pPr lvl="1"/>
            <a:r>
              <a:rPr lang="en-US" sz="1100" dirty="0" err="1"/>
              <a:t>Schoenfeld</a:t>
            </a:r>
            <a:r>
              <a:rPr lang="en-US" sz="1100" dirty="0"/>
              <a:t>, </a:t>
            </a:r>
            <a:r>
              <a:rPr lang="en-US" sz="1100" i="1" dirty="0"/>
              <a:t>High Cost of Fewer Appraisal Claims in 2017</a:t>
            </a:r>
          </a:p>
        </p:txBody>
      </p:sp>
    </p:spTree>
    <p:extLst>
      <p:ext uri="{BB962C8B-B14F-4D97-AF65-F5344CB8AC3E}">
        <p14:creationId xmlns:p14="http://schemas.microsoft.com/office/powerpoint/2010/main" val="1139322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Allow a </a:t>
            </a:r>
            <a:r>
              <a:rPr lang="en-US" b="1" dirty="0"/>
              <a:t>beneficial owner </a:t>
            </a:r>
            <a:r>
              <a:rPr lang="en-US" dirty="0"/>
              <a:t>of stock to demand appraisal directly instead of relying on the </a:t>
            </a:r>
            <a:r>
              <a:rPr lang="en-US" b="1" dirty="0"/>
              <a:t>record holder,</a:t>
            </a:r>
            <a:r>
              <a:rPr lang="en-US" dirty="0"/>
              <a:t> e.g., Cede &amp; Co.</a:t>
            </a:r>
          </a:p>
          <a:p>
            <a:endParaRPr lang="en-US" dirty="0"/>
          </a:p>
          <a:p>
            <a:r>
              <a:rPr lang="en-US" dirty="0"/>
              <a:t>No longer require that a copy of the appraisal statute be attached to the notice that appraisal rights are available; company can provide directions to access the statutory text (“without subscription or cost”) at a “publicly available electronic resource”</a:t>
            </a:r>
          </a:p>
          <a:p>
            <a:endParaRPr lang="en-US" dirty="0"/>
          </a:p>
          <a:p>
            <a:r>
              <a:rPr lang="en-US" dirty="0"/>
              <a:t>Make appraisal rights available in connection with any conversion of a corporation to another entity, e.g., LLC</a:t>
            </a:r>
          </a:p>
          <a:p>
            <a:endParaRPr lang="en-US" dirty="0"/>
          </a:p>
          <a:p>
            <a:r>
              <a:rPr lang="en-US" dirty="0"/>
              <a:t>Extend appraisal rights to domestications, transfers, and continuations</a:t>
            </a:r>
          </a:p>
        </p:txBody>
      </p:sp>
      <p:sp>
        <p:nvSpPr>
          <p:cNvPr id="3" name="Title 2"/>
          <p:cNvSpPr>
            <a:spLocks noGrp="1"/>
          </p:cNvSpPr>
          <p:nvPr>
            <p:ph type="title"/>
          </p:nvPr>
        </p:nvSpPr>
        <p:spPr/>
        <p:txBody>
          <a:bodyPr/>
          <a:lstStyle/>
          <a:p>
            <a:r>
              <a:rPr lang="en-US" dirty="0"/>
              <a:t>Delaware Appraisal: 2022 and 2023 Changes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
        <p:nvSpPr>
          <p:cNvPr id="5" name="Footer Placeholder 4"/>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3482328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p:txBody>
          <a:bodyPr/>
          <a:lstStyle/>
          <a:p>
            <a:pPr>
              <a:lnSpc>
                <a:spcPct val="90000"/>
              </a:lnSpc>
            </a:pPr>
            <a:r>
              <a:rPr lang="en-US" altLang="en-US" dirty="0">
                <a:ea typeface="ＭＳ Ｐゴシック" pitchFamily="34" charset="-128"/>
              </a:rPr>
              <a:t>“</a:t>
            </a:r>
            <a:r>
              <a:rPr lang="en-US" dirty="0">
                <a:ea typeface="ＭＳ Ｐゴシック" pitchFamily="34" charset="-128"/>
              </a:rPr>
              <a:t>Accordingly, the standard `Delaware block` or weighted average method of valuation, formerly employed in appraisal and other stock valuation cases, shall no longer exclusively control such proceedings. We believe that a more liberal approach must include proof of value by </a:t>
            </a:r>
            <a:r>
              <a:rPr lang="en-US" b="1" dirty="0">
                <a:ea typeface="ＭＳ Ｐゴシック" pitchFamily="34" charset="-128"/>
              </a:rPr>
              <a:t>any techniques or methods which are </a:t>
            </a:r>
            <a:r>
              <a:rPr lang="en-US" b="1" i="1" dirty="0">
                <a:ea typeface="ＭＳ Ｐゴシック" pitchFamily="34" charset="-128"/>
              </a:rPr>
              <a:t>generally considered acceptable in the financial community</a:t>
            </a:r>
            <a:r>
              <a:rPr lang="en-US" dirty="0">
                <a:ea typeface="ＭＳ Ｐゴシック" pitchFamily="34" charset="-128"/>
              </a:rPr>
              <a:t>.</a:t>
            </a:r>
            <a:r>
              <a:rPr lang="en-US" altLang="en-US" dirty="0">
                <a:ea typeface="ＭＳ Ｐゴシック" pitchFamily="34" charset="-128"/>
              </a:rPr>
              <a:t>”</a:t>
            </a:r>
            <a:r>
              <a:rPr lang="en-US" dirty="0">
                <a:ea typeface="ＭＳ Ｐゴシック" pitchFamily="34" charset="-128"/>
              </a:rPr>
              <a:t>  </a:t>
            </a:r>
            <a:r>
              <a:rPr lang="en-US" sz="1800" i="1" dirty="0">
                <a:ea typeface="ＭＳ Ｐゴシック" pitchFamily="34" charset="-128"/>
              </a:rPr>
              <a:t>Weinberger v. UOP</a:t>
            </a:r>
            <a:r>
              <a:rPr lang="en-US" sz="1800" dirty="0">
                <a:ea typeface="ＭＳ Ｐゴシック" pitchFamily="34" charset="-128"/>
              </a:rPr>
              <a:t>, Inc. 457 A.2d 701, 713 (1983)</a:t>
            </a:r>
            <a:endParaRPr lang="en-US" dirty="0">
              <a:ea typeface="ＭＳ Ｐゴシック" pitchFamily="34" charset="-128"/>
            </a:endParaRPr>
          </a:p>
          <a:p>
            <a:pPr>
              <a:lnSpc>
                <a:spcPct val="90000"/>
              </a:lnSpc>
            </a:pPr>
            <a:endParaRPr lang="en-US" dirty="0">
              <a:ea typeface="ＭＳ Ｐゴシック" pitchFamily="34" charset="-128"/>
            </a:endParaRPr>
          </a:p>
          <a:p>
            <a:pPr>
              <a:lnSpc>
                <a:spcPct val="90000"/>
              </a:lnSpc>
            </a:pPr>
            <a:r>
              <a:rPr lang="en-US" altLang="en-US" dirty="0">
                <a:ea typeface="ＭＳ Ｐゴシック" pitchFamily="34" charset="-128"/>
              </a:rPr>
              <a:t>“</a:t>
            </a:r>
            <a:r>
              <a:rPr lang="en-US" dirty="0">
                <a:ea typeface="ＭＳ Ｐゴシック" pitchFamily="34" charset="-128"/>
              </a:rPr>
              <a:t>Only the speculative elements of value that may arise from the </a:t>
            </a:r>
            <a:r>
              <a:rPr lang="en-US" altLang="en-US" dirty="0">
                <a:ea typeface="ＭＳ Ｐゴシック" pitchFamily="34" charset="-128"/>
              </a:rPr>
              <a:t>‘</a:t>
            </a:r>
            <a:r>
              <a:rPr lang="en-US" dirty="0">
                <a:ea typeface="ＭＳ Ｐゴシック" pitchFamily="34" charset="-128"/>
              </a:rPr>
              <a:t>accomplishment or expectation</a:t>
            </a:r>
            <a:r>
              <a:rPr lang="en-US" altLang="en-US" dirty="0">
                <a:ea typeface="ＭＳ Ｐゴシック" pitchFamily="34" charset="-128"/>
              </a:rPr>
              <a:t>’</a:t>
            </a:r>
            <a:r>
              <a:rPr lang="en-US" dirty="0">
                <a:ea typeface="ＭＳ Ｐゴシック" pitchFamily="34" charset="-128"/>
              </a:rPr>
              <a:t> of the merger are excluded. We take this to be a very narrow exception to the appraisal process, designed to eliminate use of </a:t>
            </a:r>
            <a:r>
              <a:rPr lang="en-US" i="1" dirty="0">
                <a:ea typeface="ＭＳ Ｐゴシック" pitchFamily="34" charset="-128"/>
              </a:rPr>
              <a:t>pro forma</a:t>
            </a:r>
            <a:r>
              <a:rPr lang="en-US" dirty="0">
                <a:ea typeface="ＭＳ Ｐゴシック" pitchFamily="34" charset="-128"/>
              </a:rPr>
              <a:t> data and projections of a speculative variety relating to the completion of a merger. But elements of future value, including the nature of the enterprise, which are known or susceptible of proof as of the date of the merger and not the product of speculation, may be considered .</a:t>
            </a:r>
            <a:r>
              <a:rPr lang="en-US" altLang="en-US" dirty="0">
                <a:ea typeface="ＭＳ Ｐゴシック" pitchFamily="34" charset="-128"/>
              </a:rPr>
              <a:t>”</a:t>
            </a:r>
            <a:r>
              <a:rPr lang="en-US" dirty="0">
                <a:ea typeface="ＭＳ Ｐゴシック" pitchFamily="34" charset="-128"/>
              </a:rPr>
              <a:t> </a:t>
            </a:r>
            <a:r>
              <a:rPr lang="en-US" i="1" dirty="0">
                <a:ea typeface="ＭＳ Ｐゴシック" pitchFamily="34" charset="-128"/>
              </a:rPr>
              <a:t>Id.</a:t>
            </a:r>
          </a:p>
        </p:txBody>
      </p:sp>
      <p:sp>
        <p:nvSpPr>
          <p:cNvPr id="15362" name="Title 1"/>
          <p:cNvSpPr>
            <a:spLocks noGrp="1"/>
          </p:cNvSpPr>
          <p:nvPr>
            <p:ph type="title"/>
          </p:nvPr>
        </p:nvSpPr>
        <p:spPr/>
        <p:txBody>
          <a:bodyPr/>
          <a:lstStyle/>
          <a:p>
            <a:r>
              <a:rPr lang="en-US" b="1" dirty="0">
                <a:ea typeface="ＭＳ Ｐゴシック" pitchFamily="34" charset="-128"/>
              </a:rPr>
              <a:t>Valuation in Delaware</a:t>
            </a:r>
          </a:p>
        </p:txBody>
      </p:sp>
      <p:sp>
        <p:nvSpPr>
          <p:cNvPr id="15365" name="Slide Number Placeholder 4"/>
          <p:cNvSpPr>
            <a:spLocks noGrp="1"/>
          </p:cNvSpPr>
          <p:nvPr>
            <p:ph type="sldNum" sz="quarter" idx="10"/>
          </p:nvPr>
        </p:nvSpPr>
        <p:spPr>
          <a:noFill/>
        </p:spPr>
        <p:txBody>
          <a:bodyPr/>
          <a:lstStyle/>
          <a:p>
            <a:endParaRPr lang="en-US" dirty="0">
              <a:latin typeface="Calibri" pitchFamily="34" charset="0"/>
              <a:ea typeface="ＭＳ Ｐゴシック" pitchFamily="34" charset="-128"/>
            </a:endParaRPr>
          </a:p>
          <a:p>
            <a:fld id="{993B33A2-5AB4-4396-BDE5-F6457D6F58F4}" type="slidenum">
              <a:rPr lang="en-US">
                <a:latin typeface="Calibri" pitchFamily="34" charset="0"/>
                <a:ea typeface="ＭＳ Ｐゴシック" pitchFamily="34" charset="-128"/>
              </a:rPr>
              <a:pPr/>
              <a:t>13</a:t>
            </a:fld>
            <a:endParaRPr lang="en-US" dirty="0">
              <a:latin typeface="Calibri" pitchFamily="34" charset="0"/>
              <a:ea typeface="ＭＳ Ｐゴシック" pitchFamily="34" charset="-128"/>
            </a:endParaRPr>
          </a:p>
        </p:txBody>
      </p:sp>
      <p:sp>
        <p:nvSpPr>
          <p:cNvPr id="4" name="Footer Placeholder 3"/>
          <p:cNvSpPr>
            <a:spLocks noGrp="1"/>
          </p:cNvSpPr>
          <p:nvPr>
            <p:ph type="ftr" sz="quarter" idx="11"/>
          </p:nvPr>
        </p:nvSpPr>
        <p:spPr/>
        <p:txBody>
          <a:bodyPr/>
          <a:lstStyle/>
          <a:p>
            <a:pPr>
              <a:defRPr/>
            </a:pPr>
            <a:r>
              <a:rPr lang="en-US"/>
              <a:t>Valuation Delaware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p:cNvSpPr>
            <a:spLocks noGrp="1"/>
          </p:cNvSpPr>
          <p:nvPr>
            <p:ph idx="1"/>
          </p:nvPr>
        </p:nvSpPr>
        <p:spPr/>
        <p:txBody>
          <a:bodyPr>
            <a:normAutofit/>
          </a:bodyPr>
          <a:lstStyle/>
          <a:p>
            <a:pPr>
              <a:defRPr/>
            </a:pPr>
            <a:r>
              <a:rPr lang="en-US" dirty="0"/>
              <a:t>Closely-held corporations</a:t>
            </a:r>
          </a:p>
          <a:p>
            <a:pPr lvl="1">
              <a:buFont typeface="Wingdings" charset="0"/>
              <a:buChar char="Ø"/>
              <a:defRPr/>
            </a:pPr>
            <a:r>
              <a:rPr lang="en-US" sz="1600" dirty="0">
                <a:ea typeface="ＭＳ Ｐゴシック" charset="0"/>
              </a:rPr>
              <a:t>Does CAPM work well here?</a:t>
            </a:r>
          </a:p>
          <a:p>
            <a:pPr>
              <a:defRPr/>
            </a:pPr>
            <a:r>
              <a:rPr lang="en-US" dirty="0"/>
              <a:t>Cash-out mergers</a:t>
            </a:r>
          </a:p>
          <a:p>
            <a:pPr lvl="1">
              <a:buFont typeface="Wingdings" charset="0"/>
              <a:buChar char="Ø"/>
              <a:defRPr/>
            </a:pPr>
            <a:r>
              <a:rPr lang="en-US" sz="1600" dirty="0">
                <a:ea typeface="ＭＳ Ｐゴシック" charset="0"/>
              </a:rPr>
              <a:t>What are the concerns about determining FV if there is a controlling SH?</a:t>
            </a:r>
          </a:p>
          <a:p>
            <a:pPr lvl="1">
              <a:buFont typeface="Wingdings" charset="0"/>
              <a:buChar char="Ø"/>
              <a:defRPr/>
            </a:pPr>
            <a:r>
              <a:rPr lang="en-US" sz="1600" dirty="0">
                <a:ea typeface="ＭＳ Ｐゴシック" charset="0"/>
              </a:rPr>
              <a:t>Poorly performing managers?</a:t>
            </a:r>
          </a:p>
          <a:p>
            <a:pPr>
              <a:defRPr/>
            </a:pPr>
            <a:r>
              <a:rPr lang="en-US" dirty="0"/>
              <a:t>Short-form mergers  </a:t>
            </a:r>
            <a:r>
              <a:rPr lang="en-US" sz="1800" dirty="0"/>
              <a:t>DGCL § 262(b)(3).</a:t>
            </a:r>
          </a:p>
          <a:p>
            <a:pPr>
              <a:defRPr/>
            </a:pPr>
            <a:r>
              <a:rPr lang="en-US" dirty="0"/>
              <a:t>Balancing tensions between minority and controlling SHs</a:t>
            </a:r>
          </a:p>
          <a:p>
            <a:pPr>
              <a:defRPr/>
            </a:pPr>
            <a:r>
              <a:rPr lang="en-US" dirty="0"/>
              <a:t>Average time from transaction to award:  5 years</a:t>
            </a:r>
          </a:p>
          <a:p>
            <a:pPr lvl="1">
              <a:defRPr/>
            </a:pPr>
            <a:r>
              <a:rPr lang="en-US" sz="2400" dirty="0"/>
              <a:t>Some recent cases are decided in 2 years </a:t>
            </a:r>
          </a:p>
        </p:txBody>
      </p:sp>
      <p:sp>
        <p:nvSpPr>
          <p:cNvPr id="16386" name="Title 1"/>
          <p:cNvSpPr>
            <a:spLocks noGrp="1"/>
          </p:cNvSpPr>
          <p:nvPr>
            <p:ph type="title"/>
          </p:nvPr>
        </p:nvSpPr>
        <p:spPr/>
        <p:txBody>
          <a:bodyPr/>
          <a:lstStyle/>
          <a:p>
            <a:r>
              <a:rPr lang="en-US" sz="2400" b="1" dirty="0">
                <a:ea typeface="ＭＳ Ｐゴシック" pitchFamily="34" charset="-128"/>
              </a:rPr>
              <a:t>Valuation in Delaware</a:t>
            </a:r>
          </a:p>
        </p:txBody>
      </p:sp>
      <p:sp>
        <p:nvSpPr>
          <p:cNvPr id="16389" name="Slide Number Placeholder 4"/>
          <p:cNvSpPr>
            <a:spLocks noGrp="1"/>
          </p:cNvSpPr>
          <p:nvPr>
            <p:ph type="sldNum" sz="quarter" idx="10"/>
          </p:nvPr>
        </p:nvSpPr>
        <p:spPr>
          <a:noFill/>
        </p:spPr>
        <p:txBody>
          <a:bodyPr/>
          <a:lstStyle/>
          <a:p>
            <a:endParaRPr lang="en-US" dirty="0">
              <a:latin typeface="Calibri" pitchFamily="34" charset="0"/>
              <a:ea typeface="ＭＳ Ｐゴシック" pitchFamily="34" charset="-128"/>
            </a:endParaRPr>
          </a:p>
          <a:p>
            <a:fld id="{A124050D-2631-42F6-9CAC-DC24C918A9E5}" type="slidenum">
              <a:rPr lang="en-US">
                <a:latin typeface="Calibri" pitchFamily="34" charset="0"/>
                <a:ea typeface="ＭＳ Ｐゴシック" pitchFamily="34" charset="-128"/>
              </a:rPr>
              <a:pPr/>
              <a:t>14</a:t>
            </a:fld>
            <a:endParaRPr lang="en-US" dirty="0">
              <a:latin typeface="Calibri" pitchFamily="34" charset="0"/>
              <a:ea typeface="ＭＳ Ｐゴシック" pitchFamily="34" charset="-128"/>
            </a:endParaRPr>
          </a:p>
        </p:txBody>
      </p:sp>
      <p:sp>
        <p:nvSpPr>
          <p:cNvPr id="4" name="Footer Placeholder 3"/>
          <p:cNvSpPr>
            <a:spLocks noGrp="1"/>
          </p:cNvSpPr>
          <p:nvPr>
            <p:ph type="ftr" sz="quarter" idx="11"/>
          </p:nvPr>
        </p:nvSpPr>
        <p:spPr/>
        <p:txBody>
          <a:bodyPr/>
          <a:lstStyle/>
          <a:p>
            <a:pPr>
              <a:defRPr/>
            </a:pPr>
            <a:r>
              <a:rPr lang="en-US"/>
              <a:t>Valuation Delaware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p:cNvSpPr>
            <a:spLocks noGrp="1"/>
          </p:cNvSpPr>
          <p:nvPr>
            <p:ph idx="1"/>
          </p:nvPr>
        </p:nvSpPr>
        <p:spPr/>
        <p:txBody>
          <a:bodyPr/>
          <a:lstStyle/>
          <a:p>
            <a:r>
              <a:rPr lang="en-US" sz="2400" dirty="0">
                <a:ea typeface="ＭＳ Ｐゴシック" pitchFamily="34" charset="-128"/>
              </a:rPr>
              <a:t>Market value</a:t>
            </a:r>
          </a:p>
          <a:p>
            <a:pPr lvl="1"/>
            <a:r>
              <a:rPr lang="en-US" dirty="0">
                <a:ea typeface="ＭＳ Ｐゴシック" pitchFamily="34" charset="-128"/>
              </a:rPr>
              <a:t>What if there is a controlling SH?</a:t>
            </a:r>
          </a:p>
          <a:p>
            <a:pPr lvl="2"/>
            <a:r>
              <a:rPr lang="en-US" dirty="0">
                <a:ea typeface="ＭＳ Ｐゴシック" pitchFamily="34" charset="-128"/>
              </a:rPr>
              <a:t>Minority discount?</a:t>
            </a:r>
          </a:p>
          <a:p>
            <a:pPr lvl="1"/>
            <a:r>
              <a:rPr lang="en-US" dirty="0">
                <a:ea typeface="ＭＳ Ｐゴシック" pitchFamily="34" charset="-128"/>
              </a:rPr>
              <a:t>Close corporation?</a:t>
            </a:r>
          </a:p>
          <a:p>
            <a:pPr lvl="1"/>
            <a:r>
              <a:rPr lang="en-US" dirty="0">
                <a:ea typeface="ＭＳ Ｐゴシック" pitchFamily="34" charset="-128"/>
              </a:rPr>
              <a:t>EMH?</a:t>
            </a:r>
          </a:p>
          <a:p>
            <a:pPr lvl="1"/>
            <a:r>
              <a:rPr lang="en-US" dirty="0">
                <a:ea typeface="ＭＳ Ｐゴシック" pitchFamily="34" charset="-128"/>
              </a:rPr>
              <a:t>Market out exception?</a:t>
            </a:r>
          </a:p>
          <a:p>
            <a:r>
              <a:rPr lang="en-US" sz="2400" dirty="0">
                <a:ea typeface="ＭＳ Ｐゴシック" pitchFamily="34" charset="-128"/>
              </a:rPr>
              <a:t>Third-party sale value</a:t>
            </a:r>
          </a:p>
          <a:p>
            <a:pPr lvl="1"/>
            <a:r>
              <a:rPr lang="en-US" altLang="en-US" dirty="0">
                <a:ea typeface="ＭＳ Ｐゴシック" pitchFamily="34" charset="-128"/>
              </a:rPr>
              <a:t>“</a:t>
            </a:r>
            <a:r>
              <a:rPr lang="en-US" dirty="0">
                <a:ea typeface="ＭＳ Ｐゴシック" pitchFamily="34" charset="-128"/>
              </a:rPr>
              <a:t>What</a:t>
            </a:r>
            <a:r>
              <a:rPr lang="en-US" altLang="en-US" dirty="0">
                <a:ea typeface="ＭＳ Ｐゴシック" pitchFamily="34" charset="-128"/>
              </a:rPr>
              <a:t>’</a:t>
            </a:r>
            <a:r>
              <a:rPr lang="en-US" dirty="0">
                <a:ea typeface="ＭＳ Ｐゴシック" pitchFamily="34" charset="-128"/>
              </a:rPr>
              <a:t>s the best price a single buyer could reasonably be expected to pay for the firm as an entirety?</a:t>
            </a:r>
            <a:r>
              <a:rPr lang="en-US" altLang="en-US" dirty="0">
                <a:ea typeface="ＭＳ Ｐゴシック" pitchFamily="34" charset="-128"/>
              </a:rPr>
              <a:t>”</a:t>
            </a:r>
            <a:r>
              <a:rPr lang="en-US" dirty="0">
                <a:ea typeface="ＭＳ Ｐゴシック" pitchFamily="34" charset="-128"/>
              </a:rPr>
              <a:t>  </a:t>
            </a:r>
            <a:r>
              <a:rPr lang="en-US" i="1" dirty="0">
                <a:ea typeface="ＭＳ Ｐゴシック" pitchFamily="34" charset="-128"/>
              </a:rPr>
              <a:t>McLoon Oil Co. (1989)</a:t>
            </a:r>
            <a:endParaRPr lang="en-US" dirty="0">
              <a:ea typeface="ＭＳ Ｐゴシック" pitchFamily="34" charset="-128"/>
            </a:endParaRPr>
          </a:p>
          <a:p>
            <a:pPr lvl="1"/>
            <a:r>
              <a:rPr lang="en-US" dirty="0">
                <a:ea typeface="ＭＳ Ｐゴシック" pitchFamily="34" charset="-128"/>
              </a:rPr>
              <a:t>Always value enhancing?</a:t>
            </a:r>
          </a:p>
          <a:p>
            <a:r>
              <a:rPr lang="en-US" sz="2400" dirty="0">
                <a:ea typeface="ＭＳ Ｐゴシック" pitchFamily="34" charset="-128"/>
              </a:rPr>
              <a:t>Going concern value</a:t>
            </a:r>
          </a:p>
        </p:txBody>
      </p:sp>
      <p:sp>
        <p:nvSpPr>
          <p:cNvPr id="17410" name="Title 1"/>
          <p:cNvSpPr>
            <a:spLocks noGrp="1"/>
          </p:cNvSpPr>
          <p:nvPr>
            <p:ph type="title"/>
          </p:nvPr>
        </p:nvSpPr>
        <p:spPr/>
        <p:txBody>
          <a:bodyPr/>
          <a:lstStyle/>
          <a:p>
            <a:r>
              <a:rPr lang="en-US" b="1" dirty="0">
                <a:ea typeface="ＭＳ Ｐゴシック" pitchFamily="34" charset="-128"/>
              </a:rPr>
              <a:t>Measure of Fair Value in Delaware</a:t>
            </a:r>
          </a:p>
        </p:txBody>
      </p:sp>
      <p:sp>
        <p:nvSpPr>
          <p:cNvPr id="17413" name="Slide Number Placeholder 4"/>
          <p:cNvSpPr>
            <a:spLocks noGrp="1"/>
          </p:cNvSpPr>
          <p:nvPr>
            <p:ph type="sldNum" sz="quarter" idx="10"/>
          </p:nvPr>
        </p:nvSpPr>
        <p:spPr>
          <a:noFill/>
        </p:spPr>
        <p:txBody>
          <a:bodyPr/>
          <a:lstStyle/>
          <a:p>
            <a:endParaRPr lang="en-US" dirty="0">
              <a:latin typeface="Calibri" pitchFamily="34" charset="0"/>
              <a:ea typeface="ＭＳ Ｐゴシック" pitchFamily="34" charset="-128"/>
            </a:endParaRPr>
          </a:p>
          <a:p>
            <a:fld id="{74B3E86D-172B-4174-915A-9DD9C421DACA}" type="slidenum">
              <a:rPr lang="en-US">
                <a:latin typeface="Calibri" pitchFamily="34" charset="0"/>
                <a:ea typeface="ＭＳ Ｐゴシック" pitchFamily="34" charset="-128"/>
              </a:rPr>
              <a:pPr/>
              <a:t>15</a:t>
            </a:fld>
            <a:endParaRPr lang="en-US" dirty="0">
              <a:latin typeface="Calibri" pitchFamily="34" charset="0"/>
              <a:ea typeface="ＭＳ Ｐゴシック" pitchFamily="34" charset="-128"/>
            </a:endParaRPr>
          </a:p>
        </p:txBody>
      </p:sp>
      <p:sp>
        <p:nvSpPr>
          <p:cNvPr id="4" name="Footer Placeholder 3"/>
          <p:cNvSpPr>
            <a:spLocks noGrp="1"/>
          </p:cNvSpPr>
          <p:nvPr>
            <p:ph type="ftr" sz="quarter" idx="11"/>
          </p:nvPr>
        </p:nvSpPr>
        <p:spPr/>
        <p:txBody>
          <a:bodyPr/>
          <a:lstStyle/>
          <a:p>
            <a:pPr>
              <a:defRPr/>
            </a:pPr>
            <a:r>
              <a:rPr lang="en-US"/>
              <a:t>Valuation Delaware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defRPr/>
            </a:pPr>
            <a:r>
              <a:rPr lang="en-US" sz="2400" strike="sngStrike" dirty="0"/>
              <a:t>Delaware Block Method:  weighted average of</a:t>
            </a:r>
          </a:p>
          <a:p>
            <a:pPr lvl="1">
              <a:buFont typeface="Wingdings" charset="0"/>
              <a:buChar char="Ø"/>
              <a:defRPr/>
            </a:pPr>
            <a:r>
              <a:rPr lang="en-US" sz="2000" strike="sngStrike" dirty="0"/>
              <a:t>Asset value</a:t>
            </a:r>
          </a:p>
          <a:p>
            <a:pPr lvl="1">
              <a:buFont typeface="Wingdings" charset="0"/>
              <a:buChar char="Ø"/>
              <a:defRPr/>
            </a:pPr>
            <a:r>
              <a:rPr lang="en-US" sz="2000" strike="sngStrike" dirty="0"/>
              <a:t>Earnings Value</a:t>
            </a:r>
          </a:p>
          <a:p>
            <a:pPr lvl="1">
              <a:buFont typeface="Wingdings" charset="0"/>
              <a:buChar char="Ø"/>
              <a:defRPr/>
            </a:pPr>
            <a:r>
              <a:rPr lang="en-US" sz="2000" strike="sngStrike" dirty="0"/>
              <a:t>Market Value</a:t>
            </a:r>
          </a:p>
          <a:p>
            <a:pPr>
              <a:defRPr/>
            </a:pPr>
            <a:r>
              <a:rPr lang="en-US" sz="2400" dirty="0"/>
              <a:t>Discounted Cash Flow (DCF)</a:t>
            </a:r>
          </a:p>
          <a:p>
            <a:pPr lvl="1">
              <a:buFont typeface="Wingdings" charset="0"/>
              <a:buChar char="Ø"/>
              <a:defRPr/>
            </a:pPr>
            <a:r>
              <a:rPr lang="en-US" sz="2000" i="1" dirty="0"/>
              <a:t>Net</a:t>
            </a:r>
            <a:r>
              <a:rPr lang="en-US" sz="2000" dirty="0"/>
              <a:t> CFs over a period</a:t>
            </a:r>
          </a:p>
          <a:p>
            <a:pPr lvl="1">
              <a:buFont typeface="Wingdings" charset="0"/>
              <a:buChar char="Ø"/>
              <a:defRPr/>
            </a:pPr>
            <a:r>
              <a:rPr lang="en-US" dirty="0"/>
              <a:t>Terminal/residual value</a:t>
            </a:r>
          </a:p>
          <a:p>
            <a:pPr lvl="1">
              <a:buFont typeface="Wingdings" charset="0"/>
              <a:buChar char="Ø"/>
              <a:defRPr/>
            </a:pPr>
            <a:r>
              <a:rPr lang="en-US" sz="2000" dirty="0"/>
              <a:t>CoC</a:t>
            </a:r>
          </a:p>
          <a:p>
            <a:pPr>
              <a:defRPr/>
            </a:pPr>
            <a:r>
              <a:rPr lang="en-US" sz="2400" dirty="0"/>
              <a:t>Comparable Company &amp; Comparable Transactions</a:t>
            </a:r>
          </a:p>
          <a:p>
            <a:pPr>
              <a:defRPr/>
            </a:pPr>
            <a:r>
              <a:rPr lang="en-US" sz="2400" dirty="0"/>
              <a:t>Market value</a:t>
            </a:r>
          </a:p>
          <a:p>
            <a:pPr>
              <a:defRPr/>
            </a:pPr>
            <a:r>
              <a:rPr lang="en-US" sz="2400" dirty="0"/>
              <a:t>Third-party Sales</a:t>
            </a:r>
          </a:p>
          <a:p>
            <a:pPr>
              <a:defRPr/>
            </a:pPr>
            <a:r>
              <a:rPr lang="en-US" sz="2400" dirty="0"/>
              <a:t>Net asset value</a:t>
            </a:r>
          </a:p>
          <a:p>
            <a:pPr>
              <a:defRPr/>
            </a:pPr>
            <a:r>
              <a:rPr lang="en-US" sz="2400" dirty="0"/>
              <a:t>Earnings and book</a:t>
            </a:r>
          </a:p>
          <a:p>
            <a:pPr>
              <a:defRPr/>
            </a:pPr>
            <a:r>
              <a:rPr lang="en-US" sz="2400" i="1" dirty="0"/>
              <a:t>Merger Price</a:t>
            </a:r>
          </a:p>
          <a:p>
            <a:pPr lvl="1">
              <a:buFont typeface="Wingdings" charset="0"/>
              <a:buChar char="Ø"/>
              <a:defRPr/>
            </a:pPr>
            <a:endParaRPr lang="en-US" dirty="0"/>
          </a:p>
        </p:txBody>
      </p:sp>
      <p:sp>
        <p:nvSpPr>
          <p:cNvPr id="18434" name="Title 1"/>
          <p:cNvSpPr>
            <a:spLocks noGrp="1"/>
          </p:cNvSpPr>
          <p:nvPr>
            <p:ph type="title"/>
          </p:nvPr>
        </p:nvSpPr>
        <p:spPr/>
        <p:txBody>
          <a:bodyPr/>
          <a:lstStyle/>
          <a:p>
            <a:r>
              <a:rPr lang="en-US" b="1" dirty="0">
                <a:ea typeface="ＭＳ Ｐゴシック" pitchFamily="34" charset="-128"/>
              </a:rPr>
              <a:t>Valuation Techniques in Delaware</a:t>
            </a:r>
          </a:p>
        </p:txBody>
      </p:sp>
      <p:sp>
        <p:nvSpPr>
          <p:cNvPr id="18437" name="Slide Number Placeholder 4"/>
          <p:cNvSpPr>
            <a:spLocks noGrp="1"/>
          </p:cNvSpPr>
          <p:nvPr>
            <p:ph type="sldNum" sz="quarter" idx="10"/>
          </p:nvPr>
        </p:nvSpPr>
        <p:spPr>
          <a:noFill/>
        </p:spPr>
        <p:txBody>
          <a:bodyPr/>
          <a:lstStyle/>
          <a:p>
            <a:endParaRPr lang="en-US" dirty="0">
              <a:latin typeface="Calibri" pitchFamily="34" charset="0"/>
              <a:ea typeface="ＭＳ Ｐゴシック" pitchFamily="34" charset="-128"/>
            </a:endParaRPr>
          </a:p>
          <a:p>
            <a:fld id="{D25EB229-1AD3-4D4A-B3AE-8113BFCA4EF5}" type="slidenum">
              <a:rPr lang="en-US">
                <a:latin typeface="Calibri" pitchFamily="34" charset="0"/>
                <a:ea typeface="ＭＳ Ｐゴシック" pitchFamily="34" charset="-128"/>
              </a:rPr>
              <a:pPr/>
              <a:t>16</a:t>
            </a:fld>
            <a:endParaRPr lang="en-US" dirty="0">
              <a:latin typeface="Calibri" pitchFamily="34" charset="0"/>
              <a:ea typeface="ＭＳ Ｐゴシック" pitchFamily="34" charset="-128"/>
            </a:endParaRPr>
          </a:p>
        </p:txBody>
      </p:sp>
      <p:sp>
        <p:nvSpPr>
          <p:cNvPr id="4" name="Footer Placeholder 3"/>
          <p:cNvSpPr>
            <a:spLocks noGrp="1"/>
          </p:cNvSpPr>
          <p:nvPr>
            <p:ph type="ftr" sz="quarter" idx="11"/>
          </p:nvPr>
        </p:nvSpPr>
        <p:spPr/>
        <p:txBody>
          <a:bodyPr/>
          <a:lstStyle/>
          <a:p>
            <a:pPr>
              <a:defRPr/>
            </a:pPr>
            <a:r>
              <a:rPr lang="en-US"/>
              <a:t>Valuation Delaware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43150" y="533400"/>
            <a:ext cx="6499097" cy="5812064"/>
          </a:xfrm>
          <a:ln>
            <a:solidFill>
              <a:schemeClr val="tx1"/>
            </a:solidFill>
          </a:ln>
        </p:spPr>
        <p:txBody>
          <a:bodyPr>
            <a:normAutofit fontScale="92500" lnSpcReduction="10000"/>
          </a:bodyPr>
          <a:lstStyle/>
          <a:p>
            <a:pPr marL="228600" indent="-228600"/>
            <a:r>
              <a:rPr lang="en-US" sz="1800" b="1" dirty="0"/>
              <a:t>P’s DCF Valuation</a:t>
            </a:r>
          </a:p>
          <a:p>
            <a:pPr marL="457200" lvl="1" indent="-228600"/>
            <a:r>
              <a:rPr lang="en-US" sz="1800" dirty="0"/>
              <a:t>Ct. rejected cash deployment scenarios/industry growth scenarios</a:t>
            </a:r>
          </a:p>
          <a:p>
            <a:pPr marL="457200" lvl="1" indent="-228600"/>
            <a:r>
              <a:rPr lang="en-US" sz="1800" dirty="0"/>
              <a:t>SBC—non-cash expense</a:t>
            </a:r>
          </a:p>
          <a:p>
            <a:pPr marL="457200" lvl="1" indent="-228600"/>
            <a:r>
              <a:rPr lang="en-US" sz="1800" dirty="0"/>
              <a:t>WC adjustment</a:t>
            </a:r>
          </a:p>
          <a:p>
            <a:pPr marL="457200" lvl="1" indent="-228600"/>
            <a:r>
              <a:rPr lang="en-US" sz="1800" dirty="0"/>
              <a:t>WACC: 12.55%: 20-yr Treas; 1-yr raw weekly Beta w/ cash adjustment &amp; smoothing; SERP=5.0% + Size Premium (1.73%)</a:t>
            </a:r>
          </a:p>
          <a:p>
            <a:pPr marL="838200" lvl="2" indent="-228600"/>
            <a:r>
              <a:rPr lang="en-US" sz="1800" dirty="0"/>
              <a:t>CT: 2.96 + (1.397 * 5.2) + 1.73 = 11.954%</a:t>
            </a:r>
          </a:p>
          <a:p>
            <a:pPr marL="457200" lvl="1" indent="-228600"/>
            <a:r>
              <a:rPr lang="en-US" sz="1800" dirty="0"/>
              <a:t>Terminal value: Gordon GM: 4.5% (3 stage model)</a:t>
            </a:r>
          </a:p>
          <a:p>
            <a:pPr marL="457200" lvl="1" indent="-228600"/>
            <a:endParaRPr lang="en-US" sz="1800" dirty="0"/>
          </a:p>
          <a:p>
            <a:pPr marL="76200" indent="-228600"/>
            <a:r>
              <a:rPr lang="en-US" sz="1800" b="1" dirty="0"/>
              <a:t>D’s DCF &amp; Comparable Companies &amp; Comparable Trans.</a:t>
            </a:r>
          </a:p>
          <a:p>
            <a:pPr marL="457200" lvl="1" indent="-228600"/>
            <a:r>
              <a:rPr lang="en-US" sz="1800" b="1" dirty="0"/>
              <a:t>Com. Company</a:t>
            </a:r>
            <a:r>
              <a:rPr lang="en-US" sz="1800" dirty="0"/>
              <a:t>:  LTM &amp; Forward Revenue and EBITDA </a:t>
            </a:r>
          </a:p>
          <a:p>
            <a:pPr marL="838200" lvl="2" indent="-228600"/>
            <a:r>
              <a:rPr lang="en-US" sz="1800" dirty="0"/>
              <a:t>Rejected—Why?</a:t>
            </a:r>
          </a:p>
          <a:p>
            <a:pPr marL="457200" lvl="1" indent="-228600"/>
            <a:r>
              <a:rPr lang="en-US" sz="1800" b="1" dirty="0"/>
              <a:t>Com. Transaction</a:t>
            </a:r>
            <a:r>
              <a:rPr lang="en-US" sz="1800" dirty="0"/>
              <a:t>: LTM &amp; Forward Revenue and EBITDA </a:t>
            </a:r>
          </a:p>
          <a:p>
            <a:pPr marL="838200" lvl="2" indent="-228600"/>
            <a:r>
              <a:rPr lang="en-US" sz="1800" dirty="0"/>
              <a:t>Rejected—Why?</a:t>
            </a:r>
          </a:p>
          <a:p>
            <a:pPr marL="457200" lvl="1" indent="-228600"/>
            <a:r>
              <a:rPr lang="en-US" sz="1800" dirty="0"/>
              <a:t>SBC—cash expense</a:t>
            </a:r>
          </a:p>
          <a:p>
            <a:pPr marL="457200" lvl="1" indent="-228600"/>
            <a:r>
              <a:rPr lang="en-US" sz="1800" dirty="0"/>
              <a:t>WC adjustment</a:t>
            </a:r>
          </a:p>
          <a:p>
            <a:pPr marL="457200" lvl="1" indent="-228600"/>
            <a:r>
              <a:rPr lang="en-US" sz="1800" dirty="0"/>
              <a:t>WACC: 10.04%: 10-yr Treas; 2-yr weekly adjusted Beta w/ cash adjustment &amp; smoothing; HERP= 5.2% + Size Premium (2%)</a:t>
            </a:r>
          </a:p>
          <a:p>
            <a:pPr marL="457200" lvl="1" indent="-228600"/>
            <a:r>
              <a:rPr lang="en-US" sz="1800" dirty="0"/>
              <a:t>Terminal value: EBITDA multiples</a:t>
            </a:r>
          </a:p>
          <a:p>
            <a:pPr marL="457200" lvl="1" indent="-228600"/>
            <a:endParaRPr lang="en-US" sz="1600" dirty="0"/>
          </a:p>
        </p:txBody>
      </p:sp>
      <p:sp>
        <p:nvSpPr>
          <p:cNvPr id="2" name="Title 1"/>
          <p:cNvSpPr>
            <a:spLocks noGrp="1"/>
          </p:cNvSpPr>
          <p:nvPr>
            <p:ph type="title"/>
          </p:nvPr>
        </p:nvSpPr>
        <p:spPr/>
        <p:txBody>
          <a:bodyPr/>
          <a:lstStyle/>
          <a:p>
            <a:r>
              <a:rPr lang="en-US" b="1" dirty="0"/>
              <a:t>Merion Capital v. 3M Cogent</a:t>
            </a:r>
          </a:p>
        </p:txBody>
      </p:sp>
      <p:sp>
        <p:nvSpPr>
          <p:cNvPr id="5" name="Slide Number Placeholder 4"/>
          <p:cNvSpPr>
            <a:spLocks noGrp="1"/>
          </p:cNvSpPr>
          <p:nvPr>
            <p:ph type="sldNum" sz="quarter" idx="10"/>
          </p:nvPr>
        </p:nvSpPr>
        <p:spPr/>
        <p:txBody>
          <a:bodyPr/>
          <a:lstStyle/>
          <a:p>
            <a:pPr>
              <a:defRPr/>
            </a:pPr>
            <a:endParaRPr lang="en-US" dirty="0">
              <a:latin typeface="Calibri" pitchFamily="34" charset="0"/>
            </a:endParaRPr>
          </a:p>
          <a:p>
            <a:pPr>
              <a:defRPr/>
            </a:pPr>
            <a:fld id="{AA148A6B-0753-47DD-85B6-E3470AECA717}" type="slidenum">
              <a:rPr lang="en-US" smtClean="0">
                <a:latin typeface="Calibri" pitchFamily="34" charset="0"/>
              </a:rPr>
              <a:pPr>
                <a:defRPr/>
              </a:pPr>
              <a:t>17</a:t>
            </a:fld>
            <a:endParaRPr lang="en-US" dirty="0">
              <a:latin typeface="Calibri" pitchFamily="34" charset="0"/>
            </a:endParaRPr>
          </a:p>
        </p:txBody>
      </p:sp>
      <p:sp>
        <p:nvSpPr>
          <p:cNvPr id="4" name="Footer Placeholder 3"/>
          <p:cNvSpPr>
            <a:spLocks noGrp="1"/>
          </p:cNvSpPr>
          <p:nvPr>
            <p:ph type="ftr" sz="quarter" idx="11"/>
          </p:nvPr>
        </p:nvSpPr>
        <p:spPr/>
        <p:txBody>
          <a:bodyPr/>
          <a:lstStyle/>
          <a:p>
            <a:pPr>
              <a:defRPr/>
            </a:pPr>
            <a:r>
              <a:rPr lang="en-US"/>
              <a:t>Valuation Delaware</a:t>
            </a:r>
            <a:endParaRPr lang="en-US" dirty="0"/>
          </a:p>
        </p:txBody>
      </p:sp>
      <p:sp>
        <p:nvSpPr>
          <p:cNvPr id="6" name="Rectangle 5"/>
          <p:cNvSpPr>
            <a:spLocks noChangeArrowheads="1"/>
          </p:cNvSpPr>
          <p:nvPr/>
        </p:nvSpPr>
        <p:spPr bwMode="auto">
          <a:xfrm>
            <a:off x="228600" y="2667000"/>
            <a:ext cx="685800" cy="533400"/>
          </a:xfrm>
          <a:prstGeom prst="rect">
            <a:avLst/>
          </a:prstGeom>
          <a:solidFill>
            <a:srgbClr val="66FFCC"/>
          </a:solidFill>
          <a:ln w="12700">
            <a:solidFill>
              <a:schemeClr val="tx1"/>
            </a:solidFill>
            <a:miter lim="800000"/>
            <a:headEnd/>
            <a:tailEnd/>
          </a:ln>
        </p:spPr>
        <p:txBody>
          <a:bodyPr wrap="none" anchor="ctr"/>
          <a:lstStyle/>
          <a:p>
            <a:pPr algn="ctr" eaLnBrk="0" hangingPunct="0"/>
            <a:r>
              <a:rPr lang="en-US" b="1" dirty="0">
                <a:latin typeface="Calibri" pitchFamily="34" charset="0"/>
              </a:rPr>
              <a:t>3M</a:t>
            </a:r>
          </a:p>
        </p:txBody>
      </p:sp>
      <p:sp>
        <p:nvSpPr>
          <p:cNvPr id="8" name="Oval 11"/>
          <p:cNvSpPr>
            <a:spLocks noChangeArrowheads="1"/>
          </p:cNvSpPr>
          <p:nvPr/>
        </p:nvSpPr>
        <p:spPr bwMode="auto">
          <a:xfrm>
            <a:off x="1524000" y="1371600"/>
            <a:ext cx="609600" cy="685800"/>
          </a:xfrm>
          <a:prstGeom prst="ellipse">
            <a:avLst/>
          </a:prstGeom>
          <a:solidFill>
            <a:srgbClr val="E3C988"/>
          </a:solidFill>
          <a:ln w="9525">
            <a:solidFill>
              <a:schemeClr val="tx1"/>
            </a:solidFill>
            <a:round/>
            <a:headEnd/>
            <a:tailEnd/>
          </a:ln>
        </p:spPr>
        <p:txBody>
          <a:bodyPr wrap="none" anchor="ctr"/>
          <a:lstStyle/>
          <a:p>
            <a:pPr algn="ctr" eaLnBrk="0" hangingPunct="0"/>
            <a:r>
              <a:rPr lang="en-US" b="1" dirty="0">
                <a:latin typeface="Calibri" pitchFamily="34" charset="0"/>
              </a:rPr>
              <a:t>Pub</a:t>
            </a:r>
            <a:endParaRPr lang="en-US" sz="1400" dirty="0">
              <a:latin typeface="Calibri" pitchFamily="34" charset="0"/>
            </a:endParaRPr>
          </a:p>
        </p:txBody>
      </p:sp>
      <p:cxnSp>
        <p:nvCxnSpPr>
          <p:cNvPr id="9" name="AutoShape 13"/>
          <p:cNvCxnSpPr>
            <a:cxnSpLocks noChangeShapeType="1"/>
          </p:cNvCxnSpPr>
          <p:nvPr/>
        </p:nvCxnSpPr>
        <p:spPr bwMode="auto">
          <a:xfrm>
            <a:off x="1828800" y="2057400"/>
            <a:ext cx="0" cy="533400"/>
          </a:xfrm>
          <a:prstGeom prst="straightConnector1">
            <a:avLst/>
          </a:prstGeom>
          <a:noFill/>
          <a:ln w="38100">
            <a:solidFill>
              <a:schemeClr val="tx1"/>
            </a:solidFill>
            <a:round/>
            <a:headEnd/>
            <a:tailEnd/>
          </a:ln>
        </p:spPr>
      </p:cxnSp>
      <p:sp>
        <p:nvSpPr>
          <p:cNvPr id="11" name="Rectangle 16"/>
          <p:cNvSpPr>
            <a:spLocks noChangeArrowheads="1"/>
          </p:cNvSpPr>
          <p:nvPr/>
        </p:nvSpPr>
        <p:spPr bwMode="auto">
          <a:xfrm>
            <a:off x="1568452" y="2628900"/>
            <a:ext cx="762000" cy="609600"/>
          </a:xfrm>
          <a:prstGeom prst="rect">
            <a:avLst/>
          </a:prstGeom>
          <a:solidFill>
            <a:schemeClr val="accent1">
              <a:lumMod val="20000"/>
              <a:lumOff val="80000"/>
            </a:schemeClr>
          </a:solidFill>
          <a:ln w="12700">
            <a:solidFill>
              <a:schemeClr val="tx1"/>
            </a:solidFill>
            <a:miter lim="800000"/>
            <a:headEnd/>
            <a:tailEnd/>
          </a:ln>
        </p:spPr>
        <p:txBody>
          <a:bodyPr wrap="none" anchor="ctr"/>
          <a:lstStyle/>
          <a:p>
            <a:pPr algn="ctr" eaLnBrk="0" hangingPunct="0"/>
            <a:r>
              <a:rPr lang="en-US" b="1" dirty="0">
                <a:latin typeface="Calibri" pitchFamily="34" charset="0"/>
              </a:rPr>
              <a:t>Cogent</a:t>
            </a:r>
          </a:p>
        </p:txBody>
      </p:sp>
      <p:cxnSp>
        <p:nvCxnSpPr>
          <p:cNvPr id="14" name="Straight Arrow Connector 37"/>
          <p:cNvCxnSpPr>
            <a:cxnSpLocks noChangeShapeType="1"/>
          </p:cNvCxnSpPr>
          <p:nvPr/>
        </p:nvCxnSpPr>
        <p:spPr bwMode="auto">
          <a:xfrm flipV="1">
            <a:off x="825501" y="1943100"/>
            <a:ext cx="762000" cy="685800"/>
          </a:xfrm>
          <a:prstGeom prst="straightConnector1">
            <a:avLst/>
          </a:prstGeom>
          <a:noFill/>
          <a:ln w="9525">
            <a:solidFill>
              <a:schemeClr val="tx1"/>
            </a:solidFill>
            <a:round/>
            <a:headEnd/>
            <a:tailEnd type="arrow" w="med" len="med"/>
          </a:ln>
        </p:spPr>
      </p:cxnSp>
      <p:cxnSp>
        <p:nvCxnSpPr>
          <p:cNvPr id="15" name="Straight Arrow Connector 39"/>
          <p:cNvCxnSpPr>
            <a:cxnSpLocks noChangeShapeType="1"/>
            <a:stCxn id="11" idx="2"/>
          </p:cNvCxnSpPr>
          <p:nvPr/>
        </p:nvCxnSpPr>
        <p:spPr bwMode="auto">
          <a:xfrm flipH="1">
            <a:off x="1009651" y="3238500"/>
            <a:ext cx="939801" cy="819150"/>
          </a:xfrm>
          <a:prstGeom prst="straightConnector1">
            <a:avLst/>
          </a:prstGeom>
          <a:noFill/>
          <a:ln w="9525">
            <a:solidFill>
              <a:schemeClr val="tx1"/>
            </a:solidFill>
            <a:round/>
            <a:headEnd/>
            <a:tailEnd type="arrow" w="med" len="med"/>
          </a:ln>
        </p:spPr>
      </p:cxnSp>
      <p:cxnSp>
        <p:nvCxnSpPr>
          <p:cNvPr id="18" name="AutoShape 9"/>
          <p:cNvCxnSpPr>
            <a:cxnSpLocks noChangeShapeType="1"/>
          </p:cNvCxnSpPr>
          <p:nvPr/>
        </p:nvCxnSpPr>
        <p:spPr bwMode="auto">
          <a:xfrm>
            <a:off x="533400" y="3196432"/>
            <a:ext cx="0" cy="609600"/>
          </a:xfrm>
          <a:prstGeom prst="straightConnector1">
            <a:avLst/>
          </a:prstGeom>
          <a:noFill/>
          <a:ln w="38100">
            <a:solidFill>
              <a:schemeClr val="tx1"/>
            </a:solidFill>
            <a:round/>
            <a:headEnd/>
            <a:tailEnd/>
          </a:ln>
        </p:spPr>
      </p:cxnSp>
      <p:sp>
        <p:nvSpPr>
          <p:cNvPr id="19" name="Rectangle 13"/>
          <p:cNvSpPr>
            <a:spLocks noChangeArrowheads="1"/>
          </p:cNvSpPr>
          <p:nvPr/>
        </p:nvSpPr>
        <p:spPr bwMode="auto">
          <a:xfrm>
            <a:off x="228600" y="3806032"/>
            <a:ext cx="723900" cy="609600"/>
          </a:xfrm>
          <a:prstGeom prst="rect">
            <a:avLst/>
          </a:prstGeom>
          <a:solidFill>
            <a:srgbClr val="66FFCC"/>
          </a:solidFill>
          <a:ln w="12700">
            <a:solidFill>
              <a:schemeClr val="tx1"/>
            </a:solidFill>
            <a:miter lim="800000"/>
            <a:headEnd/>
            <a:tailEnd/>
          </a:ln>
        </p:spPr>
        <p:txBody>
          <a:bodyPr wrap="none" anchor="ctr"/>
          <a:lstStyle/>
          <a:p>
            <a:pPr algn="ctr" eaLnBrk="0" hangingPunct="0"/>
            <a:r>
              <a:rPr lang="en-US" sz="1200" b="1" dirty="0">
                <a:latin typeface="Calibri" pitchFamily="34" charset="0"/>
              </a:rPr>
              <a:t>MergeCo</a:t>
            </a:r>
          </a:p>
        </p:txBody>
      </p:sp>
      <p:sp>
        <p:nvSpPr>
          <p:cNvPr id="32" name="Rectangle 24"/>
          <p:cNvSpPr>
            <a:spLocks noChangeArrowheads="1"/>
          </p:cNvSpPr>
          <p:nvPr/>
        </p:nvSpPr>
        <p:spPr bwMode="auto">
          <a:xfrm>
            <a:off x="115093" y="4610100"/>
            <a:ext cx="2170907" cy="1384995"/>
          </a:xfrm>
          <a:prstGeom prst="rect">
            <a:avLst/>
          </a:prstGeom>
          <a:noFill/>
          <a:ln w="9525">
            <a:solidFill>
              <a:schemeClr val="tx1"/>
            </a:solidFill>
            <a:miter lim="800000"/>
            <a:headEnd/>
            <a:tailEnd/>
          </a:ln>
        </p:spPr>
        <p:txBody>
          <a:bodyPr wrap="square">
            <a:spAutoFit/>
          </a:bodyPr>
          <a:lstStyle/>
          <a:p>
            <a:pPr marL="342900" indent="-342900"/>
            <a:r>
              <a:rPr lang="en-US" sz="1200" b="1" u="sng" dirty="0">
                <a:latin typeface="Calibri" pitchFamily="34" charset="0"/>
              </a:rPr>
              <a:t>Transaction</a:t>
            </a:r>
            <a:endParaRPr lang="en-US" sz="1200" b="1" dirty="0">
              <a:latin typeface="Calibri" pitchFamily="34" charset="0"/>
            </a:endParaRPr>
          </a:p>
          <a:p>
            <a:pPr marL="342900" indent="-342900">
              <a:buFont typeface="Arial" pitchFamily="34" charset="0"/>
              <a:buAutoNum type="arabicParenBoth"/>
            </a:pPr>
            <a:r>
              <a:rPr lang="en-US" sz="1200" b="1" dirty="0">
                <a:latin typeface="Calibri" pitchFamily="34" charset="0"/>
              </a:rPr>
              <a:t>TO for 73% of Cogent’s shares</a:t>
            </a:r>
          </a:p>
          <a:p>
            <a:pPr marL="342900" indent="-342900">
              <a:buFont typeface="Arial" pitchFamily="34" charset="0"/>
              <a:buAutoNum type="arabicParenBoth"/>
            </a:pPr>
            <a:r>
              <a:rPr lang="en-US" sz="1200" b="1" dirty="0">
                <a:latin typeface="Calibri" pitchFamily="34" charset="0"/>
              </a:rPr>
              <a:t>Short-form merger into MergeCo with Cogent surviving</a:t>
            </a:r>
          </a:p>
          <a:p>
            <a:pPr marL="342900" indent="-342900">
              <a:buFont typeface="Arial" pitchFamily="34" charset="0"/>
              <a:buAutoNum type="arabicParenBoth"/>
            </a:pPr>
            <a:r>
              <a:rPr lang="en-US" sz="1200" b="1" dirty="0">
                <a:latin typeface="Calibri" pitchFamily="34" charset="0"/>
              </a:rPr>
              <a:t>$10.50/share</a:t>
            </a:r>
            <a:endParaRPr lang="en-US" dirty="0">
              <a:latin typeface="Calibri" pitchFamily="34" charset="0"/>
            </a:endParaRPr>
          </a:p>
        </p:txBody>
      </p:sp>
    </p:spTree>
    <p:extLst>
      <p:ext uri="{BB962C8B-B14F-4D97-AF65-F5344CB8AC3E}">
        <p14:creationId xmlns:p14="http://schemas.microsoft.com/office/powerpoint/2010/main" val="1246075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A1AF43-6B24-BF47-A144-B1AFC5A96C18}"/>
              </a:ext>
            </a:extLst>
          </p:cNvPr>
          <p:cNvSpPr>
            <a:spLocks noGrp="1"/>
          </p:cNvSpPr>
          <p:nvPr>
            <p:ph idx="1"/>
          </p:nvPr>
        </p:nvSpPr>
        <p:spPr/>
        <p:txBody>
          <a:bodyPr/>
          <a:lstStyle/>
          <a:p>
            <a:r>
              <a:rPr lang="en-US" dirty="0"/>
              <a:t>Facts</a:t>
            </a:r>
          </a:p>
          <a:p>
            <a:pPr lvl="1"/>
            <a:r>
              <a:rPr lang="en-US" dirty="0"/>
              <a:t>What’s an MBO?</a:t>
            </a:r>
          </a:p>
          <a:p>
            <a:r>
              <a:rPr lang="en-US" dirty="0"/>
              <a:t>What was the basis for the Ch. Ct.’s holding that deal price was not fair value?</a:t>
            </a:r>
          </a:p>
          <a:p>
            <a:r>
              <a:rPr lang="en-US" dirty="0"/>
              <a:t>When is a market efficient/semi-strong efficient?</a:t>
            </a:r>
          </a:p>
          <a:p>
            <a:r>
              <a:rPr lang="en-US" dirty="0"/>
              <a:t>What’s a financial acquirer? Strategic?</a:t>
            </a:r>
          </a:p>
          <a:p>
            <a:r>
              <a:rPr lang="en-US" dirty="0"/>
              <a:t>What was the Ct’s view of DCF analyses?</a:t>
            </a:r>
          </a:p>
          <a:p>
            <a:r>
              <a:rPr lang="en-US" dirty="0"/>
              <a:t>Why did the S. Ct. opt for deal price?</a:t>
            </a:r>
          </a:p>
          <a:p>
            <a:pPr lvl="1"/>
            <a:endParaRPr lang="en-US" dirty="0"/>
          </a:p>
        </p:txBody>
      </p:sp>
      <p:sp>
        <p:nvSpPr>
          <p:cNvPr id="3" name="Title 2">
            <a:extLst>
              <a:ext uri="{FF2B5EF4-FFF2-40B4-BE49-F238E27FC236}">
                <a16:creationId xmlns:a16="http://schemas.microsoft.com/office/drawing/2014/main" id="{19398203-CB23-254D-A5D0-4C9F78516886}"/>
              </a:ext>
            </a:extLst>
          </p:cNvPr>
          <p:cNvSpPr>
            <a:spLocks noGrp="1"/>
          </p:cNvSpPr>
          <p:nvPr>
            <p:ph type="title"/>
          </p:nvPr>
        </p:nvSpPr>
        <p:spPr/>
        <p:txBody>
          <a:bodyPr/>
          <a:lstStyle/>
          <a:p>
            <a:r>
              <a:rPr lang="en-US" dirty="0"/>
              <a:t>Dell v. Magnetar (Del. S. Ct. 2017)</a:t>
            </a:r>
          </a:p>
        </p:txBody>
      </p:sp>
      <p:sp>
        <p:nvSpPr>
          <p:cNvPr id="4" name="Slide Number Placeholder 3">
            <a:extLst>
              <a:ext uri="{FF2B5EF4-FFF2-40B4-BE49-F238E27FC236}">
                <a16:creationId xmlns:a16="http://schemas.microsoft.com/office/drawing/2014/main" id="{9C1BC45C-1C89-4F4D-93AA-8AE79CB91EE9}"/>
              </a:ext>
            </a:extLst>
          </p:cNvPr>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
        <p:nvSpPr>
          <p:cNvPr id="5" name="Footer Placeholder 4">
            <a:extLst>
              <a:ext uri="{FF2B5EF4-FFF2-40B4-BE49-F238E27FC236}">
                <a16:creationId xmlns:a16="http://schemas.microsoft.com/office/drawing/2014/main" id="{0583644E-BED7-714E-AB20-F022C6C08BFA}"/>
              </a:ext>
            </a:extLst>
          </p:cNvPr>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4097957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102465-DA12-FEF3-3E0D-FDF045DD8CDA}"/>
              </a:ext>
            </a:extLst>
          </p:cNvPr>
          <p:cNvSpPr>
            <a:spLocks noGrp="1"/>
          </p:cNvSpPr>
          <p:nvPr>
            <p:ph idx="1"/>
          </p:nvPr>
        </p:nvSpPr>
        <p:spPr/>
        <p:txBody>
          <a:bodyPr>
            <a:normAutofit fontScale="85000" lnSpcReduction="20000"/>
          </a:bodyPr>
          <a:lstStyle/>
          <a:p>
            <a:r>
              <a:rPr lang="en-US" i="1" dirty="0"/>
              <a:t>The transaction process exemplifies many of the qualities that Delaware courts have found favor affording substantial, if not exclusive, weight to deal price in the fair value analysis. Even the Court of Chancery’s own summary remarks suggest the deal price deserves weight as the court characterized the sale process as one that “easily would sail through if reviewed under enhanced scrutiny” and observed that “[t]he Committee and its advisors did many praiseworthy things,” too numerous to catalog in its opinion, as the trial court noted. Given the objective indicia of the deal price’s reliability and our rejection of the notion of a private equity carve out, to the extent that the Court of Chancery chose to disregard Dell’s deal price based on the presence of only private equity bidders, its reasoning is not grounded in accepted financial principles, and this assessment weighs in favor of finding an overall abuse of discretion. [p.51]</a:t>
            </a:r>
          </a:p>
          <a:p>
            <a:r>
              <a:rPr lang="en-US" i="1" dirty="0"/>
              <a:t>In so holding, we are not saying that the market is always the best indicator of value, or that it should always be granted some weight. We only note that, when the evidence of market efficiency, fair play, low barriers to entry, outreach to all logical buyers, and the chance for any topping bidder to have the support of Mr. Dell’s own votes is so compelling, then failure to give the resulting price heavy weight because the trial judge believes there was mispricing missed by all the Dell stockholders, analysts, and potential buyers abuses even the wide discretion afforded the Court of Chancery in these difficult cases. [p. 60]</a:t>
            </a:r>
          </a:p>
        </p:txBody>
      </p:sp>
      <p:sp>
        <p:nvSpPr>
          <p:cNvPr id="3" name="Title 2">
            <a:extLst>
              <a:ext uri="{FF2B5EF4-FFF2-40B4-BE49-F238E27FC236}">
                <a16:creationId xmlns:a16="http://schemas.microsoft.com/office/drawing/2014/main" id="{22FAD0CC-01A9-B300-15D3-0C84CD48FA29}"/>
              </a:ext>
            </a:extLst>
          </p:cNvPr>
          <p:cNvSpPr>
            <a:spLocks noGrp="1"/>
          </p:cNvSpPr>
          <p:nvPr>
            <p:ph type="title"/>
          </p:nvPr>
        </p:nvSpPr>
        <p:spPr/>
        <p:txBody>
          <a:bodyPr/>
          <a:lstStyle/>
          <a:p>
            <a:r>
              <a:rPr lang="en-US" dirty="0"/>
              <a:t>Dell v. Magnetar (Del. S. Ct. 2017)</a:t>
            </a:r>
          </a:p>
        </p:txBody>
      </p:sp>
      <p:sp>
        <p:nvSpPr>
          <p:cNvPr id="4" name="Slide Number Placeholder 3">
            <a:extLst>
              <a:ext uri="{FF2B5EF4-FFF2-40B4-BE49-F238E27FC236}">
                <a16:creationId xmlns:a16="http://schemas.microsoft.com/office/drawing/2014/main" id="{E3E4D88A-CC3C-F21E-AC7D-2454750795B0}"/>
              </a:ext>
            </a:extLst>
          </p:cNvPr>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
        <p:nvSpPr>
          <p:cNvPr id="5" name="Footer Placeholder 4">
            <a:extLst>
              <a:ext uri="{FF2B5EF4-FFF2-40B4-BE49-F238E27FC236}">
                <a16:creationId xmlns:a16="http://schemas.microsoft.com/office/drawing/2014/main" id="{5882AAC1-74CF-9FA8-8DC7-73118D945BC3}"/>
              </a:ext>
            </a:extLst>
          </p:cNvPr>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2629571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3C38A2-3102-4E43-985B-8D84407F66A3}"/>
              </a:ext>
            </a:extLst>
          </p:cNvPr>
          <p:cNvSpPr>
            <a:spLocks noGrp="1"/>
          </p:cNvSpPr>
          <p:nvPr>
            <p:ph idx="1"/>
          </p:nvPr>
        </p:nvSpPr>
        <p:spPr/>
        <p:txBody>
          <a:bodyPr/>
          <a:lstStyle/>
          <a:p>
            <a:r>
              <a:rPr lang="en-US" dirty="0"/>
              <a:t>What was DFC’s business?</a:t>
            </a:r>
          </a:p>
          <a:p>
            <a:r>
              <a:rPr lang="en-US" dirty="0"/>
              <a:t>What was the underlying transaction?</a:t>
            </a:r>
          </a:p>
          <a:p>
            <a:r>
              <a:rPr lang="en-US" dirty="0"/>
              <a:t>What was DFC’s argument?</a:t>
            </a:r>
          </a:p>
          <a:p>
            <a:pPr lvl="1"/>
            <a:r>
              <a:rPr lang="en-US" dirty="0"/>
              <a:t>Ct’s response?</a:t>
            </a:r>
          </a:p>
          <a:p>
            <a:r>
              <a:rPr lang="en-US" dirty="0"/>
              <a:t>What was the Ct’s view of the EMH? DCF?</a:t>
            </a:r>
          </a:p>
          <a:p>
            <a:r>
              <a:rPr lang="en-US" dirty="0"/>
              <a:t>When are appraisal actions most useful?</a:t>
            </a:r>
          </a:p>
          <a:p>
            <a:r>
              <a:rPr lang="en-US" dirty="0"/>
              <a:t>Why did the Ch. Ct. </a:t>
            </a:r>
            <a:r>
              <a:rPr lang="en-US" b="1" dirty="0"/>
              <a:t>not</a:t>
            </a:r>
            <a:r>
              <a:rPr lang="en-US" dirty="0"/>
              <a:t> use deal price?</a:t>
            </a:r>
          </a:p>
          <a:p>
            <a:pPr lvl="1"/>
            <a:r>
              <a:rPr lang="en-US" dirty="0"/>
              <a:t>What was the Ct’s response to the “regulatory risk” concern?</a:t>
            </a:r>
          </a:p>
          <a:p>
            <a:pPr lvl="1"/>
            <a:r>
              <a:rPr lang="en-US" dirty="0"/>
              <a:t>What was the Ct’s response to the “specific rate of return” concern for PE purchasers?</a:t>
            </a:r>
          </a:p>
        </p:txBody>
      </p:sp>
      <p:sp>
        <p:nvSpPr>
          <p:cNvPr id="3" name="Title 2">
            <a:extLst>
              <a:ext uri="{FF2B5EF4-FFF2-40B4-BE49-F238E27FC236}">
                <a16:creationId xmlns:a16="http://schemas.microsoft.com/office/drawing/2014/main" id="{0E32AD8B-8E71-6643-95D0-A369C4542D5D}"/>
              </a:ext>
            </a:extLst>
          </p:cNvPr>
          <p:cNvSpPr>
            <a:spLocks noGrp="1"/>
          </p:cNvSpPr>
          <p:nvPr>
            <p:ph type="title"/>
          </p:nvPr>
        </p:nvSpPr>
        <p:spPr/>
        <p:txBody>
          <a:bodyPr/>
          <a:lstStyle/>
          <a:p>
            <a:r>
              <a:rPr lang="en-US" dirty="0"/>
              <a:t>DFC Global v. Muirfield (Del. S. Ct. 2017)</a:t>
            </a:r>
          </a:p>
        </p:txBody>
      </p:sp>
      <p:sp>
        <p:nvSpPr>
          <p:cNvPr id="4" name="Slide Number Placeholder 3">
            <a:extLst>
              <a:ext uri="{FF2B5EF4-FFF2-40B4-BE49-F238E27FC236}">
                <a16:creationId xmlns:a16="http://schemas.microsoft.com/office/drawing/2014/main" id="{02880C06-C192-3F44-964F-32C2EDD90DB6}"/>
              </a:ext>
            </a:extLst>
          </p:cNvPr>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
        <p:nvSpPr>
          <p:cNvPr id="5" name="Footer Placeholder 4">
            <a:extLst>
              <a:ext uri="{FF2B5EF4-FFF2-40B4-BE49-F238E27FC236}">
                <a16:creationId xmlns:a16="http://schemas.microsoft.com/office/drawing/2014/main" id="{15DFF7C4-C0E3-1745-86FB-55A0A4476D57}"/>
              </a:ext>
            </a:extLst>
          </p:cNvPr>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74824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ECFD38-F1A2-4B4B-ACB4-1EA47E7C8C69}"/>
              </a:ext>
            </a:extLst>
          </p:cNvPr>
          <p:cNvSpPr>
            <a:spLocks noGrp="1"/>
          </p:cNvSpPr>
          <p:nvPr>
            <p:ph idx="1"/>
          </p:nvPr>
        </p:nvSpPr>
        <p:spPr/>
        <p:txBody>
          <a:bodyPr/>
          <a:lstStyle/>
          <a:p>
            <a:r>
              <a:rPr lang="en-US" dirty="0"/>
              <a:t>Facts</a:t>
            </a:r>
          </a:p>
          <a:p>
            <a:r>
              <a:rPr lang="en-US" dirty="0"/>
              <a:t>Is HP a strategic or financial buyer?</a:t>
            </a:r>
          </a:p>
          <a:p>
            <a:r>
              <a:rPr lang="en-US" dirty="0"/>
              <a:t>Why did Ch. Ct. reject deal price less synergies?</a:t>
            </a:r>
          </a:p>
          <a:p>
            <a:r>
              <a:rPr lang="en-US" dirty="0"/>
              <a:t>Response of S. Ct.?</a:t>
            </a:r>
          </a:p>
          <a:p>
            <a:r>
              <a:rPr lang="en-US" dirty="0"/>
              <a:t>Why did S. Ct. reject unaffected market price?</a:t>
            </a:r>
          </a:p>
          <a:p>
            <a:r>
              <a:rPr lang="en-US" dirty="0"/>
              <a:t>Any bad blood between the courts?</a:t>
            </a:r>
          </a:p>
        </p:txBody>
      </p:sp>
      <p:sp>
        <p:nvSpPr>
          <p:cNvPr id="3" name="Title 2">
            <a:extLst>
              <a:ext uri="{FF2B5EF4-FFF2-40B4-BE49-F238E27FC236}">
                <a16:creationId xmlns:a16="http://schemas.microsoft.com/office/drawing/2014/main" id="{3336B5E1-2DE9-E94B-9750-B5321E518227}"/>
              </a:ext>
            </a:extLst>
          </p:cNvPr>
          <p:cNvSpPr>
            <a:spLocks noGrp="1"/>
          </p:cNvSpPr>
          <p:nvPr>
            <p:ph type="title"/>
          </p:nvPr>
        </p:nvSpPr>
        <p:spPr/>
        <p:txBody>
          <a:bodyPr/>
          <a:lstStyle/>
          <a:p>
            <a:r>
              <a:rPr lang="en-US" dirty="0" err="1"/>
              <a:t>Verition</a:t>
            </a:r>
            <a:r>
              <a:rPr lang="en-US" dirty="0"/>
              <a:t> v. Aruba (Del. S. Ct. 2019)</a:t>
            </a:r>
          </a:p>
        </p:txBody>
      </p:sp>
      <p:sp>
        <p:nvSpPr>
          <p:cNvPr id="4" name="Slide Number Placeholder 3">
            <a:extLst>
              <a:ext uri="{FF2B5EF4-FFF2-40B4-BE49-F238E27FC236}">
                <a16:creationId xmlns:a16="http://schemas.microsoft.com/office/drawing/2014/main" id="{896695E1-072C-0945-98D5-FD3645EC04FC}"/>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
        <p:nvSpPr>
          <p:cNvPr id="5" name="Footer Placeholder 4">
            <a:extLst>
              <a:ext uri="{FF2B5EF4-FFF2-40B4-BE49-F238E27FC236}">
                <a16:creationId xmlns:a16="http://schemas.microsoft.com/office/drawing/2014/main" id="{2062497F-2596-2D4B-B521-761B0CDBCF0F}"/>
              </a:ext>
            </a:extLst>
          </p:cNvPr>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1054593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9B2186-8A50-8C44-83A7-27DAEA329E4D}"/>
              </a:ext>
            </a:extLst>
          </p:cNvPr>
          <p:cNvSpPr>
            <a:spLocks noGrp="1"/>
          </p:cNvSpPr>
          <p:nvPr>
            <p:ph idx="1"/>
          </p:nvPr>
        </p:nvSpPr>
        <p:spPr/>
        <p:txBody>
          <a:bodyPr/>
          <a:lstStyle/>
          <a:p>
            <a:r>
              <a:rPr lang="en-US" dirty="0"/>
              <a:t>Facts</a:t>
            </a:r>
          </a:p>
          <a:p>
            <a:r>
              <a:rPr lang="en-US" dirty="0"/>
              <a:t>Ch. Ct.’s basis for using </a:t>
            </a:r>
            <a:r>
              <a:rPr lang="en-US" b="1" dirty="0"/>
              <a:t>unaffected market price</a:t>
            </a:r>
            <a:r>
              <a:rPr lang="en-US" dirty="0"/>
              <a:t>?</a:t>
            </a:r>
          </a:p>
          <a:p>
            <a:r>
              <a:rPr lang="en-US" dirty="0"/>
              <a:t>What was concerning about the sales process?</a:t>
            </a:r>
          </a:p>
          <a:p>
            <a:r>
              <a:rPr lang="en-US" dirty="0"/>
              <a:t>Why did the Ch. Ct. reject DCF? Comparable companies?</a:t>
            </a:r>
          </a:p>
          <a:p>
            <a:r>
              <a:rPr lang="en-US" dirty="0"/>
              <a:t>Why did the S. Ct. uphold the Ch. Ct.’s decision?</a:t>
            </a:r>
          </a:p>
          <a:p>
            <a:pPr lvl="1"/>
            <a:r>
              <a:rPr lang="en-US" dirty="0"/>
              <a:t>Why did it reject deal price?</a:t>
            </a:r>
          </a:p>
        </p:txBody>
      </p:sp>
      <p:sp>
        <p:nvSpPr>
          <p:cNvPr id="3" name="Title 2">
            <a:extLst>
              <a:ext uri="{FF2B5EF4-FFF2-40B4-BE49-F238E27FC236}">
                <a16:creationId xmlns:a16="http://schemas.microsoft.com/office/drawing/2014/main" id="{402BE68F-3A4E-4A4E-9DC2-61396610FD55}"/>
              </a:ext>
            </a:extLst>
          </p:cNvPr>
          <p:cNvSpPr>
            <a:spLocks noGrp="1"/>
          </p:cNvSpPr>
          <p:nvPr>
            <p:ph type="title"/>
          </p:nvPr>
        </p:nvSpPr>
        <p:spPr/>
        <p:txBody>
          <a:bodyPr/>
          <a:lstStyle/>
          <a:p>
            <a:r>
              <a:rPr lang="en-US" dirty="0"/>
              <a:t>Fir Tree v. Jarden (Del. S. Ct. 2020) </a:t>
            </a:r>
          </a:p>
        </p:txBody>
      </p:sp>
      <p:sp>
        <p:nvSpPr>
          <p:cNvPr id="4" name="Slide Number Placeholder 3">
            <a:extLst>
              <a:ext uri="{FF2B5EF4-FFF2-40B4-BE49-F238E27FC236}">
                <a16:creationId xmlns:a16="http://schemas.microsoft.com/office/drawing/2014/main" id="{4C6C15DD-344B-CE49-A2EA-69BCAD06F964}"/>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
        <p:nvSpPr>
          <p:cNvPr id="5" name="Footer Placeholder 4">
            <a:extLst>
              <a:ext uri="{FF2B5EF4-FFF2-40B4-BE49-F238E27FC236}">
                <a16:creationId xmlns:a16="http://schemas.microsoft.com/office/drawing/2014/main" id="{91719E9B-3F15-7E48-8740-2FB003DBB8EB}"/>
              </a:ext>
            </a:extLst>
          </p:cNvPr>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2506627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of a number of cases&#10;&#10;Description automatically generated with medium confidence">
            <a:extLst>
              <a:ext uri="{FF2B5EF4-FFF2-40B4-BE49-F238E27FC236}">
                <a16:creationId xmlns:a16="http://schemas.microsoft.com/office/drawing/2014/main" id="{26A0B2D6-CD67-1472-D2B8-E11E63FCAC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175" y="685800"/>
            <a:ext cx="8458200" cy="5486400"/>
          </a:xfrm>
        </p:spPr>
      </p:pic>
      <p:sp>
        <p:nvSpPr>
          <p:cNvPr id="3" name="Title 2">
            <a:extLst>
              <a:ext uri="{FF2B5EF4-FFF2-40B4-BE49-F238E27FC236}">
                <a16:creationId xmlns:a16="http://schemas.microsoft.com/office/drawing/2014/main" id="{CBE8C604-7F37-FE70-6D61-060E36661DED}"/>
              </a:ext>
            </a:extLst>
          </p:cNvPr>
          <p:cNvSpPr>
            <a:spLocks noGrp="1"/>
          </p:cNvSpPr>
          <p:nvPr>
            <p:ph type="title"/>
          </p:nvPr>
        </p:nvSpPr>
        <p:spPr/>
        <p:txBody>
          <a:bodyPr/>
          <a:lstStyle/>
          <a:p>
            <a:r>
              <a:rPr lang="en-US" dirty="0"/>
              <a:t>Appraisal Petitions: 2006-2022</a:t>
            </a:r>
          </a:p>
        </p:txBody>
      </p:sp>
      <p:sp>
        <p:nvSpPr>
          <p:cNvPr id="4" name="Slide Number Placeholder 3">
            <a:extLst>
              <a:ext uri="{FF2B5EF4-FFF2-40B4-BE49-F238E27FC236}">
                <a16:creationId xmlns:a16="http://schemas.microsoft.com/office/drawing/2014/main" id="{A516B7DD-09CA-5CA4-8271-36CCA9B8F5EE}"/>
              </a:ext>
            </a:extLst>
          </p:cNvPr>
          <p:cNvSpPr>
            <a:spLocks noGrp="1"/>
          </p:cNvSpPr>
          <p:nvPr>
            <p:ph type="sldNum" sz="quarter" idx="10"/>
          </p:nvPr>
        </p:nvSpPr>
        <p:spPr/>
        <p:txBody>
          <a:bodyPr/>
          <a:lstStyle/>
          <a:p>
            <a:fld id="{7B3E355C-57B9-BC4B-95D8-406A1F834537}" type="slidenum">
              <a:rPr lang="en-US" altLang="en-US" smtClean="0"/>
              <a:pPr/>
              <a:t>23</a:t>
            </a:fld>
            <a:endParaRPr lang="en-US" altLang="en-US" dirty="0"/>
          </a:p>
        </p:txBody>
      </p:sp>
      <p:sp>
        <p:nvSpPr>
          <p:cNvPr id="5" name="Footer Placeholder 4">
            <a:extLst>
              <a:ext uri="{FF2B5EF4-FFF2-40B4-BE49-F238E27FC236}">
                <a16:creationId xmlns:a16="http://schemas.microsoft.com/office/drawing/2014/main" id="{3AFDB4C1-1ADE-536E-9C7E-C6A544592ADC}"/>
              </a:ext>
            </a:extLst>
          </p:cNvPr>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1548277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showing the average of a number of per cent of a number of per cent of a number of per cent of a number of per cent of a number of per cent of a number of&#10;&#10;Description automatically generated">
            <a:extLst>
              <a:ext uri="{FF2B5EF4-FFF2-40B4-BE49-F238E27FC236}">
                <a16:creationId xmlns:a16="http://schemas.microsoft.com/office/drawing/2014/main" id="{D36A94AD-3CC0-7E86-279D-9B7123A476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048" y="647700"/>
            <a:ext cx="8458200" cy="5562599"/>
          </a:xfrm>
        </p:spPr>
      </p:pic>
      <p:sp>
        <p:nvSpPr>
          <p:cNvPr id="3" name="Title 2">
            <a:extLst>
              <a:ext uri="{FF2B5EF4-FFF2-40B4-BE49-F238E27FC236}">
                <a16:creationId xmlns:a16="http://schemas.microsoft.com/office/drawing/2014/main" id="{C2EBC088-E217-7971-6292-384A139E8090}"/>
              </a:ext>
            </a:extLst>
          </p:cNvPr>
          <p:cNvSpPr>
            <a:spLocks noGrp="1"/>
          </p:cNvSpPr>
          <p:nvPr>
            <p:ph type="title"/>
          </p:nvPr>
        </p:nvSpPr>
        <p:spPr/>
        <p:txBody>
          <a:bodyPr/>
          <a:lstStyle/>
          <a:p>
            <a:r>
              <a:rPr lang="en-US" dirty="0"/>
              <a:t>Average Premium to Deal Price</a:t>
            </a:r>
          </a:p>
        </p:txBody>
      </p:sp>
      <p:sp>
        <p:nvSpPr>
          <p:cNvPr id="4" name="Slide Number Placeholder 3">
            <a:extLst>
              <a:ext uri="{FF2B5EF4-FFF2-40B4-BE49-F238E27FC236}">
                <a16:creationId xmlns:a16="http://schemas.microsoft.com/office/drawing/2014/main" id="{F78DCAAA-0843-F6E2-CD0B-082A0CF8AB4D}"/>
              </a:ext>
            </a:extLst>
          </p:cNvPr>
          <p:cNvSpPr>
            <a:spLocks noGrp="1"/>
          </p:cNvSpPr>
          <p:nvPr>
            <p:ph type="sldNum" sz="quarter" idx="10"/>
          </p:nvPr>
        </p:nvSpPr>
        <p:spPr/>
        <p:txBody>
          <a:bodyPr/>
          <a:lstStyle/>
          <a:p>
            <a:fld id="{7B3E355C-57B9-BC4B-95D8-406A1F834537}" type="slidenum">
              <a:rPr lang="en-US" altLang="en-US" smtClean="0"/>
              <a:pPr/>
              <a:t>24</a:t>
            </a:fld>
            <a:endParaRPr lang="en-US" altLang="en-US" dirty="0"/>
          </a:p>
        </p:txBody>
      </p:sp>
      <p:sp>
        <p:nvSpPr>
          <p:cNvPr id="5" name="Footer Placeholder 4">
            <a:extLst>
              <a:ext uri="{FF2B5EF4-FFF2-40B4-BE49-F238E27FC236}">
                <a16:creationId xmlns:a16="http://schemas.microsoft.com/office/drawing/2014/main" id="{C2AFFA4F-CBBE-C310-BC3F-18FBB2DB32C2}"/>
              </a:ext>
            </a:extLst>
          </p:cNvPr>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3344710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showing percentages&#10;&#10;Description automatically generated">
            <a:extLst>
              <a:ext uri="{FF2B5EF4-FFF2-40B4-BE49-F238E27FC236}">
                <a16:creationId xmlns:a16="http://schemas.microsoft.com/office/drawing/2014/main" id="{FF66E540-682C-85A7-409A-AEFA1DAD3B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900" y="609600"/>
            <a:ext cx="8458200" cy="2667000"/>
          </a:xfrm>
        </p:spPr>
      </p:pic>
      <p:sp>
        <p:nvSpPr>
          <p:cNvPr id="3" name="Title 2">
            <a:extLst>
              <a:ext uri="{FF2B5EF4-FFF2-40B4-BE49-F238E27FC236}">
                <a16:creationId xmlns:a16="http://schemas.microsoft.com/office/drawing/2014/main" id="{2F7AE021-E508-F1DD-BFC3-0144F0246BBA}"/>
              </a:ext>
            </a:extLst>
          </p:cNvPr>
          <p:cNvSpPr>
            <a:spLocks noGrp="1"/>
          </p:cNvSpPr>
          <p:nvPr>
            <p:ph type="title"/>
          </p:nvPr>
        </p:nvSpPr>
        <p:spPr/>
        <p:txBody>
          <a:bodyPr/>
          <a:lstStyle/>
          <a:p>
            <a:r>
              <a:rPr lang="en-US" dirty="0"/>
              <a:t>Valuation Methodologies (2006-2022)</a:t>
            </a:r>
          </a:p>
        </p:txBody>
      </p:sp>
      <p:sp>
        <p:nvSpPr>
          <p:cNvPr id="4" name="Slide Number Placeholder 3">
            <a:extLst>
              <a:ext uri="{FF2B5EF4-FFF2-40B4-BE49-F238E27FC236}">
                <a16:creationId xmlns:a16="http://schemas.microsoft.com/office/drawing/2014/main" id="{7F716A2D-1466-CF15-D91B-72241442D386}"/>
              </a:ext>
            </a:extLst>
          </p:cNvPr>
          <p:cNvSpPr>
            <a:spLocks noGrp="1"/>
          </p:cNvSpPr>
          <p:nvPr>
            <p:ph type="sldNum" sz="quarter" idx="10"/>
          </p:nvPr>
        </p:nvSpPr>
        <p:spPr/>
        <p:txBody>
          <a:bodyPr/>
          <a:lstStyle/>
          <a:p>
            <a:fld id="{7B3E355C-57B9-BC4B-95D8-406A1F834537}" type="slidenum">
              <a:rPr lang="en-US" altLang="en-US" smtClean="0"/>
              <a:pPr/>
              <a:t>25</a:t>
            </a:fld>
            <a:endParaRPr lang="en-US" altLang="en-US" dirty="0"/>
          </a:p>
        </p:txBody>
      </p:sp>
      <p:sp>
        <p:nvSpPr>
          <p:cNvPr id="5" name="Footer Placeholder 4">
            <a:extLst>
              <a:ext uri="{FF2B5EF4-FFF2-40B4-BE49-F238E27FC236}">
                <a16:creationId xmlns:a16="http://schemas.microsoft.com/office/drawing/2014/main" id="{441798E9-F865-DE8E-FF9C-18519251E0CA}"/>
              </a:ext>
            </a:extLst>
          </p:cNvPr>
          <p:cNvSpPr>
            <a:spLocks noGrp="1"/>
          </p:cNvSpPr>
          <p:nvPr>
            <p:ph type="ftr" sz="quarter" idx="11"/>
          </p:nvPr>
        </p:nvSpPr>
        <p:spPr/>
        <p:txBody>
          <a:bodyPr/>
          <a:lstStyle/>
          <a:p>
            <a:pPr>
              <a:defRPr/>
            </a:pPr>
            <a:r>
              <a:rPr lang="en-US"/>
              <a:t>Valuation Delaware</a:t>
            </a:r>
            <a:endParaRPr lang="en-US" dirty="0"/>
          </a:p>
        </p:txBody>
      </p:sp>
      <p:pic>
        <p:nvPicPr>
          <p:cNvPr id="9" name="Picture 8" descr="A graph showing a number of different colored squares&#10;&#10;Description automatically generated">
            <a:extLst>
              <a:ext uri="{FF2B5EF4-FFF2-40B4-BE49-F238E27FC236}">
                <a16:creationId xmlns:a16="http://schemas.microsoft.com/office/drawing/2014/main" id="{FBAB81F0-69A5-091C-90B3-7BFFACBC6B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208" y="3429000"/>
            <a:ext cx="8619392" cy="2819400"/>
          </a:xfrm>
          <a:prstGeom prst="rect">
            <a:avLst/>
          </a:prstGeom>
        </p:spPr>
      </p:pic>
    </p:spTree>
    <p:extLst>
      <p:ext uri="{BB962C8B-B14F-4D97-AF65-F5344CB8AC3E}">
        <p14:creationId xmlns:p14="http://schemas.microsoft.com/office/powerpoint/2010/main" val="4140243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13E012-5597-9643-0821-5786603C209F}"/>
              </a:ext>
            </a:extLst>
          </p:cNvPr>
          <p:cNvSpPr>
            <a:spLocks noGrp="1"/>
          </p:cNvSpPr>
          <p:nvPr>
            <p:ph idx="1"/>
          </p:nvPr>
        </p:nvSpPr>
        <p:spPr/>
        <p:txBody>
          <a:bodyPr/>
          <a:lstStyle/>
          <a:p>
            <a:r>
              <a:rPr lang="en-US" sz="2800" i="1" dirty="0"/>
              <a:t>Manti Holdings, LLC v. </a:t>
            </a:r>
            <a:r>
              <a:rPr lang="en-US" sz="2800" i="1" dirty="0" err="1"/>
              <a:t>Authentix</a:t>
            </a:r>
            <a:r>
              <a:rPr lang="en-US" sz="2800" i="1" dirty="0"/>
              <a:t> </a:t>
            </a:r>
            <a:r>
              <a:rPr lang="en-US" sz="2800" i="1" dirty="0" err="1"/>
              <a:t>Acq</a:t>
            </a:r>
            <a:r>
              <a:rPr lang="en-US" sz="2800" i="1" dirty="0"/>
              <a:t>. Co. </a:t>
            </a:r>
            <a:r>
              <a:rPr lang="en-US" sz="2800" dirty="0"/>
              <a:t>(Del. St. Ct. 2021)</a:t>
            </a:r>
          </a:p>
          <a:p>
            <a:pPr lvl="1"/>
            <a:r>
              <a:rPr lang="en-US" sz="2400" dirty="0"/>
              <a:t>Ct. upheld </a:t>
            </a:r>
            <a:r>
              <a:rPr lang="en-US" sz="2400" b="1" dirty="0"/>
              <a:t>waiver of appraisal rights </a:t>
            </a:r>
            <a:r>
              <a:rPr lang="en-US" sz="2400" dirty="0"/>
              <a:t>in shareholder drag along agreement:</a:t>
            </a:r>
          </a:p>
          <a:p>
            <a:pPr lvl="2" algn="l"/>
            <a:r>
              <a:rPr lang="en-US" dirty="0">
                <a:solidFill>
                  <a:srgbClr val="000000"/>
                </a:solidFill>
                <a:latin typeface="lato" panose="020F0502020204030203" pitchFamily="34" charset="0"/>
              </a:rPr>
              <a:t>Neither public policy nor DGCL </a:t>
            </a:r>
            <a:r>
              <a:rPr lang="en-US" sz="2400" dirty="0"/>
              <a:t>§ </a:t>
            </a:r>
            <a:r>
              <a:rPr lang="en-US" dirty="0">
                <a:solidFill>
                  <a:srgbClr val="000000"/>
                </a:solidFill>
                <a:latin typeface="lato" panose="020F0502020204030203" pitchFamily="34" charset="0"/>
              </a:rPr>
              <a:t>262 prohibits</a:t>
            </a:r>
            <a:r>
              <a:rPr lang="en-US" b="0" i="0" dirty="0">
                <a:solidFill>
                  <a:srgbClr val="000000"/>
                </a:solidFill>
                <a:effectLst/>
                <a:latin typeface="lato" panose="020F0502020204030203" pitchFamily="34" charset="0"/>
              </a:rPr>
              <a:t> “sophisticated and informed stockholders, who were represented by counsel and had bargaining power, from voluntarily agreeing to waive their appraisal rights in exchange for valuable consideration.” </a:t>
            </a:r>
            <a:endParaRPr lang="en-US" dirty="0"/>
          </a:p>
        </p:txBody>
      </p:sp>
      <p:sp>
        <p:nvSpPr>
          <p:cNvPr id="3" name="Title 2">
            <a:extLst>
              <a:ext uri="{FF2B5EF4-FFF2-40B4-BE49-F238E27FC236}">
                <a16:creationId xmlns:a16="http://schemas.microsoft.com/office/drawing/2014/main" id="{2EFC955A-4F98-7AEA-4FDA-68F261DDB8A9}"/>
              </a:ext>
            </a:extLst>
          </p:cNvPr>
          <p:cNvSpPr>
            <a:spLocks noGrp="1"/>
          </p:cNvSpPr>
          <p:nvPr>
            <p:ph type="title"/>
          </p:nvPr>
        </p:nvSpPr>
        <p:spPr/>
        <p:txBody>
          <a:bodyPr/>
          <a:lstStyle/>
          <a:p>
            <a:r>
              <a:rPr lang="en-US" dirty="0"/>
              <a:t>Waiver of Appraisal Rights:  </a:t>
            </a:r>
            <a:r>
              <a:rPr lang="en-US" i="1" dirty="0"/>
              <a:t>Manti Holdings</a:t>
            </a:r>
            <a:endParaRPr lang="en-US" dirty="0"/>
          </a:p>
        </p:txBody>
      </p:sp>
      <p:sp>
        <p:nvSpPr>
          <p:cNvPr id="4" name="Slide Number Placeholder 3">
            <a:extLst>
              <a:ext uri="{FF2B5EF4-FFF2-40B4-BE49-F238E27FC236}">
                <a16:creationId xmlns:a16="http://schemas.microsoft.com/office/drawing/2014/main" id="{E6376D1A-70CD-629A-FE57-1CA74A1D0911}"/>
              </a:ext>
            </a:extLst>
          </p:cNvPr>
          <p:cNvSpPr>
            <a:spLocks noGrp="1"/>
          </p:cNvSpPr>
          <p:nvPr>
            <p:ph type="sldNum" sz="quarter" idx="10"/>
          </p:nvPr>
        </p:nvSpPr>
        <p:spPr/>
        <p:txBody>
          <a:bodyPr/>
          <a:lstStyle/>
          <a:p>
            <a:fld id="{7B3E355C-57B9-BC4B-95D8-406A1F834537}" type="slidenum">
              <a:rPr lang="en-US" altLang="en-US" smtClean="0"/>
              <a:pPr/>
              <a:t>26</a:t>
            </a:fld>
            <a:endParaRPr lang="en-US" altLang="en-US" dirty="0"/>
          </a:p>
        </p:txBody>
      </p:sp>
      <p:sp>
        <p:nvSpPr>
          <p:cNvPr id="5" name="Footer Placeholder 4">
            <a:extLst>
              <a:ext uri="{FF2B5EF4-FFF2-40B4-BE49-F238E27FC236}">
                <a16:creationId xmlns:a16="http://schemas.microsoft.com/office/drawing/2014/main" id="{7E34AFB7-2C01-1D8B-A14C-7DA4BC47941D}"/>
              </a:ext>
            </a:extLst>
          </p:cNvPr>
          <p:cNvSpPr>
            <a:spLocks noGrp="1"/>
          </p:cNvSpPr>
          <p:nvPr>
            <p:ph type="ftr" sz="quarter" idx="11"/>
          </p:nvPr>
        </p:nvSpPr>
        <p:spPr/>
        <p:txBody>
          <a:bodyPr/>
          <a:lstStyle/>
          <a:p>
            <a:pPr>
              <a:defRPr/>
            </a:pPr>
            <a:r>
              <a:rPr lang="en-US"/>
              <a:t>Valuation Delaware</a:t>
            </a:r>
            <a:endParaRPr lang="en-US" dirty="0"/>
          </a:p>
        </p:txBody>
      </p:sp>
    </p:spTree>
    <p:extLst>
      <p:ext uri="{BB962C8B-B14F-4D97-AF65-F5344CB8AC3E}">
        <p14:creationId xmlns:p14="http://schemas.microsoft.com/office/powerpoint/2010/main" val="844948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9FC41B-71AD-E79B-3EEB-B4289A11CD1B}"/>
              </a:ext>
            </a:extLst>
          </p:cNvPr>
          <p:cNvSpPr>
            <a:spLocks noGrp="1"/>
          </p:cNvSpPr>
          <p:nvPr>
            <p:ph idx="1"/>
          </p:nvPr>
        </p:nvSpPr>
        <p:spPr/>
        <p:txBody>
          <a:bodyPr>
            <a:normAutofit fontScale="92500" lnSpcReduction="20000"/>
          </a:bodyPr>
          <a:lstStyle/>
          <a:p>
            <a:r>
              <a:rPr lang="en-US" i="1" dirty="0"/>
              <a:t>Hyde Park v. </a:t>
            </a:r>
            <a:r>
              <a:rPr lang="en-US" i="1" dirty="0" err="1"/>
              <a:t>FairXchange</a:t>
            </a:r>
            <a:r>
              <a:rPr lang="en-US" i="1" dirty="0"/>
              <a:t> </a:t>
            </a:r>
            <a:r>
              <a:rPr lang="en-US" dirty="0"/>
              <a:t>(2024)</a:t>
            </a:r>
          </a:p>
          <a:p>
            <a:pPr lvl="1"/>
            <a:r>
              <a:rPr lang="en-US" dirty="0"/>
              <a:t>Deal price “least bad” methodology</a:t>
            </a:r>
          </a:p>
          <a:p>
            <a:r>
              <a:rPr lang="en-US" i="1" dirty="0"/>
              <a:t>Cellular Telephone Partnership Litigation </a:t>
            </a:r>
            <a:r>
              <a:rPr lang="en-US" dirty="0"/>
              <a:t>(2022)</a:t>
            </a:r>
          </a:p>
          <a:p>
            <a:pPr lvl="1"/>
            <a:r>
              <a:rPr lang="en-US" dirty="0"/>
              <a:t>Freeze out transaction; unfair process; used DCF (3xs firm’s valuation!)</a:t>
            </a:r>
          </a:p>
          <a:p>
            <a:r>
              <a:rPr lang="en-US" i="1" dirty="0"/>
              <a:t>In re Appraisal of Regal Entertainment Grp </a:t>
            </a:r>
            <a:r>
              <a:rPr lang="en-US" dirty="0"/>
              <a:t>(Del. Ch. Ct. 2021)</a:t>
            </a:r>
          </a:p>
          <a:p>
            <a:pPr lvl="1"/>
            <a:r>
              <a:rPr lang="en-US" dirty="0"/>
              <a:t>Deal price ($23) less synergies ($23.60) best indicator or fair value</a:t>
            </a:r>
          </a:p>
          <a:p>
            <a:pPr lvl="2"/>
            <a:r>
              <a:rPr lang="en-US" dirty="0"/>
              <a:t>Regal publicly traded and widely held; Arm’s length transaction; Post-signing market check</a:t>
            </a:r>
          </a:p>
          <a:p>
            <a:pPr lvl="2"/>
            <a:r>
              <a:rPr lang="en-US" dirty="0"/>
              <a:t>Subtracted synergies of $3.77, but adjusted for post-signing change in corporate rate rate ($4.37); discussion of synergies (</a:t>
            </a:r>
            <a:r>
              <a:rPr lang="en-US" dirty="0" err="1"/>
              <a:t>oper</a:t>
            </a:r>
            <a:r>
              <a:rPr lang="en-US" dirty="0"/>
              <a:t> &amp; fin)</a:t>
            </a:r>
          </a:p>
          <a:p>
            <a:r>
              <a:rPr lang="en-US" i="1" dirty="0"/>
              <a:t>BCIM Strategic Value Master Fund </a:t>
            </a:r>
            <a:r>
              <a:rPr lang="en-US" dirty="0"/>
              <a:t>(Del. Ch. 2022)</a:t>
            </a:r>
          </a:p>
          <a:p>
            <a:pPr lvl="1"/>
            <a:r>
              <a:rPr lang="en-US" dirty="0"/>
              <a:t>Deal price less synergies and post signing change in value</a:t>
            </a:r>
          </a:p>
          <a:p>
            <a:r>
              <a:rPr lang="en-US" i="1" dirty="0"/>
              <a:t>Kruse v. Synapse Wireless </a:t>
            </a:r>
            <a:r>
              <a:rPr lang="en-US" dirty="0"/>
              <a:t>(Del. Ch. Ct. 2020)</a:t>
            </a:r>
          </a:p>
          <a:p>
            <a:pPr lvl="1"/>
            <a:r>
              <a:rPr lang="en-US" dirty="0"/>
              <a:t>DCF used to value private company-–resulting value about 50% less than deal price </a:t>
            </a:r>
          </a:p>
          <a:p>
            <a:r>
              <a:rPr lang="en-US" i="1" dirty="0" err="1"/>
              <a:t>Manichaen</a:t>
            </a:r>
            <a:r>
              <a:rPr lang="en-US" i="1" dirty="0"/>
              <a:t> Capital v. </a:t>
            </a:r>
            <a:r>
              <a:rPr lang="en-US" i="1" dirty="0" err="1"/>
              <a:t>Sourchehov</a:t>
            </a:r>
            <a:r>
              <a:rPr lang="en-US" i="1" dirty="0"/>
              <a:t> </a:t>
            </a:r>
            <a:r>
              <a:rPr lang="en-US" dirty="0"/>
              <a:t>(2020) </a:t>
            </a:r>
          </a:p>
          <a:p>
            <a:pPr lvl="1"/>
            <a:r>
              <a:rPr lang="en-US" dirty="0"/>
              <a:t>DCF used for value private company—respondent disagreed w/ own expert!</a:t>
            </a:r>
          </a:p>
          <a:p>
            <a:r>
              <a:rPr lang="en-US" i="1" dirty="0"/>
              <a:t>Panera Bread </a:t>
            </a:r>
            <a:r>
              <a:rPr lang="en-US" dirty="0"/>
              <a:t>(2020)</a:t>
            </a:r>
          </a:p>
          <a:p>
            <a:pPr lvl="1"/>
            <a:r>
              <a:rPr lang="en-US" dirty="0"/>
              <a:t>Deal price less synergies, but Panera had prepaid deal price; </a:t>
            </a:r>
            <a:r>
              <a:rPr lang="en-US" b="1" dirty="0"/>
              <a:t>no refund</a:t>
            </a:r>
            <a:r>
              <a:rPr lang="en-US" dirty="0"/>
              <a:t>!!</a:t>
            </a:r>
          </a:p>
        </p:txBody>
      </p:sp>
      <p:sp>
        <p:nvSpPr>
          <p:cNvPr id="3" name="Title 2">
            <a:extLst>
              <a:ext uri="{FF2B5EF4-FFF2-40B4-BE49-F238E27FC236}">
                <a16:creationId xmlns:a16="http://schemas.microsoft.com/office/drawing/2014/main" id="{88F15691-5740-0F65-07CB-BF7627C3F68C}"/>
              </a:ext>
            </a:extLst>
          </p:cNvPr>
          <p:cNvSpPr>
            <a:spLocks noGrp="1"/>
          </p:cNvSpPr>
          <p:nvPr>
            <p:ph type="title"/>
          </p:nvPr>
        </p:nvSpPr>
        <p:spPr/>
        <p:txBody>
          <a:bodyPr/>
          <a:lstStyle/>
          <a:p>
            <a:r>
              <a:rPr lang="en-US" dirty="0"/>
              <a:t>Some Other Recent Appraisal Cases</a:t>
            </a:r>
          </a:p>
        </p:txBody>
      </p:sp>
      <p:sp>
        <p:nvSpPr>
          <p:cNvPr id="4" name="Slide Number Placeholder 3">
            <a:extLst>
              <a:ext uri="{FF2B5EF4-FFF2-40B4-BE49-F238E27FC236}">
                <a16:creationId xmlns:a16="http://schemas.microsoft.com/office/drawing/2014/main" id="{D86BDA42-67BB-8A2F-3B49-94A2E68C2108}"/>
              </a:ext>
            </a:extLst>
          </p:cNvPr>
          <p:cNvSpPr>
            <a:spLocks noGrp="1"/>
          </p:cNvSpPr>
          <p:nvPr>
            <p:ph type="sldNum" sz="quarter" idx="10"/>
          </p:nvPr>
        </p:nvSpPr>
        <p:spPr/>
        <p:txBody>
          <a:bodyPr/>
          <a:lstStyle/>
          <a:p>
            <a:fld id="{7B3E355C-57B9-BC4B-95D8-406A1F834537}" type="slidenum">
              <a:rPr lang="en-US" altLang="en-US" smtClean="0"/>
              <a:pPr/>
              <a:t>27</a:t>
            </a:fld>
            <a:endParaRPr lang="en-US" altLang="en-US" dirty="0"/>
          </a:p>
        </p:txBody>
      </p:sp>
      <p:sp>
        <p:nvSpPr>
          <p:cNvPr id="5" name="Footer Placeholder 4">
            <a:extLst>
              <a:ext uri="{FF2B5EF4-FFF2-40B4-BE49-F238E27FC236}">
                <a16:creationId xmlns:a16="http://schemas.microsoft.com/office/drawing/2014/main" id="{83E3E83B-5991-259A-549C-403135D958B3}"/>
              </a:ext>
            </a:extLst>
          </p:cNvPr>
          <p:cNvSpPr>
            <a:spLocks noGrp="1"/>
          </p:cNvSpPr>
          <p:nvPr>
            <p:ph type="ftr" sz="quarter" idx="11"/>
          </p:nvPr>
        </p:nvSpPr>
        <p:spPr/>
        <p:txBody>
          <a:bodyPr/>
          <a:lstStyle/>
          <a:p>
            <a:pPr>
              <a:defRPr/>
            </a:pPr>
            <a:r>
              <a:rPr lang="en-US" dirty="0"/>
              <a:t>Valuation Delaware</a:t>
            </a:r>
          </a:p>
        </p:txBody>
      </p:sp>
    </p:spTree>
    <p:extLst>
      <p:ext uri="{BB962C8B-B14F-4D97-AF65-F5344CB8AC3E}">
        <p14:creationId xmlns:p14="http://schemas.microsoft.com/office/powerpoint/2010/main" val="39993358"/>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11977</TotalTime>
  <Words>2276</Words>
  <Application>Microsoft Macintosh PowerPoint</Application>
  <PresentationFormat>On-screen Show (4:3)</PresentationFormat>
  <Paragraphs>236</Paragraphs>
  <Slides>27</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ＭＳ Ｐゴシック</vt:lpstr>
      <vt:lpstr>NSimSun</vt:lpstr>
      <vt:lpstr>Arial</vt:lpstr>
      <vt:lpstr>Calibri</vt:lpstr>
      <vt:lpstr>Courier New</vt:lpstr>
      <vt:lpstr>lato</vt:lpstr>
      <vt:lpstr>Times New Roman</vt:lpstr>
      <vt:lpstr>Wingdings</vt:lpstr>
      <vt:lpstr>Wingdings 2</vt:lpstr>
      <vt:lpstr>CG Body - Standard</vt:lpstr>
      <vt:lpstr>PowerPoint Presentation</vt:lpstr>
      <vt:lpstr>Corporate Acquisition Alternatives: Merger v. Stock Acquisition</vt:lpstr>
      <vt:lpstr>Valuation in Delaware</vt:lpstr>
      <vt:lpstr>Delaware: Appraisal Rights</vt:lpstr>
      <vt:lpstr>Some Appraisal Decisions (‘10-’17)</vt:lpstr>
      <vt:lpstr>Some Appraisal Decisions (‘10-’17)</vt:lpstr>
      <vt:lpstr>Delaware Appraisal</vt:lpstr>
      <vt:lpstr>Delaware Appraisal</vt:lpstr>
      <vt:lpstr>Delaware Appraisal</vt:lpstr>
      <vt:lpstr>Delaware Appraisal: 2016 Changes</vt:lpstr>
      <vt:lpstr>Delaware Appraisal: 2016 Changes</vt:lpstr>
      <vt:lpstr>Delaware Appraisal: 2022 and 2023 Changes</vt:lpstr>
      <vt:lpstr>Valuation in Delaware</vt:lpstr>
      <vt:lpstr>Valuation in Delaware</vt:lpstr>
      <vt:lpstr>Measure of Fair Value in Delaware</vt:lpstr>
      <vt:lpstr>Valuation Techniques in Delaware</vt:lpstr>
      <vt:lpstr>Merion Capital v. 3M Cogent</vt:lpstr>
      <vt:lpstr>Dell v. Magnetar (Del. S. Ct. 2017)</vt:lpstr>
      <vt:lpstr>Dell v. Magnetar (Del. S. Ct. 2017)</vt:lpstr>
      <vt:lpstr>DFC Global v. Muirfield (Del. S. Ct. 2017)</vt:lpstr>
      <vt:lpstr>Verition v. Aruba (Del. S. Ct. 2019)</vt:lpstr>
      <vt:lpstr>Fir Tree v. Jarden (Del. S. Ct. 2020) </vt:lpstr>
      <vt:lpstr>Appraisal Petitions: 2006-2022</vt:lpstr>
      <vt:lpstr>Average Premium to Deal Price</vt:lpstr>
      <vt:lpstr>Valuation Methodologies (2006-2022)</vt:lpstr>
      <vt:lpstr>Waiver of Appraisal Rights:  Manti Holdings</vt:lpstr>
      <vt:lpstr>Some Other Recent Appraisal Cases</vt:lpstr>
    </vt:vector>
  </TitlesOfParts>
  <Company>Fordham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XPUser</dc:creator>
  <cp:lastModifiedBy>Colon, Jeffrey M.</cp:lastModifiedBy>
  <cp:revision>237</cp:revision>
  <cp:lastPrinted>2016-10-20T13:52:22Z</cp:lastPrinted>
  <dcterms:created xsi:type="dcterms:W3CDTF">2010-03-23T23:56:31Z</dcterms:created>
  <dcterms:modified xsi:type="dcterms:W3CDTF">2025-10-26T11:08:14Z</dcterms:modified>
</cp:coreProperties>
</file>