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1"/>
  </p:notesMasterIdLst>
  <p:sldIdLst>
    <p:sldId id="256" r:id="rId2"/>
    <p:sldId id="257" r:id="rId3"/>
    <p:sldId id="258" r:id="rId4"/>
    <p:sldId id="259" r:id="rId5"/>
    <p:sldId id="260" r:id="rId6"/>
    <p:sldId id="262" r:id="rId7"/>
    <p:sldId id="261"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44048D2-25C7-6544-9286-94F0C3A55485}" v="13" dt="2025-10-27T14:12:56.51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632"/>
    <p:restoredTop sz="94680"/>
  </p:normalViewPr>
  <p:slideViewPr>
    <p:cSldViewPr snapToGrid="0">
      <p:cViewPr varScale="1">
        <p:scale>
          <a:sx n="81" d="100"/>
          <a:sy n="81" d="100"/>
        </p:scale>
        <p:origin x="72" y="8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A3BAFE-BD7B-C340-B942-9561F91EA3BB}" type="datetimeFigureOut">
              <a:rPr lang="en-US" smtClean="0"/>
              <a:t>10/29/2025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78573C-A855-0045-83BB-8BD99162A65B}" type="slidenum">
              <a:rPr lang="en-US" smtClean="0"/>
              <a:t>‹#›</a:t>
            </a:fld>
            <a:endParaRPr lang="en-US"/>
          </a:p>
        </p:txBody>
      </p:sp>
    </p:spTree>
    <p:extLst>
      <p:ext uri="{BB962C8B-B14F-4D97-AF65-F5344CB8AC3E}">
        <p14:creationId xmlns:p14="http://schemas.microsoft.com/office/powerpoint/2010/main" val="2540699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78573C-A855-0045-83BB-8BD99162A65B}" type="slidenum">
              <a:rPr lang="en-US" smtClean="0"/>
              <a:t>2</a:t>
            </a:fld>
            <a:endParaRPr lang="en-US"/>
          </a:p>
        </p:txBody>
      </p:sp>
    </p:spTree>
    <p:extLst>
      <p:ext uri="{BB962C8B-B14F-4D97-AF65-F5344CB8AC3E}">
        <p14:creationId xmlns:p14="http://schemas.microsoft.com/office/powerpoint/2010/main" val="2121112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5"/>
            <a:ext cx="3860800" cy="288925"/>
          </a:xfrm>
        </p:spPr>
        <p:txBody>
          <a:bodyPr/>
          <a:lstStyle>
            <a:lvl1pPr>
              <a:defRPr smtClean="0"/>
            </a:lvl1pPr>
          </a:lstStyle>
          <a:p>
            <a:pPr>
              <a:defRPr/>
            </a:pPr>
            <a:r>
              <a:rPr lang="en-US" dirty="0"/>
              <a:t>Indexing</a:t>
            </a:r>
          </a:p>
        </p:txBody>
      </p:sp>
      <p:sp>
        <p:nvSpPr>
          <p:cNvPr id="5" name="TextBox 4">
            <a:extLst>
              <a:ext uri="{FF2B5EF4-FFF2-40B4-BE49-F238E27FC236}">
                <a16:creationId xmlns:a16="http://schemas.microsoft.com/office/drawing/2014/main" id="{2BEA9E68-7C1E-2840-BE01-6F2323EF3DB0}"/>
              </a:ext>
            </a:extLst>
          </p:cNvPr>
          <p:cNvSpPr txBox="1"/>
          <p:nvPr userDrawn="1"/>
        </p:nvSpPr>
        <p:spPr>
          <a:xfrm>
            <a:off x="1043094" y="6624320"/>
            <a:ext cx="184731" cy="369332"/>
          </a:xfrm>
          <a:prstGeom prst="rect">
            <a:avLst/>
          </a:prstGeom>
          <a:noFill/>
        </p:spPr>
        <p:txBody>
          <a:bodyPr wrap="none" rtlCol="0">
            <a:spAutoFit/>
          </a:bodyPr>
          <a:lstStyle/>
          <a:p>
            <a:endParaRPr lang="en-US" sz="1800" dirty="0"/>
          </a:p>
        </p:txBody>
      </p:sp>
    </p:spTree>
    <p:extLst>
      <p:ext uri="{BB962C8B-B14F-4D97-AF65-F5344CB8AC3E}">
        <p14:creationId xmlns:p14="http://schemas.microsoft.com/office/powerpoint/2010/main" val="3646571766"/>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5"/>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20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7"/>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a:t>Indexing</a:t>
            </a:r>
            <a:endParaRPr lang="en-US" dirty="0"/>
          </a:p>
        </p:txBody>
      </p:sp>
      <p:sp>
        <p:nvSpPr>
          <p:cNvPr id="8" name="Rectangle 7"/>
          <p:cNvSpPr/>
          <p:nvPr userDrawn="1"/>
        </p:nvSpPr>
        <p:spPr>
          <a:xfrm>
            <a:off x="512064" y="407061"/>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356589064"/>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Indexing</a:t>
            </a:r>
          </a:p>
        </p:txBody>
      </p:sp>
      <p:sp>
        <p:nvSpPr>
          <p:cNvPr id="2" name="TextBox 1"/>
          <p:cNvSpPr txBox="1"/>
          <p:nvPr userDrawn="1"/>
        </p:nvSpPr>
        <p:spPr>
          <a:xfrm>
            <a:off x="2748041" y="537029"/>
            <a:ext cx="184731" cy="300082"/>
          </a:xfrm>
          <a:prstGeom prst="rect">
            <a:avLst/>
          </a:prstGeom>
          <a:noFill/>
        </p:spPr>
        <p:txBody>
          <a:bodyPr wrap="none" rtlCol="0">
            <a:spAutoFit/>
          </a:bodyPr>
          <a:lstStyle/>
          <a:p>
            <a:endParaRPr lang="en-US" sz="1350" dirty="0"/>
          </a:p>
        </p:txBody>
      </p:sp>
    </p:spTree>
    <p:extLst>
      <p:ext uri="{BB962C8B-B14F-4D97-AF65-F5344CB8AC3E}">
        <p14:creationId xmlns:p14="http://schemas.microsoft.com/office/powerpoint/2010/main" val="24534926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28491366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2482665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22380381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Indexing</a:t>
            </a:r>
          </a:p>
        </p:txBody>
      </p:sp>
      <p:sp>
        <p:nvSpPr>
          <p:cNvPr id="15" name="Rectangle 14"/>
          <p:cNvSpPr/>
          <p:nvPr userDrawn="1"/>
        </p:nvSpPr>
        <p:spPr>
          <a:xfrm>
            <a:off x="512064" y="407061"/>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512064" y="3"/>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Tree>
    <p:extLst>
      <p:ext uri="{BB962C8B-B14F-4D97-AF65-F5344CB8AC3E}">
        <p14:creationId xmlns:p14="http://schemas.microsoft.com/office/powerpoint/2010/main" val="33249731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4"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40140178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12676817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6"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2" name="Right Arrow 11"/>
          <p:cNvSpPr/>
          <p:nvPr userDrawn="1"/>
        </p:nvSpPr>
        <p:spPr bwMode="auto">
          <a:xfrm rot="10800000">
            <a:off x="5427338" y="3778178"/>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42663454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7"/>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6543186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7"/>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12373819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Indexing</a:t>
            </a:r>
            <a:endParaRPr lang="en-US" dirty="0"/>
          </a:p>
        </p:txBody>
      </p:sp>
    </p:spTree>
    <p:extLst>
      <p:ext uri="{BB962C8B-B14F-4D97-AF65-F5344CB8AC3E}">
        <p14:creationId xmlns:p14="http://schemas.microsoft.com/office/powerpoint/2010/main" val="8297018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11114305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276746928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5" y="1397000"/>
            <a:ext cx="2317751"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747436" y="1397000"/>
            <a:ext cx="2315633"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4931836" y="1397000"/>
            <a:ext cx="2315633"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2" y="1397000"/>
            <a:ext cx="2315633"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9"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8748187"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6019803"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575735" y="4497388"/>
            <a:ext cx="3754967"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4226986" y="4497388"/>
            <a:ext cx="3754967"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7878235" y="4497388"/>
            <a:ext cx="3754967"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31015311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20101001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3"/>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6" name="Line 115"/>
          <p:cNvSpPr>
            <a:spLocks noChangeShapeType="1"/>
          </p:cNvSpPr>
          <p:nvPr userDrawn="1"/>
        </p:nvSpPr>
        <p:spPr bwMode="gray">
          <a:xfrm>
            <a:off x="3048000" y="3632203"/>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7" name="Line 118"/>
          <p:cNvSpPr>
            <a:spLocks noChangeShapeType="1"/>
          </p:cNvSpPr>
          <p:nvPr/>
        </p:nvSpPr>
        <p:spPr bwMode="gray">
          <a:xfrm>
            <a:off x="9004300" y="3632203"/>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grpSp>
        <p:nvGrpSpPr>
          <p:cNvPr id="18" name="Group 123"/>
          <p:cNvGrpSpPr>
            <a:grpSpLocks/>
          </p:cNvGrpSpPr>
          <p:nvPr userDrawn="1"/>
        </p:nvGrpSpPr>
        <p:grpSpPr bwMode="auto">
          <a:xfrm>
            <a:off x="611719"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66" name="Line 125"/>
          <p:cNvSpPr>
            <a:spLocks noChangeShapeType="1"/>
          </p:cNvSpPr>
          <p:nvPr userDrawn="1"/>
        </p:nvSpPr>
        <p:spPr bwMode="gray">
          <a:xfrm>
            <a:off x="4572000" y="3651253"/>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1">
              <a:solidFill>
                <a:srgbClr val="4D4D4D"/>
              </a:solidFill>
              <a:latin typeface="Arial" charset="0"/>
            </a:endParaRPr>
          </a:p>
        </p:txBody>
      </p:sp>
      <p:grpSp>
        <p:nvGrpSpPr>
          <p:cNvPr id="72" name="Group 123"/>
          <p:cNvGrpSpPr>
            <a:grpSpLocks/>
          </p:cNvGrpSpPr>
          <p:nvPr userDrawn="1"/>
        </p:nvGrpSpPr>
        <p:grpSpPr bwMode="auto">
          <a:xfrm>
            <a:off x="814919" y="3460753"/>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196877063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2" y="1295400"/>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1219202" y="1800013"/>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1219202" y="2304626"/>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1219202" y="2809239"/>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1219202" y="3313852"/>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1219202" y="3818465"/>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1219202" y="4323078"/>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1219202" y="4827691"/>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3" y="5332304"/>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3" y="5836920"/>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52610239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368801595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377160652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5" y="1911353"/>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2" name="Freeform 4"/>
          <p:cNvSpPr>
            <a:spLocks/>
          </p:cNvSpPr>
          <p:nvPr userDrawn="1"/>
        </p:nvSpPr>
        <p:spPr bwMode="auto">
          <a:xfrm>
            <a:off x="3403601" y="1911353"/>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3" name="Freeform 4"/>
          <p:cNvSpPr>
            <a:spLocks/>
          </p:cNvSpPr>
          <p:nvPr userDrawn="1"/>
        </p:nvSpPr>
        <p:spPr bwMode="auto">
          <a:xfrm>
            <a:off x="6197602" y="1911353"/>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4" name="Freeform 4"/>
          <p:cNvSpPr>
            <a:spLocks/>
          </p:cNvSpPr>
          <p:nvPr userDrawn="1"/>
        </p:nvSpPr>
        <p:spPr bwMode="auto">
          <a:xfrm>
            <a:off x="9027586" y="1911353"/>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3816545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4364739" y="1447807"/>
            <a:ext cx="3534833"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3" y="1447807"/>
            <a:ext cx="3534833"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3"/>
            <a:ext cx="3364992"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18207821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218997763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260713917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10074675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202861806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248232713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303202541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3" name="AutoShape 5"/>
          <p:cNvSpPr>
            <a:spLocks noChangeArrowheads="1"/>
          </p:cNvSpPr>
          <p:nvPr userDrawn="1"/>
        </p:nvSpPr>
        <p:spPr bwMode="auto">
          <a:xfrm rot="5400000">
            <a:off x="1741489"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4" name="AutoShape 6"/>
          <p:cNvSpPr>
            <a:spLocks noChangeArrowheads="1"/>
          </p:cNvSpPr>
          <p:nvPr userDrawn="1"/>
        </p:nvSpPr>
        <p:spPr bwMode="auto">
          <a:xfrm rot="5400000">
            <a:off x="3758673"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5" name="AutoShape 7"/>
          <p:cNvSpPr>
            <a:spLocks noChangeArrowheads="1"/>
          </p:cNvSpPr>
          <p:nvPr userDrawn="1"/>
        </p:nvSpPr>
        <p:spPr bwMode="auto">
          <a:xfrm rot="5400000">
            <a:off x="577797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383795262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384899244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241132011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331013785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20" y="1981203"/>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17" name="Freeform 13"/>
          <p:cNvSpPr>
            <a:spLocks/>
          </p:cNvSpPr>
          <p:nvPr userDrawn="1"/>
        </p:nvSpPr>
        <p:spPr bwMode="auto">
          <a:xfrm>
            <a:off x="609602" y="1982791"/>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1" name="Freeform 14"/>
          <p:cNvSpPr>
            <a:spLocks/>
          </p:cNvSpPr>
          <p:nvPr userDrawn="1"/>
        </p:nvSpPr>
        <p:spPr bwMode="auto">
          <a:xfrm>
            <a:off x="7579786" y="1981203"/>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8" name="Text Placeholder 12"/>
          <p:cNvSpPr>
            <a:spLocks noGrp="1"/>
          </p:cNvSpPr>
          <p:nvPr>
            <p:ph type="body" sz="quarter" idx="16"/>
          </p:nvPr>
        </p:nvSpPr>
        <p:spPr bwMode="gray">
          <a:xfrm>
            <a:off x="7574515"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7541684" y="1417327"/>
            <a:ext cx="4047744"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1" y="1988239"/>
            <a:ext cx="3183381"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2" y="1987175"/>
            <a:ext cx="372559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139197910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9"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306806704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8" y="1497016"/>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18080979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6"/>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5" y="3486682"/>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7"/>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9" y="4986243"/>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4" y="1441358"/>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1" y="2622986"/>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5" y="3804614"/>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168542816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5" y="1782765"/>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8" name="Parallelogram 7"/>
          <p:cNvSpPr/>
          <p:nvPr userDrawn="1"/>
        </p:nvSpPr>
        <p:spPr bwMode="auto">
          <a:xfrm>
            <a:off x="950385" y="5300666"/>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4" name="Parallelogram 13"/>
          <p:cNvSpPr/>
          <p:nvPr userDrawn="1"/>
        </p:nvSpPr>
        <p:spPr bwMode="auto">
          <a:xfrm>
            <a:off x="950385" y="4129091"/>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5" name="Parallelogram 14"/>
          <p:cNvSpPr/>
          <p:nvPr userDrawn="1"/>
        </p:nvSpPr>
        <p:spPr bwMode="auto">
          <a:xfrm>
            <a:off x="950385"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944921" y="5019705"/>
            <a:ext cx="9934099"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944921" y="3847018"/>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944921" y="2674337"/>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208784097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6"/>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91"/>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5"/>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9195340"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6819047"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4442752"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98348525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6" y="1277938"/>
            <a:ext cx="8824383"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23" name="Straight Connector 9"/>
          <p:cNvCxnSpPr>
            <a:cxnSpLocks noChangeShapeType="1"/>
          </p:cNvCxnSpPr>
          <p:nvPr userDrawn="1"/>
        </p:nvCxnSpPr>
        <p:spPr bwMode="auto">
          <a:xfrm>
            <a:off x="2880785"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4"/>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sp>
        <p:nvSpPr>
          <p:cNvPr id="61" name="Rectangle 31"/>
          <p:cNvSpPr>
            <a:spLocks noChangeArrowheads="1"/>
          </p:cNvSpPr>
          <p:nvPr userDrawn="1"/>
        </p:nvSpPr>
        <p:spPr bwMode="auto">
          <a:xfrm>
            <a:off x="624419" y="1277938"/>
            <a:ext cx="2256367"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3" y="1282932"/>
            <a:ext cx="8496387"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4021496"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4588797"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886893"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6290701"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5723400"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9127208"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7425304"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7992605"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9694509"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10829112"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868569" y="1278090"/>
            <a:ext cx="860776"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188715309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3"/>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grpSp>
        <p:nvGrpSpPr>
          <p:cNvPr id="72" name="Group 84"/>
          <p:cNvGrpSpPr>
            <a:grpSpLocks/>
          </p:cNvGrpSpPr>
          <p:nvPr userDrawn="1"/>
        </p:nvGrpSpPr>
        <p:grpSpPr bwMode="auto">
          <a:xfrm>
            <a:off x="590552"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6" y="1566866"/>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6"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5" y="1468440"/>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a:p>
        </p:txBody>
      </p:sp>
      <p:cxnSp>
        <p:nvCxnSpPr>
          <p:cNvPr id="100" name="Straight Connector 42"/>
          <p:cNvCxnSpPr>
            <a:cxnSpLocks noChangeShapeType="1"/>
          </p:cNvCxnSpPr>
          <p:nvPr userDrawn="1"/>
        </p:nvCxnSpPr>
        <p:spPr bwMode="auto">
          <a:xfrm>
            <a:off x="2061635"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937753" y="1835813"/>
            <a:ext cx="86251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3800275" y="1835813"/>
            <a:ext cx="86900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4662792" y="1835813"/>
            <a:ext cx="85603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8112868" y="1835813"/>
            <a:ext cx="86900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625654" y="223026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625654" y="259557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625654" y="296088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625654" y="332619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625654" y="369150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625654" y="405681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625654" y="5152742"/>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625654" y="442212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625654" y="478743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355965961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6"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8"/>
            <a:ext cx="73152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7"/>
            <a:ext cx="73152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2395055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5" y="1447800"/>
            <a:ext cx="2250831"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603255" y="2667000"/>
            <a:ext cx="2250831"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603255" y="5105400"/>
            <a:ext cx="2250831"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9337925" y="1447800"/>
            <a:ext cx="2250831"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9337925" y="2667000"/>
            <a:ext cx="2250831"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9337925" y="3886200"/>
            <a:ext cx="2250831"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9337925" y="5105400"/>
            <a:ext cx="2250831"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603255" y="3886200"/>
            <a:ext cx="2250831"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130673541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7" y="1419225"/>
            <a:ext cx="3376247"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231443478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6" y="1419225"/>
            <a:ext cx="6815667"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9091526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374982086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3" name="TextBox 13"/>
          <p:cNvSpPr txBox="1">
            <a:spLocks noChangeArrowheads="1"/>
          </p:cNvSpPr>
          <p:nvPr userDrawn="1"/>
        </p:nvSpPr>
        <p:spPr bwMode="auto">
          <a:xfrm>
            <a:off x="2755900" y="1108078"/>
            <a:ext cx="42672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8"/>
            <a:ext cx="42672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Arial" pitchFamily="34" charset="0"/>
              </a:defRPr>
            </a:lvl2pPr>
            <a:lvl3pPr marL="171450" indent="-171450">
              <a:buClr>
                <a:srgbClr val="B01C2E"/>
              </a:buClr>
              <a:buFont typeface="Wingdings 2" pitchFamily="18" charset="2"/>
              <a:buChar char="¡"/>
              <a:defRPr sz="750" baseline="0">
                <a:latin typeface="Arial" pitchFamily="34" charset="0"/>
              </a:defRPr>
            </a:lvl3pPr>
            <a:lvl4pPr marL="342900" indent="-171450">
              <a:buClr>
                <a:srgbClr val="B01C2E"/>
              </a:buClr>
              <a:buFont typeface="Arial" pitchFamily="34" charset="0"/>
              <a:buChar char="–"/>
              <a:defRPr sz="750" baseline="0">
                <a:latin typeface="Arial" pitchFamily="34" charset="0"/>
              </a:defRPr>
            </a:lvl4pPr>
            <a:lvl5pPr marL="514350" indent="-171450">
              <a:buClr>
                <a:srgbClr val="B01C2E"/>
              </a:buClr>
              <a:buFont typeface="Arial" pitchFamily="34" charset="0"/>
              <a:buChar char="–"/>
              <a:defRPr sz="75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323835068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7" y="2982769"/>
            <a:ext cx="1904615"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4" y="1589236"/>
            <a:ext cx="1426633"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3" y="1246188"/>
            <a:ext cx="10917767"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6"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3" y="1589236"/>
            <a:ext cx="1426633"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9"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500" y="1589236"/>
            <a:ext cx="1426633"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8"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6" y="1589236"/>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90"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90" y="1589236"/>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7"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4"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6"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3"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9"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500"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8"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6"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90"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90" y="3962403"/>
            <a:ext cx="1426633"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64800642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2"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2"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Indexing</a:t>
            </a:r>
          </a:p>
        </p:txBody>
      </p:sp>
    </p:spTree>
    <p:extLst>
      <p:ext uri="{BB962C8B-B14F-4D97-AF65-F5344CB8AC3E}">
        <p14:creationId xmlns:p14="http://schemas.microsoft.com/office/powerpoint/2010/main" val="134338245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346984211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375414842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3485268294"/>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291454637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Indexing</a:t>
            </a:r>
          </a:p>
        </p:txBody>
      </p:sp>
    </p:spTree>
    <p:extLst>
      <p:ext uri="{BB962C8B-B14F-4D97-AF65-F5344CB8AC3E}">
        <p14:creationId xmlns:p14="http://schemas.microsoft.com/office/powerpoint/2010/main" val="178163476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Indexing</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3951420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715962"/>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609600" y="1371601"/>
            <a:ext cx="53848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371601"/>
            <a:ext cx="53848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ftr" sz="quarter" idx="10"/>
          </p:nvPr>
        </p:nvSpPr>
        <p:spPr>
          <a:ln/>
        </p:spPr>
        <p:txBody>
          <a:bodyPr/>
          <a:lstStyle>
            <a:lvl1pPr>
              <a:defRPr/>
            </a:lvl1pPr>
          </a:lstStyle>
          <a:p>
            <a:r>
              <a:rPr lang="en-US"/>
              <a:t>Indexing</a:t>
            </a:r>
          </a:p>
        </p:txBody>
      </p:sp>
      <p:sp>
        <p:nvSpPr>
          <p:cNvPr id="6" name="Rectangle 6"/>
          <p:cNvSpPr>
            <a:spLocks noGrp="1" noChangeArrowheads="1"/>
          </p:cNvSpPr>
          <p:nvPr>
            <p:ph type="sldNum" sz="quarter" idx="11"/>
          </p:nvPr>
        </p:nvSpPr>
        <p:spPr>
          <a:ln/>
        </p:spPr>
        <p:txBody>
          <a:bodyPr/>
          <a:lstStyle>
            <a:lvl1pPr>
              <a:defRPr/>
            </a:lvl1pPr>
          </a:lstStyle>
          <a:p>
            <a:fld id="{11BEE2D7-1F05-0540-AD0D-C8F6AEBAE5C7}" type="slidenum">
              <a:rPr lang="en-US"/>
              <a:pPr/>
              <a:t>‹#›</a:t>
            </a:fld>
            <a:endParaRPr lang="en-US"/>
          </a:p>
        </p:txBody>
      </p:sp>
    </p:spTree>
    <p:extLst>
      <p:ext uri="{BB962C8B-B14F-4D97-AF65-F5344CB8AC3E}">
        <p14:creationId xmlns:p14="http://schemas.microsoft.com/office/powerpoint/2010/main" val="265875155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715962"/>
          </a:xfrm>
          <a:prstGeom prst="rect">
            <a:avLst/>
          </a:prstGeom>
        </p:spPr>
        <p:txBody>
          <a:bodyPr/>
          <a:lstStyle/>
          <a:p>
            <a:r>
              <a:rPr lang="en-US"/>
              <a:t>Click to edit Master title style</a:t>
            </a:r>
          </a:p>
        </p:txBody>
      </p:sp>
      <p:sp>
        <p:nvSpPr>
          <p:cNvPr id="3" name="Table Placeholder 2"/>
          <p:cNvSpPr>
            <a:spLocks noGrp="1"/>
          </p:cNvSpPr>
          <p:nvPr>
            <p:ph type="tbl" idx="1"/>
          </p:nvPr>
        </p:nvSpPr>
        <p:spPr>
          <a:xfrm>
            <a:off x="609600" y="1371600"/>
            <a:ext cx="10972800" cy="4754563"/>
          </a:xfrm>
          <a:prstGeom prst="rect">
            <a:avLst/>
          </a:prstGeom>
        </p:spPr>
        <p:txBody>
          <a:bodyPr/>
          <a:lstStyle/>
          <a:p>
            <a:pPr lvl="0"/>
            <a:endParaRPr lang="en-US" noProof="0"/>
          </a:p>
        </p:txBody>
      </p:sp>
      <p:sp>
        <p:nvSpPr>
          <p:cNvPr id="4" name="Footer Placeholder 3"/>
          <p:cNvSpPr>
            <a:spLocks noGrp="1"/>
          </p:cNvSpPr>
          <p:nvPr>
            <p:ph type="ftr" sz="quarter" idx="10"/>
          </p:nvPr>
        </p:nvSpPr>
        <p:spPr/>
        <p:txBody>
          <a:bodyPr/>
          <a:lstStyle>
            <a:lvl1pPr>
              <a:defRPr smtClean="0"/>
            </a:lvl1pPr>
          </a:lstStyle>
          <a:p>
            <a:pPr>
              <a:defRPr/>
            </a:pPr>
            <a:r>
              <a:rPr lang="en-US"/>
              <a:t>Indexing</a:t>
            </a:r>
          </a:p>
        </p:txBody>
      </p:sp>
      <p:sp>
        <p:nvSpPr>
          <p:cNvPr id="5" name="Slide Number Placeholder 4"/>
          <p:cNvSpPr>
            <a:spLocks noGrp="1"/>
          </p:cNvSpPr>
          <p:nvPr>
            <p:ph type="sldNum" sz="quarter" idx="11"/>
          </p:nvPr>
        </p:nvSpPr>
        <p:spPr/>
        <p:txBody>
          <a:bodyPr/>
          <a:lstStyle>
            <a:lvl1pPr>
              <a:defRPr smtClean="0"/>
            </a:lvl1pPr>
          </a:lstStyle>
          <a:p>
            <a:pPr>
              <a:defRPr/>
            </a:pPr>
            <a:fld id="{7F3C724D-B57F-F94F-8F6D-BE1CC47DC0DD}" type="slidenum">
              <a:rPr lang="en-US"/>
              <a:pPr>
                <a:defRPr/>
              </a:pPr>
              <a:t>‹#›</a:t>
            </a:fld>
            <a:endParaRPr lang="en-US"/>
          </a:p>
        </p:txBody>
      </p:sp>
    </p:spTree>
    <p:extLst>
      <p:ext uri="{BB962C8B-B14F-4D97-AF65-F5344CB8AC3E}">
        <p14:creationId xmlns:p14="http://schemas.microsoft.com/office/powerpoint/2010/main" val="512863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097859-EF67-9D7F-3A54-0570A63387B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2FD096-CA69-76AB-9DEF-360B14F7C2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54288C0-2E6E-9FFC-3DEF-C56D36BFEF8D}"/>
              </a:ext>
            </a:extLst>
          </p:cNvPr>
          <p:cNvSpPr>
            <a:spLocks noGrp="1"/>
          </p:cNvSpPr>
          <p:nvPr>
            <p:ph type="dt" sz="half" idx="10"/>
          </p:nvPr>
        </p:nvSpPr>
        <p:spPr/>
        <p:txBody>
          <a:bodyPr/>
          <a:lstStyle/>
          <a:p>
            <a:fld id="{161B78D7-2D1A-3B4F-8B81-9B45FA37F983}" type="datetime1">
              <a:rPr lang="en-US" smtClean="0"/>
              <a:t>10/29/2025</a:t>
            </a:fld>
            <a:endParaRPr lang="en-US"/>
          </a:p>
        </p:txBody>
      </p:sp>
      <p:sp>
        <p:nvSpPr>
          <p:cNvPr id="5" name="Footer Placeholder 4">
            <a:extLst>
              <a:ext uri="{FF2B5EF4-FFF2-40B4-BE49-F238E27FC236}">
                <a16:creationId xmlns:a16="http://schemas.microsoft.com/office/drawing/2014/main" id="{92C11E5E-653F-D270-FD86-E76DB7A6F26B}"/>
              </a:ext>
            </a:extLst>
          </p:cNvPr>
          <p:cNvSpPr>
            <a:spLocks noGrp="1"/>
          </p:cNvSpPr>
          <p:nvPr>
            <p:ph type="ftr" sz="quarter" idx="11"/>
          </p:nvPr>
        </p:nvSpPr>
        <p:spPr/>
        <p:txBody>
          <a:bodyPr/>
          <a:lstStyle/>
          <a:p>
            <a:r>
              <a:rPr lang="en-US"/>
              <a:t>Indexing</a:t>
            </a:r>
          </a:p>
        </p:txBody>
      </p:sp>
      <p:sp>
        <p:nvSpPr>
          <p:cNvPr id="6" name="Slide Number Placeholder 5">
            <a:extLst>
              <a:ext uri="{FF2B5EF4-FFF2-40B4-BE49-F238E27FC236}">
                <a16:creationId xmlns:a16="http://schemas.microsoft.com/office/drawing/2014/main" id="{C2EAD495-AF2D-9CB6-8D9D-3C98B8B50FF3}"/>
              </a:ext>
            </a:extLst>
          </p:cNvPr>
          <p:cNvSpPr>
            <a:spLocks noGrp="1"/>
          </p:cNvSpPr>
          <p:nvPr>
            <p:ph type="sldNum" sz="quarter" idx="12"/>
          </p:nvPr>
        </p:nvSpPr>
        <p:spPr/>
        <p:txBody>
          <a:bodyPr/>
          <a:lstStyle/>
          <a:p>
            <a:fld id="{F17E169B-3409-7748-928B-D58CDEEAB5D8}" type="slidenum">
              <a:rPr lang="en-US" smtClean="0"/>
              <a:t>‹#›</a:t>
            </a:fld>
            <a:endParaRPr lang="en-US"/>
          </a:p>
        </p:txBody>
      </p:sp>
    </p:spTree>
    <p:extLst>
      <p:ext uri="{BB962C8B-B14F-4D97-AF65-F5344CB8AC3E}">
        <p14:creationId xmlns:p14="http://schemas.microsoft.com/office/powerpoint/2010/main" val="364392066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 name="Slide Number Placeholder 9"/>
          <p:cNvSpPr>
            <a:spLocks noGrp="1"/>
          </p:cNvSpPr>
          <p:nvPr>
            <p:ph type="sldNum" sz="quarter" idx="4"/>
          </p:nvPr>
        </p:nvSpPr>
        <p:spPr>
          <a:xfrm>
            <a:off x="11480800" y="6436636"/>
            <a:ext cx="609600" cy="365125"/>
          </a:xfrm>
          <a:prstGeom prst="rect">
            <a:avLst/>
          </a:prstGeom>
        </p:spPr>
        <p:txBody>
          <a:bodyPr vert="horz" wrap="square" lIns="91440" tIns="45720" rIns="91440" bIns="45720" numCol="1" anchor="ctr" anchorCtr="0" compatLnSpc="1">
            <a:prstTxWarp prst="textNoShape">
              <a:avLst/>
            </a:prstTxWarp>
          </a:bodyPr>
          <a:lstStyle>
            <a:lvl1pPr>
              <a:defRPr sz="700" b="1">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9"/>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Indexing</a:t>
            </a:r>
          </a:p>
        </p:txBody>
      </p:sp>
      <p:sp>
        <p:nvSpPr>
          <p:cNvPr id="9" name="Footer Placeholder 3"/>
          <p:cNvSpPr txBox="1">
            <a:spLocks/>
          </p:cNvSpPr>
          <p:nvPr userDrawn="1"/>
        </p:nvSpPr>
        <p:spPr>
          <a:xfrm>
            <a:off x="96545" y="6423030"/>
            <a:ext cx="31496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700" b="1" dirty="0">
                <a:latin typeface="+mn-lt"/>
              </a:rPr>
              <a:t>CF_Indexing_25</a:t>
            </a:r>
          </a:p>
        </p:txBody>
      </p:sp>
    </p:spTree>
    <p:extLst>
      <p:ext uri="{BB962C8B-B14F-4D97-AF65-F5344CB8AC3E}">
        <p14:creationId xmlns:p14="http://schemas.microsoft.com/office/powerpoint/2010/main" val="92534121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3B56B-DD3E-9EE3-4DAE-52452C175A82}"/>
              </a:ext>
            </a:extLst>
          </p:cNvPr>
          <p:cNvSpPr>
            <a:spLocks noGrp="1"/>
          </p:cNvSpPr>
          <p:nvPr>
            <p:ph type="ctrTitle"/>
          </p:nvPr>
        </p:nvSpPr>
        <p:spPr>
          <a:xfrm>
            <a:off x="1524000" y="1122363"/>
            <a:ext cx="9144000" cy="4189866"/>
          </a:xfrm>
        </p:spPr>
        <p:txBody>
          <a:bodyPr anchor="t"/>
          <a:lstStyle/>
          <a:p>
            <a:br>
              <a:rPr lang="en-US" sz="4000" b="1" dirty="0"/>
            </a:br>
            <a:r>
              <a:rPr lang="en-US" sz="4000" b="1" dirty="0"/>
              <a:t>Corporate Finance</a:t>
            </a:r>
            <a:br>
              <a:rPr lang="en-US" sz="3600" b="1" dirty="0"/>
            </a:br>
            <a:r>
              <a:rPr lang="en-US" sz="3600" b="1" dirty="0"/>
              <a:t>The Rise and Challenges of Passive Investing</a:t>
            </a:r>
            <a:br>
              <a:rPr lang="en-US" sz="3600" b="1" dirty="0"/>
            </a:br>
            <a:br>
              <a:rPr lang="en-US" sz="3600" b="1" dirty="0"/>
            </a:br>
            <a:br>
              <a:rPr lang="en-US" sz="3600" b="1" dirty="0"/>
            </a:br>
            <a:r>
              <a:rPr lang="en-US" sz="2400" b="1" dirty="0"/>
              <a:t>Fall 2025</a:t>
            </a:r>
            <a:br>
              <a:rPr lang="en-US" sz="2400" b="1" dirty="0"/>
            </a:br>
            <a:r>
              <a:rPr lang="en-US" sz="2400" b="1" dirty="0"/>
              <a:t>Prof. Jeffery Colon</a:t>
            </a:r>
            <a:endParaRPr lang="en-US" sz="3600" b="1" dirty="0"/>
          </a:p>
        </p:txBody>
      </p:sp>
      <p:sp>
        <p:nvSpPr>
          <p:cNvPr id="4" name="Footer Placeholder 3">
            <a:extLst>
              <a:ext uri="{FF2B5EF4-FFF2-40B4-BE49-F238E27FC236}">
                <a16:creationId xmlns:a16="http://schemas.microsoft.com/office/drawing/2014/main" id="{BCA13042-2521-AC4A-6E79-337CD54B9844}"/>
              </a:ext>
            </a:extLst>
          </p:cNvPr>
          <p:cNvSpPr>
            <a:spLocks noGrp="1"/>
          </p:cNvSpPr>
          <p:nvPr>
            <p:ph type="ftr" sz="quarter" idx="11"/>
          </p:nvPr>
        </p:nvSpPr>
        <p:spPr/>
        <p:txBody>
          <a:bodyPr/>
          <a:lstStyle/>
          <a:p>
            <a:r>
              <a:rPr lang="en-US"/>
              <a:t>Indexing</a:t>
            </a:r>
          </a:p>
        </p:txBody>
      </p:sp>
      <p:sp>
        <p:nvSpPr>
          <p:cNvPr id="5" name="Slide Number Placeholder 4">
            <a:extLst>
              <a:ext uri="{FF2B5EF4-FFF2-40B4-BE49-F238E27FC236}">
                <a16:creationId xmlns:a16="http://schemas.microsoft.com/office/drawing/2014/main" id="{4DC78507-12A5-B3E0-2725-6807F644B16B}"/>
              </a:ext>
            </a:extLst>
          </p:cNvPr>
          <p:cNvSpPr>
            <a:spLocks noGrp="1"/>
          </p:cNvSpPr>
          <p:nvPr>
            <p:ph type="sldNum" sz="quarter" idx="12"/>
          </p:nvPr>
        </p:nvSpPr>
        <p:spPr/>
        <p:txBody>
          <a:bodyPr/>
          <a:lstStyle/>
          <a:p>
            <a:fld id="{F17E169B-3409-7748-928B-D58CDEEAB5D8}" type="slidenum">
              <a:rPr lang="en-US" smtClean="0"/>
              <a:t>1</a:t>
            </a:fld>
            <a:endParaRPr lang="en-US"/>
          </a:p>
        </p:txBody>
      </p:sp>
    </p:spTree>
    <p:extLst>
      <p:ext uri="{BB962C8B-B14F-4D97-AF65-F5344CB8AC3E}">
        <p14:creationId xmlns:p14="http://schemas.microsoft.com/office/powerpoint/2010/main" val="42457383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graph of a financial graph&#10;&#10;AI-generated content may be incorrect.">
            <a:extLst>
              <a:ext uri="{FF2B5EF4-FFF2-40B4-BE49-F238E27FC236}">
                <a16:creationId xmlns:a16="http://schemas.microsoft.com/office/drawing/2014/main" id="{368E588C-B5C0-CF37-E974-9C95730BF419}"/>
              </a:ext>
            </a:extLst>
          </p:cNvPr>
          <p:cNvPicPr>
            <a:picLocks noGrp="1" noChangeAspect="1"/>
          </p:cNvPicPr>
          <p:nvPr>
            <p:ph idx="1"/>
          </p:nvPr>
        </p:nvPicPr>
        <p:blipFill>
          <a:blip r:embed="rId3"/>
          <a:srcRect l="247" t="9739" r="21681" b="-2318"/>
          <a:stretch>
            <a:fillRect/>
          </a:stretch>
        </p:blipFill>
        <p:spPr>
          <a:xfrm>
            <a:off x="512064" y="652118"/>
            <a:ext cx="5955324" cy="5467328"/>
          </a:xfrm>
        </p:spPr>
      </p:pic>
      <p:sp>
        <p:nvSpPr>
          <p:cNvPr id="3" name="Title 2">
            <a:extLst>
              <a:ext uri="{FF2B5EF4-FFF2-40B4-BE49-F238E27FC236}">
                <a16:creationId xmlns:a16="http://schemas.microsoft.com/office/drawing/2014/main" id="{1E103106-65BE-610F-7304-2E665744FE65}"/>
              </a:ext>
            </a:extLst>
          </p:cNvPr>
          <p:cNvSpPr>
            <a:spLocks noGrp="1"/>
          </p:cNvSpPr>
          <p:nvPr>
            <p:ph type="title"/>
          </p:nvPr>
        </p:nvSpPr>
        <p:spPr/>
        <p:txBody>
          <a:bodyPr/>
          <a:lstStyle/>
          <a:p>
            <a:pPr algn="l"/>
            <a:r>
              <a:rPr lang="en-US" dirty="0"/>
              <a:t>The Rise of Passive Equity ETFs and Mutual Funds</a:t>
            </a:r>
          </a:p>
        </p:txBody>
      </p:sp>
      <p:sp>
        <p:nvSpPr>
          <p:cNvPr id="4" name="Slide Number Placeholder 3">
            <a:extLst>
              <a:ext uri="{FF2B5EF4-FFF2-40B4-BE49-F238E27FC236}">
                <a16:creationId xmlns:a16="http://schemas.microsoft.com/office/drawing/2014/main" id="{64AA4B5A-DA0F-5C6D-2223-D4E29118008D}"/>
              </a:ext>
            </a:extLst>
          </p:cNvPr>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
        <p:nvSpPr>
          <p:cNvPr id="5" name="Footer Placeholder 4">
            <a:extLst>
              <a:ext uri="{FF2B5EF4-FFF2-40B4-BE49-F238E27FC236}">
                <a16:creationId xmlns:a16="http://schemas.microsoft.com/office/drawing/2014/main" id="{D77B7B0A-DE35-9D49-95B4-EB6E30E63AD8}"/>
              </a:ext>
            </a:extLst>
          </p:cNvPr>
          <p:cNvSpPr>
            <a:spLocks noGrp="1"/>
          </p:cNvSpPr>
          <p:nvPr>
            <p:ph type="ftr" sz="quarter" idx="11"/>
          </p:nvPr>
        </p:nvSpPr>
        <p:spPr/>
        <p:txBody>
          <a:bodyPr/>
          <a:lstStyle/>
          <a:p>
            <a:pPr>
              <a:defRPr/>
            </a:pPr>
            <a:r>
              <a:rPr lang="en-US"/>
              <a:t>Indexing</a:t>
            </a:r>
            <a:endParaRPr lang="en-US" dirty="0"/>
          </a:p>
        </p:txBody>
      </p:sp>
      <p:pic>
        <p:nvPicPr>
          <p:cNvPr id="9" name="Picture 8" descr="A graph of a number of assets&#10;&#10;AI-generated content may be incorrect.">
            <a:extLst>
              <a:ext uri="{FF2B5EF4-FFF2-40B4-BE49-F238E27FC236}">
                <a16:creationId xmlns:a16="http://schemas.microsoft.com/office/drawing/2014/main" id="{20849993-0B2C-BE0D-E7EC-0AC0866F5C71}"/>
              </a:ext>
            </a:extLst>
          </p:cNvPr>
          <p:cNvPicPr>
            <a:picLocks noChangeAspect="1"/>
          </p:cNvPicPr>
          <p:nvPr/>
        </p:nvPicPr>
        <p:blipFill>
          <a:blip r:embed="rId4"/>
          <a:srcRect t="9843"/>
          <a:stretch>
            <a:fillRect/>
          </a:stretch>
        </p:blipFill>
        <p:spPr>
          <a:xfrm>
            <a:off x="6645054" y="652118"/>
            <a:ext cx="5034882" cy="5262118"/>
          </a:xfrm>
          <a:prstGeom prst="rect">
            <a:avLst/>
          </a:prstGeom>
        </p:spPr>
      </p:pic>
      <p:sp>
        <p:nvSpPr>
          <p:cNvPr id="10" name="TextBox 9">
            <a:extLst>
              <a:ext uri="{FF2B5EF4-FFF2-40B4-BE49-F238E27FC236}">
                <a16:creationId xmlns:a16="http://schemas.microsoft.com/office/drawing/2014/main" id="{CA8FFDFB-2FDC-2EBD-8C54-B6D29C948746}"/>
              </a:ext>
            </a:extLst>
          </p:cNvPr>
          <p:cNvSpPr txBox="1"/>
          <p:nvPr/>
        </p:nvSpPr>
        <p:spPr>
          <a:xfrm>
            <a:off x="662525" y="5995170"/>
            <a:ext cx="5054012" cy="338554"/>
          </a:xfrm>
          <a:prstGeom prst="rect">
            <a:avLst/>
          </a:prstGeom>
          <a:noFill/>
        </p:spPr>
        <p:txBody>
          <a:bodyPr wrap="none" rtlCol="0">
            <a:spAutoFit/>
          </a:bodyPr>
          <a:lstStyle/>
          <a:p>
            <a:r>
              <a:rPr lang="en-US" sz="1600" dirty="0"/>
              <a:t>Cumm. flows to US Equity MFs and ETFs (billions, monthly)</a:t>
            </a:r>
          </a:p>
        </p:txBody>
      </p:sp>
      <p:sp>
        <p:nvSpPr>
          <p:cNvPr id="11" name="TextBox 10">
            <a:extLst>
              <a:ext uri="{FF2B5EF4-FFF2-40B4-BE49-F238E27FC236}">
                <a16:creationId xmlns:a16="http://schemas.microsoft.com/office/drawing/2014/main" id="{63A18C10-A824-6F05-5458-216948229839}"/>
              </a:ext>
            </a:extLst>
          </p:cNvPr>
          <p:cNvSpPr txBox="1"/>
          <p:nvPr/>
        </p:nvSpPr>
        <p:spPr>
          <a:xfrm>
            <a:off x="7946777" y="5962859"/>
            <a:ext cx="2183034" cy="338554"/>
          </a:xfrm>
          <a:prstGeom prst="rect">
            <a:avLst/>
          </a:prstGeom>
          <a:noFill/>
        </p:spPr>
        <p:txBody>
          <a:bodyPr wrap="none" rtlCol="0">
            <a:spAutoFit/>
          </a:bodyPr>
          <a:lstStyle/>
          <a:p>
            <a:r>
              <a:rPr lang="en-US" sz="1600" dirty="0"/>
              <a:t>Percent of LT Net Assets</a:t>
            </a:r>
          </a:p>
        </p:txBody>
      </p:sp>
    </p:spTree>
    <p:extLst>
      <p:ext uri="{BB962C8B-B14F-4D97-AF65-F5344CB8AC3E}">
        <p14:creationId xmlns:p14="http://schemas.microsoft.com/office/powerpoint/2010/main" val="1396404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graph of numbers and a number of columns&#10;&#10;AI-generated content may be incorrect.">
            <a:extLst>
              <a:ext uri="{FF2B5EF4-FFF2-40B4-BE49-F238E27FC236}">
                <a16:creationId xmlns:a16="http://schemas.microsoft.com/office/drawing/2014/main" id="{1DCFBC85-DDB9-BDE3-6EC1-870F7CD0C722}"/>
              </a:ext>
            </a:extLst>
          </p:cNvPr>
          <p:cNvPicPr>
            <a:picLocks noGrp="1" noChangeAspect="1"/>
          </p:cNvPicPr>
          <p:nvPr>
            <p:ph idx="1"/>
          </p:nvPr>
        </p:nvPicPr>
        <p:blipFill>
          <a:blip r:embed="rId2"/>
          <a:stretch>
            <a:fillRect/>
          </a:stretch>
        </p:blipFill>
        <p:spPr>
          <a:xfrm>
            <a:off x="512063" y="604684"/>
            <a:ext cx="11404633" cy="5648631"/>
          </a:xfrm>
        </p:spPr>
      </p:pic>
      <p:sp>
        <p:nvSpPr>
          <p:cNvPr id="3" name="Title 2">
            <a:extLst>
              <a:ext uri="{FF2B5EF4-FFF2-40B4-BE49-F238E27FC236}">
                <a16:creationId xmlns:a16="http://schemas.microsoft.com/office/drawing/2014/main" id="{314C858D-9C05-423A-136D-E3503D895CCC}"/>
              </a:ext>
            </a:extLst>
          </p:cNvPr>
          <p:cNvSpPr>
            <a:spLocks noGrp="1"/>
          </p:cNvSpPr>
          <p:nvPr>
            <p:ph type="title"/>
          </p:nvPr>
        </p:nvSpPr>
        <p:spPr/>
        <p:txBody>
          <a:bodyPr/>
          <a:lstStyle/>
          <a:p>
            <a:r>
              <a:rPr lang="en-US" dirty="0"/>
              <a:t>The Rise of Passive Investing</a:t>
            </a:r>
          </a:p>
        </p:txBody>
      </p:sp>
      <p:sp>
        <p:nvSpPr>
          <p:cNvPr id="4" name="Slide Number Placeholder 3">
            <a:extLst>
              <a:ext uri="{FF2B5EF4-FFF2-40B4-BE49-F238E27FC236}">
                <a16:creationId xmlns:a16="http://schemas.microsoft.com/office/drawing/2014/main" id="{79B8D08C-4C64-098E-18C9-C96427A3FF3F}"/>
              </a:ext>
            </a:extLst>
          </p:cNvPr>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
        <p:nvSpPr>
          <p:cNvPr id="5" name="Footer Placeholder 4">
            <a:extLst>
              <a:ext uri="{FF2B5EF4-FFF2-40B4-BE49-F238E27FC236}">
                <a16:creationId xmlns:a16="http://schemas.microsoft.com/office/drawing/2014/main" id="{2CBB0077-BEC9-F7F0-C8E2-3C6E2349325F}"/>
              </a:ext>
            </a:extLst>
          </p:cNvPr>
          <p:cNvSpPr>
            <a:spLocks noGrp="1"/>
          </p:cNvSpPr>
          <p:nvPr>
            <p:ph type="ftr" sz="quarter" idx="11"/>
          </p:nvPr>
        </p:nvSpPr>
        <p:spPr/>
        <p:txBody>
          <a:bodyPr/>
          <a:lstStyle/>
          <a:p>
            <a:pPr>
              <a:defRPr/>
            </a:pPr>
            <a:r>
              <a:rPr lang="en-US"/>
              <a:t>Indexing</a:t>
            </a:r>
            <a:endParaRPr lang="en-US" dirty="0"/>
          </a:p>
        </p:txBody>
      </p:sp>
    </p:spTree>
    <p:extLst>
      <p:ext uri="{BB962C8B-B14F-4D97-AF65-F5344CB8AC3E}">
        <p14:creationId xmlns:p14="http://schemas.microsoft.com/office/powerpoint/2010/main" val="1681810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A61D032-B435-5EC5-8FFC-5A7938ECB3D4}"/>
              </a:ext>
            </a:extLst>
          </p:cNvPr>
          <p:cNvSpPr>
            <a:spLocks noGrp="1"/>
          </p:cNvSpPr>
          <p:nvPr>
            <p:ph type="title"/>
          </p:nvPr>
        </p:nvSpPr>
        <p:spPr/>
        <p:txBody>
          <a:bodyPr/>
          <a:lstStyle/>
          <a:p>
            <a:r>
              <a:rPr lang="en-US" dirty="0"/>
              <a:t>Expense Ratios:  Actively managed and Index MFs and ETFs</a:t>
            </a:r>
          </a:p>
        </p:txBody>
      </p:sp>
      <p:sp>
        <p:nvSpPr>
          <p:cNvPr id="4" name="Slide Number Placeholder 3">
            <a:extLst>
              <a:ext uri="{FF2B5EF4-FFF2-40B4-BE49-F238E27FC236}">
                <a16:creationId xmlns:a16="http://schemas.microsoft.com/office/drawing/2014/main" id="{C7F877BA-85CE-614B-692E-CE75850B7F08}"/>
              </a:ext>
            </a:extLst>
          </p:cNvPr>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
        <p:nvSpPr>
          <p:cNvPr id="5" name="Footer Placeholder 4">
            <a:extLst>
              <a:ext uri="{FF2B5EF4-FFF2-40B4-BE49-F238E27FC236}">
                <a16:creationId xmlns:a16="http://schemas.microsoft.com/office/drawing/2014/main" id="{0F13FB07-584E-B18A-4B18-B8245CA7F0DC}"/>
              </a:ext>
            </a:extLst>
          </p:cNvPr>
          <p:cNvSpPr>
            <a:spLocks noGrp="1"/>
          </p:cNvSpPr>
          <p:nvPr>
            <p:ph type="ftr" sz="quarter" idx="11"/>
          </p:nvPr>
        </p:nvSpPr>
        <p:spPr/>
        <p:txBody>
          <a:bodyPr/>
          <a:lstStyle/>
          <a:p>
            <a:pPr>
              <a:defRPr/>
            </a:pPr>
            <a:r>
              <a:rPr lang="en-US"/>
              <a:t>Indexing</a:t>
            </a:r>
            <a:endParaRPr lang="en-US" dirty="0"/>
          </a:p>
        </p:txBody>
      </p:sp>
      <p:pic>
        <p:nvPicPr>
          <p:cNvPr id="9" name="Picture 8" descr="A graph of a graph with numbers and lines&#10;&#10;AI-generated content may be incorrect.">
            <a:extLst>
              <a:ext uri="{FF2B5EF4-FFF2-40B4-BE49-F238E27FC236}">
                <a16:creationId xmlns:a16="http://schemas.microsoft.com/office/drawing/2014/main" id="{0A93DBF5-1093-B85D-35AF-A50CE903D471}"/>
              </a:ext>
            </a:extLst>
          </p:cNvPr>
          <p:cNvPicPr>
            <a:picLocks noChangeAspect="1"/>
          </p:cNvPicPr>
          <p:nvPr/>
        </p:nvPicPr>
        <p:blipFill>
          <a:blip r:embed="rId2"/>
          <a:stretch>
            <a:fillRect/>
          </a:stretch>
        </p:blipFill>
        <p:spPr>
          <a:xfrm>
            <a:off x="457200" y="3574937"/>
            <a:ext cx="11277600" cy="2730064"/>
          </a:xfrm>
          <a:prstGeom prst="rect">
            <a:avLst/>
          </a:prstGeom>
        </p:spPr>
      </p:pic>
      <p:pic>
        <p:nvPicPr>
          <p:cNvPr id="10" name="Content Placeholder 6" descr="A graph of financial growth&#10;&#10;AI-generated content may be incorrect.">
            <a:extLst>
              <a:ext uri="{FF2B5EF4-FFF2-40B4-BE49-F238E27FC236}">
                <a16:creationId xmlns:a16="http://schemas.microsoft.com/office/drawing/2014/main" id="{83DD968C-CD1A-8F5D-EF9C-60646B1AFF79}"/>
              </a:ext>
            </a:extLst>
          </p:cNvPr>
          <p:cNvPicPr>
            <a:picLocks noChangeAspect="1"/>
          </p:cNvPicPr>
          <p:nvPr/>
        </p:nvPicPr>
        <p:blipFill>
          <a:blip r:embed="rId3"/>
          <a:stretch>
            <a:fillRect/>
          </a:stretch>
        </p:blipFill>
        <p:spPr>
          <a:xfrm>
            <a:off x="512065" y="552999"/>
            <a:ext cx="11387010" cy="2876001"/>
          </a:xfrm>
          <a:prstGeom prst="rect">
            <a:avLst/>
          </a:prstGeom>
        </p:spPr>
      </p:pic>
    </p:spTree>
    <p:extLst>
      <p:ext uri="{BB962C8B-B14F-4D97-AF65-F5344CB8AC3E}">
        <p14:creationId xmlns:p14="http://schemas.microsoft.com/office/powerpoint/2010/main" val="3800577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F8031A-4877-1FD5-2992-652DFCBB0FA1}"/>
              </a:ext>
            </a:extLst>
          </p:cNvPr>
          <p:cNvSpPr>
            <a:spLocks noGrp="1"/>
          </p:cNvSpPr>
          <p:nvPr>
            <p:ph idx="1"/>
          </p:nvPr>
        </p:nvSpPr>
        <p:spPr/>
        <p:txBody>
          <a:bodyPr/>
          <a:lstStyle/>
          <a:p>
            <a:r>
              <a:rPr lang="en-US" sz="3200" dirty="0"/>
              <a:t>Horizontal holdings</a:t>
            </a:r>
          </a:p>
          <a:p>
            <a:r>
              <a:rPr lang="en-US" sz="3200" dirty="0"/>
              <a:t>Corporate governance</a:t>
            </a:r>
          </a:p>
          <a:p>
            <a:r>
              <a:rPr lang="en-US" sz="3200" dirty="0"/>
              <a:t>Market efficiency</a:t>
            </a:r>
          </a:p>
          <a:p>
            <a:r>
              <a:rPr lang="en-US" sz="3200" dirty="0"/>
              <a:t>Market liquidity</a:t>
            </a:r>
          </a:p>
          <a:p>
            <a:pPr marL="0" indent="0">
              <a:buNone/>
            </a:pPr>
            <a:endParaRPr lang="en-US" sz="2400" dirty="0"/>
          </a:p>
        </p:txBody>
      </p:sp>
      <p:sp>
        <p:nvSpPr>
          <p:cNvPr id="3" name="Title 2">
            <a:extLst>
              <a:ext uri="{FF2B5EF4-FFF2-40B4-BE49-F238E27FC236}">
                <a16:creationId xmlns:a16="http://schemas.microsoft.com/office/drawing/2014/main" id="{F646C21B-9715-36BF-727F-F5DB67D95567}"/>
              </a:ext>
            </a:extLst>
          </p:cNvPr>
          <p:cNvSpPr>
            <a:spLocks noGrp="1"/>
          </p:cNvSpPr>
          <p:nvPr>
            <p:ph type="title"/>
          </p:nvPr>
        </p:nvSpPr>
        <p:spPr/>
        <p:txBody>
          <a:bodyPr/>
          <a:lstStyle/>
          <a:p>
            <a:r>
              <a:rPr lang="en-US" dirty="0"/>
              <a:t>Potential Issues	</a:t>
            </a:r>
          </a:p>
        </p:txBody>
      </p:sp>
      <p:sp>
        <p:nvSpPr>
          <p:cNvPr id="4" name="Slide Number Placeholder 3">
            <a:extLst>
              <a:ext uri="{FF2B5EF4-FFF2-40B4-BE49-F238E27FC236}">
                <a16:creationId xmlns:a16="http://schemas.microsoft.com/office/drawing/2014/main" id="{C02DEE37-FC01-2EB1-0E44-B05EB9202306}"/>
              </a:ext>
            </a:extLst>
          </p:cNvPr>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5" name="Footer Placeholder 4">
            <a:extLst>
              <a:ext uri="{FF2B5EF4-FFF2-40B4-BE49-F238E27FC236}">
                <a16:creationId xmlns:a16="http://schemas.microsoft.com/office/drawing/2014/main" id="{30EA5790-A339-D6C3-2C78-B1DAE855ABE6}"/>
              </a:ext>
            </a:extLst>
          </p:cNvPr>
          <p:cNvSpPr>
            <a:spLocks noGrp="1"/>
          </p:cNvSpPr>
          <p:nvPr>
            <p:ph type="ftr" sz="quarter" idx="11"/>
          </p:nvPr>
        </p:nvSpPr>
        <p:spPr/>
        <p:txBody>
          <a:bodyPr/>
          <a:lstStyle/>
          <a:p>
            <a:pPr>
              <a:defRPr/>
            </a:pPr>
            <a:r>
              <a:rPr lang="en-US"/>
              <a:t>Indexing</a:t>
            </a:r>
            <a:endParaRPr lang="en-US" dirty="0"/>
          </a:p>
        </p:txBody>
      </p:sp>
    </p:spTree>
    <p:extLst>
      <p:ext uri="{BB962C8B-B14F-4D97-AF65-F5344CB8AC3E}">
        <p14:creationId xmlns:p14="http://schemas.microsoft.com/office/powerpoint/2010/main" val="147356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C667A5F-57FF-4860-1FDA-175036A1A2F1}"/>
              </a:ext>
            </a:extLst>
          </p:cNvPr>
          <p:cNvSpPr>
            <a:spLocks noGrp="1"/>
          </p:cNvSpPr>
          <p:nvPr>
            <p:ph idx="1"/>
          </p:nvPr>
        </p:nvSpPr>
        <p:spPr/>
        <p:txBody>
          <a:bodyPr/>
          <a:lstStyle/>
          <a:p>
            <a:r>
              <a:rPr lang="en-US" sz="2800" dirty="0"/>
              <a:t>Vanguard, State Street, BlackRock, and Fidelity are the largest shareholders of many important U.S. companies.</a:t>
            </a:r>
          </a:p>
          <a:p>
            <a:pPr lvl="1"/>
            <a:r>
              <a:rPr lang="en-US" sz="2650" dirty="0"/>
              <a:t>Vanguard owns around 9% of MSFT and Nvidia; 7% of Alphabet and AMZN</a:t>
            </a:r>
          </a:p>
          <a:p>
            <a:pPr lvl="1"/>
            <a:r>
              <a:rPr lang="en-US" sz="2650" dirty="0"/>
              <a:t>V, BR, FMR, and SS own around 23% of Alphabet</a:t>
            </a:r>
          </a:p>
          <a:p>
            <a:r>
              <a:rPr lang="en-US" sz="2800" dirty="0"/>
              <a:t>Common shareholdings of competitor corporations may reduce incentives to compete.</a:t>
            </a:r>
          </a:p>
          <a:p>
            <a:pPr lvl="1"/>
            <a:r>
              <a:rPr lang="en-US" sz="2400" dirty="0"/>
              <a:t>If I own X% of the shares of two competitors, Corp A and Corp B, and Corp A competes away some of Corp B profits, market share, etc., my portfolio’s value may be reduced, and markets may move towards more monopolies. </a:t>
            </a:r>
          </a:p>
          <a:p>
            <a:pPr lvl="1"/>
            <a:r>
              <a:rPr lang="en-US" sz="2400" dirty="0"/>
              <a:t>“Ticket prices are approximately 3% to 7% higher in the average US airline route than would be the case under separate ownership.” Azar et al, </a:t>
            </a:r>
            <a:r>
              <a:rPr lang="en-US" sz="2400" dirty="0" err="1"/>
              <a:t>JoF</a:t>
            </a:r>
            <a:r>
              <a:rPr lang="en-US" sz="2400" dirty="0"/>
              <a:t> (2018)</a:t>
            </a:r>
          </a:p>
          <a:p>
            <a:r>
              <a:rPr lang="en-US" sz="2550" dirty="0"/>
              <a:t>Common shareholding may explain why corp. SHs support executive compensation based on </a:t>
            </a:r>
            <a:r>
              <a:rPr lang="en-US" sz="2550" i="1" dirty="0"/>
              <a:t>industry</a:t>
            </a:r>
            <a:r>
              <a:rPr lang="en-US" sz="2550" dirty="0"/>
              <a:t> success rather than the firm alone.  Elhauge, Har. LR (2016) </a:t>
            </a:r>
          </a:p>
        </p:txBody>
      </p:sp>
      <p:sp>
        <p:nvSpPr>
          <p:cNvPr id="3" name="Title 2">
            <a:extLst>
              <a:ext uri="{FF2B5EF4-FFF2-40B4-BE49-F238E27FC236}">
                <a16:creationId xmlns:a16="http://schemas.microsoft.com/office/drawing/2014/main" id="{13EB3521-1602-A58D-3D39-67F3460EFC1F}"/>
              </a:ext>
            </a:extLst>
          </p:cNvPr>
          <p:cNvSpPr>
            <a:spLocks noGrp="1"/>
          </p:cNvSpPr>
          <p:nvPr>
            <p:ph type="title"/>
          </p:nvPr>
        </p:nvSpPr>
        <p:spPr/>
        <p:txBody>
          <a:bodyPr/>
          <a:lstStyle/>
          <a:p>
            <a:r>
              <a:rPr lang="en-US" dirty="0"/>
              <a:t>Horizontal Shareholdings</a:t>
            </a:r>
          </a:p>
        </p:txBody>
      </p:sp>
      <p:sp>
        <p:nvSpPr>
          <p:cNvPr id="4" name="Slide Number Placeholder 3">
            <a:extLst>
              <a:ext uri="{FF2B5EF4-FFF2-40B4-BE49-F238E27FC236}">
                <a16:creationId xmlns:a16="http://schemas.microsoft.com/office/drawing/2014/main" id="{481491C0-6FC4-67B0-1189-D918ACF1F168}"/>
              </a:ext>
            </a:extLst>
          </p:cNvPr>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a:extLst>
              <a:ext uri="{FF2B5EF4-FFF2-40B4-BE49-F238E27FC236}">
                <a16:creationId xmlns:a16="http://schemas.microsoft.com/office/drawing/2014/main" id="{8FF6F0D6-C921-7350-5337-79817C88907F}"/>
              </a:ext>
            </a:extLst>
          </p:cNvPr>
          <p:cNvSpPr>
            <a:spLocks noGrp="1"/>
          </p:cNvSpPr>
          <p:nvPr>
            <p:ph type="ftr" sz="quarter" idx="11"/>
          </p:nvPr>
        </p:nvSpPr>
        <p:spPr/>
        <p:txBody>
          <a:bodyPr/>
          <a:lstStyle/>
          <a:p>
            <a:pPr>
              <a:defRPr/>
            </a:pPr>
            <a:r>
              <a:rPr lang="en-US"/>
              <a:t>Indexing</a:t>
            </a:r>
            <a:endParaRPr lang="en-US" dirty="0"/>
          </a:p>
        </p:txBody>
      </p:sp>
    </p:spTree>
    <p:extLst>
      <p:ext uri="{BB962C8B-B14F-4D97-AF65-F5344CB8AC3E}">
        <p14:creationId xmlns:p14="http://schemas.microsoft.com/office/powerpoint/2010/main" val="174706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B981C8-5985-2641-A2AC-6F0E9531B8FB}"/>
              </a:ext>
            </a:extLst>
          </p:cNvPr>
          <p:cNvSpPr>
            <a:spLocks noGrp="1"/>
          </p:cNvSpPr>
          <p:nvPr>
            <p:ph idx="1"/>
          </p:nvPr>
        </p:nvSpPr>
        <p:spPr/>
        <p:txBody>
          <a:bodyPr>
            <a:normAutofit lnSpcReduction="10000"/>
          </a:bodyPr>
          <a:lstStyle/>
          <a:p>
            <a:r>
              <a:rPr lang="en-US" sz="2800" dirty="0"/>
              <a:t>Do index fund managers have the proper incentives to monitor their shareholdings?</a:t>
            </a:r>
          </a:p>
          <a:p>
            <a:r>
              <a:rPr lang="en-US" sz="2800" dirty="0"/>
              <a:t>Fund managers generally have small staff directed to stewardship.  V, for example, has around 60 professionals that that are involved in governance to monitor 12K to 14K companies.</a:t>
            </a:r>
          </a:p>
          <a:p>
            <a:r>
              <a:rPr lang="en-US" sz="2800" dirty="0"/>
              <a:t>If an ideal world, manager would spend $X on monitoring if the benefits (increased portfolio value, V+) were greater than $X:  V+ &gt; $X</a:t>
            </a:r>
          </a:p>
          <a:p>
            <a:r>
              <a:rPr lang="en-US" sz="2800" dirty="0"/>
              <a:t>Managers are generally paid NOT on V+ but on a percentage of AUM (%AUM+), so if:</a:t>
            </a:r>
          </a:p>
          <a:p>
            <a:pPr lvl="1"/>
            <a:r>
              <a:rPr lang="en-US" sz="2500" dirty="0"/>
              <a:t>V+ &gt; $X &gt; %AUM+, then manager won’t spend on stewardship</a:t>
            </a:r>
          </a:p>
          <a:p>
            <a:pPr lvl="1"/>
            <a:r>
              <a:rPr lang="en-US" sz="2500" dirty="0"/>
              <a:t>Example:  $1Bi fund can increase value of company by $1MM but would earn only 50bps (5K) of additional fees from the $1MM increase.</a:t>
            </a:r>
          </a:p>
          <a:p>
            <a:r>
              <a:rPr lang="en-US" sz="2650" dirty="0"/>
              <a:t>Freeriding problem of other index managers. </a:t>
            </a:r>
          </a:p>
          <a:p>
            <a:pPr lvl="1"/>
            <a:endParaRPr lang="en-US" sz="1850" dirty="0"/>
          </a:p>
        </p:txBody>
      </p:sp>
      <p:sp>
        <p:nvSpPr>
          <p:cNvPr id="3" name="Title 2">
            <a:extLst>
              <a:ext uri="{FF2B5EF4-FFF2-40B4-BE49-F238E27FC236}">
                <a16:creationId xmlns:a16="http://schemas.microsoft.com/office/drawing/2014/main" id="{290B67AA-E8B9-DB61-D48B-4232420302CF}"/>
              </a:ext>
            </a:extLst>
          </p:cNvPr>
          <p:cNvSpPr>
            <a:spLocks noGrp="1"/>
          </p:cNvSpPr>
          <p:nvPr>
            <p:ph type="title"/>
          </p:nvPr>
        </p:nvSpPr>
        <p:spPr/>
        <p:txBody>
          <a:bodyPr/>
          <a:lstStyle/>
          <a:p>
            <a:r>
              <a:rPr lang="en-US" dirty="0"/>
              <a:t>Corporate Governance</a:t>
            </a:r>
          </a:p>
        </p:txBody>
      </p:sp>
      <p:sp>
        <p:nvSpPr>
          <p:cNvPr id="4" name="Slide Number Placeholder 3">
            <a:extLst>
              <a:ext uri="{FF2B5EF4-FFF2-40B4-BE49-F238E27FC236}">
                <a16:creationId xmlns:a16="http://schemas.microsoft.com/office/drawing/2014/main" id="{06ABE5A1-8589-F06A-726F-124042613AE9}"/>
              </a:ext>
            </a:extLst>
          </p:cNvPr>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
        <p:nvSpPr>
          <p:cNvPr id="5" name="Footer Placeholder 4">
            <a:extLst>
              <a:ext uri="{FF2B5EF4-FFF2-40B4-BE49-F238E27FC236}">
                <a16:creationId xmlns:a16="http://schemas.microsoft.com/office/drawing/2014/main" id="{0A57E510-94CE-848F-E16F-45D8712EA752}"/>
              </a:ext>
            </a:extLst>
          </p:cNvPr>
          <p:cNvSpPr>
            <a:spLocks noGrp="1"/>
          </p:cNvSpPr>
          <p:nvPr>
            <p:ph type="ftr" sz="quarter" idx="11"/>
          </p:nvPr>
        </p:nvSpPr>
        <p:spPr/>
        <p:txBody>
          <a:bodyPr/>
          <a:lstStyle/>
          <a:p>
            <a:pPr>
              <a:defRPr/>
            </a:pPr>
            <a:r>
              <a:rPr lang="en-US"/>
              <a:t>Indexing</a:t>
            </a:r>
            <a:endParaRPr lang="en-US" dirty="0"/>
          </a:p>
        </p:txBody>
      </p:sp>
    </p:spTree>
    <p:extLst>
      <p:ext uri="{BB962C8B-B14F-4D97-AF65-F5344CB8AC3E}">
        <p14:creationId xmlns:p14="http://schemas.microsoft.com/office/powerpoint/2010/main" val="2057787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65A03C-F89D-B0E6-E4D1-B20E8E8BAB4C}"/>
              </a:ext>
            </a:extLst>
          </p:cNvPr>
          <p:cNvSpPr>
            <a:spLocks noGrp="1"/>
          </p:cNvSpPr>
          <p:nvPr>
            <p:ph idx="1"/>
          </p:nvPr>
        </p:nvSpPr>
        <p:spPr/>
        <p:txBody>
          <a:bodyPr/>
          <a:lstStyle/>
          <a:p>
            <a:r>
              <a:rPr lang="en-US" sz="2400" dirty="0"/>
              <a:t>Does the increase in index investing affect market efficiency, i.e., does it reduce price discovery?</a:t>
            </a:r>
          </a:p>
          <a:p>
            <a:r>
              <a:rPr lang="en-US" sz="2400" dirty="0"/>
              <a:t>True percentage of active/passive investors.  Maybe 33% (Sammon, </a:t>
            </a:r>
            <a:r>
              <a:rPr lang="en-US" sz="2400" dirty="0" err="1"/>
              <a:t>JoFE</a:t>
            </a:r>
            <a:r>
              <a:rPr lang="en-US" sz="2400" dirty="0"/>
              <a:t> (2024))</a:t>
            </a:r>
          </a:p>
          <a:p>
            <a:r>
              <a:rPr lang="en-US" sz="2400" dirty="0"/>
              <a:t>As a company’s price increase, it gets a bigger share of every new dollar invested, which may increase the price more, etc.</a:t>
            </a:r>
          </a:p>
          <a:p>
            <a:r>
              <a:rPr lang="en-US" sz="2400" dirty="0"/>
              <a:t>If there are fewer active investors, does the activity of the remaining active investors have an outsized weight on market volatility?</a:t>
            </a:r>
          </a:p>
          <a:p>
            <a:r>
              <a:rPr lang="en-US" sz="2400" dirty="0"/>
              <a:t>Can fewer active investors correct any distortions caused by index funds?</a:t>
            </a:r>
          </a:p>
          <a:p>
            <a:endParaRPr lang="en-US" sz="2400" dirty="0"/>
          </a:p>
          <a:p>
            <a:endParaRPr lang="en-US" dirty="0"/>
          </a:p>
        </p:txBody>
      </p:sp>
      <p:sp>
        <p:nvSpPr>
          <p:cNvPr id="3" name="Title 2">
            <a:extLst>
              <a:ext uri="{FF2B5EF4-FFF2-40B4-BE49-F238E27FC236}">
                <a16:creationId xmlns:a16="http://schemas.microsoft.com/office/drawing/2014/main" id="{9CF12F0A-709B-45E7-2E08-6CF3ADDE0140}"/>
              </a:ext>
            </a:extLst>
          </p:cNvPr>
          <p:cNvSpPr>
            <a:spLocks noGrp="1"/>
          </p:cNvSpPr>
          <p:nvPr>
            <p:ph type="title"/>
          </p:nvPr>
        </p:nvSpPr>
        <p:spPr/>
        <p:txBody>
          <a:bodyPr/>
          <a:lstStyle/>
          <a:p>
            <a:r>
              <a:rPr lang="en-US" dirty="0"/>
              <a:t>Market Efficiency</a:t>
            </a:r>
          </a:p>
        </p:txBody>
      </p:sp>
      <p:sp>
        <p:nvSpPr>
          <p:cNvPr id="4" name="Slide Number Placeholder 3">
            <a:extLst>
              <a:ext uri="{FF2B5EF4-FFF2-40B4-BE49-F238E27FC236}">
                <a16:creationId xmlns:a16="http://schemas.microsoft.com/office/drawing/2014/main" id="{20F7F0AA-BD1E-E6AB-DF6B-723DA2DA2053}"/>
              </a:ext>
            </a:extLst>
          </p:cNvPr>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
        <p:nvSpPr>
          <p:cNvPr id="5" name="Footer Placeholder 4">
            <a:extLst>
              <a:ext uri="{FF2B5EF4-FFF2-40B4-BE49-F238E27FC236}">
                <a16:creationId xmlns:a16="http://schemas.microsoft.com/office/drawing/2014/main" id="{1A5E65BB-6CA7-209B-C6AE-1732341CD4AB}"/>
              </a:ext>
            </a:extLst>
          </p:cNvPr>
          <p:cNvSpPr>
            <a:spLocks noGrp="1"/>
          </p:cNvSpPr>
          <p:nvPr>
            <p:ph type="ftr" sz="quarter" idx="11"/>
          </p:nvPr>
        </p:nvSpPr>
        <p:spPr/>
        <p:txBody>
          <a:bodyPr/>
          <a:lstStyle/>
          <a:p>
            <a:pPr>
              <a:defRPr/>
            </a:pPr>
            <a:r>
              <a:rPr lang="en-US"/>
              <a:t>Indexing</a:t>
            </a:r>
            <a:endParaRPr lang="en-US" dirty="0"/>
          </a:p>
        </p:txBody>
      </p:sp>
    </p:spTree>
    <p:extLst>
      <p:ext uri="{BB962C8B-B14F-4D97-AF65-F5344CB8AC3E}">
        <p14:creationId xmlns:p14="http://schemas.microsoft.com/office/powerpoint/2010/main" val="3583771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EECDE1F-3118-4EBC-B8B7-168649252BAF}"/>
              </a:ext>
            </a:extLst>
          </p:cNvPr>
          <p:cNvSpPr>
            <a:spLocks noGrp="1"/>
          </p:cNvSpPr>
          <p:nvPr>
            <p:ph idx="1"/>
          </p:nvPr>
        </p:nvSpPr>
        <p:spPr/>
        <p:txBody>
          <a:bodyPr/>
          <a:lstStyle/>
          <a:p>
            <a:r>
              <a:rPr lang="en-US" sz="2400" dirty="0"/>
              <a:t>“Using exogenous variation from Russell and S&amp;P 500 reconstitutions, we show that inclusion in a benchmark stock index increases a stock’s CAPM beta.”  </a:t>
            </a:r>
          </a:p>
          <a:p>
            <a:r>
              <a:rPr lang="en-US" sz="2400" dirty="0"/>
              <a:t>The increase in indexing has increased over recent decades and so has the beta of the average stock. </a:t>
            </a:r>
          </a:p>
          <a:p>
            <a:r>
              <a:rPr lang="en-US" sz="2400" dirty="0"/>
              <a:t>More stocks are more correlated to the broad market.  </a:t>
            </a:r>
            <a:r>
              <a:rPr lang="en-US" sz="2400" dirty="0" err="1"/>
              <a:t>Kontz</a:t>
            </a:r>
            <a:r>
              <a:rPr lang="en-US" sz="2400" dirty="0"/>
              <a:t> &amp; Hanson, </a:t>
            </a:r>
            <a:br>
              <a:rPr lang="en-US" sz="2400" i="1" dirty="0"/>
            </a:br>
            <a:r>
              <a:rPr lang="en-US" sz="2400" i="1" dirty="0"/>
              <a:t>The Real Cost of Benchmarking</a:t>
            </a:r>
            <a:r>
              <a:rPr lang="en-US" sz="2400" dirty="0"/>
              <a:t> (2025).</a:t>
            </a:r>
          </a:p>
          <a:p>
            <a:r>
              <a:rPr lang="en-US" sz="2400" dirty="0"/>
              <a:t>Possible consequence: higher beta leads to higher WACC, which leads to less investment.  Increase price from inclusion in index, which should lower implied discount rate, doesn’t show up in CAPM, which managers use to evaluate projects.</a:t>
            </a:r>
          </a:p>
        </p:txBody>
      </p:sp>
      <p:sp>
        <p:nvSpPr>
          <p:cNvPr id="3" name="Title 2">
            <a:extLst>
              <a:ext uri="{FF2B5EF4-FFF2-40B4-BE49-F238E27FC236}">
                <a16:creationId xmlns:a16="http://schemas.microsoft.com/office/drawing/2014/main" id="{D2250534-688C-4047-AD49-50EDE4EEB3F3}"/>
              </a:ext>
            </a:extLst>
          </p:cNvPr>
          <p:cNvSpPr>
            <a:spLocks noGrp="1"/>
          </p:cNvSpPr>
          <p:nvPr>
            <p:ph type="title"/>
          </p:nvPr>
        </p:nvSpPr>
        <p:spPr/>
        <p:txBody>
          <a:bodyPr/>
          <a:lstStyle/>
          <a:p>
            <a:r>
              <a:rPr lang="en-US" dirty="0"/>
              <a:t>Correlations</a:t>
            </a:r>
          </a:p>
        </p:txBody>
      </p:sp>
      <p:sp>
        <p:nvSpPr>
          <p:cNvPr id="4" name="Slide Number Placeholder 3">
            <a:extLst>
              <a:ext uri="{FF2B5EF4-FFF2-40B4-BE49-F238E27FC236}">
                <a16:creationId xmlns:a16="http://schemas.microsoft.com/office/drawing/2014/main" id="{3942668E-5A66-406C-9249-2E38A4B29A37}"/>
              </a:ext>
            </a:extLst>
          </p:cNvPr>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5" name="Footer Placeholder 4">
            <a:extLst>
              <a:ext uri="{FF2B5EF4-FFF2-40B4-BE49-F238E27FC236}">
                <a16:creationId xmlns:a16="http://schemas.microsoft.com/office/drawing/2014/main" id="{A814AE0A-C7DE-4A8F-B749-3999686E23E1}"/>
              </a:ext>
            </a:extLst>
          </p:cNvPr>
          <p:cNvSpPr>
            <a:spLocks noGrp="1"/>
          </p:cNvSpPr>
          <p:nvPr>
            <p:ph type="ftr" sz="quarter" idx="11"/>
          </p:nvPr>
        </p:nvSpPr>
        <p:spPr/>
        <p:txBody>
          <a:bodyPr/>
          <a:lstStyle/>
          <a:p>
            <a:pPr>
              <a:defRPr/>
            </a:pPr>
            <a:r>
              <a:rPr lang="en-US"/>
              <a:t>Indexing</a:t>
            </a:r>
            <a:endParaRPr lang="en-US" dirty="0"/>
          </a:p>
        </p:txBody>
      </p:sp>
    </p:spTree>
    <p:extLst>
      <p:ext uri="{BB962C8B-B14F-4D97-AF65-F5344CB8AC3E}">
        <p14:creationId xmlns:p14="http://schemas.microsoft.com/office/powerpoint/2010/main" val="2080712971"/>
      </p:ext>
    </p:extLst>
  </p:cSld>
  <p:clrMapOvr>
    <a:masterClrMapping/>
  </p:clrMapOvr>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1743</TotalTime>
  <Words>638</Words>
  <Application>Microsoft Office PowerPoint</Application>
  <PresentationFormat>Widescreen</PresentationFormat>
  <Paragraphs>57</Paragraphs>
  <Slides>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vt:i4>
      </vt:variant>
    </vt:vector>
  </HeadingPairs>
  <TitlesOfParts>
    <vt:vector size="18" baseType="lpstr">
      <vt:lpstr>NSimSun</vt:lpstr>
      <vt:lpstr>Aptos</vt:lpstr>
      <vt:lpstr>Arial</vt:lpstr>
      <vt:lpstr>Calibri</vt:lpstr>
      <vt:lpstr>Courier New</vt:lpstr>
      <vt:lpstr>Times New Roman</vt:lpstr>
      <vt:lpstr>Wingdings</vt:lpstr>
      <vt:lpstr>Wingdings 2</vt:lpstr>
      <vt:lpstr>CG Body - Standard</vt:lpstr>
      <vt:lpstr> Corporate Finance The Rise and Challenges of Passive Investing   Fall 2025 Prof. Jeffery Colon</vt:lpstr>
      <vt:lpstr>The Rise of Passive Equity ETFs and Mutual Funds</vt:lpstr>
      <vt:lpstr>The Rise of Passive Investing</vt:lpstr>
      <vt:lpstr>Expense Ratios:  Actively managed and Index MFs and ETFs</vt:lpstr>
      <vt:lpstr>Potential Issues </vt:lpstr>
      <vt:lpstr>Horizontal Shareholdings</vt:lpstr>
      <vt:lpstr>Corporate Governance</vt:lpstr>
      <vt:lpstr>Market Efficiency</vt:lpstr>
      <vt:lpstr>Correlations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Corporate Finance The Rise and Challenges of Passive Investing   Fall 2025 Prof. Jeffery Colon</dc:title>
  <dc:creator>Colon, Jeffrey M.</dc:creator>
  <cp:lastModifiedBy>Colon, Jeffrey M.</cp:lastModifiedBy>
  <cp:revision>6</cp:revision>
  <dcterms:created xsi:type="dcterms:W3CDTF">2025-10-26T11:08:47Z</dcterms:created>
  <dcterms:modified xsi:type="dcterms:W3CDTF">2025-10-29T17:43:29Z</dcterms:modified>
</cp:coreProperties>
</file>