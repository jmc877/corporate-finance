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27"/>
  </p:notesMasterIdLst>
  <p:handoutMasterIdLst>
    <p:handoutMasterId r:id="rId28"/>
  </p:handoutMasterIdLst>
  <p:sldIdLst>
    <p:sldId id="346" r:id="rId2"/>
    <p:sldId id="324" r:id="rId3"/>
    <p:sldId id="318" r:id="rId4"/>
    <p:sldId id="345" r:id="rId5"/>
    <p:sldId id="344" r:id="rId6"/>
    <p:sldId id="305" r:id="rId7"/>
    <p:sldId id="334" r:id="rId8"/>
    <p:sldId id="343" r:id="rId9"/>
    <p:sldId id="335" r:id="rId10"/>
    <p:sldId id="306" r:id="rId11"/>
    <p:sldId id="307" r:id="rId12"/>
    <p:sldId id="325" r:id="rId13"/>
    <p:sldId id="340" r:id="rId14"/>
    <p:sldId id="326" r:id="rId15"/>
    <p:sldId id="308" r:id="rId16"/>
    <p:sldId id="338" r:id="rId17"/>
    <p:sldId id="341" r:id="rId18"/>
    <p:sldId id="339" r:id="rId19"/>
    <p:sldId id="329" r:id="rId20"/>
    <p:sldId id="342" r:id="rId21"/>
    <p:sldId id="336" r:id="rId22"/>
    <p:sldId id="330" r:id="rId23"/>
    <p:sldId id="331" r:id="rId24"/>
    <p:sldId id="347" r:id="rId25"/>
    <p:sldId id="348" r:id="rId26"/>
  </p:sldIdLst>
  <p:sldSz cx="9144000" cy="6858000" type="screen4x3"/>
  <p:notesSz cx="7010400" cy="9236075"/>
  <p:defaultTextStyle>
    <a:defPPr>
      <a:defRPr lang="en-US"/>
    </a:defPPr>
    <a:lvl1pPr algn="l" rtl="0" fontAlgn="base">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9A5"/>
    <a:srgbClr val="A3FBF9"/>
    <a:srgbClr val="FF0021"/>
    <a:srgbClr val="FF484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14" autoAdjust="0"/>
    <p:restoredTop sz="94829"/>
  </p:normalViewPr>
  <p:slideViewPr>
    <p:cSldViewPr>
      <p:cViewPr varScale="1">
        <p:scale>
          <a:sx n="198" d="100"/>
          <a:sy n="198" d="100"/>
        </p:scale>
        <p:origin x="1128"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164" d="100"/>
          <a:sy n="164" d="100"/>
        </p:scale>
        <p:origin x="2376"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modSld">
      <pc:chgData name="Colon, Jeffrey M." userId="615143b1-cdee-493d-9a9d-1565ce8666d9" providerId="ADAL" clId="{DC1DB158-BAB1-5930-B714-AEF472873853}" dt="2026-09-09T13:16:51.951" v="16" actId="20577"/>
      <pc:docMkLst>
        <pc:docMk/>
      </pc:docMkLst>
      <pc:sldChg chg="modSp">
        <pc:chgData name="Colon, Jeffrey M." userId="615143b1-cdee-493d-9a9d-1565ce8666d9" providerId="ADAL" clId="{DC1DB158-BAB1-5930-B714-AEF472873853}" dt="2026-08-28T16:37:33.447" v="0" actId="207"/>
        <pc:sldMkLst>
          <pc:docMk/>
          <pc:sldMk cId="0" sldId="305"/>
        </pc:sldMkLst>
        <pc:spChg chg="mod">
          <ac:chgData name="Colon, Jeffrey M." userId="615143b1-cdee-493d-9a9d-1565ce8666d9" providerId="ADAL" clId="{DC1DB158-BAB1-5930-B714-AEF472873853}" dt="2026-08-28T16:37:33.447" v="0" actId="207"/>
          <ac:spMkLst>
            <pc:docMk/>
            <pc:sldMk cId="0" sldId="305"/>
            <ac:spMk id="117763" creationId="{00000000-0000-0000-0000-000000000000}"/>
          </ac:spMkLst>
        </pc:spChg>
      </pc:sldChg>
      <pc:sldChg chg="modSp">
        <pc:chgData name="Colon, Jeffrey M." userId="615143b1-cdee-493d-9a9d-1565ce8666d9" providerId="ADAL" clId="{DC1DB158-BAB1-5930-B714-AEF472873853}" dt="2026-08-28T16:44:29.242" v="5" actId="120"/>
        <pc:sldMkLst>
          <pc:docMk/>
          <pc:sldMk cId="0" sldId="334"/>
        </pc:sldMkLst>
        <pc:spChg chg="mod">
          <ac:chgData name="Colon, Jeffrey M." userId="615143b1-cdee-493d-9a9d-1565ce8666d9" providerId="ADAL" clId="{DC1DB158-BAB1-5930-B714-AEF472873853}" dt="2026-08-28T16:44:29.242" v="5" actId="120"/>
          <ac:spMkLst>
            <pc:docMk/>
            <pc:sldMk cId="0" sldId="334"/>
            <ac:spMk id="3" creationId="{00000000-0000-0000-0000-000000000000}"/>
          </ac:spMkLst>
        </pc:spChg>
      </pc:sldChg>
      <pc:sldChg chg="modSp mod">
        <pc:chgData name="Colon, Jeffrey M." userId="615143b1-cdee-493d-9a9d-1565ce8666d9" providerId="ADAL" clId="{DC1DB158-BAB1-5930-B714-AEF472873853}" dt="2026-08-29T15:08:15.865" v="14" actId="1076"/>
        <pc:sldMkLst>
          <pc:docMk/>
          <pc:sldMk cId="0" sldId="335"/>
        </pc:sldMkLst>
        <pc:picChg chg="mod">
          <ac:chgData name="Colon, Jeffrey M." userId="615143b1-cdee-493d-9a9d-1565ce8666d9" providerId="ADAL" clId="{DC1DB158-BAB1-5930-B714-AEF472873853}" dt="2026-08-29T15:08:15.865" v="14" actId="1076"/>
          <ac:picMkLst>
            <pc:docMk/>
            <pc:sldMk cId="0" sldId="335"/>
            <ac:picMk id="7" creationId="{00000000-0000-0000-0000-000000000000}"/>
          </ac:picMkLst>
        </pc:picChg>
      </pc:sldChg>
      <pc:sldChg chg="modSp">
        <pc:chgData name="Colon, Jeffrey M." userId="615143b1-cdee-493d-9a9d-1565ce8666d9" providerId="ADAL" clId="{DC1DB158-BAB1-5930-B714-AEF472873853}" dt="2026-09-09T13:16:51.951" v="16" actId="20577"/>
        <pc:sldMkLst>
          <pc:docMk/>
          <pc:sldMk cId="0" sldId="336"/>
        </pc:sldMkLst>
        <pc:spChg chg="mod">
          <ac:chgData name="Colon, Jeffrey M." userId="615143b1-cdee-493d-9a9d-1565ce8666d9" providerId="ADAL" clId="{DC1DB158-BAB1-5930-B714-AEF472873853}" dt="2026-09-09T13:16:51.951" v="16" actId="20577"/>
          <ac:spMkLst>
            <pc:docMk/>
            <pc:sldMk cId="0" sldId="336"/>
            <ac:spMk id="8" creationId="{00000000-0000-0000-0000-000000000000}"/>
          </ac:spMkLst>
        </pc:spChg>
      </pc:sldChg>
      <pc:sldChg chg="modSp mod">
        <pc:chgData name="Colon, Jeffrey M." userId="615143b1-cdee-493d-9a9d-1565ce8666d9" providerId="ADAL" clId="{DC1DB158-BAB1-5930-B714-AEF472873853}" dt="2026-08-28T17:23:54.186" v="12" actId="20577"/>
        <pc:sldMkLst>
          <pc:docMk/>
          <pc:sldMk cId="1737389177" sldId="342"/>
        </pc:sldMkLst>
        <pc:spChg chg="mod">
          <ac:chgData name="Colon, Jeffrey M." userId="615143b1-cdee-493d-9a9d-1565ce8666d9" providerId="ADAL" clId="{DC1DB158-BAB1-5930-B714-AEF472873853}" dt="2026-08-28T17:23:54.186" v="12" actId="20577"/>
          <ac:spMkLst>
            <pc:docMk/>
            <pc:sldMk cId="1737389177" sldId="342"/>
            <ac:spMk id="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7395143487858701E-2"/>
          <c:y val="2.94117647058823E-2"/>
          <c:w val="0.88962472406181003"/>
          <c:h val="0.84967320261437895"/>
        </c:manualLayout>
      </c:layout>
      <c:barChart>
        <c:barDir val="bar"/>
        <c:grouping val="clustered"/>
        <c:varyColors val="0"/>
        <c:ser>
          <c:idx val="0"/>
          <c:order val="0"/>
          <c:tx>
            <c:strRef>
              <c:f>Sheet1!$A$2</c:f>
              <c:strCache>
                <c:ptCount val="1"/>
                <c:pt idx="0">
                  <c:v>East</c:v>
                </c:pt>
              </c:strCache>
            </c:strRef>
          </c:tx>
          <c:spPr>
            <a:solidFill>
              <a:srgbClr val="63AAFE"/>
            </a:solidFill>
            <a:ln w="12680">
              <a:solidFill>
                <a:srgbClr val="000000"/>
              </a:solidFill>
              <a:prstDash val="solid"/>
            </a:ln>
          </c:spPr>
          <c:invertIfNegative val="0"/>
          <c:dPt>
            <c:idx val="0"/>
            <c:invertIfNegative val="0"/>
            <c:bubble3D val="0"/>
            <c:spPr>
              <a:solidFill>
                <a:srgbClr val="865357"/>
              </a:solidFill>
              <a:ln w="12680">
                <a:solidFill>
                  <a:srgbClr val="000000"/>
                </a:solidFill>
                <a:prstDash val="solid"/>
              </a:ln>
            </c:spPr>
            <c:extLst>
              <c:ext xmlns:c16="http://schemas.microsoft.com/office/drawing/2014/chart" uri="{C3380CC4-5D6E-409C-BE32-E72D297353CC}">
                <c16:uniqueId val="{00000001-E949-2C48-855E-68EEE58CFD14}"/>
              </c:ext>
            </c:extLst>
          </c:dPt>
          <c:dPt>
            <c:idx val="1"/>
            <c:invertIfNegative val="0"/>
            <c:bubble3D val="0"/>
            <c:spPr>
              <a:solidFill>
                <a:srgbClr val="DD2D32"/>
              </a:solidFill>
              <a:ln w="12680">
                <a:solidFill>
                  <a:srgbClr val="000000"/>
                </a:solidFill>
                <a:prstDash val="solid"/>
              </a:ln>
            </c:spPr>
            <c:extLst>
              <c:ext xmlns:c16="http://schemas.microsoft.com/office/drawing/2014/chart" uri="{C3380CC4-5D6E-409C-BE32-E72D297353CC}">
                <c16:uniqueId val="{00000003-E949-2C48-855E-68EEE58CFD14}"/>
              </c:ext>
            </c:extLst>
          </c:dPt>
          <c:dPt>
            <c:idx val="2"/>
            <c:invertIfNegative val="0"/>
            <c:bubble3D val="0"/>
            <c:spPr>
              <a:solidFill>
                <a:srgbClr val="00B050"/>
              </a:solidFill>
              <a:ln w="12680">
                <a:solidFill>
                  <a:srgbClr val="000000"/>
                </a:solidFill>
                <a:prstDash val="solid"/>
              </a:ln>
            </c:spPr>
            <c:extLst>
              <c:ext xmlns:c16="http://schemas.microsoft.com/office/drawing/2014/chart" uri="{C3380CC4-5D6E-409C-BE32-E72D297353CC}">
                <c16:uniqueId val="{00000005-E949-2C48-855E-68EEE58CFD14}"/>
              </c:ext>
            </c:extLst>
          </c:dPt>
          <c:dPt>
            <c:idx val="3"/>
            <c:invertIfNegative val="0"/>
            <c:bubble3D val="0"/>
            <c:spPr>
              <a:solidFill>
                <a:schemeClr val="accent5">
                  <a:lumMod val="75000"/>
                </a:schemeClr>
              </a:solidFill>
              <a:ln w="12680">
                <a:solidFill>
                  <a:srgbClr val="000000"/>
                </a:solidFill>
                <a:prstDash val="solid"/>
              </a:ln>
            </c:spPr>
            <c:extLst>
              <c:ext xmlns:c16="http://schemas.microsoft.com/office/drawing/2014/chart" uri="{C3380CC4-5D6E-409C-BE32-E72D297353CC}">
                <c16:uniqueId val="{00000007-E949-2C48-855E-68EEE58CFD14}"/>
              </c:ext>
            </c:extLst>
          </c:dPt>
          <c:dPt>
            <c:idx val="4"/>
            <c:invertIfNegative val="0"/>
            <c:bubble3D val="0"/>
            <c:spPr>
              <a:solidFill>
                <a:srgbClr val="FCF305"/>
              </a:solidFill>
              <a:ln w="12680">
                <a:solidFill>
                  <a:srgbClr val="000000"/>
                </a:solidFill>
                <a:prstDash val="solid"/>
              </a:ln>
            </c:spPr>
            <c:extLst>
              <c:ext xmlns:c16="http://schemas.microsoft.com/office/drawing/2014/chart" uri="{C3380CC4-5D6E-409C-BE32-E72D297353CC}">
                <c16:uniqueId val="{00000009-E949-2C48-855E-68EEE58CFD14}"/>
              </c:ext>
            </c:extLst>
          </c:dPt>
          <c:dLbls>
            <c:dLbl>
              <c:idx val="0"/>
              <c:tx>
                <c:rich>
                  <a:bodyPr/>
                  <a:lstStyle/>
                  <a:p>
                    <a:pPr algn="ctr" rtl="1">
                      <a:defRPr sz="1198" b="1" i="0" u="none" strike="noStrike" baseline="0">
                        <a:solidFill>
                          <a:srgbClr val="000000"/>
                        </a:solidFill>
                        <a:latin typeface="Calibri" charset="0"/>
                        <a:ea typeface="Calibri" charset="0"/>
                        <a:cs typeface="Calibri" charset="0"/>
                      </a:defRPr>
                    </a:pPr>
                    <a:r>
                      <a:rPr lang="en-US">
                        <a:latin typeface="Calibri" charset="0"/>
                        <a:ea typeface="Calibri" charset="0"/>
                        <a:cs typeface="Calibri" charset="0"/>
                      </a:rPr>
                      <a:t>Profitability Index, 12%</a:t>
                    </a:r>
                  </a:p>
                </c:rich>
              </c:tx>
              <c:spPr>
                <a:noFill/>
                <a:ln w="25360">
                  <a:noFill/>
                </a:ln>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949-2C48-855E-68EEE58CFD14}"/>
                </c:ext>
              </c:extLst>
            </c:dLbl>
            <c:dLbl>
              <c:idx val="1"/>
              <c:layout>
                <c:manualLayout>
                  <c:x val="1.88872566546654E-2"/>
                  <c:y val="-1.30544124813212E-2"/>
                </c:manualLayout>
              </c:layout>
              <c:tx>
                <c:rich>
                  <a:bodyPr/>
                  <a:lstStyle/>
                  <a:p>
                    <a:pPr algn="ctr" rtl="1">
                      <a:defRPr sz="1198" b="1" i="0" u="none" strike="noStrike" baseline="0">
                        <a:solidFill>
                          <a:srgbClr val="000000"/>
                        </a:solidFill>
                        <a:latin typeface="Calibri" charset="0"/>
                        <a:ea typeface="Calibri" charset="0"/>
                        <a:cs typeface="Calibri" charset="0"/>
                      </a:defRPr>
                    </a:pPr>
                    <a:r>
                      <a:rPr lang="en-US">
                        <a:latin typeface="Calibri" charset="0"/>
                        <a:ea typeface="Calibri" charset="0"/>
                        <a:cs typeface="Calibri" charset="0"/>
                      </a:rPr>
                      <a:t>Book rate of return, 20%</a:t>
                    </a:r>
                  </a:p>
                </c:rich>
              </c:tx>
              <c:spPr>
                <a:noFill/>
                <a:ln w="25360">
                  <a:noFill/>
                </a:ln>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949-2C48-855E-68EEE58CFD14}"/>
                </c:ext>
              </c:extLst>
            </c:dLbl>
            <c:dLbl>
              <c:idx val="2"/>
              <c:tx>
                <c:rich>
                  <a:bodyPr/>
                  <a:lstStyle/>
                  <a:p>
                    <a:r>
                      <a:rPr lang="en-US" dirty="0"/>
                      <a:t>Multiples, e.g.,</a:t>
                    </a:r>
                    <a:r>
                      <a:rPr lang="en-US" baseline="0" dirty="0"/>
                      <a:t> </a:t>
                    </a:r>
                    <a:fld id="{9D261516-6D72-7241-9445-E7BD9312EF15}" type="CATEGORYNAME">
                      <a:rPr lang="en-US" smtClean="0"/>
                      <a:pPr/>
                      <a:t>[CATEGORY NAME]</a:t>
                    </a:fld>
                    <a:r>
                      <a:rPr lang="en-US" baseline="0" dirty="0"/>
                      <a:t>, </a:t>
                    </a:r>
                    <a:fld id="{E4FD9AF8-E4D3-0946-AEF4-6B0E8B310DDC}" type="VALUE">
                      <a:rPr lang="en-US" baseline="0"/>
                      <a:pPr/>
                      <a:t>[VALUE]</a:t>
                    </a:fld>
                    <a:endParaRPr lang="en-US" baseline="0" dirty="0"/>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E949-2C48-855E-68EEE58CFD14}"/>
                </c:ext>
              </c:extLst>
            </c:dLbl>
            <c:dLbl>
              <c:idx val="3"/>
              <c:tx>
                <c:rich>
                  <a:bodyPr/>
                  <a:lstStyle/>
                  <a:p>
                    <a:pPr>
                      <a:defRPr sz="1198" b="1" i="0" u="none" strike="noStrike" baseline="0">
                        <a:solidFill>
                          <a:srgbClr val="000000"/>
                        </a:solidFill>
                        <a:latin typeface="Calibri" charset="0"/>
                        <a:ea typeface="Calibri" charset="0"/>
                        <a:cs typeface="Calibri" charset="0"/>
                      </a:defRPr>
                    </a:pPr>
                    <a:r>
                      <a:rPr lang="en-US">
                        <a:latin typeface="Calibri" charset="0"/>
                        <a:ea typeface="Calibri" charset="0"/>
                        <a:cs typeface="Calibri" charset="0"/>
                      </a:rPr>
                      <a:t>Payback, 57%</a:t>
                    </a:r>
                  </a:p>
                </c:rich>
              </c:tx>
              <c:spPr>
                <a:noFill/>
                <a:ln w="25360">
                  <a:noFill/>
                </a:ln>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E949-2C48-855E-68EEE58CFD14}"/>
                </c:ext>
              </c:extLst>
            </c:dLbl>
            <c:dLbl>
              <c:idx val="4"/>
              <c:tx>
                <c:rich>
                  <a:bodyPr/>
                  <a:lstStyle/>
                  <a:p>
                    <a:pPr>
                      <a:defRPr sz="1198" b="1" i="0" u="none" strike="noStrike" baseline="0">
                        <a:solidFill>
                          <a:srgbClr val="000000"/>
                        </a:solidFill>
                        <a:latin typeface="Calibri" charset="0"/>
                        <a:ea typeface="Calibri" charset="0"/>
                        <a:cs typeface="Calibri" charset="0"/>
                      </a:defRPr>
                    </a:pPr>
                    <a:r>
                      <a:rPr lang="en-US">
                        <a:latin typeface="Calibri" charset="0"/>
                        <a:ea typeface="Calibri" charset="0"/>
                        <a:cs typeface="Calibri" charset="0"/>
                      </a:rPr>
                      <a:t>IRR, 76%</a:t>
                    </a:r>
                  </a:p>
                </c:rich>
              </c:tx>
              <c:spPr>
                <a:noFill/>
                <a:ln w="25360">
                  <a:noFill/>
                </a:ln>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E949-2C48-855E-68EEE58CFD14}"/>
                </c:ext>
              </c:extLst>
            </c:dLbl>
            <c:dLbl>
              <c:idx val="5"/>
              <c:tx>
                <c:rich>
                  <a:bodyPr/>
                  <a:lstStyle/>
                  <a:p>
                    <a:pPr algn="ctr" rtl="1">
                      <a:defRPr sz="1198" b="1" i="0" u="none" strike="noStrike" baseline="0">
                        <a:solidFill>
                          <a:srgbClr val="000000"/>
                        </a:solidFill>
                        <a:latin typeface="Calibri" charset="0"/>
                        <a:ea typeface="Calibri" charset="0"/>
                        <a:cs typeface="Calibri" charset="0"/>
                      </a:defRPr>
                    </a:pPr>
                    <a:r>
                      <a:rPr lang="hr-HR">
                        <a:latin typeface="Calibri" charset="0"/>
                        <a:ea typeface="Calibri" charset="0"/>
                        <a:cs typeface="Calibri" charset="0"/>
                      </a:rPr>
                      <a:t>NPV, 75%</a:t>
                    </a:r>
                  </a:p>
                </c:rich>
              </c:tx>
              <c:spPr>
                <a:noFill/>
                <a:ln w="25360">
                  <a:noFill/>
                </a:ln>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E949-2C48-855E-68EEE58CFD14}"/>
                </c:ext>
              </c:extLst>
            </c:dLbl>
            <c:numFmt formatCode="0%" sourceLinked="0"/>
            <c:spPr>
              <a:noFill/>
              <a:ln w="25360">
                <a:noFill/>
              </a:ln>
            </c:spPr>
            <c:txPr>
              <a:bodyPr wrap="square" lIns="38100" tIns="19050" rIns="38100" bIns="19050" anchor="ctr">
                <a:spAutoFit/>
              </a:bodyPr>
              <a:lstStyle/>
              <a:p>
                <a:pPr>
                  <a:defRPr sz="1198" b="1" i="0" u="none" strike="noStrike" baseline="0">
                    <a:solidFill>
                      <a:srgbClr val="000000"/>
                    </a:solidFill>
                    <a:latin typeface="Calibri" charset="0"/>
                    <a:ea typeface="Calibri" charset="0"/>
                    <a:cs typeface="Calibri" charset="0"/>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howLeaderLines val="0"/>
              </c:ext>
            </c:extLst>
          </c:dLbls>
          <c:cat>
            <c:strRef>
              <c:f>Sheet1!$B$1:$G$1</c:f>
              <c:strCache>
                <c:ptCount val="6"/>
                <c:pt idx="0">
                  <c:v>Profitability Index</c:v>
                </c:pt>
                <c:pt idx="1">
                  <c:v>Book rate of return</c:v>
                </c:pt>
                <c:pt idx="2">
                  <c:v>PE Ratio</c:v>
                </c:pt>
                <c:pt idx="3">
                  <c:v>Payback</c:v>
                </c:pt>
                <c:pt idx="4">
                  <c:v>IRR</c:v>
                </c:pt>
                <c:pt idx="5">
                  <c:v>NPV</c:v>
                </c:pt>
              </c:strCache>
            </c:strRef>
          </c:cat>
          <c:val>
            <c:numRef>
              <c:f>Sheet1!$B$2:$G$2</c:f>
              <c:numCache>
                <c:formatCode>General</c:formatCode>
                <c:ptCount val="6"/>
                <c:pt idx="0">
                  <c:v>0.12</c:v>
                </c:pt>
                <c:pt idx="1">
                  <c:v>0.2</c:v>
                </c:pt>
                <c:pt idx="2">
                  <c:v>0.4</c:v>
                </c:pt>
                <c:pt idx="3">
                  <c:v>0.56999999999999995</c:v>
                </c:pt>
                <c:pt idx="4">
                  <c:v>0.76</c:v>
                </c:pt>
                <c:pt idx="5">
                  <c:v>0.75</c:v>
                </c:pt>
              </c:numCache>
            </c:numRef>
          </c:val>
          <c:extLst>
            <c:ext xmlns:c16="http://schemas.microsoft.com/office/drawing/2014/chart" uri="{C3380CC4-5D6E-409C-BE32-E72D297353CC}">
              <c16:uniqueId val="{0000000B-E949-2C48-855E-68EEE58CFD14}"/>
            </c:ext>
          </c:extLst>
        </c:ser>
        <c:dLbls>
          <c:showLegendKey val="0"/>
          <c:showVal val="0"/>
          <c:showCatName val="0"/>
          <c:showSerName val="0"/>
          <c:showPercent val="0"/>
          <c:showBubbleSize val="0"/>
        </c:dLbls>
        <c:gapWidth val="150"/>
        <c:axId val="226926864"/>
        <c:axId val="226927984"/>
      </c:barChart>
      <c:catAx>
        <c:axId val="226926864"/>
        <c:scaling>
          <c:orientation val="minMax"/>
        </c:scaling>
        <c:delete val="1"/>
        <c:axPos val="l"/>
        <c:numFmt formatCode="General" sourceLinked="1"/>
        <c:majorTickMark val="out"/>
        <c:minorTickMark val="none"/>
        <c:tickLblPos val="nextTo"/>
        <c:crossAx val="226927984"/>
        <c:crosses val="autoZero"/>
        <c:auto val="1"/>
        <c:lblAlgn val="ctr"/>
        <c:lblOffset val="100"/>
        <c:noMultiLvlLbl val="0"/>
      </c:catAx>
      <c:valAx>
        <c:axId val="226927984"/>
        <c:scaling>
          <c:orientation val="minMax"/>
          <c:max val="1"/>
        </c:scaling>
        <c:delete val="0"/>
        <c:axPos val="b"/>
        <c:majorGridlines>
          <c:spPr>
            <a:ln w="1905">
              <a:solidFill>
                <a:srgbClr val="000000"/>
              </a:solidFill>
              <a:prstDash val="solid"/>
            </a:ln>
          </c:spPr>
        </c:majorGridlines>
        <c:numFmt formatCode="0%" sourceLinked="0"/>
        <c:majorTickMark val="out"/>
        <c:minorTickMark val="none"/>
        <c:tickLblPos val="nextTo"/>
        <c:spPr>
          <a:ln w="6340">
            <a:noFill/>
          </a:ln>
        </c:spPr>
        <c:txPr>
          <a:bodyPr rot="0" vert="horz"/>
          <a:lstStyle/>
          <a:p>
            <a:pPr>
              <a:defRPr sz="1198" b="1" i="0" u="none" strike="noStrike" baseline="0">
                <a:solidFill>
                  <a:srgbClr val="000000"/>
                </a:solidFill>
                <a:latin typeface="Arial"/>
                <a:ea typeface="Arial"/>
                <a:cs typeface="Arial"/>
              </a:defRPr>
            </a:pPr>
            <a:endParaRPr lang="en-US"/>
          </a:p>
        </c:txPr>
        <c:crossAx val="226926864"/>
        <c:crosses val="autoZero"/>
        <c:crossBetween val="between"/>
      </c:valAx>
      <c:spPr>
        <a:noFill/>
        <a:ln w="25360">
          <a:noFill/>
        </a:ln>
      </c:spPr>
    </c:plotArea>
    <c:plotVisOnly val="1"/>
    <c:dispBlanksAs val="gap"/>
    <c:showDLblsOverMax val="0"/>
  </c:chart>
  <c:spPr>
    <a:solidFill>
      <a:schemeClr val="bg1"/>
    </a:solidFill>
    <a:ln>
      <a:noFill/>
    </a:ln>
  </c:spPr>
  <c:txPr>
    <a:bodyPr/>
    <a:lstStyle/>
    <a:p>
      <a:pPr>
        <a:defRPr sz="1148" b="1" i="0" u="none" strike="noStrike" baseline="0">
          <a:solidFill>
            <a:srgbClr val="000000"/>
          </a:solidFill>
          <a:latin typeface="Arial"/>
          <a:ea typeface="Arial"/>
          <a:cs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3037840" cy="46156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2818" tIns="46409" rIns="92818" bIns="46409" numCol="1" anchor="t" anchorCtr="0" compatLnSpc="1">
            <a:prstTxWarp prst="textNoShape">
              <a:avLst/>
            </a:prstTxWarp>
          </a:bodyPr>
          <a:lstStyle>
            <a:lvl1pPr defTabSz="927804">
              <a:defRPr sz="1200">
                <a:cs typeface="+mn-cs"/>
              </a:defRPr>
            </a:lvl1pPr>
          </a:lstStyle>
          <a:p>
            <a:pPr>
              <a:defRPr/>
            </a:pPr>
            <a:endParaRPr lang="en-US">
              <a:latin typeface="Calibri"/>
            </a:endParaRPr>
          </a:p>
        </p:txBody>
      </p:sp>
      <p:sp>
        <p:nvSpPr>
          <p:cNvPr id="92163" name="Rectangle 3"/>
          <p:cNvSpPr>
            <a:spLocks noGrp="1" noChangeArrowheads="1"/>
          </p:cNvSpPr>
          <p:nvPr>
            <p:ph type="dt" sz="quarter" idx="1"/>
          </p:nvPr>
        </p:nvSpPr>
        <p:spPr bwMode="auto">
          <a:xfrm>
            <a:off x="3970938" y="0"/>
            <a:ext cx="3037840" cy="46156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2818" tIns="46409" rIns="92818" bIns="46409" numCol="1" anchor="t" anchorCtr="0" compatLnSpc="1">
            <a:prstTxWarp prst="textNoShape">
              <a:avLst/>
            </a:prstTxWarp>
          </a:bodyPr>
          <a:lstStyle>
            <a:lvl1pPr algn="r" defTabSz="927804">
              <a:defRPr sz="1200">
                <a:cs typeface="+mn-cs"/>
              </a:defRPr>
            </a:lvl1pPr>
          </a:lstStyle>
          <a:p>
            <a:pPr>
              <a:defRPr/>
            </a:pPr>
            <a:endParaRPr lang="en-US">
              <a:latin typeface="Calibri"/>
            </a:endParaRPr>
          </a:p>
        </p:txBody>
      </p:sp>
      <p:sp>
        <p:nvSpPr>
          <p:cNvPr id="92164" name="Rectangle 4"/>
          <p:cNvSpPr>
            <a:spLocks noGrp="1" noChangeArrowheads="1"/>
          </p:cNvSpPr>
          <p:nvPr>
            <p:ph type="ftr" sz="quarter" idx="2"/>
          </p:nvPr>
        </p:nvSpPr>
        <p:spPr bwMode="auto">
          <a:xfrm>
            <a:off x="0" y="8772914"/>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2818" tIns="46409" rIns="92818" bIns="46409" numCol="1" anchor="b" anchorCtr="0" compatLnSpc="1">
            <a:prstTxWarp prst="textNoShape">
              <a:avLst/>
            </a:prstTxWarp>
          </a:bodyPr>
          <a:lstStyle>
            <a:lvl1pPr defTabSz="927804">
              <a:defRPr sz="1200">
                <a:cs typeface="+mn-cs"/>
              </a:defRPr>
            </a:lvl1pPr>
          </a:lstStyle>
          <a:p>
            <a:pPr>
              <a:defRPr/>
            </a:pPr>
            <a:endParaRPr lang="en-US">
              <a:latin typeface="Calibri"/>
            </a:endParaRPr>
          </a:p>
        </p:txBody>
      </p:sp>
      <p:sp>
        <p:nvSpPr>
          <p:cNvPr id="92165" name="Rectangle 5"/>
          <p:cNvSpPr>
            <a:spLocks noGrp="1" noChangeArrowheads="1"/>
          </p:cNvSpPr>
          <p:nvPr>
            <p:ph type="sldNum" sz="quarter" idx="3"/>
          </p:nvPr>
        </p:nvSpPr>
        <p:spPr bwMode="auto">
          <a:xfrm>
            <a:off x="3970938" y="8772914"/>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2818" tIns="46409" rIns="92818" bIns="46409" numCol="1" anchor="b" anchorCtr="0" compatLnSpc="1">
            <a:prstTxWarp prst="textNoShape">
              <a:avLst/>
            </a:prstTxWarp>
          </a:bodyPr>
          <a:lstStyle>
            <a:lvl1pPr algn="r" defTabSz="927804">
              <a:defRPr sz="1200">
                <a:cs typeface="+mn-cs"/>
              </a:defRPr>
            </a:lvl1pPr>
          </a:lstStyle>
          <a:p>
            <a:pPr>
              <a:defRPr/>
            </a:pPr>
            <a:fld id="{D97437F7-E01A-E44D-8704-3EDE1EC02DFB}" type="slidenum">
              <a:rPr lang="en-US">
                <a:latin typeface="Calibri"/>
              </a:rPr>
              <a:pPr>
                <a:defRPr/>
              </a:pPr>
              <a:t>‹#›</a:t>
            </a:fld>
            <a:endParaRPr lang="en-US">
              <a:latin typeface="Calibri"/>
            </a:endParaRPr>
          </a:p>
        </p:txBody>
      </p:sp>
    </p:spTree>
    <p:extLst>
      <p:ext uri="{BB962C8B-B14F-4D97-AF65-F5344CB8AC3E}">
        <p14:creationId xmlns:p14="http://schemas.microsoft.com/office/powerpoint/2010/main" val="126124573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37840" cy="46156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2818" tIns="46409" rIns="92818" bIns="46409" numCol="1" anchor="t" anchorCtr="0" compatLnSpc="1">
            <a:prstTxWarp prst="textNoShape">
              <a:avLst/>
            </a:prstTxWarp>
          </a:bodyPr>
          <a:lstStyle>
            <a:lvl1pPr defTabSz="927804">
              <a:defRPr sz="1200">
                <a:latin typeface="Calibri"/>
                <a:cs typeface="+mn-cs"/>
              </a:defRPr>
            </a:lvl1pPr>
          </a:lstStyle>
          <a:p>
            <a:pPr>
              <a:defRPr/>
            </a:pPr>
            <a:endParaRPr lang="en-US"/>
          </a:p>
        </p:txBody>
      </p:sp>
      <p:sp>
        <p:nvSpPr>
          <p:cNvPr id="4099" name="Rectangle 3"/>
          <p:cNvSpPr>
            <a:spLocks noGrp="1" noChangeArrowheads="1"/>
          </p:cNvSpPr>
          <p:nvPr>
            <p:ph type="dt" idx="1"/>
          </p:nvPr>
        </p:nvSpPr>
        <p:spPr bwMode="auto">
          <a:xfrm>
            <a:off x="3970938" y="0"/>
            <a:ext cx="3037840" cy="46156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2818" tIns="46409" rIns="92818" bIns="46409" numCol="1" anchor="t" anchorCtr="0" compatLnSpc="1">
            <a:prstTxWarp prst="textNoShape">
              <a:avLst/>
            </a:prstTxWarp>
          </a:bodyPr>
          <a:lstStyle>
            <a:lvl1pPr algn="r" defTabSz="927804">
              <a:defRPr sz="1200">
                <a:latin typeface="Calibri"/>
                <a:cs typeface="+mn-cs"/>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95388" y="693738"/>
            <a:ext cx="4619625" cy="3463925"/>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4101" name="Rectangle 5"/>
          <p:cNvSpPr>
            <a:spLocks noGrp="1" noChangeArrowheads="1"/>
          </p:cNvSpPr>
          <p:nvPr>
            <p:ph type="body" sz="quarter" idx="3"/>
          </p:nvPr>
        </p:nvSpPr>
        <p:spPr bwMode="auto">
          <a:xfrm>
            <a:off x="701040" y="4387256"/>
            <a:ext cx="5608320" cy="41556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2818" tIns="46409" rIns="92818" bIns="4640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772914"/>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2818" tIns="46409" rIns="92818" bIns="46409" numCol="1" anchor="b" anchorCtr="0" compatLnSpc="1">
            <a:prstTxWarp prst="textNoShape">
              <a:avLst/>
            </a:prstTxWarp>
          </a:bodyPr>
          <a:lstStyle>
            <a:lvl1pPr defTabSz="927804">
              <a:defRPr sz="1200">
                <a:latin typeface="Calibri"/>
                <a:cs typeface="+mn-cs"/>
              </a:defRPr>
            </a:lvl1pPr>
          </a:lstStyle>
          <a:p>
            <a:pPr>
              <a:defRPr/>
            </a:pPr>
            <a:endParaRPr lang="en-US"/>
          </a:p>
        </p:txBody>
      </p:sp>
      <p:sp>
        <p:nvSpPr>
          <p:cNvPr id="4103" name="Rectangle 7"/>
          <p:cNvSpPr>
            <a:spLocks noGrp="1" noChangeArrowheads="1"/>
          </p:cNvSpPr>
          <p:nvPr>
            <p:ph type="sldNum" sz="quarter" idx="5"/>
          </p:nvPr>
        </p:nvSpPr>
        <p:spPr bwMode="auto">
          <a:xfrm>
            <a:off x="3970938" y="8772914"/>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2818" tIns="46409" rIns="92818" bIns="46409" numCol="1" anchor="b" anchorCtr="0" compatLnSpc="1">
            <a:prstTxWarp prst="textNoShape">
              <a:avLst/>
            </a:prstTxWarp>
          </a:bodyPr>
          <a:lstStyle>
            <a:lvl1pPr algn="r" defTabSz="927804">
              <a:defRPr sz="1200">
                <a:latin typeface="Calibri"/>
                <a:cs typeface="+mn-cs"/>
              </a:defRPr>
            </a:lvl1pPr>
          </a:lstStyle>
          <a:p>
            <a:pPr>
              <a:defRPr/>
            </a:pPr>
            <a:fld id="{FB7BE637-85E8-554A-BDD3-9691D33C24F5}" type="slidenum">
              <a:rPr lang="en-US"/>
              <a:pPr>
                <a:defRPr/>
              </a:pPr>
              <a:t>‹#›</a:t>
            </a:fld>
            <a:endParaRPr lang="en-US"/>
          </a:p>
        </p:txBody>
      </p:sp>
    </p:spTree>
    <p:extLst>
      <p:ext uri="{BB962C8B-B14F-4D97-AF65-F5344CB8AC3E}">
        <p14:creationId xmlns:p14="http://schemas.microsoft.com/office/powerpoint/2010/main" val="147140057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Calibri"/>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Calibri"/>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Calibri"/>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Calibri"/>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1708078-AF71-554B-BAA3-9BB5CE1D6A61}" type="slidenum">
              <a:rPr lang="en-US"/>
              <a:pPr>
                <a:defRPr/>
              </a:pPr>
              <a:t>2</a:t>
            </a:fld>
            <a:endParaRPr lang="en-US"/>
          </a:p>
        </p:txBody>
      </p:sp>
      <p:sp>
        <p:nvSpPr>
          <p:cNvPr id="168962" name="Rectangle 2"/>
          <p:cNvSpPr>
            <a:spLocks noGrp="1" noRot="1" noChangeAspect="1" noChangeArrowheads="1" noTextEdit="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16896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endParaRPr lang="en-US">
              <a:cs typeface="+mn-cs"/>
            </a:endParaRPr>
          </a:p>
        </p:txBody>
      </p:sp>
    </p:spTree>
    <p:extLst>
      <p:ext uri="{BB962C8B-B14F-4D97-AF65-F5344CB8AC3E}">
        <p14:creationId xmlns:p14="http://schemas.microsoft.com/office/powerpoint/2010/main" val="850598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5A46BD6-DD3A-0841-B650-CF7D82F0FCD0}" type="slidenum">
              <a:rPr lang="en-US"/>
              <a:pPr>
                <a:defRPr/>
              </a:pPr>
              <a:t>3</a:t>
            </a:fld>
            <a:endParaRPr lang="en-US"/>
          </a:p>
        </p:txBody>
      </p:sp>
      <p:sp>
        <p:nvSpPr>
          <p:cNvPr id="156674" name="Rectangle 2"/>
          <p:cNvSpPr>
            <a:spLocks noGrp="1" noRot="1" noChangeAspect="1" noChangeArrowheads="1" noTextEdit="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156675" name="Rectangle 3"/>
          <p:cNvSpPr>
            <a:spLocks noGrp="1" noChangeArrowheads="1"/>
          </p:cNvSpPr>
          <p:nvPr>
            <p:ph type="body" idx="1"/>
          </p:nvPr>
        </p:nvSpPr>
        <p:spPr>
          <a:solidFill>
            <a:srgbClr val="FFFFFF"/>
          </a:solidFill>
          <a:ln>
            <a:solidFill>
              <a:srgbClr val="000000"/>
            </a:solidFill>
            <a:miter lim="800000"/>
            <a:headEnd/>
            <a:tailEnd/>
          </a:ln>
        </p:spPr>
        <p:txBody>
          <a:bodyPr lIns="91230" tIns="45615" rIns="91230" bIns="45615"/>
          <a:lstStyle/>
          <a:p>
            <a:pPr eaLnBrk="1" hangingPunct="1">
              <a:defRPr/>
            </a:pPr>
            <a:endParaRPr lang="en-US">
              <a:cs typeface="+mn-cs"/>
            </a:endParaRPr>
          </a:p>
        </p:txBody>
      </p:sp>
    </p:spTree>
    <p:extLst>
      <p:ext uri="{BB962C8B-B14F-4D97-AF65-F5344CB8AC3E}">
        <p14:creationId xmlns:p14="http://schemas.microsoft.com/office/powerpoint/2010/main" val="214267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9A962E6-3976-4D49-9F48-F95A968982C2}" type="slidenum">
              <a:rPr lang="en-US"/>
              <a:pPr>
                <a:defRPr/>
              </a:pPr>
              <a:t>6</a:t>
            </a:fld>
            <a:endParaRPr lang="en-US"/>
          </a:p>
        </p:txBody>
      </p:sp>
      <p:sp>
        <p:nvSpPr>
          <p:cNvPr id="1187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18787" name="Rectangle 3"/>
          <p:cNvSpPr>
            <a:spLocks noGrp="1" noChangeArrowheads="1"/>
          </p:cNvSpPr>
          <p:nvPr>
            <p:ph type="body" idx="1"/>
          </p:nvPr>
        </p:nvSpPr>
        <p:spPr>
          <a:xfrm>
            <a:off x="934720" y="4387256"/>
            <a:ext cx="5140960" cy="4155675"/>
          </a:xfrm>
        </p:spPr>
        <p:txBody>
          <a:bodyPr/>
          <a:lstStyle/>
          <a:p>
            <a:pPr eaLnBrk="1" hangingPunct="1">
              <a:defRPr/>
            </a:pPr>
            <a:endParaRPr lang="en-US">
              <a:cs typeface="+mn-cs"/>
            </a:endParaRPr>
          </a:p>
        </p:txBody>
      </p:sp>
    </p:spTree>
    <p:extLst>
      <p:ext uri="{BB962C8B-B14F-4D97-AF65-F5344CB8AC3E}">
        <p14:creationId xmlns:p14="http://schemas.microsoft.com/office/powerpoint/2010/main" val="2010473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AAAA22F-654C-2541-A4FE-F29C0AA57282}" type="slidenum">
              <a:rPr lang="en-US"/>
              <a:pPr>
                <a:defRPr/>
              </a:pPr>
              <a:t>10</a:t>
            </a:fld>
            <a:endParaRPr lang="en-US"/>
          </a:p>
        </p:txBody>
      </p:sp>
      <p:sp>
        <p:nvSpPr>
          <p:cNvPr id="1208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20835" name="Rectangle 3"/>
          <p:cNvSpPr>
            <a:spLocks noGrp="1" noChangeArrowheads="1"/>
          </p:cNvSpPr>
          <p:nvPr>
            <p:ph type="body" idx="1"/>
          </p:nvPr>
        </p:nvSpPr>
        <p:spPr>
          <a:xfrm>
            <a:off x="934720" y="4387256"/>
            <a:ext cx="5140960" cy="4155675"/>
          </a:xfrm>
        </p:spPr>
        <p:txBody>
          <a:bodyPr/>
          <a:lstStyle/>
          <a:p>
            <a:pPr eaLnBrk="1" hangingPunct="1">
              <a:defRPr/>
            </a:pPr>
            <a:endParaRPr lang="en-US">
              <a:cs typeface="+mn-cs"/>
            </a:endParaRPr>
          </a:p>
        </p:txBody>
      </p:sp>
    </p:spTree>
    <p:extLst>
      <p:ext uri="{BB962C8B-B14F-4D97-AF65-F5344CB8AC3E}">
        <p14:creationId xmlns:p14="http://schemas.microsoft.com/office/powerpoint/2010/main" val="1518597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5EAF04B-365C-7E43-A5CC-1DC5ACC2F757}" type="slidenum">
              <a:rPr lang="en-US"/>
              <a:pPr>
                <a:defRPr/>
              </a:pPr>
              <a:t>11</a:t>
            </a:fld>
            <a:endParaRPr lang="en-US"/>
          </a:p>
        </p:txBody>
      </p:sp>
      <p:sp>
        <p:nvSpPr>
          <p:cNvPr id="1228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22883" name="Rectangle 3"/>
          <p:cNvSpPr>
            <a:spLocks noGrp="1" noChangeArrowheads="1"/>
          </p:cNvSpPr>
          <p:nvPr>
            <p:ph type="body" idx="1"/>
          </p:nvPr>
        </p:nvSpPr>
        <p:spPr>
          <a:xfrm>
            <a:off x="934720" y="4387256"/>
            <a:ext cx="5140960" cy="4155675"/>
          </a:xfrm>
        </p:spPr>
        <p:txBody>
          <a:bodyPr/>
          <a:lstStyle/>
          <a:p>
            <a:pPr eaLnBrk="1" hangingPunct="1">
              <a:defRPr/>
            </a:pPr>
            <a:endParaRPr lang="en-US">
              <a:cs typeface="+mn-cs"/>
            </a:endParaRPr>
          </a:p>
        </p:txBody>
      </p:sp>
    </p:spTree>
    <p:extLst>
      <p:ext uri="{BB962C8B-B14F-4D97-AF65-F5344CB8AC3E}">
        <p14:creationId xmlns:p14="http://schemas.microsoft.com/office/powerpoint/2010/main" val="224130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10D7728-51CC-5E45-A0C9-0BF962E6A283}" type="slidenum">
              <a:rPr lang="en-US"/>
              <a:pPr>
                <a:defRPr/>
              </a:pPr>
              <a:t>12</a:t>
            </a:fld>
            <a:endParaRPr lang="en-US"/>
          </a:p>
        </p:txBody>
      </p:sp>
      <p:sp>
        <p:nvSpPr>
          <p:cNvPr id="1720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7203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72089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4AEB737-3C0E-854B-8D2E-256A2FE81515}" type="slidenum">
              <a:rPr lang="en-US"/>
              <a:pPr>
                <a:defRPr/>
              </a:pPr>
              <a:t>14</a:t>
            </a:fld>
            <a:endParaRPr lang="en-US"/>
          </a:p>
        </p:txBody>
      </p:sp>
      <p:sp>
        <p:nvSpPr>
          <p:cNvPr id="1730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7305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00063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25FCD1A-1DE9-FA4C-8FF7-0A94D9E80AEE}" type="slidenum">
              <a:rPr lang="en-US"/>
              <a:pPr>
                <a:defRPr/>
              </a:pPr>
              <a:t>15</a:t>
            </a:fld>
            <a:endParaRPr lang="en-US"/>
          </a:p>
        </p:txBody>
      </p:sp>
      <p:sp>
        <p:nvSpPr>
          <p:cNvPr id="1249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24931" name="Rectangle 3"/>
          <p:cNvSpPr>
            <a:spLocks noGrp="1" noChangeArrowheads="1"/>
          </p:cNvSpPr>
          <p:nvPr>
            <p:ph type="body" idx="1"/>
          </p:nvPr>
        </p:nvSpPr>
        <p:spPr>
          <a:xfrm>
            <a:off x="934720" y="4387256"/>
            <a:ext cx="5140960" cy="4155675"/>
          </a:xfrm>
        </p:spPr>
        <p:txBody>
          <a:bodyPr/>
          <a:lstStyle/>
          <a:p>
            <a:pPr eaLnBrk="1" hangingPunct="1">
              <a:defRPr/>
            </a:pPr>
            <a:endParaRPr lang="en-US">
              <a:cs typeface="+mn-cs"/>
            </a:endParaRPr>
          </a:p>
        </p:txBody>
      </p:sp>
    </p:spTree>
    <p:extLst>
      <p:ext uri="{BB962C8B-B14F-4D97-AF65-F5344CB8AC3E}">
        <p14:creationId xmlns:p14="http://schemas.microsoft.com/office/powerpoint/2010/main" val="292221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231B6C-FC1E-4E40-9957-37E959930ED1}" type="slidenum">
              <a:rPr lang="en-US"/>
              <a:pPr/>
              <a:t>17</a:t>
            </a:fld>
            <a:endParaRPr lang="en-US"/>
          </a:p>
        </p:txBody>
      </p:sp>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a:xfrm>
            <a:off x="934720" y="4387256"/>
            <a:ext cx="5140960" cy="4155675"/>
          </a:xfrm>
        </p:spPr>
        <p:txBody>
          <a:bodyPr/>
          <a:lstStyle/>
          <a:p>
            <a:endParaRPr lang="en-US"/>
          </a:p>
        </p:txBody>
      </p:sp>
    </p:spTree>
    <p:extLst>
      <p:ext uri="{BB962C8B-B14F-4D97-AF65-F5344CB8AC3E}">
        <p14:creationId xmlns:p14="http://schemas.microsoft.com/office/powerpoint/2010/main" val="67364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B7BE637-85E8-554A-BDD3-9691D33C24F5}" type="slidenum">
              <a:rPr lang="en-US" smtClean="0"/>
              <a:pPr>
                <a:defRPr/>
              </a:pPr>
              <a:t>21</a:t>
            </a:fld>
            <a:endParaRPr lang="en-US"/>
          </a:p>
        </p:txBody>
      </p:sp>
    </p:spTree>
    <p:extLst>
      <p:ext uri="{BB962C8B-B14F-4D97-AF65-F5344CB8AC3E}">
        <p14:creationId xmlns:p14="http://schemas.microsoft.com/office/powerpoint/2010/main" val="1953978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BC43E62-6550-3C47-823B-333A7398CA9B}" type="slidenum">
              <a:rPr lang="en-US"/>
              <a:pPr>
                <a:defRPr/>
              </a:pPr>
              <a:t>22</a:t>
            </a:fld>
            <a:endParaRPr lang="en-US"/>
          </a:p>
        </p:txBody>
      </p:sp>
      <p:sp>
        <p:nvSpPr>
          <p:cNvPr id="18432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8432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939739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4"/>
            <a:ext cx="2895600" cy="288925"/>
          </a:xfrm>
        </p:spPr>
        <p:txBody>
          <a:bodyPr/>
          <a:lstStyle>
            <a:lvl1pPr>
              <a:defRPr smtClean="0"/>
            </a:lvl1pPr>
          </a:lstStyle>
          <a:p>
            <a:pPr>
              <a:defRPr/>
            </a:pPr>
            <a:r>
              <a:rPr lang="en-US" dirty="0"/>
              <a:t>Internal Rate of Return</a:t>
            </a:r>
          </a:p>
        </p:txBody>
      </p:sp>
    </p:spTree>
    <p:extLst>
      <p:ext uri="{BB962C8B-B14F-4D97-AF65-F5344CB8AC3E}">
        <p14:creationId xmlns:p14="http://schemas.microsoft.com/office/powerpoint/2010/main" val="160510693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165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165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5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5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384048" y="41934"/>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1650" b="1"/>
            </a:lvl1pPr>
          </a:lstStyle>
          <a:p>
            <a:pPr lvl="0"/>
            <a:r>
              <a:rPr lang="en-US" dirty="0"/>
              <a:t>Click to edit Master title style</a:t>
            </a:r>
          </a:p>
        </p:txBody>
      </p:sp>
      <p:sp>
        <p:nvSpPr>
          <p:cNvPr id="5" name="Slide Number Placeholder 9"/>
          <p:cNvSpPr>
            <a:spLocks noGrp="1"/>
          </p:cNvSpPr>
          <p:nvPr>
            <p:ph type="sldNum" sz="quarter" idx="10"/>
          </p:nvPr>
        </p:nvSpPr>
        <p:spPr>
          <a:xfrm>
            <a:off x="8385048" y="6471106"/>
            <a:ext cx="457200" cy="365125"/>
          </a:xfrm>
        </p:spPr>
        <p:txBody>
          <a:bodyPr/>
          <a:lstStyle>
            <a:lvl1pPr algn="r">
              <a:defRPr sz="800"/>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z="800" smtClean="0"/>
            </a:lvl1pPr>
          </a:lstStyle>
          <a:p>
            <a:pPr>
              <a:defRPr/>
            </a:pPr>
            <a:r>
              <a:rPr lang="en-US" dirty="0"/>
              <a:t>Internal Rate of Return</a:t>
            </a:r>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extBox 1">
            <a:extLst>
              <a:ext uri="{FF2B5EF4-FFF2-40B4-BE49-F238E27FC236}">
                <a16:creationId xmlns:a16="http://schemas.microsoft.com/office/drawing/2014/main" id="{232C7FD7-989E-04CB-A9BD-5FA609695526}"/>
              </a:ext>
            </a:extLst>
          </p:cNvPr>
          <p:cNvSpPr txBox="1"/>
          <p:nvPr userDrawn="1"/>
        </p:nvSpPr>
        <p:spPr>
          <a:xfrm>
            <a:off x="513471" y="6618849"/>
            <a:ext cx="184731" cy="461665"/>
          </a:xfrm>
          <a:prstGeom prst="rect">
            <a:avLst/>
          </a:prstGeom>
          <a:noFill/>
        </p:spPr>
        <p:txBody>
          <a:bodyPr wrap="none" rtlCol="0">
            <a:spAutoFit/>
          </a:bodyPr>
          <a:lstStyle/>
          <a:p>
            <a:endParaRPr lang="en-US" dirty="0"/>
          </a:p>
        </p:txBody>
      </p:sp>
      <p:sp>
        <p:nvSpPr>
          <p:cNvPr id="3" name="TextBox 2">
            <a:extLst>
              <a:ext uri="{FF2B5EF4-FFF2-40B4-BE49-F238E27FC236}">
                <a16:creationId xmlns:a16="http://schemas.microsoft.com/office/drawing/2014/main" id="{BA03F58B-CB43-8AAC-AAA0-EC35A00AF62E}"/>
              </a:ext>
            </a:extLst>
          </p:cNvPr>
          <p:cNvSpPr txBox="1"/>
          <p:nvPr userDrawn="1"/>
        </p:nvSpPr>
        <p:spPr>
          <a:xfrm>
            <a:off x="386862" y="6597748"/>
            <a:ext cx="184731" cy="461665"/>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0335531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9" name="Content Placeholder 10"/>
          <p:cNvSpPr>
            <a:spLocks noGrp="1"/>
          </p:cNvSpPr>
          <p:nvPr>
            <p:ph sz="quarter" idx="16"/>
          </p:nvPr>
        </p:nvSpPr>
        <p:spPr>
          <a:xfrm>
            <a:off x="3810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46482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Internal Rate of Return</a:t>
            </a:r>
          </a:p>
        </p:txBody>
      </p:sp>
      <p:sp>
        <p:nvSpPr>
          <p:cNvPr id="2" name="TextBox 1"/>
          <p:cNvSpPr txBox="1"/>
          <p:nvPr userDrawn="1"/>
        </p:nvSpPr>
        <p:spPr>
          <a:xfrm>
            <a:off x="2061030" y="537029"/>
            <a:ext cx="184731" cy="300082"/>
          </a:xfrm>
          <a:prstGeom prst="rect">
            <a:avLst/>
          </a:prstGeom>
          <a:noFill/>
        </p:spPr>
        <p:txBody>
          <a:bodyPr wrap="none" rtlCol="0">
            <a:spAutoFit/>
          </a:bodyPr>
          <a:lstStyle/>
          <a:p>
            <a:endParaRPr lang="en-US" sz="1350" dirty="0"/>
          </a:p>
        </p:txBody>
      </p:sp>
    </p:spTree>
    <p:extLst>
      <p:ext uri="{BB962C8B-B14F-4D97-AF65-F5344CB8AC3E}">
        <p14:creationId xmlns:p14="http://schemas.microsoft.com/office/powerpoint/2010/main" val="2035048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45198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398043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654013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84048" y="805002"/>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814835"/>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195227"/>
            <a:ext cx="4041648"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195227"/>
            <a:ext cx="4041648"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Internal Rate of Return</a:t>
            </a:r>
          </a:p>
        </p:txBody>
      </p:sp>
      <p:sp>
        <p:nvSpPr>
          <p:cNvPr id="15" name="Rectangle 14"/>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2"/>
          <p:cNvSpPr>
            <a:spLocks noGrp="1" noChangeArrowheads="1"/>
          </p:cNvSpPr>
          <p:nvPr>
            <p:ph type="title"/>
          </p:nvPr>
        </p:nvSpPr>
        <p:spPr bwMode="gray">
          <a:xfrm>
            <a:off x="384048" y="3"/>
            <a:ext cx="84582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Tree>
    <p:extLst>
      <p:ext uri="{BB962C8B-B14F-4D97-AF65-F5344CB8AC3E}">
        <p14:creationId xmlns:p14="http://schemas.microsoft.com/office/powerpoint/2010/main" val="1026992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858536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693230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4"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p:cNvSpPr/>
          <p:nvPr userDrawn="1"/>
        </p:nvSpPr>
        <p:spPr bwMode="auto">
          <a:xfrm rot="10800000">
            <a:off x="4070503" y="3778177"/>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76377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262762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40370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Internal Rate of Return</a:t>
            </a:r>
            <a:endParaRPr lang="en-US" dirty="0"/>
          </a:p>
        </p:txBody>
      </p:sp>
    </p:spTree>
    <p:extLst>
      <p:ext uri="{BB962C8B-B14F-4D97-AF65-F5344CB8AC3E}">
        <p14:creationId xmlns:p14="http://schemas.microsoft.com/office/powerpoint/2010/main" val="4190920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463644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20783651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6"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6"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6"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1"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4"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0"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2"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1"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39"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6"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290637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2249452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6" name="Line 115"/>
          <p:cNvSpPr>
            <a:spLocks noChangeShapeType="1"/>
          </p:cNvSpPr>
          <p:nvPr userDrawn="1"/>
        </p:nvSpPr>
        <p:spPr bwMode="gray">
          <a:xfrm>
            <a:off x="22860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7" name="Line 118"/>
          <p:cNvSpPr>
            <a:spLocks noChangeShapeType="1"/>
          </p:cNvSpPr>
          <p:nvPr/>
        </p:nvSpPr>
        <p:spPr bwMode="gray">
          <a:xfrm>
            <a:off x="6753225"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grpSp>
        <p:nvGrpSpPr>
          <p:cNvPr id="18" name="Group 123"/>
          <p:cNvGrpSpPr>
            <a:grpSpLocks/>
          </p:cNvGrpSpPr>
          <p:nvPr userDrawn="1"/>
        </p:nvGrpSpPr>
        <p:grpSpPr bwMode="auto">
          <a:xfrm>
            <a:off x="458789"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66" name="Line 125"/>
          <p:cNvSpPr>
            <a:spLocks noChangeShapeType="1"/>
          </p:cNvSpPr>
          <p:nvPr userDrawn="1"/>
        </p:nvSpPr>
        <p:spPr bwMode="gray">
          <a:xfrm>
            <a:off x="3429000" y="3651252"/>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1">
              <a:solidFill>
                <a:srgbClr val="4D4D4D"/>
              </a:solidFill>
              <a:latin typeface="Arial" charset="0"/>
            </a:endParaRPr>
          </a:p>
        </p:txBody>
      </p:sp>
      <p:grpSp>
        <p:nvGrpSpPr>
          <p:cNvPr id="72" name="Group 123"/>
          <p:cNvGrpSpPr>
            <a:grpSpLocks/>
          </p:cNvGrpSpPr>
          <p:nvPr userDrawn="1"/>
        </p:nvGrpSpPr>
        <p:grpSpPr bwMode="auto">
          <a:xfrm>
            <a:off x="611189" y="3460752"/>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3565397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1"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1"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1"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1"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1"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1"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1"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1"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7"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7"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21344887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9959095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7961212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6"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2" name="Freeform 4"/>
          <p:cNvSpPr>
            <a:spLocks/>
          </p:cNvSpPr>
          <p:nvPr userDrawn="1"/>
        </p:nvSpPr>
        <p:spPr bwMode="auto">
          <a:xfrm>
            <a:off x="2552701" y="1911352"/>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3" name="Freeform 4"/>
          <p:cNvSpPr>
            <a:spLocks/>
          </p:cNvSpPr>
          <p:nvPr userDrawn="1"/>
        </p:nvSpPr>
        <p:spPr bwMode="auto">
          <a:xfrm>
            <a:off x="4648201"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4" name="Freeform 4"/>
          <p:cNvSpPr>
            <a:spLocks/>
          </p:cNvSpPr>
          <p:nvPr userDrawn="1"/>
        </p:nvSpPr>
        <p:spPr bwMode="auto">
          <a:xfrm>
            <a:off x="6770689"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7968774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79"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88171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8686880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a:latin typeface="Arial"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8697736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3437579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1951520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2680868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6030839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p:cNvSpPr>
            <a:spLocks noChangeArrowheads="1"/>
          </p:cNvSpPr>
          <p:nvPr userDrawn="1"/>
        </p:nvSpPr>
        <p:spPr bwMode="auto">
          <a:xfrm rot="5400000">
            <a:off x="75406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p:cNvSpPr>
            <a:spLocks noChangeArrowheads="1"/>
          </p:cNvSpPr>
          <p:nvPr userDrawn="1"/>
        </p:nvSpPr>
        <p:spPr bwMode="auto">
          <a:xfrm rot="5400000">
            <a:off x="2266951"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p:cNvSpPr>
            <a:spLocks noChangeArrowheads="1"/>
          </p:cNvSpPr>
          <p:nvPr userDrawn="1"/>
        </p:nvSpPr>
        <p:spPr bwMode="auto">
          <a:xfrm rot="5400000">
            <a:off x="3781426"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4833462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4741895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5558739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4427315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39" y="1981202"/>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17" name="Freeform 13"/>
          <p:cNvSpPr>
            <a:spLocks/>
          </p:cNvSpPr>
          <p:nvPr userDrawn="1"/>
        </p:nvSpPr>
        <p:spPr bwMode="auto">
          <a:xfrm>
            <a:off x="457201" y="1982790"/>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1" name="Freeform 14"/>
          <p:cNvSpPr>
            <a:spLocks/>
          </p:cNvSpPr>
          <p:nvPr userDrawn="1"/>
        </p:nvSpPr>
        <p:spPr bwMode="auto">
          <a:xfrm>
            <a:off x="5684839" y="1981202"/>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8" name="Text Placeholder 12"/>
          <p:cNvSpPr>
            <a:spLocks noGrp="1"/>
          </p:cNvSpPr>
          <p:nvPr>
            <p:ph type="body" sz="quarter" idx="16"/>
          </p:nvPr>
        </p:nvSpPr>
        <p:spPr bwMode="gray">
          <a:xfrm>
            <a:off x="5680886"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6"/>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3"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1"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6191276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39"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9228971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5"/>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3156959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8"/>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6" y="3590927"/>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5"/>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6"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7"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3"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4284849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8" name="Parallelogram 7"/>
          <p:cNvSpPr/>
          <p:nvPr userDrawn="1"/>
        </p:nvSpPr>
        <p:spPr bwMode="auto">
          <a:xfrm>
            <a:off x="712789" y="5300665"/>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4" name="Parallelogram 13"/>
          <p:cNvSpPr/>
          <p:nvPr userDrawn="1"/>
        </p:nvSpPr>
        <p:spPr bwMode="auto">
          <a:xfrm>
            <a:off x="712789" y="4129090"/>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4"/>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7"/>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6"/>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7801762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5"/>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0"/>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4"/>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543707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4"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0"/>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sp>
        <p:nvSpPr>
          <p:cNvPr id="61" name="Rectangle 31"/>
          <p:cNvSpPr>
            <a:spLocks noChangeArrowheads="1"/>
          </p:cNvSpPr>
          <p:nvPr userDrawn="1"/>
        </p:nvSpPr>
        <p:spPr bwMode="auto">
          <a:xfrm>
            <a:off x="468314"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1"/>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89"/>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3744682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2"/>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4" y="1566865"/>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512764"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1" y="1468440"/>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a:p>
        </p:txBody>
      </p:sp>
      <p:cxnSp>
        <p:nvCxnSpPr>
          <p:cNvPr id="100" name="Straight Connector 42"/>
          <p:cNvCxnSpPr>
            <a:cxnSpLocks noChangeShapeType="1"/>
          </p:cNvCxnSpPr>
          <p:nvPr userDrawn="1"/>
        </p:nvCxnSpPr>
        <p:spPr bwMode="auto">
          <a:xfrm>
            <a:off x="1546226"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4"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6"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4"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0"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0"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0"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0"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0"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0"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0"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0"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0"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2880491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89"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7"/>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6"/>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9521660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1"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1"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1"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3"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3"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3"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3"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1"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4826072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0"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2282031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2"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35007413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58517724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3" name="TextBox 13"/>
          <p:cNvSpPr txBox="1">
            <a:spLocks noChangeArrowheads="1"/>
          </p:cNvSpPr>
          <p:nvPr userDrawn="1"/>
        </p:nvSpPr>
        <p:spPr bwMode="auto">
          <a:xfrm>
            <a:off x="2066925"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5505450"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5936202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7"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5"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2"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6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7" y="1589235"/>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4"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4"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8"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6"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2"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2"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7"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5"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6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7"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4"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4"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6"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2"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2" y="3962402"/>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1492277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PARTNERS</a:t>
            </a:r>
          </a:p>
        </p:txBody>
      </p:sp>
      <p:sp>
        <p:nvSpPr>
          <p:cNvPr id="11" name="Line 22"/>
          <p:cNvSpPr>
            <a:spLocks noChangeShapeType="1"/>
          </p:cNvSpPr>
          <p:nvPr/>
        </p:nvSpPr>
        <p:spPr bwMode="auto">
          <a:xfrm>
            <a:off x="438151"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ASSOCIATES</a:t>
            </a:r>
          </a:p>
        </p:txBody>
      </p:sp>
      <p:sp>
        <p:nvSpPr>
          <p:cNvPr id="13" name="Line 24"/>
          <p:cNvSpPr>
            <a:spLocks noChangeShapeType="1"/>
          </p:cNvSpPr>
          <p:nvPr/>
        </p:nvSpPr>
        <p:spPr bwMode="auto">
          <a:xfrm>
            <a:off x="438151"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Internal Rate of Return</a:t>
            </a:r>
          </a:p>
        </p:txBody>
      </p:sp>
    </p:spTree>
    <p:extLst>
      <p:ext uri="{BB962C8B-B14F-4D97-AF65-F5344CB8AC3E}">
        <p14:creationId xmlns:p14="http://schemas.microsoft.com/office/powerpoint/2010/main" val="184862253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2199825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3681854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4032803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9909340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Internal Rate of Return</a:t>
            </a:r>
          </a:p>
        </p:txBody>
      </p:sp>
    </p:spTree>
    <p:extLst>
      <p:ext uri="{BB962C8B-B14F-4D97-AF65-F5344CB8AC3E}">
        <p14:creationId xmlns:p14="http://schemas.microsoft.com/office/powerpoint/2010/main" val="18709697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Internal Rate of Return</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88891352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Internal Rate of Return</a:t>
            </a:r>
          </a:p>
        </p:txBody>
      </p:sp>
      <p:sp>
        <p:nvSpPr>
          <p:cNvPr id="6" name="Rectangle 6"/>
          <p:cNvSpPr>
            <a:spLocks noGrp="1" noChangeArrowheads="1"/>
          </p:cNvSpPr>
          <p:nvPr>
            <p:ph type="sldNum" sz="quarter" idx="11"/>
          </p:nvPr>
        </p:nvSpPr>
        <p:spPr>
          <a:ln/>
        </p:spPr>
        <p:txBody>
          <a:bodyPr/>
          <a:lstStyle>
            <a:lvl1pPr>
              <a:defRPr/>
            </a:lvl1pPr>
          </a:lstStyle>
          <a:p>
            <a:fld id="{11BEE2D7-1F05-0540-AD0D-C8F6AEBAE5C7}" type="slidenum">
              <a:rPr lang="en-US"/>
              <a:pPr/>
              <a:t>‹#›</a:t>
            </a:fld>
            <a:endParaRPr lang="en-US"/>
          </a:p>
        </p:txBody>
      </p:sp>
    </p:spTree>
    <p:extLst>
      <p:ext uri="{BB962C8B-B14F-4D97-AF65-F5344CB8AC3E}">
        <p14:creationId xmlns:p14="http://schemas.microsoft.com/office/powerpoint/2010/main" val="114768343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Chart Placeholder 2"/>
          <p:cNvSpPr>
            <a:spLocks noGrp="1"/>
          </p:cNvSpPr>
          <p:nvPr>
            <p:ph type="chart" idx="1"/>
          </p:nvPr>
        </p:nvSpPr>
        <p:spPr>
          <a:xfrm>
            <a:off x="457200" y="1371600"/>
            <a:ext cx="8229600" cy="4754563"/>
          </a:xfrm>
          <a:prstGeom prst="rect">
            <a:avLst/>
          </a:prstGeom>
        </p:spPr>
        <p:txBody>
          <a:bodyPr/>
          <a:lstStyle/>
          <a:p>
            <a:pPr lvl="0"/>
            <a:endParaRPr lang="en-US" noProof="0"/>
          </a:p>
        </p:txBody>
      </p:sp>
      <p:sp>
        <p:nvSpPr>
          <p:cNvPr id="4" name="Rectangle 4"/>
          <p:cNvSpPr>
            <a:spLocks noGrp="1" noChangeArrowheads="1"/>
          </p:cNvSpPr>
          <p:nvPr>
            <p:ph type="ftr" sz="quarter" idx="10"/>
          </p:nvPr>
        </p:nvSpPr>
        <p:spPr>
          <a:ln/>
        </p:spPr>
        <p:txBody>
          <a:bodyPr/>
          <a:lstStyle>
            <a:lvl1pPr>
              <a:defRPr/>
            </a:lvl1pPr>
          </a:lstStyle>
          <a:p>
            <a:pPr>
              <a:defRPr/>
            </a:pPr>
            <a:r>
              <a:rPr lang="en-US"/>
              <a:t>Internal Rate of Return</a:t>
            </a:r>
          </a:p>
        </p:txBody>
      </p:sp>
      <p:sp>
        <p:nvSpPr>
          <p:cNvPr id="5" name="Rectangle 5"/>
          <p:cNvSpPr>
            <a:spLocks noGrp="1" noChangeArrowheads="1"/>
          </p:cNvSpPr>
          <p:nvPr>
            <p:ph type="sldNum" sz="quarter" idx="11"/>
          </p:nvPr>
        </p:nvSpPr>
        <p:spPr>
          <a:ln/>
        </p:spPr>
        <p:txBody>
          <a:bodyPr/>
          <a:lstStyle>
            <a:lvl1pPr>
              <a:defRPr/>
            </a:lvl1pPr>
          </a:lstStyle>
          <a:p>
            <a:pPr>
              <a:defRPr/>
            </a:pPr>
            <a:fld id="{0FD6A752-9F99-C94F-BA5D-BEAF4B29107F}" type="slidenum">
              <a:rPr lang="en-US"/>
              <a:pPr>
                <a:defRPr/>
              </a:pPr>
              <a:t>‹#›</a:t>
            </a:fld>
            <a:endParaRPr lang="en-US"/>
          </a:p>
        </p:txBody>
      </p:sp>
    </p:spTree>
    <p:extLst>
      <p:ext uri="{BB962C8B-B14F-4D97-AF65-F5344CB8AC3E}">
        <p14:creationId xmlns:p14="http://schemas.microsoft.com/office/powerpoint/2010/main" val="28741478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Internal Rate of Return</a:t>
            </a:r>
          </a:p>
        </p:txBody>
      </p:sp>
      <p:sp>
        <p:nvSpPr>
          <p:cNvPr id="5" name="Rectangle 5"/>
          <p:cNvSpPr>
            <a:spLocks noGrp="1" noChangeArrowheads="1"/>
          </p:cNvSpPr>
          <p:nvPr>
            <p:ph type="sldNum" sz="quarter" idx="11"/>
          </p:nvPr>
        </p:nvSpPr>
        <p:spPr>
          <a:ln/>
        </p:spPr>
        <p:txBody>
          <a:bodyPr/>
          <a:lstStyle>
            <a:lvl1pPr>
              <a:defRPr/>
            </a:lvl1pPr>
          </a:lstStyle>
          <a:p>
            <a:pPr>
              <a:defRPr/>
            </a:pPr>
            <a:fld id="{4B4184F8-8134-E84D-9531-3C361F8585F4}" type="slidenum">
              <a:rPr lang="en-US"/>
              <a:pPr>
                <a:defRPr/>
              </a:pPr>
              <a:t>‹#›</a:t>
            </a:fld>
            <a:endParaRPr lang="en-US"/>
          </a:p>
        </p:txBody>
      </p:sp>
    </p:spTree>
    <p:extLst>
      <p:ext uri="{BB962C8B-B14F-4D97-AF65-F5344CB8AC3E}">
        <p14:creationId xmlns:p14="http://schemas.microsoft.com/office/powerpoint/2010/main" val="88961981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 name="Slide Number Placeholder 9"/>
          <p:cNvSpPr>
            <a:spLocks noGrp="1"/>
          </p:cNvSpPr>
          <p:nvPr>
            <p:ph type="sldNum" sz="quarter" idx="4"/>
          </p:nvPr>
        </p:nvSpPr>
        <p:spPr>
          <a:xfrm>
            <a:off x="8610600" y="6436635"/>
            <a:ext cx="4572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3124200" y="6442488"/>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800" b="1" smtClean="0">
                <a:solidFill>
                  <a:srgbClr val="898989"/>
                </a:solidFill>
                <a:latin typeface="+mn-lt"/>
                <a:ea typeface="+mn-ea"/>
              </a:defRPr>
            </a:lvl1pPr>
          </a:lstStyle>
          <a:p>
            <a:pPr>
              <a:defRPr/>
            </a:pPr>
            <a:r>
              <a:rPr lang="en-US" dirty="0"/>
              <a:t>Internal Rate of Return</a:t>
            </a:r>
          </a:p>
        </p:txBody>
      </p:sp>
      <p:sp>
        <p:nvSpPr>
          <p:cNvPr id="9" name="Footer Placeholder 3"/>
          <p:cNvSpPr txBox="1">
            <a:spLocks/>
          </p:cNvSpPr>
          <p:nvPr userDrawn="1"/>
        </p:nvSpPr>
        <p:spPr>
          <a:xfrm>
            <a:off x="72409" y="6423029"/>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dirty="0">
                <a:latin typeface="+mn-lt"/>
              </a:rPr>
              <a:t>CF_Ch4_CapBud_26</a:t>
            </a:r>
          </a:p>
        </p:txBody>
      </p:sp>
    </p:spTree>
    <p:extLst>
      <p:ext uri="{BB962C8B-B14F-4D97-AF65-F5344CB8AC3E}">
        <p14:creationId xmlns:p14="http://schemas.microsoft.com/office/powerpoint/2010/main" val="211500681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 id="2147483694" r:id="rId31"/>
    <p:sldLayoutId id="2147483695" r:id="rId32"/>
    <p:sldLayoutId id="2147483696" r:id="rId33"/>
    <p:sldLayoutId id="2147483697" r:id="rId34"/>
    <p:sldLayoutId id="2147483698" r:id="rId35"/>
    <p:sldLayoutId id="2147483699" r:id="rId36"/>
    <p:sldLayoutId id="2147483700" r:id="rId37"/>
    <p:sldLayoutId id="2147483701" r:id="rId38"/>
    <p:sldLayoutId id="2147483702" r:id="rId39"/>
    <p:sldLayoutId id="2147483703" r:id="rId40"/>
    <p:sldLayoutId id="2147483704" r:id="rId41"/>
    <p:sldLayoutId id="2147483705" r:id="rId42"/>
    <p:sldLayoutId id="2147483706" r:id="rId43"/>
    <p:sldLayoutId id="2147483707" r:id="rId44"/>
    <p:sldLayoutId id="2147483708" r:id="rId45"/>
    <p:sldLayoutId id="2147483709" r:id="rId46"/>
    <p:sldLayoutId id="2147483710" r:id="rId47"/>
    <p:sldLayoutId id="2147483711" r:id="rId48"/>
    <p:sldLayoutId id="2147483712" r:id="rId49"/>
    <p:sldLayoutId id="2147483713" r:id="rId50"/>
    <p:sldLayoutId id="2147483714" r:id="rId51"/>
    <p:sldLayoutId id="2147483715" r:id="rId52"/>
    <p:sldLayoutId id="2147483716" r:id="rId53"/>
    <p:sldLayoutId id="2147483717" r:id="rId54"/>
    <p:sldLayoutId id="2147483718" r:id="rId55"/>
    <p:sldLayoutId id="2147483719" r:id="rId56"/>
    <p:sldLayoutId id="2147483720" r:id="rId57"/>
    <p:sldLayoutId id="2147483721" r:id="rId58"/>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4.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 Id="rId6" Type="http://schemas.openxmlformats.org/officeDocument/2006/relationships/package" Target="../embeddings/Microsoft_Excel_Worksheet3.xlsx"/><Relationship Id="rId5" Type="http://schemas.openxmlformats.org/officeDocument/2006/relationships/image" Target="../media/image3.emf"/><Relationship Id="rId4" Type="http://schemas.openxmlformats.org/officeDocument/2006/relationships/package" Target="../embeddings/Microsoft_Excel_Worksheet2.xlsx"/></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QerPzdK1nG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6B908C-B5CB-4D61-9AAA-0E6FA8ADABD9}"/>
              </a:ext>
            </a:extLst>
          </p:cNvPr>
          <p:cNvSpPr>
            <a:spLocks noGrp="1"/>
          </p:cNvSpPr>
          <p:nvPr>
            <p:ph type="sldNum" sz="quarter" idx="10"/>
          </p:nvPr>
        </p:nvSpPr>
        <p:spPr/>
        <p:txBody>
          <a:bodyPr/>
          <a:lstStyle/>
          <a:p>
            <a:fld id="{395527EB-3756-C241-BFD3-DBB1E111190F}" type="slidenum">
              <a:rPr lang="en-US" altLang="en-US" smtClean="0"/>
              <a:pPr/>
              <a:t>1</a:t>
            </a:fld>
            <a:endParaRPr lang="en-US" altLang="en-US"/>
          </a:p>
        </p:txBody>
      </p:sp>
      <p:sp>
        <p:nvSpPr>
          <p:cNvPr id="4" name="Footer Placeholder 3">
            <a:extLst>
              <a:ext uri="{FF2B5EF4-FFF2-40B4-BE49-F238E27FC236}">
                <a16:creationId xmlns:a16="http://schemas.microsoft.com/office/drawing/2014/main" id="{5F26835F-3425-4D22-A3BF-7A8DB7F9F478}"/>
              </a:ext>
            </a:extLst>
          </p:cNvPr>
          <p:cNvSpPr>
            <a:spLocks noGrp="1"/>
          </p:cNvSpPr>
          <p:nvPr>
            <p:ph type="ftr" sz="quarter" idx="11"/>
          </p:nvPr>
        </p:nvSpPr>
        <p:spPr/>
        <p:txBody>
          <a:bodyPr/>
          <a:lstStyle/>
          <a:p>
            <a:pPr>
              <a:defRPr/>
            </a:pPr>
            <a:r>
              <a:rPr lang="en-US" dirty="0"/>
              <a:t>Internal Rate of Return</a:t>
            </a:r>
          </a:p>
        </p:txBody>
      </p:sp>
      <p:sp>
        <p:nvSpPr>
          <p:cNvPr id="6" name="Rectangle 5">
            <a:extLst>
              <a:ext uri="{FF2B5EF4-FFF2-40B4-BE49-F238E27FC236}">
                <a16:creationId xmlns:a16="http://schemas.microsoft.com/office/drawing/2014/main" id="{E9ED9786-58D6-4467-A340-9C08B3251F1F}"/>
              </a:ext>
            </a:extLst>
          </p:cNvPr>
          <p:cNvSpPr/>
          <p:nvPr/>
        </p:nvSpPr>
        <p:spPr>
          <a:xfrm>
            <a:off x="641839" y="2111043"/>
            <a:ext cx="8088922" cy="2585323"/>
          </a:xfrm>
          <a:prstGeom prst="rect">
            <a:avLst/>
          </a:prstGeom>
        </p:spPr>
        <p:txBody>
          <a:bodyPr wrap="square">
            <a:spAutoFit/>
          </a:bodyPr>
          <a:lstStyle/>
          <a:p>
            <a:pPr algn="ctr"/>
            <a:r>
              <a:rPr lang="en-US" sz="3600" b="1" dirty="0"/>
              <a:t>Corporate Finance</a:t>
            </a:r>
          </a:p>
          <a:p>
            <a:pPr algn="ctr"/>
            <a:r>
              <a:rPr lang="en-US" sz="2700" b="1" dirty="0"/>
              <a:t>Capital Budgeting Rules:  NPV and IRR</a:t>
            </a:r>
          </a:p>
          <a:p>
            <a:pPr algn="ctr"/>
            <a:endParaRPr lang="en-US" sz="2700" b="1" dirty="0"/>
          </a:p>
          <a:p>
            <a:pPr algn="ctr"/>
            <a:endParaRPr lang="en-US" sz="1800" b="1" dirty="0"/>
          </a:p>
          <a:p>
            <a:pPr algn="ctr"/>
            <a:endParaRPr lang="en-US" sz="1800" b="1" dirty="0"/>
          </a:p>
          <a:p>
            <a:pPr algn="ctr">
              <a:buNone/>
            </a:pPr>
            <a:r>
              <a:rPr lang="en-US" sz="1800" b="1" dirty="0"/>
              <a:t>Fall 2026</a:t>
            </a:r>
          </a:p>
          <a:p>
            <a:pPr algn="ctr"/>
            <a:r>
              <a:rPr lang="en-US" sz="1800" b="1" dirty="0"/>
              <a:t>Prof. Jeffrey Colón</a:t>
            </a:r>
            <a:endParaRPr lang="en-US" sz="1800" dirty="0"/>
          </a:p>
        </p:txBody>
      </p:sp>
    </p:spTree>
    <p:extLst>
      <p:ext uri="{BB962C8B-B14F-4D97-AF65-F5344CB8AC3E}">
        <p14:creationId xmlns:p14="http://schemas.microsoft.com/office/powerpoint/2010/main" val="3622871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3"/>
          <p:cNvSpPr>
            <a:spLocks noGrp="1" noChangeArrowheads="1"/>
          </p:cNvSpPr>
          <p:nvPr>
            <p:ph idx="1"/>
          </p:nvPr>
        </p:nvSpPr>
        <p:spPr/>
        <p:txBody>
          <a:bodyPr/>
          <a:lstStyle/>
          <a:p>
            <a:pPr marL="457200" indent="-457200" eaLnBrk="1" hangingPunct="1">
              <a:buFontTx/>
              <a:buNone/>
              <a:defRPr/>
            </a:pPr>
            <a:r>
              <a:rPr lang="en-US" sz="2400">
                <a:cs typeface="Times New Roman" charset="0"/>
              </a:rPr>
              <a:t> </a:t>
            </a:r>
          </a:p>
        </p:txBody>
      </p:sp>
      <p:sp>
        <p:nvSpPr>
          <p:cNvPr id="167938" name="Rectangle 2"/>
          <p:cNvSpPr>
            <a:spLocks noGrp="1" noChangeArrowheads="1"/>
          </p:cNvSpPr>
          <p:nvPr>
            <p:ph type="title"/>
          </p:nvPr>
        </p:nvSpPr>
        <p:spPr/>
        <p:txBody>
          <a:bodyPr/>
          <a:lstStyle/>
          <a:p>
            <a:pPr eaLnBrk="1" hangingPunct="1">
              <a:defRPr/>
            </a:pPr>
            <a:r>
              <a:rPr lang="en-US" b="1">
                <a:cs typeface="+mj-cs"/>
              </a:rPr>
              <a:t>Capital Markets and the Separation of Investment and Consumption Decisions</a:t>
            </a:r>
          </a:p>
        </p:txBody>
      </p:sp>
      <p:sp>
        <p:nvSpPr>
          <p:cNvPr id="17" name="Slide Number Placeholder 4"/>
          <p:cNvSpPr>
            <a:spLocks noGrp="1"/>
          </p:cNvSpPr>
          <p:nvPr>
            <p:ph type="sldNum" sz="quarter" idx="10"/>
          </p:nvPr>
        </p:nvSpPr>
        <p:spPr/>
        <p:txBody>
          <a:bodyPr/>
          <a:lstStyle/>
          <a:p>
            <a:pPr>
              <a:defRPr/>
            </a:pPr>
            <a:fld id="{F962F749-E439-544C-BB28-1F9367C89660}" type="slidenum">
              <a:rPr lang="en-US"/>
              <a:pPr>
                <a:defRPr/>
              </a:pPr>
              <a:t>2</a:t>
            </a:fld>
            <a:endParaRPr lang="en-US"/>
          </a:p>
        </p:txBody>
      </p:sp>
      <p:sp>
        <p:nvSpPr>
          <p:cNvPr id="16" name="Footer Placeholder 3"/>
          <p:cNvSpPr>
            <a:spLocks noGrp="1"/>
          </p:cNvSpPr>
          <p:nvPr>
            <p:ph type="ftr" sz="quarter" idx="11"/>
          </p:nvPr>
        </p:nvSpPr>
        <p:spPr/>
        <p:txBody>
          <a:bodyPr/>
          <a:lstStyle/>
          <a:p>
            <a:pPr>
              <a:defRPr/>
            </a:pPr>
            <a:r>
              <a:rPr lang="en-US"/>
              <a:t>Internal Rate of Return</a:t>
            </a:r>
          </a:p>
        </p:txBody>
      </p:sp>
      <p:sp>
        <p:nvSpPr>
          <p:cNvPr id="167940" name="Line 4"/>
          <p:cNvSpPr>
            <a:spLocks noChangeShapeType="1"/>
          </p:cNvSpPr>
          <p:nvPr/>
        </p:nvSpPr>
        <p:spPr bwMode="auto">
          <a:xfrm>
            <a:off x="1371600" y="1524000"/>
            <a:ext cx="0" cy="411480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
        <p:nvSpPr>
          <p:cNvPr id="167941" name="Text Box 5"/>
          <p:cNvSpPr txBox="1">
            <a:spLocks noChangeArrowheads="1"/>
          </p:cNvSpPr>
          <p:nvPr/>
        </p:nvSpPr>
        <p:spPr bwMode="auto">
          <a:xfrm>
            <a:off x="2667000" y="5715000"/>
            <a:ext cx="24384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defRPr/>
            </a:pPr>
            <a:r>
              <a:rPr lang="en-US" sz="2000">
                <a:latin typeface="Times New Roman" charset="0"/>
                <a:cs typeface="+mn-cs"/>
              </a:rPr>
              <a:t>          100        114.29 </a:t>
            </a:r>
            <a:endParaRPr lang="en-US">
              <a:latin typeface="Times New Roman" charset="0"/>
              <a:cs typeface="+mn-cs"/>
            </a:endParaRPr>
          </a:p>
        </p:txBody>
      </p:sp>
      <p:sp>
        <p:nvSpPr>
          <p:cNvPr id="167942" name="Text Box 6"/>
          <p:cNvSpPr txBox="1">
            <a:spLocks noChangeArrowheads="1"/>
          </p:cNvSpPr>
          <p:nvPr/>
        </p:nvSpPr>
        <p:spPr bwMode="auto">
          <a:xfrm>
            <a:off x="5410200" y="5622925"/>
            <a:ext cx="15240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defRPr/>
            </a:pPr>
            <a:r>
              <a:rPr lang="en-US" sz="2000" b="1">
                <a:latin typeface="Times New Roman" charset="0"/>
                <a:cs typeface="+mn-cs"/>
              </a:rPr>
              <a:t>Dollars T</a:t>
            </a:r>
            <a:r>
              <a:rPr lang="en-US" sz="2000" b="1" baseline="-25000">
                <a:latin typeface="Times New Roman" charset="0"/>
                <a:cs typeface="+mn-cs"/>
              </a:rPr>
              <a:t>0</a:t>
            </a:r>
            <a:endParaRPr lang="en-US" b="1">
              <a:latin typeface="Times New Roman" charset="0"/>
              <a:cs typeface="+mn-cs"/>
            </a:endParaRPr>
          </a:p>
        </p:txBody>
      </p:sp>
      <p:sp>
        <p:nvSpPr>
          <p:cNvPr id="167943" name="Text Box 7"/>
          <p:cNvSpPr txBox="1">
            <a:spLocks noChangeArrowheads="1"/>
          </p:cNvSpPr>
          <p:nvPr/>
        </p:nvSpPr>
        <p:spPr bwMode="auto">
          <a:xfrm>
            <a:off x="152400" y="1447800"/>
            <a:ext cx="1828800" cy="2225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defRPr/>
            </a:pPr>
            <a:r>
              <a:rPr lang="en-US" sz="2000" b="1" dirty="0">
                <a:latin typeface="Times New Roman" charset="0"/>
                <a:cs typeface="+mn-cs"/>
              </a:rPr>
              <a:t>Dollars T</a:t>
            </a:r>
            <a:r>
              <a:rPr lang="en-US" sz="2000" b="1" baseline="-25000" dirty="0">
                <a:latin typeface="Times New Roman" charset="0"/>
                <a:cs typeface="+mn-cs"/>
              </a:rPr>
              <a:t>1</a:t>
            </a:r>
            <a:endParaRPr lang="en-US" sz="2000" dirty="0">
              <a:latin typeface="Times New Roman" charset="0"/>
              <a:cs typeface="+mn-cs"/>
            </a:endParaRPr>
          </a:p>
          <a:p>
            <a:pPr eaLnBrk="0" hangingPunct="0">
              <a:spcBef>
                <a:spcPct val="50000"/>
              </a:spcBef>
              <a:defRPr/>
            </a:pPr>
            <a:endParaRPr lang="en-US" sz="2000" dirty="0">
              <a:latin typeface="Times New Roman" charset="0"/>
              <a:cs typeface="+mn-cs"/>
            </a:endParaRPr>
          </a:p>
          <a:p>
            <a:pPr eaLnBrk="0" hangingPunct="0">
              <a:spcBef>
                <a:spcPct val="50000"/>
              </a:spcBef>
              <a:defRPr/>
            </a:pPr>
            <a:r>
              <a:rPr lang="en-US" sz="2000" dirty="0">
                <a:latin typeface="Times New Roman" charset="0"/>
                <a:cs typeface="+mn-cs"/>
              </a:rPr>
              <a:t>         120</a:t>
            </a:r>
          </a:p>
          <a:p>
            <a:pPr eaLnBrk="0" hangingPunct="0">
              <a:spcBef>
                <a:spcPct val="50000"/>
              </a:spcBef>
              <a:defRPr/>
            </a:pPr>
            <a:endParaRPr lang="en-US" sz="2000" dirty="0">
              <a:latin typeface="Times New Roman" charset="0"/>
              <a:cs typeface="+mn-cs"/>
            </a:endParaRPr>
          </a:p>
          <a:p>
            <a:pPr eaLnBrk="0" hangingPunct="0">
              <a:spcBef>
                <a:spcPct val="50000"/>
              </a:spcBef>
              <a:defRPr/>
            </a:pPr>
            <a:r>
              <a:rPr lang="en-US" sz="2000" dirty="0">
                <a:latin typeface="Times New Roman" charset="0"/>
                <a:cs typeface="+mn-cs"/>
              </a:rPr>
              <a:t>         105</a:t>
            </a:r>
          </a:p>
        </p:txBody>
      </p:sp>
      <p:sp>
        <p:nvSpPr>
          <p:cNvPr id="167944" name="Line 8"/>
          <p:cNvSpPr>
            <a:spLocks noChangeShapeType="1"/>
          </p:cNvSpPr>
          <p:nvPr/>
        </p:nvSpPr>
        <p:spPr bwMode="auto">
          <a:xfrm>
            <a:off x="1371600" y="3429000"/>
            <a:ext cx="2209800" cy="2209800"/>
          </a:xfrm>
          <a:prstGeom prst="line">
            <a:avLst/>
          </a:prstGeom>
          <a:noFill/>
          <a:ln w="38100">
            <a:solidFill>
              <a:schemeClr val="tx1"/>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
        <p:nvSpPr>
          <p:cNvPr id="167945" name="Line 9"/>
          <p:cNvSpPr>
            <a:spLocks noChangeShapeType="1"/>
          </p:cNvSpPr>
          <p:nvPr/>
        </p:nvSpPr>
        <p:spPr bwMode="auto">
          <a:xfrm>
            <a:off x="1371600" y="2667000"/>
            <a:ext cx="2971800" cy="2971800"/>
          </a:xfrm>
          <a:prstGeom prst="line">
            <a:avLst/>
          </a:prstGeom>
          <a:noFill/>
          <a:ln w="38100">
            <a:solidFill>
              <a:schemeClr val="tx1"/>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
        <p:nvSpPr>
          <p:cNvPr id="167946" name="Line 10"/>
          <p:cNvSpPr>
            <a:spLocks noChangeShapeType="1"/>
          </p:cNvSpPr>
          <p:nvPr/>
        </p:nvSpPr>
        <p:spPr bwMode="auto">
          <a:xfrm flipH="1" flipV="1">
            <a:off x="1447800" y="2819400"/>
            <a:ext cx="2133600" cy="2819400"/>
          </a:xfrm>
          <a:prstGeom prst="line">
            <a:avLst/>
          </a:prstGeom>
          <a:noFill/>
          <a:ln w="19050">
            <a:solidFill>
              <a:srgbClr val="FF33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
        <p:nvSpPr>
          <p:cNvPr id="167947" name="Text Box 11"/>
          <p:cNvSpPr txBox="1">
            <a:spLocks noChangeArrowheads="1"/>
          </p:cNvSpPr>
          <p:nvPr/>
        </p:nvSpPr>
        <p:spPr bwMode="auto">
          <a:xfrm>
            <a:off x="2133600" y="1524000"/>
            <a:ext cx="2590800" cy="1016000"/>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defRPr/>
            </a:pPr>
            <a:r>
              <a:rPr lang="en-US" sz="2000">
                <a:latin typeface="Times New Roman" charset="0"/>
                <a:cs typeface="+mn-cs"/>
              </a:rPr>
              <a:t>Invest $100 now and consume $120 next year.</a:t>
            </a:r>
            <a:endParaRPr lang="en-US">
              <a:latin typeface="Times New Roman" charset="0"/>
              <a:cs typeface="+mn-cs"/>
            </a:endParaRPr>
          </a:p>
        </p:txBody>
      </p:sp>
      <p:sp>
        <p:nvSpPr>
          <p:cNvPr id="167948" name="Text Box 12"/>
          <p:cNvSpPr txBox="1">
            <a:spLocks noChangeArrowheads="1"/>
          </p:cNvSpPr>
          <p:nvPr/>
        </p:nvSpPr>
        <p:spPr bwMode="auto">
          <a:xfrm>
            <a:off x="5181600" y="4114800"/>
            <a:ext cx="2590800" cy="1016000"/>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defRPr/>
            </a:pPr>
            <a:r>
              <a:rPr lang="en-US" sz="2000">
                <a:latin typeface="Times New Roman" charset="0"/>
                <a:cs typeface="+mn-cs"/>
              </a:rPr>
              <a:t>Invest $100 now, borrow $114.29 and consume now.</a:t>
            </a:r>
            <a:endParaRPr lang="en-US">
              <a:latin typeface="Times New Roman" charset="0"/>
              <a:cs typeface="+mn-cs"/>
            </a:endParaRPr>
          </a:p>
        </p:txBody>
      </p:sp>
      <p:sp>
        <p:nvSpPr>
          <p:cNvPr id="167949" name="Line 13"/>
          <p:cNvSpPr>
            <a:spLocks noChangeShapeType="1"/>
          </p:cNvSpPr>
          <p:nvPr/>
        </p:nvSpPr>
        <p:spPr bwMode="auto">
          <a:xfrm flipH="1">
            <a:off x="4343400" y="4724400"/>
            <a:ext cx="838200" cy="838200"/>
          </a:xfrm>
          <a:prstGeom prst="line">
            <a:avLst/>
          </a:prstGeom>
          <a:noFill/>
          <a:ln w="762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
        <p:nvSpPr>
          <p:cNvPr id="167950" name="Line 14"/>
          <p:cNvSpPr>
            <a:spLocks noChangeShapeType="1"/>
          </p:cNvSpPr>
          <p:nvPr/>
        </p:nvSpPr>
        <p:spPr bwMode="auto">
          <a:xfrm flipH="1">
            <a:off x="1447800" y="1905000"/>
            <a:ext cx="609600" cy="685800"/>
          </a:xfrm>
          <a:prstGeom prst="line">
            <a:avLst/>
          </a:prstGeom>
          <a:noFill/>
          <a:ln w="762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
        <p:nvSpPr>
          <p:cNvPr id="167951" name="Line 15"/>
          <p:cNvSpPr>
            <a:spLocks noChangeShapeType="1"/>
          </p:cNvSpPr>
          <p:nvPr/>
        </p:nvSpPr>
        <p:spPr bwMode="auto">
          <a:xfrm>
            <a:off x="1371600" y="5638800"/>
            <a:ext cx="5257800" cy="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Calibri"/>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300156" presetClass="entr" presetSubtype="810249212" fill="hold" grpId="0" nodeType="clickEffect">
                                  <p:stCondLst>
                                    <p:cond delay="0"/>
                                  </p:stCondLst>
                                  <p:childTnLst>
                                    <p:set>
                                      <p:cBhvr>
                                        <p:cTn id="6" dur="1" fill="hold">
                                          <p:stCondLst>
                                            <p:cond delay="499"/>
                                          </p:stCondLst>
                                        </p:cTn>
                                        <p:tgtEl>
                                          <p:spTgt spid="16793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p:cNvGraphicFramePr>
            <a:graphicFrameLocks noGrp="1" noChangeAspect="1"/>
          </p:cNvGraphicFramePr>
          <p:nvPr>
            <p:ph idx="1"/>
            <p:extLst>
              <p:ext uri="{D42A27DB-BD31-4B8C-83A1-F6EECF244321}">
                <p14:modId xmlns:p14="http://schemas.microsoft.com/office/powerpoint/2010/main" val="3309371530"/>
              </p:ext>
            </p:extLst>
          </p:nvPr>
        </p:nvGraphicFramePr>
        <p:xfrm>
          <a:off x="384175" y="533400"/>
          <a:ext cx="8458200" cy="5811838"/>
        </p:xfrm>
        <a:graphic>
          <a:graphicData uri="http://schemas.openxmlformats.org/drawingml/2006/chart">
            <c:chart xmlns:c="http://schemas.openxmlformats.org/drawingml/2006/chart" xmlns:r="http://schemas.openxmlformats.org/officeDocument/2006/relationships" r:id="rId3"/>
          </a:graphicData>
        </a:graphic>
      </p:graphicFrame>
      <p:sp>
        <p:nvSpPr>
          <p:cNvPr id="155650" name="Rectangle 2"/>
          <p:cNvSpPr>
            <a:spLocks noGrp="1" noChangeArrowheads="1"/>
          </p:cNvSpPr>
          <p:nvPr>
            <p:ph type="title"/>
          </p:nvPr>
        </p:nvSpPr>
        <p:spPr/>
        <p:txBody>
          <a:bodyPr/>
          <a:lstStyle/>
          <a:p>
            <a:pPr eaLnBrk="1" hangingPunct="1">
              <a:defRPr/>
            </a:pPr>
            <a:r>
              <a:rPr lang="en-US" b="1">
                <a:cs typeface="+mj-cs"/>
              </a:rPr>
              <a:t>Capital Budgeting Tools</a:t>
            </a:r>
          </a:p>
        </p:txBody>
      </p:sp>
      <p:sp>
        <p:nvSpPr>
          <p:cNvPr id="6" name="Slide Number Placeholder 4"/>
          <p:cNvSpPr>
            <a:spLocks noGrp="1"/>
          </p:cNvSpPr>
          <p:nvPr>
            <p:ph type="sldNum" sz="quarter" idx="10"/>
          </p:nvPr>
        </p:nvSpPr>
        <p:spPr/>
        <p:txBody>
          <a:bodyPr/>
          <a:lstStyle/>
          <a:p>
            <a:pPr>
              <a:defRPr/>
            </a:pPr>
            <a:fld id="{B8D39C66-675F-0C49-A842-2E05DF6DD09F}" type="slidenum">
              <a:rPr lang="en-US"/>
              <a:pPr>
                <a:defRPr/>
              </a:pPr>
              <a:t>3</a:t>
            </a:fld>
            <a:endParaRPr lang="en-US"/>
          </a:p>
        </p:txBody>
      </p:sp>
      <p:sp>
        <p:nvSpPr>
          <p:cNvPr id="5" name="Footer Placeholder 3"/>
          <p:cNvSpPr>
            <a:spLocks noGrp="1"/>
          </p:cNvSpPr>
          <p:nvPr>
            <p:ph type="ftr" sz="quarter" idx="11"/>
          </p:nvPr>
        </p:nvSpPr>
        <p:spPr/>
        <p:txBody>
          <a:bodyPr/>
          <a:lstStyle/>
          <a:p>
            <a:pPr>
              <a:defRPr/>
            </a:pPr>
            <a:r>
              <a:rPr lang="en-US"/>
              <a:t>Internal Rate of Return</a:t>
            </a:r>
          </a:p>
        </p:txBody>
      </p:sp>
      <p:sp>
        <p:nvSpPr>
          <p:cNvPr id="155652" name="Text Box 4"/>
          <p:cNvSpPr txBox="1">
            <a:spLocks noChangeArrowheads="1"/>
          </p:cNvSpPr>
          <p:nvPr/>
        </p:nvSpPr>
        <p:spPr bwMode="auto">
          <a:xfrm>
            <a:off x="1981200" y="5975906"/>
            <a:ext cx="59436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defRPr/>
            </a:pPr>
            <a:r>
              <a:rPr lang="en-US" sz="900" b="1" dirty="0">
                <a:latin typeface="Calibri"/>
                <a:cs typeface="+mn-cs"/>
              </a:rPr>
              <a:t>SOURCE: Graham and Harvey, </a:t>
            </a:r>
            <a:r>
              <a:rPr lang="ja-JP" altLang="en-US" sz="900" b="1" dirty="0">
                <a:latin typeface="Calibri"/>
                <a:cs typeface="+mn-cs"/>
              </a:rPr>
              <a:t>“</a:t>
            </a:r>
            <a:r>
              <a:rPr lang="en-US" sz="900" b="1" dirty="0">
                <a:latin typeface="Calibri"/>
                <a:cs typeface="+mn-cs"/>
              </a:rPr>
              <a:t>The Theory and Practice of Finance: Evidence from the Field,</a:t>
            </a:r>
            <a:r>
              <a:rPr lang="ja-JP" altLang="en-US" sz="900" b="1" dirty="0">
                <a:latin typeface="Calibri"/>
                <a:cs typeface="+mn-cs"/>
              </a:rPr>
              <a:t>”</a:t>
            </a:r>
            <a:r>
              <a:rPr lang="en-US" sz="900" b="1" dirty="0">
                <a:latin typeface="Calibri"/>
                <a:cs typeface="+mn-cs"/>
              </a:rPr>
              <a:t> Journal of Financial Economics 61 (2001), pp. 187-243.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1F31959-C475-AB7F-99AD-A60FB912A98B}"/>
              </a:ext>
            </a:extLst>
          </p:cNvPr>
          <p:cNvPicPr>
            <a:picLocks noGrp="1" noChangeAspect="1"/>
          </p:cNvPicPr>
          <p:nvPr>
            <p:ph idx="1"/>
          </p:nvPr>
        </p:nvPicPr>
        <p:blipFill>
          <a:blip r:embed="rId2"/>
          <a:stretch>
            <a:fillRect/>
          </a:stretch>
        </p:blipFill>
        <p:spPr>
          <a:xfrm>
            <a:off x="235860" y="533400"/>
            <a:ext cx="8458200" cy="5811838"/>
          </a:xfrm>
        </p:spPr>
      </p:pic>
      <p:sp>
        <p:nvSpPr>
          <p:cNvPr id="3" name="Title 2">
            <a:extLst>
              <a:ext uri="{FF2B5EF4-FFF2-40B4-BE49-F238E27FC236}">
                <a16:creationId xmlns:a16="http://schemas.microsoft.com/office/drawing/2014/main" id="{5504CD77-9909-124E-CCA4-4EB6EB3C29FF}"/>
              </a:ext>
            </a:extLst>
          </p:cNvPr>
          <p:cNvSpPr>
            <a:spLocks noGrp="1"/>
          </p:cNvSpPr>
          <p:nvPr>
            <p:ph type="title"/>
          </p:nvPr>
        </p:nvSpPr>
        <p:spPr/>
        <p:txBody>
          <a:bodyPr/>
          <a:lstStyle/>
          <a:p>
            <a:r>
              <a:rPr lang="en-US" dirty="0"/>
              <a:t>Capital Budgeting Tools</a:t>
            </a:r>
          </a:p>
        </p:txBody>
      </p:sp>
      <p:sp>
        <p:nvSpPr>
          <p:cNvPr id="4" name="Slide Number Placeholder 3">
            <a:extLst>
              <a:ext uri="{FF2B5EF4-FFF2-40B4-BE49-F238E27FC236}">
                <a16:creationId xmlns:a16="http://schemas.microsoft.com/office/drawing/2014/main" id="{B8210FEC-5732-9E41-8EFB-2CA18EB785B9}"/>
              </a:ext>
            </a:extLst>
          </p:cNvPr>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
        <p:nvSpPr>
          <p:cNvPr id="5" name="Footer Placeholder 4">
            <a:extLst>
              <a:ext uri="{FF2B5EF4-FFF2-40B4-BE49-F238E27FC236}">
                <a16:creationId xmlns:a16="http://schemas.microsoft.com/office/drawing/2014/main" id="{6A4FEAE4-0757-037A-219E-9BA0693645AA}"/>
              </a:ext>
            </a:extLst>
          </p:cNvPr>
          <p:cNvSpPr>
            <a:spLocks noGrp="1"/>
          </p:cNvSpPr>
          <p:nvPr>
            <p:ph type="ftr" sz="quarter" idx="11"/>
          </p:nvPr>
        </p:nvSpPr>
        <p:spPr/>
        <p:txBody>
          <a:bodyPr/>
          <a:lstStyle/>
          <a:p>
            <a:pPr>
              <a:defRPr/>
            </a:pPr>
            <a:r>
              <a:rPr lang="en-US"/>
              <a:t>Internal Rate of Return</a:t>
            </a:r>
            <a:endParaRPr lang="en-US" dirty="0"/>
          </a:p>
        </p:txBody>
      </p:sp>
      <p:sp>
        <p:nvSpPr>
          <p:cNvPr id="8" name="TextBox 7">
            <a:extLst>
              <a:ext uri="{FF2B5EF4-FFF2-40B4-BE49-F238E27FC236}">
                <a16:creationId xmlns:a16="http://schemas.microsoft.com/office/drawing/2014/main" id="{2BCA5DFC-2DB5-3C7A-5C3E-50B4302EC86B}"/>
              </a:ext>
            </a:extLst>
          </p:cNvPr>
          <p:cNvSpPr txBox="1"/>
          <p:nvPr/>
        </p:nvSpPr>
        <p:spPr>
          <a:xfrm>
            <a:off x="228600" y="5979677"/>
            <a:ext cx="1319592" cy="230832"/>
          </a:xfrm>
          <a:prstGeom prst="rect">
            <a:avLst/>
          </a:prstGeom>
          <a:noFill/>
        </p:spPr>
        <p:txBody>
          <a:bodyPr wrap="none" rtlCol="0">
            <a:spAutoFit/>
          </a:bodyPr>
          <a:lstStyle/>
          <a:p>
            <a:r>
              <a:rPr lang="en-US" sz="900" dirty="0"/>
              <a:t>Source: Graham 2022</a:t>
            </a:r>
          </a:p>
        </p:txBody>
      </p:sp>
    </p:spTree>
    <p:extLst>
      <p:ext uri="{BB962C8B-B14F-4D97-AF65-F5344CB8AC3E}">
        <p14:creationId xmlns:p14="http://schemas.microsoft.com/office/powerpoint/2010/main" val="270488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Estimation Mistakes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5" name="Footer Placeholder 4"/>
          <p:cNvSpPr>
            <a:spLocks noGrp="1"/>
          </p:cNvSpPr>
          <p:nvPr>
            <p:ph type="ftr" sz="quarter" idx="11"/>
          </p:nvPr>
        </p:nvSpPr>
        <p:spPr/>
        <p:txBody>
          <a:bodyPr/>
          <a:lstStyle/>
          <a:p>
            <a:pPr>
              <a:defRPr/>
            </a:pPr>
            <a:r>
              <a:rPr lang="en-US"/>
              <a:t>Internal Rate of Return</a:t>
            </a:r>
            <a:endParaRPr lang="en-US" dirty="0"/>
          </a:p>
        </p:txBody>
      </p:sp>
      <p:cxnSp>
        <p:nvCxnSpPr>
          <p:cNvPr id="13" name="Straight Connector 12"/>
          <p:cNvCxnSpPr/>
          <p:nvPr/>
        </p:nvCxnSpPr>
        <p:spPr>
          <a:xfrm>
            <a:off x="384048" y="3733800"/>
            <a:ext cx="8458200" cy="0"/>
          </a:xfrm>
          <a:prstGeom prst="line">
            <a:avLst/>
          </a:prstGeom>
          <a:ln w="41275"/>
        </p:spPr>
        <p:style>
          <a:lnRef idx="1">
            <a:schemeClr val="accent1"/>
          </a:lnRef>
          <a:fillRef idx="0">
            <a:schemeClr val="accent1"/>
          </a:fillRef>
          <a:effectRef idx="0">
            <a:schemeClr val="accent1"/>
          </a:effectRef>
          <a:fontRef idx="minor">
            <a:schemeClr val="tx1"/>
          </a:fontRef>
        </p:style>
      </p:cxnSp>
      <p:graphicFrame>
        <p:nvGraphicFramePr>
          <p:cNvPr id="15" name="Object 14"/>
          <p:cNvGraphicFramePr>
            <a:graphicFrameLocks noChangeAspect="1"/>
          </p:cNvGraphicFramePr>
          <p:nvPr>
            <p:extLst>
              <p:ext uri="{D42A27DB-BD31-4B8C-83A1-F6EECF244321}">
                <p14:modId xmlns:p14="http://schemas.microsoft.com/office/powerpoint/2010/main" val="692622007"/>
              </p:ext>
            </p:extLst>
          </p:nvPr>
        </p:nvGraphicFramePr>
        <p:xfrm>
          <a:off x="1676400" y="4057650"/>
          <a:ext cx="5257800" cy="2019300"/>
        </p:xfrm>
        <a:graphic>
          <a:graphicData uri="http://schemas.openxmlformats.org/presentationml/2006/ole">
            <mc:AlternateContent xmlns:mc="http://schemas.openxmlformats.org/markup-compatibility/2006">
              <mc:Choice xmlns:v="urn:schemas-microsoft-com:vml" Requires="v">
                <p:oleObj name="Worksheet" r:id="rId2" imgW="3378200" imgH="2019300" progId="Excel.Sheet.12">
                  <p:embed/>
                </p:oleObj>
              </mc:Choice>
              <mc:Fallback>
                <p:oleObj name="Worksheet" r:id="rId2" imgW="3378200" imgH="2019300" progId="Excel.Sheet.12">
                  <p:embed/>
                  <p:pic>
                    <p:nvPicPr>
                      <p:cNvPr id="15" name="Object 14"/>
                      <p:cNvPicPr/>
                      <p:nvPr/>
                    </p:nvPicPr>
                    <p:blipFill>
                      <a:blip r:embed="rId3"/>
                      <a:stretch>
                        <a:fillRect/>
                      </a:stretch>
                    </p:blipFill>
                    <p:spPr>
                      <a:xfrm>
                        <a:off x="1676400" y="4057650"/>
                        <a:ext cx="5257800" cy="2019300"/>
                      </a:xfrm>
                      <a:prstGeom prst="rect">
                        <a:avLst/>
                      </a:prstGeom>
                    </p:spPr>
                  </p:pic>
                </p:oleObj>
              </mc:Fallback>
            </mc:AlternateContent>
          </a:graphicData>
        </a:graphic>
      </p:graphicFrame>
      <p:graphicFrame>
        <p:nvGraphicFramePr>
          <p:cNvPr id="20" name="Object 19"/>
          <p:cNvGraphicFramePr>
            <a:graphicFrameLocks noChangeAspect="1"/>
          </p:cNvGraphicFramePr>
          <p:nvPr>
            <p:extLst>
              <p:ext uri="{D42A27DB-BD31-4B8C-83A1-F6EECF244321}">
                <p14:modId xmlns:p14="http://schemas.microsoft.com/office/powerpoint/2010/main" val="1303783931"/>
              </p:ext>
            </p:extLst>
          </p:nvPr>
        </p:nvGraphicFramePr>
        <p:xfrm>
          <a:off x="685800" y="1003529"/>
          <a:ext cx="3378200" cy="2273300"/>
        </p:xfrm>
        <a:graphic>
          <a:graphicData uri="http://schemas.openxmlformats.org/presentationml/2006/ole">
            <mc:AlternateContent xmlns:mc="http://schemas.openxmlformats.org/markup-compatibility/2006">
              <mc:Choice xmlns:v="urn:schemas-microsoft-com:vml" Requires="v">
                <p:oleObj name="Worksheet" r:id="rId4" imgW="3378200" imgH="2273300" progId="Excel.Sheet.12">
                  <p:embed/>
                </p:oleObj>
              </mc:Choice>
              <mc:Fallback>
                <p:oleObj name="Worksheet" r:id="rId4" imgW="3378200" imgH="2273300" progId="Excel.Sheet.12">
                  <p:embed/>
                  <p:pic>
                    <p:nvPicPr>
                      <p:cNvPr id="20" name="Object 19"/>
                      <p:cNvPicPr/>
                      <p:nvPr/>
                    </p:nvPicPr>
                    <p:blipFill>
                      <a:blip r:embed="rId5"/>
                      <a:stretch>
                        <a:fillRect/>
                      </a:stretch>
                    </p:blipFill>
                    <p:spPr>
                      <a:xfrm>
                        <a:off x="685800" y="1003529"/>
                        <a:ext cx="3378200" cy="227330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632388299"/>
              </p:ext>
            </p:extLst>
          </p:nvPr>
        </p:nvGraphicFramePr>
        <p:xfrm>
          <a:off x="4625438" y="938696"/>
          <a:ext cx="3416300" cy="2273300"/>
        </p:xfrm>
        <a:graphic>
          <a:graphicData uri="http://schemas.openxmlformats.org/presentationml/2006/ole">
            <mc:AlternateContent xmlns:mc="http://schemas.openxmlformats.org/markup-compatibility/2006">
              <mc:Choice xmlns:v="urn:schemas-microsoft-com:vml" Requires="v">
                <p:oleObj name="Worksheet" r:id="rId6" imgW="3416300" imgH="2273300" progId="Excel.Sheet.12">
                  <p:embed/>
                </p:oleObj>
              </mc:Choice>
              <mc:Fallback>
                <p:oleObj name="Worksheet" r:id="rId6" imgW="3416300" imgH="2273300" progId="Excel.Sheet.12">
                  <p:embed/>
                  <p:pic>
                    <p:nvPicPr>
                      <p:cNvPr id="6" name="Object 5"/>
                      <p:cNvPicPr/>
                      <p:nvPr/>
                    </p:nvPicPr>
                    <p:blipFill>
                      <a:blip r:embed="rId7"/>
                      <a:stretch>
                        <a:fillRect/>
                      </a:stretch>
                    </p:blipFill>
                    <p:spPr>
                      <a:xfrm>
                        <a:off x="4625438" y="938696"/>
                        <a:ext cx="3416300" cy="2273300"/>
                      </a:xfrm>
                      <a:prstGeom prst="rect">
                        <a:avLst/>
                      </a:prstGeom>
                    </p:spPr>
                  </p:pic>
                </p:oleObj>
              </mc:Fallback>
            </mc:AlternateContent>
          </a:graphicData>
        </a:graphic>
      </p:graphicFrame>
    </p:spTree>
    <p:extLst>
      <p:ext uri="{BB962C8B-B14F-4D97-AF65-F5344CB8AC3E}">
        <p14:creationId xmlns:p14="http://schemas.microsoft.com/office/powerpoint/2010/main" val="163979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763" name="Rectangle 3"/>
          <p:cNvSpPr>
            <a:spLocks noGrp="1" noChangeArrowheads="1"/>
          </p:cNvSpPr>
          <p:nvPr>
            <p:ph idx="1"/>
          </p:nvPr>
        </p:nvSpPr>
        <p:spPr/>
        <p:txBody>
          <a:bodyPr/>
          <a:lstStyle/>
          <a:p>
            <a:pPr marL="457200" indent="-457200" eaLnBrk="1" hangingPunct="1">
              <a:lnSpc>
                <a:spcPct val="85000"/>
              </a:lnSpc>
              <a:spcBef>
                <a:spcPct val="0"/>
              </a:spcBef>
              <a:defRPr/>
            </a:pPr>
            <a:r>
              <a:rPr lang="en-US" sz="2400" b="1" dirty="0">
                <a:solidFill>
                  <a:srgbClr val="010004"/>
                </a:solidFill>
                <a:cs typeface="+mn-cs"/>
              </a:rPr>
              <a:t>IRR:  Discount rate that sets the NPV to zero</a:t>
            </a:r>
            <a:r>
              <a:rPr lang="en-US" sz="2400" dirty="0">
                <a:solidFill>
                  <a:srgbClr val="010004"/>
                </a:solidFill>
                <a:cs typeface="+mn-cs"/>
              </a:rPr>
              <a:t> </a:t>
            </a: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r>
              <a:rPr lang="en-US" sz="2400" dirty="0">
                <a:solidFill>
                  <a:srgbClr val="010004"/>
                </a:solidFill>
                <a:cs typeface="+mn-cs"/>
              </a:rPr>
              <a:t>Minimum Acceptance Criteria: </a:t>
            </a:r>
          </a:p>
          <a:p>
            <a:pPr marL="912813" lvl="1" indent="-285750" eaLnBrk="1" hangingPunct="1">
              <a:lnSpc>
                <a:spcPct val="85000"/>
              </a:lnSpc>
              <a:spcBef>
                <a:spcPct val="0"/>
              </a:spcBef>
              <a:defRPr/>
            </a:pPr>
            <a:r>
              <a:rPr lang="en-US" sz="2000" b="1" dirty="0">
                <a:solidFill>
                  <a:srgbClr val="010004"/>
                </a:solidFill>
              </a:rPr>
              <a:t>Accept if the IRR </a:t>
            </a:r>
            <a:r>
              <a:rPr lang="en-US" sz="2000" b="1" i="1" dirty="0">
                <a:solidFill>
                  <a:srgbClr val="010004"/>
                </a:solidFill>
              </a:rPr>
              <a:t>exceeds</a:t>
            </a:r>
            <a:r>
              <a:rPr lang="en-US" sz="2000" b="1" dirty="0">
                <a:solidFill>
                  <a:srgbClr val="010004"/>
                </a:solidFill>
              </a:rPr>
              <a:t> the required return</a:t>
            </a:r>
            <a:r>
              <a:rPr lang="en-US" sz="2000" dirty="0">
                <a:solidFill>
                  <a:srgbClr val="010004"/>
                </a:solidFill>
              </a:rPr>
              <a:t>.</a:t>
            </a: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r>
              <a:rPr lang="en-US" sz="2400" dirty="0">
                <a:solidFill>
                  <a:srgbClr val="010004"/>
                </a:solidFill>
                <a:cs typeface="+mn-cs"/>
              </a:rPr>
              <a:t>Ranking Criteria: </a:t>
            </a:r>
          </a:p>
          <a:p>
            <a:pPr marL="912813" lvl="1" indent="-285750" eaLnBrk="1" hangingPunct="1">
              <a:lnSpc>
                <a:spcPct val="85000"/>
              </a:lnSpc>
              <a:spcBef>
                <a:spcPct val="0"/>
              </a:spcBef>
              <a:defRPr/>
            </a:pPr>
            <a:r>
              <a:rPr lang="en-US" sz="2000" dirty="0">
                <a:solidFill>
                  <a:srgbClr val="010004"/>
                </a:solidFill>
              </a:rPr>
              <a:t>Select alternative with the highest IRR (if investment project)</a:t>
            </a: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r>
              <a:rPr lang="en-US" sz="2400" b="1" dirty="0">
                <a:solidFill>
                  <a:schemeClr val="accent1"/>
                </a:solidFill>
                <a:cs typeface="+mn-cs"/>
              </a:rPr>
              <a:t>Reinvestment assumption</a:t>
            </a:r>
            <a:r>
              <a:rPr lang="en-US" sz="2400" dirty="0">
                <a:solidFill>
                  <a:schemeClr val="accent1"/>
                </a:solidFill>
                <a:cs typeface="+mn-cs"/>
              </a:rPr>
              <a:t>: </a:t>
            </a:r>
          </a:p>
          <a:p>
            <a:pPr marL="912813" lvl="1" indent="-285750" eaLnBrk="1" hangingPunct="1">
              <a:lnSpc>
                <a:spcPct val="85000"/>
              </a:lnSpc>
              <a:spcBef>
                <a:spcPct val="0"/>
              </a:spcBef>
              <a:defRPr/>
            </a:pPr>
            <a:r>
              <a:rPr lang="en-US" sz="2000" dirty="0">
                <a:solidFill>
                  <a:srgbClr val="010004"/>
                </a:solidFill>
              </a:rPr>
              <a:t>All future, interim cash flows assumed reinvested at the IRR.</a:t>
            </a:r>
          </a:p>
          <a:p>
            <a:pPr marL="457200" indent="-457200" eaLnBrk="1" hangingPunct="1">
              <a:lnSpc>
                <a:spcPct val="85000"/>
              </a:lnSpc>
              <a:spcBef>
                <a:spcPct val="0"/>
              </a:spcBef>
              <a:defRPr/>
            </a:pPr>
            <a:endParaRPr lang="en-US" sz="2400" dirty="0">
              <a:solidFill>
                <a:srgbClr val="010004"/>
              </a:solidFill>
              <a:cs typeface="+mn-cs"/>
            </a:endParaRPr>
          </a:p>
          <a:p>
            <a:pPr marL="457200" indent="-457200" eaLnBrk="1" hangingPunct="1">
              <a:lnSpc>
                <a:spcPct val="85000"/>
              </a:lnSpc>
              <a:spcBef>
                <a:spcPct val="0"/>
              </a:spcBef>
              <a:defRPr/>
            </a:pPr>
            <a:r>
              <a:rPr lang="en-US" sz="2400" dirty="0">
                <a:solidFill>
                  <a:srgbClr val="010004"/>
                </a:solidFill>
                <a:cs typeface="+mn-cs"/>
              </a:rPr>
              <a:t>When referring to bonds, the IRR is called the </a:t>
            </a:r>
            <a:r>
              <a:rPr lang="en-US" sz="2400" b="1" dirty="0">
                <a:solidFill>
                  <a:srgbClr val="010004"/>
                </a:solidFill>
                <a:cs typeface="+mn-cs"/>
              </a:rPr>
              <a:t>Yield to Maturity (YTM)</a:t>
            </a:r>
          </a:p>
        </p:txBody>
      </p:sp>
      <p:sp>
        <p:nvSpPr>
          <p:cNvPr id="117762" name="Rectangle 2"/>
          <p:cNvSpPr>
            <a:spLocks noGrp="1" noChangeArrowheads="1"/>
          </p:cNvSpPr>
          <p:nvPr>
            <p:ph type="title"/>
          </p:nvPr>
        </p:nvSpPr>
        <p:spPr/>
        <p:txBody>
          <a:bodyPr/>
          <a:lstStyle/>
          <a:p>
            <a:pPr eaLnBrk="1" hangingPunct="1">
              <a:defRPr/>
            </a:pPr>
            <a:r>
              <a:rPr lang="en-US" b="1">
                <a:solidFill>
                  <a:schemeClr val="tx1"/>
                </a:solidFill>
                <a:cs typeface="+mj-cs"/>
              </a:rPr>
              <a:t>Internal Rate of Return (IRR) </a:t>
            </a:r>
          </a:p>
        </p:txBody>
      </p:sp>
      <p:sp>
        <p:nvSpPr>
          <p:cNvPr id="6" name="Slide Number Placeholder 4"/>
          <p:cNvSpPr>
            <a:spLocks noGrp="1"/>
          </p:cNvSpPr>
          <p:nvPr>
            <p:ph type="sldNum" sz="quarter" idx="10"/>
          </p:nvPr>
        </p:nvSpPr>
        <p:spPr/>
        <p:txBody>
          <a:bodyPr/>
          <a:lstStyle/>
          <a:p>
            <a:pPr>
              <a:defRPr/>
            </a:pPr>
            <a:fld id="{53921F8B-D75F-F846-A6EB-B0CC2A4DCAB6}" type="slidenum">
              <a:rPr lang="en-US"/>
              <a:pPr>
                <a:defRPr/>
              </a:pPr>
              <a:t>6</a:t>
            </a:fld>
            <a:endParaRPr lang="en-US"/>
          </a:p>
        </p:txBody>
      </p:sp>
      <p:sp>
        <p:nvSpPr>
          <p:cNvPr id="5" name="Footer Placeholder 3"/>
          <p:cNvSpPr>
            <a:spLocks noGrp="1"/>
          </p:cNvSpPr>
          <p:nvPr>
            <p:ph type="ftr" sz="quarter" idx="11"/>
          </p:nvPr>
        </p:nvSpPr>
        <p:spPr/>
        <p:txBody>
          <a:bodyPr/>
          <a:lstStyle/>
          <a:p>
            <a:pPr>
              <a:defRPr/>
            </a:pPr>
            <a:r>
              <a:rPr lang="en-US"/>
              <a:t>Internal Rate of Return</a:t>
            </a:r>
          </a:p>
        </p:txBody>
      </p:sp>
      <p:graphicFrame>
        <p:nvGraphicFramePr>
          <p:cNvPr id="117764" name="Object 4"/>
          <p:cNvGraphicFramePr>
            <a:graphicFrameLocks noChangeAspect="1"/>
          </p:cNvGraphicFramePr>
          <p:nvPr>
            <p:extLst>
              <p:ext uri="{D42A27DB-BD31-4B8C-83A1-F6EECF244321}">
                <p14:modId xmlns:p14="http://schemas.microsoft.com/office/powerpoint/2010/main" val="686177584"/>
              </p:ext>
            </p:extLst>
          </p:nvPr>
        </p:nvGraphicFramePr>
        <p:xfrm>
          <a:off x="1219200" y="1066800"/>
          <a:ext cx="5257800" cy="762000"/>
        </p:xfrm>
        <a:graphic>
          <a:graphicData uri="http://schemas.openxmlformats.org/presentationml/2006/ole">
            <mc:AlternateContent xmlns:mc="http://schemas.openxmlformats.org/markup-compatibility/2006">
              <mc:Choice xmlns:v="urn:schemas-microsoft-com:vml" Requires="v">
                <p:oleObj name="Equation" r:id="rId3" imgW="1965600" imgH="383760" progId="Equation.3">
                  <p:embed/>
                </p:oleObj>
              </mc:Choice>
              <mc:Fallback>
                <p:oleObj name="Equation" r:id="rId3" imgW="1965600" imgH="383760" progId="Equation.3">
                  <p:embed/>
                  <p:pic>
                    <p:nvPicPr>
                      <p:cNvPr id="11776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066800"/>
                        <a:ext cx="5257800" cy="762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7763">
                                            <p:txEl>
                                              <p:pRg st="0" end="0"/>
                                            </p:txEl>
                                          </p:spTgt>
                                        </p:tgtEl>
                                        <p:attrNameLst>
                                          <p:attrName>style.visibility</p:attrName>
                                        </p:attrNameLst>
                                      </p:cBhvr>
                                      <p:to>
                                        <p:strVal val="visible"/>
                                      </p:to>
                                    </p:set>
                                    <p:animEffect transition="in" filter="fade">
                                      <p:cBhvr>
                                        <p:cTn id="7" dur="1000"/>
                                        <p:tgtEl>
                                          <p:spTgt spid="117763">
                                            <p:txEl>
                                              <p:pRg st="0" end="0"/>
                                            </p:txEl>
                                          </p:spTgt>
                                        </p:tgtEl>
                                      </p:cBhvr>
                                    </p:animEffect>
                                    <p:anim calcmode="lin" valueType="num">
                                      <p:cBhvr>
                                        <p:cTn id="8" dur="1000" fill="hold"/>
                                        <p:tgtEl>
                                          <p:spTgt spid="1177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77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117764"/>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17763">
                                            <p:txEl>
                                              <p:pRg st="5" end="5"/>
                                            </p:txEl>
                                          </p:spTgt>
                                        </p:tgtEl>
                                        <p:attrNameLst>
                                          <p:attrName>style.visibility</p:attrName>
                                        </p:attrNameLst>
                                      </p:cBhvr>
                                      <p:to>
                                        <p:strVal val="visible"/>
                                      </p:to>
                                    </p:set>
                                    <p:animEffect transition="in" filter="fade">
                                      <p:cBhvr>
                                        <p:cTn id="18" dur="1000"/>
                                        <p:tgtEl>
                                          <p:spTgt spid="117763">
                                            <p:txEl>
                                              <p:pRg st="5" end="5"/>
                                            </p:txEl>
                                          </p:spTgt>
                                        </p:tgtEl>
                                      </p:cBhvr>
                                    </p:animEffect>
                                    <p:anim calcmode="lin" valueType="num">
                                      <p:cBhvr>
                                        <p:cTn id="19" dur="1000" fill="hold"/>
                                        <p:tgtEl>
                                          <p:spTgt spid="117763">
                                            <p:txEl>
                                              <p:pRg st="5" end="5"/>
                                            </p:txEl>
                                          </p:spTgt>
                                        </p:tgtEl>
                                        <p:attrNameLst>
                                          <p:attrName>ppt_x</p:attrName>
                                        </p:attrNameLst>
                                      </p:cBhvr>
                                      <p:tavLst>
                                        <p:tav tm="0">
                                          <p:val>
                                            <p:strVal val="#ppt_x"/>
                                          </p:val>
                                        </p:tav>
                                        <p:tav tm="100000">
                                          <p:val>
                                            <p:strVal val="#ppt_x"/>
                                          </p:val>
                                        </p:tav>
                                      </p:tavLst>
                                    </p:anim>
                                    <p:anim calcmode="lin" valueType="num">
                                      <p:cBhvr>
                                        <p:cTn id="20" dur="1000" fill="hold"/>
                                        <p:tgtEl>
                                          <p:spTgt spid="117763">
                                            <p:txEl>
                                              <p:pRg st="5" end="5"/>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17763">
                                            <p:txEl>
                                              <p:pRg st="6" end="6"/>
                                            </p:txEl>
                                          </p:spTgt>
                                        </p:tgtEl>
                                        <p:attrNameLst>
                                          <p:attrName>style.visibility</p:attrName>
                                        </p:attrNameLst>
                                      </p:cBhvr>
                                      <p:to>
                                        <p:strVal val="visible"/>
                                      </p:to>
                                    </p:set>
                                    <p:animEffect transition="in" filter="fade">
                                      <p:cBhvr>
                                        <p:cTn id="23" dur="1000"/>
                                        <p:tgtEl>
                                          <p:spTgt spid="117763">
                                            <p:txEl>
                                              <p:pRg st="6" end="6"/>
                                            </p:txEl>
                                          </p:spTgt>
                                        </p:tgtEl>
                                      </p:cBhvr>
                                    </p:animEffect>
                                    <p:anim calcmode="lin" valueType="num">
                                      <p:cBhvr>
                                        <p:cTn id="24" dur="1000" fill="hold"/>
                                        <p:tgtEl>
                                          <p:spTgt spid="117763">
                                            <p:txEl>
                                              <p:pRg st="6" end="6"/>
                                            </p:txEl>
                                          </p:spTgt>
                                        </p:tgtEl>
                                        <p:attrNameLst>
                                          <p:attrName>ppt_x</p:attrName>
                                        </p:attrNameLst>
                                      </p:cBhvr>
                                      <p:tavLst>
                                        <p:tav tm="0">
                                          <p:val>
                                            <p:strVal val="#ppt_x"/>
                                          </p:val>
                                        </p:tav>
                                        <p:tav tm="100000">
                                          <p:val>
                                            <p:strVal val="#ppt_x"/>
                                          </p:val>
                                        </p:tav>
                                      </p:tavLst>
                                    </p:anim>
                                    <p:anim calcmode="lin" valueType="num">
                                      <p:cBhvr>
                                        <p:cTn id="25" dur="1000" fill="hold"/>
                                        <p:tgtEl>
                                          <p:spTgt spid="11776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17763">
                                            <p:txEl>
                                              <p:pRg st="8" end="8"/>
                                            </p:txEl>
                                          </p:spTgt>
                                        </p:tgtEl>
                                        <p:attrNameLst>
                                          <p:attrName>style.visibility</p:attrName>
                                        </p:attrNameLst>
                                      </p:cBhvr>
                                      <p:to>
                                        <p:strVal val="visible"/>
                                      </p:to>
                                    </p:set>
                                    <p:animEffect transition="in" filter="fade">
                                      <p:cBhvr>
                                        <p:cTn id="30" dur="1000"/>
                                        <p:tgtEl>
                                          <p:spTgt spid="117763">
                                            <p:txEl>
                                              <p:pRg st="8" end="8"/>
                                            </p:txEl>
                                          </p:spTgt>
                                        </p:tgtEl>
                                      </p:cBhvr>
                                    </p:animEffect>
                                    <p:anim calcmode="lin" valueType="num">
                                      <p:cBhvr>
                                        <p:cTn id="31" dur="1000" fill="hold"/>
                                        <p:tgtEl>
                                          <p:spTgt spid="117763">
                                            <p:txEl>
                                              <p:pRg st="8" end="8"/>
                                            </p:txEl>
                                          </p:spTgt>
                                        </p:tgtEl>
                                        <p:attrNameLst>
                                          <p:attrName>ppt_x</p:attrName>
                                        </p:attrNameLst>
                                      </p:cBhvr>
                                      <p:tavLst>
                                        <p:tav tm="0">
                                          <p:val>
                                            <p:strVal val="#ppt_x"/>
                                          </p:val>
                                        </p:tav>
                                        <p:tav tm="100000">
                                          <p:val>
                                            <p:strVal val="#ppt_x"/>
                                          </p:val>
                                        </p:tav>
                                      </p:tavLst>
                                    </p:anim>
                                    <p:anim calcmode="lin" valueType="num">
                                      <p:cBhvr>
                                        <p:cTn id="32" dur="1000" fill="hold"/>
                                        <p:tgtEl>
                                          <p:spTgt spid="117763">
                                            <p:txEl>
                                              <p:pRg st="8" end="8"/>
                                            </p:txEl>
                                          </p:spTgt>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17763">
                                            <p:txEl>
                                              <p:pRg st="9" end="9"/>
                                            </p:txEl>
                                          </p:spTgt>
                                        </p:tgtEl>
                                        <p:attrNameLst>
                                          <p:attrName>style.visibility</p:attrName>
                                        </p:attrNameLst>
                                      </p:cBhvr>
                                      <p:to>
                                        <p:strVal val="visible"/>
                                      </p:to>
                                    </p:set>
                                    <p:animEffect transition="in" filter="fade">
                                      <p:cBhvr>
                                        <p:cTn id="35" dur="1000"/>
                                        <p:tgtEl>
                                          <p:spTgt spid="117763">
                                            <p:txEl>
                                              <p:pRg st="9" end="9"/>
                                            </p:txEl>
                                          </p:spTgt>
                                        </p:tgtEl>
                                      </p:cBhvr>
                                    </p:animEffect>
                                    <p:anim calcmode="lin" valueType="num">
                                      <p:cBhvr>
                                        <p:cTn id="36" dur="1000" fill="hold"/>
                                        <p:tgtEl>
                                          <p:spTgt spid="117763">
                                            <p:txEl>
                                              <p:pRg st="9" end="9"/>
                                            </p:txEl>
                                          </p:spTgt>
                                        </p:tgtEl>
                                        <p:attrNameLst>
                                          <p:attrName>ppt_x</p:attrName>
                                        </p:attrNameLst>
                                      </p:cBhvr>
                                      <p:tavLst>
                                        <p:tav tm="0">
                                          <p:val>
                                            <p:strVal val="#ppt_x"/>
                                          </p:val>
                                        </p:tav>
                                        <p:tav tm="100000">
                                          <p:val>
                                            <p:strVal val="#ppt_x"/>
                                          </p:val>
                                        </p:tav>
                                      </p:tavLst>
                                    </p:anim>
                                    <p:anim calcmode="lin" valueType="num">
                                      <p:cBhvr>
                                        <p:cTn id="37" dur="1000" fill="hold"/>
                                        <p:tgtEl>
                                          <p:spTgt spid="11776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7763">
                                            <p:txEl>
                                              <p:pRg st="11" end="11"/>
                                            </p:txEl>
                                          </p:spTgt>
                                        </p:tgtEl>
                                        <p:attrNameLst>
                                          <p:attrName>style.visibility</p:attrName>
                                        </p:attrNameLst>
                                      </p:cBhvr>
                                      <p:to>
                                        <p:strVal val="visible"/>
                                      </p:to>
                                    </p:set>
                                    <p:animEffect transition="in" filter="fade">
                                      <p:cBhvr>
                                        <p:cTn id="42" dur="1000"/>
                                        <p:tgtEl>
                                          <p:spTgt spid="117763">
                                            <p:txEl>
                                              <p:pRg st="11" end="11"/>
                                            </p:txEl>
                                          </p:spTgt>
                                        </p:tgtEl>
                                      </p:cBhvr>
                                    </p:animEffect>
                                    <p:anim calcmode="lin" valueType="num">
                                      <p:cBhvr>
                                        <p:cTn id="43" dur="1000" fill="hold"/>
                                        <p:tgtEl>
                                          <p:spTgt spid="117763">
                                            <p:txEl>
                                              <p:pRg st="11" end="11"/>
                                            </p:txEl>
                                          </p:spTgt>
                                        </p:tgtEl>
                                        <p:attrNameLst>
                                          <p:attrName>ppt_x</p:attrName>
                                        </p:attrNameLst>
                                      </p:cBhvr>
                                      <p:tavLst>
                                        <p:tav tm="0">
                                          <p:val>
                                            <p:strVal val="#ppt_x"/>
                                          </p:val>
                                        </p:tav>
                                        <p:tav tm="100000">
                                          <p:val>
                                            <p:strVal val="#ppt_x"/>
                                          </p:val>
                                        </p:tav>
                                      </p:tavLst>
                                    </p:anim>
                                    <p:anim calcmode="lin" valueType="num">
                                      <p:cBhvr>
                                        <p:cTn id="44" dur="1000" fill="hold"/>
                                        <p:tgtEl>
                                          <p:spTgt spid="117763">
                                            <p:txEl>
                                              <p:pRg st="11" end="11"/>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17763">
                                            <p:txEl>
                                              <p:pRg st="12" end="12"/>
                                            </p:txEl>
                                          </p:spTgt>
                                        </p:tgtEl>
                                        <p:attrNameLst>
                                          <p:attrName>style.visibility</p:attrName>
                                        </p:attrNameLst>
                                      </p:cBhvr>
                                      <p:to>
                                        <p:strVal val="visible"/>
                                      </p:to>
                                    </p:set>
                                    <p:animEffect transition="in" filter="fade">
                                      <p:cBhvr>
                                        <p:cTn id="47" dur="1000"/>
                                        <p:tgtEl>
                                          <p:spTgt spid="117763">
                                            <p:txEl>
                                              <p:pRg st="12" end="12"/>
                                            </p:txEl>
                                          </p:spTgt>
                                        </p:tgtEl>
                                      </p:cBhvr>
                                    </p:animEffect>
                                    <p:anim calcmode="lin" valueType="num">
                                      <p:cBhvr>
                                        <p:cTn id="48" dur="1000" fill="hold"/>
                                        <p:tgtEl>
                                          <p:spTgt spid="117763">
                                            <p:txEl>
                                              <p:pRg st="12" end="12"/>
                                            </p:txEl>
                                          </p:spTgt>
                                        </p:tgtEl>
                                        <p:attrNameLst>
                                          <p:attrName>ppt_x</p:attrName>
                                        </p:attrNameLst>
                                      </p:cBhvr>
                                      <p:tavLst>
                                        <p:tav tm="0">
                                          <p:val>
                                            <p:strVal val="#ppt_x"/>
                                          </p:val>
                                        </p:tav>
                                        <p:tav tm="100000">
                                          <p:val>
                                            <p:strVal val="#ppt_x"/>
                                          </p:val>
                                        </p:tav>
                                      </p:tavLst>
                                    </p:anim>
                                    <p:anim calcmode="lin" valueType="num">
                                      <p:cBhvr>
                                        <p:cTn id="49" dur="1000" fill="hold"/>
                                        <p:tgtEl>
                                          <p:spTgt spid="11776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17763">
                                            <p:txEl>
                                              <p:pRg st="14" end="14"/>
                                            </p:txEl>
                                          </p:spTgt>
                                        </p:tgtEl>
                                        <p:attrNameLst>
                                          <p:attrName>style.visibility</p:attrName>
                                        </p:attrNameLst>
                                      </p:cBhvr>
                                      <p:to>
                                        <p:strVal val="visible"/>
                                      </p:to>
                                    </p:set>
                                    <p:animEffect transition="in" filter="fade">
                                      <p:cBhvr>
                                        <p:cTn id="54" dur="1000"/>
                                        <p:tgtEl>
                                          <p:spTgt spid="117763">
                                            <p:txEl>
                                              <p:pRg st="14" end="14"/>
                                            </p:txEl>
                                          </p:spTgt>
                                        </p:tgtEl>
                                      </p:cBhvr>
                                    </p:animEffect>
                                    <p:anim calcmode="lin" valueType="num">
                                      <p:cBhvr>
                                        <p:cTn id="55" dur="1000" fill="hold"/>
                                        <p:tgtEl>
                                          <p:spTgt spid="117763">
                                            <p:txEl>
                                              <p:pRg st="14" end="14"/>
                                            </p:txEl>
                                          </p:spTgt>
                                        </p:tgtEl>
                                        <p:attrNameLst>
                                          <p:attrName>ppt_x</p:attrName>
                                        </p:attrNameLst>
                                      </p:cBhvr>
                                      <p:tavLst>
                                        <p:tav tm="0">
                                          <p:val>
                                            <p:strVal val="#ppt_x"/>
                                          </p:val>
                                        </p:tav>
                                        <p:tav tm="100000">
                                          <p:val>
                                            <p:strVal val="#ppt_x"/>
                                          </p:val>
                                        </p:tav>
                                      </p:tavLst>
                                    </p:anim>
                                    <p:anim calcmode="lin" valueType="num">
                                      <p:cBhvr>
                                        <p:cTn id="56" dur="1000" fill="hold"/>
                                        <p:tgtEl>
                                          <p:spTgt spid="11776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l">
              <a:defRPr/>
            </a:pPr>
            <a:r>
              <a:rPr lang="en-US" sz="2000" dirty="0"/>
              <a:t>Used as the standard performance measure for </a:t>
            </a:r>
            <a:r>
              <a:rPr lang="en-US" sz="2000" b="1" dirty="0">
                <a:solidFill>
                  <a:schemeClr val="accent1"/>
                </a:solidFill>
              </a:rPr>
              <a:t>private equity</a:t>
            </a:r>
            <a:r>
              <a:rPr lang="en-US" sz="2000" dirty="0"/>
              <a:t>, venture capital, real estate, and LBO investments</a:t>
            </a:r>
            <a:br>
              <a:rPr lang="en-US" sz="2000" dirty="0"/>
            </a:br>
            <a:endParaRPr lang="en-US" sz="2000" dirty="0"/>
          </a:p>
          <a:p>
            <a:pPr algn="l">
              <a:defRPr/>
            </a:pPr>
            <a:r>
              <a:rPr lang="en-US" sz="2000" dirty="0"/>
              <a:t>Used to determine compensation of investment managers</a:t>
            </a:r>
            <a:br>
              <a:rPr lang="en-US" sz="2000" dirty="0"/>
            </a:br>
            <a:endParaRPr lang="en-US" sz="2000" dirty="0"/>
          </a:p>
          <a:p>
            <a:pPr algn="l">
              <a:defRPr/>
            </a:pPr>
            <a:r>
              <a:rPr lang="en-US" sz="2000" dirty="0"/>
              <a:t>Used to measure and determine cash flows and returns to investors from investments</a:t>
            </a:r>
          </a:p>
          <a:p>
            <a:pPr>
              <a:defRPr/>
            </a:pPr>
            <a:endParaRPr lang="en-US" dirty="0"/>
          </a:p>
        </p:txBody>
      </p:sp>
      <p:sp>
        <p:nvSpPr>
          <p:cNvPr id="2" name="Title 1"/>
          <p:cNvSpPr>
            <a:spLocks noGrp="1"/>
          </p:cNvSpPr>
          <p:nvPr>
            <p:ph type="title"/>
          </p:nvPr>
        </p:nvSpPr>
        <p:spPr/>
        <p:txBody>
          <a:bodyPr/>
          <a:lstStyle/>
          <a:p>
            <a:pPr>
              <a:defRPr/>
            </a:pPr>
            <a:r>
              <a:rPr lang="en-US" b="1" dirty="0"/>
              <a:t>IRR</a:t>
            </a:r>
          </a:p>
        </p:txBody>
      </p:sp>
      <p:sp>
        <p:nvSpPr>
          <p:cNvPr id="5" name="Slide Number Placeholder 4"/>
          <p:cNvSpPr>
            <a:spLocks noGrp="1"/>
          </p:cNvSpPr>
          <p:nvPr>
            <p:ph type="sldNum" sz="quarter" idx="10"/>
          </p:nvPr>
        </p:nvSpPr>
        <p:spPr/>
        <p:txBody>
          <a:bodyPr/>
          <a:lstStyle/>
          <a:p>
            <a:pPr>
              <a:defRPr/>
            </a:pPr>
            <a:fld id="{6D638918-3C3F-0A48-B649-03095B9A0563}" type="slidenum">
              <a:rPr lang="en-US" smtClean="0"/>
              <a:pPr>
                <a:defRPr/>
              </a:pPr>
              <a:t>7</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4048" y="513806"/>
            <a:ext cx="8458200" cy="5658393"/>
          </a:xfrm>
        </p:spPr>
        <p:txBody>
          <a:bodyPr>
            <a:normAutofit lnSpcReduction="10000"/>
          </a:bodyPr>
          <a:lstStyle/>
          <a:p>
            <a:pPr marL="0" indent="0" algn="just">
              <a:buNone/>
            </a:pPr>
            <a:r>
              <a:rPr lang="en-US" sz="1750" b="1" dirty="0"/>
              <a:t>Performance Measurement for Private Equity Vehicles. </a:t>
            </a:r>
            <a:r>
              <a:rPr lang="en-US" sz="1750" i="1" dirty="0"/>
              <a:t> </a:t>
            </a:r>
            <a:r>
              <a:rPr lang="en-US" sz="1750" dirty="0"/>
              <a:t> </a:t>
            </a:r>
            <a:r>
              <a:rPr lang="en-US" sz="1750" i="1" dirty="0"/>
              <a:t>Traditional approaches to the presentation of performance, such as average annual total return, have limitations when applied to private equity. </a:t>
            </a:r>
            <a:r>
              <a:rPr lang="en-US" sz="1750" dirty="0"/>
              <a:t> The Adviser believes that reviewing the performance of a pool of private equity investments over a period of time that more closely equates to the long term cycle of private equity investments is a more effective measure of historic investment returns.  </a:t>
            </a:r>
            <a:r>
              <a:rPr lang="en-US" sz="1750" i="1" dirty="0"/>
              <a:t>Unlike mutual funds or private investment funds that invest primarily in the public securities markets ( e.g. , hedge funds), performance of private equity funds generally is not measured on the basis of annual total return calculations.  </a:t>
            </a:r>
            <a:r>
              <a:rPr lang="en-US" sz="1750" b="1" i="1" dirty="0"/>
              <a:t>Rather, most private equity funds use the “internal rate of return” or “IRR” as a measure of fund performance. </a:t>
            </a:r>
            <a:r>
              <a:rPr lang="en-US" sz="1750" b="1" dirty="0"/>
              <a:t> </a:t>
            </a:r>
            <a:r>
              <a:rPr lang="en-US" sz="1750" dirty="0"/>
              <a:t>This is because most private equity funds invest capital over several years by calling capital from investors, and make distributions to investors periodically, generally in connection with realization of one or more underlying investments.  Therefore, </a:t>
            </a:r>
            <a:r>
              <a:rPr lang="en-US" sz="1750" b="1" dirty="0"/>
              <a:t>the timing and amount of cash flows are more significant in measuring the performance of a private equity fund </a:t>
            </a:r>
            <a:r>
              <a:rPr lang="en-US" sz="1750" dirty="0"/>
              <a:t>because, unlike most mutual funds or hedge funds, the timing and amount of cash flows to and from a private equity fund generally are determined by the fund’s investment manager or affiliated general partner, rather than the investor.  </a:t>
            </a:r>
            <a:r>
              <a:rPr lang="en-US" sz="1750" b="1" dirty="0">
                <a:solidFill>
                  <a:schemeClr val="accent1">
                    <a:lumMod val="75000"/>
                  </a:schemeClr>
                </a:solidFill>
              </a:rPr>
              <a:t>IRR is a measurement of the average annual return earned on an investment since the investment’s inception</a:t>
            </a:r>
            <a:r>
              <a:rPr lang="en-US" sz="1750" dirty="0"/>
              <a:t>.  More specifically, </a:t>
            </a:r>
            <a:r>
              <a:rPr lang="en-US" sz="1750" b="1" dirty="0"/>
              <a:t>IRR measures the internal rate of return on the present value of all capital called from investors, by calculating a rate of return on such capital contributions based on (</a:t>
            </a:r>
            <a:r>
              <a:rPr lang="en-US" sz="1750" b="1" dirty="0" err="1"/>
              <a:t>i</a:t>
            </a:r>
            <a:r>
              <a:rPr lang="en-US" sz="1750" b="1" dirty="0"/>
              <a:t>) all distributions made to investors and (ii) the value of residual unrealized investments in the applicable fund’s portfolio.  The “net” IRR takes into account the management fees, expenses and carried interest paid by the applicable private equity fund-of-funds vehicle.</a:t>
            </a:r>
          </a:p>
        </p:txBody>
      </p:sp>
      <p:sp>
        <p:nvSpPr>
          <p:cNvPr id="7" name="Title 6"/>
          <p:cNvSpPr>
            <a:spLocks noGrp="1"/>
          </p:cNvSpPr>
          <p:nvPr>
            <p:ph type="title"/>
          </p:nvPr>
        </p:nvSpPr>
        <p:spPr/>
        <p:txBody>
          <a:bodyPr/>
          <a:lstStyle/>
          <a:p>
            <a:r>
              <a:rPr lang="en-US" dirty="0"/>
              <a:t>IRR:  Private Equity</a:t>
            </a:r>
          </a:p>
        </p:txBody>
      </p:sp>
      <p:sp>
        <p:nvSpPr>
          <p:cNvPr id="5" name="Slide Number Placeholder 4"/>
          <p:cNvSpPr>
            <a:spLocks noGrp="1"/>
          </p:cNvSpPr>
          <p:nvPr>
            <p:ph type="sldNum" sz="quarter" idx="10"/>
          </p:nvPr>
        </p:nvSpPr>
        <p:spPr/>
        <p:txBody>
          <a:bodyPr/>
          <a:lstStyle/>
          <a:p>
            <a:pPr>
              <a:defRPr/>
            </a:pPr>
            <a:fld id="{53C6635A-34F3-A644-864C-965AFE2D12DE}" type="slidenum">
              <a:rPr lang="en-US" smtClean="0"/>
              <a:pPr>
                <a:defRPr/>
              </a:pPr>
              <a:t>8</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
        <p:nvSpPr>
          <p:cNvPr id="6" name="TextBox 5"/>
          <p:cNvSpPr txBox="1"/>
          <p:nvPr/>
        </p:nvSpPr>
        <p:spPr>
          <a:xfrm>
            <a:off x="2456677" y="6240274"/>
            <a:ext cx="4230645" cy="230832"/>
          </a:xfrm>
          <a:prstGeom prst="rect">
            <a:avLst/>
          </a:prstGeom>
          <a:noFill/>
        </p:spPr>
        <p:txBody>
          <a:bodyPr wrap="none" rtlCol="0">
            <a:spAutoFit/>
          </a:bodyPr>
          <a:lstStyle/>
          <a:p>
            <a:r>
              <a:rPr lang="en-US" sz="900" dirty="0"/>
              <a:t>Source: NB Crossroads Private Market Fund, Registration Statement  (8/22/16)</a:t>
            </a:r>
          </a:p>
        </p:txBody>
      </p:sp>
    </p:spTree>
    <p:extLst>
      <p:ext uri="{BB962C8B-B14F-4D97-AF65-F5344CB8AC3E}">
        <p14:creationId xmlns:p14="http://schemas.microsoft.com/office/powerpoint/2010/main" val="415462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IRR.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0126" y="557904"/>
            <a:ext cx="7162800" cy="5811838"/>
          </a:xfrm>
        </p:spPr>
      </p:pic>
      <p:sp>
        <p:nvSpPr>
          <p:cNvPr id="2" name="Title 1"/>
          <p:cNvSpPr>
            <a:spLocks noGrp="1"/>
          </p:cNvSpPr>
          <p:nvPr>
            <p:ph type="title"/>
          </p:nvPr>
        </p:nvSpPr>
        <p:spPr/>
        <p:txBody>
          <a:bodyPr/>
          <a:lstStyle/>
          <a:p>
            <a:pPr>
              <a:defRPr/>
            </a:pPr>
            <a:r>
              <a:rPr lang="en-US" b="1" dirty="0"/>
              <a:t>IRR: Offering Memorandum Example</a:t>
            </a:r>
          </a:p>
        </p:txBody>
      </p:sp>
      <p:sp>
        <p:nvSpPr>
          <p:cNvPr id="5" name="Slide Number Placeholder 4"/>
          <p:cNvSpPr>
            <a:spLocks noGrp="1"/>
          </p:cNvSpPr>
          <p:nvPr>
            <p:ph type="sldNum" sz="quarter" idx="10"/>
          </p:nvPr>
        </p:nvSpPr>
        <p:spPr/>
        <p:txBody>
          <a:bodyPr/>
          <a:lstStyle/>
          <a:p>
            <a:pPr>
              <a:defRPr/>
            </a:pPr>
            <a:fld id="{295E1872-368E-BC4A-AE93-4422CBD71186}" type="slidenum">
              <a:rPr lang="en-US" smtClean="0"/>
              <a:pPr>
                <a:defRPr/>
              </a:pPr>
              <a:t>9</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
        <p:nvSpPr>
          <p:cNvPr id="57349" name="TextBox 9"/>
          <p:cNvSpPr txBox="1">
            <a:spLocks noChangeArrowheads="1"/>
          </p:cNvSpPr>
          <p:nvPr/>
        </p:nvSpPr>
        <p:spPr bwMode="auto">
          <a:xfrm>
            <a:off x="3352800" y="6116044"/>
            <a:ext cx="184617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latin typeface="Calibri"/>
              </a:rPr>
              <a:t>OM, Wild Basin, Austin, TX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1" name="Rectangle 3"/>
          <p:cNvSpPr>
            <a:spLocks noGrp="1" noChangeArrowheads="1"/>
          </p:cNvSpPr>
          <p:nvPr>
            <p:ph idx="1"/>
          </p:nvPr>
        </p:nvSpPr>
        <p:spPr/>
        <p:txBody>
          <a:bodyPr/>
          <a:lstStyle/>
          <a:p>
            <a:pPr marL="342900" indent="-342900" eaLnBrk="1" hangingPunct="1">
              <a:lnSpc>
                <a:spcPct val="85000"/>
              </a:lnSpc>
              <a:spcBef>
                <a:spcPct val="0"/>
              </a:spcBef>
              <a:buFontTx/>
              <a:buNone/>
              <a:defRPr/>
            </a:pPr>
            <a:endParaRPr lang="en-US" sz="3200" dirty="0">
              <a:solidFill>
                <a:srgbClr val="010004"/>
              </a:solidFill>
              <a:cs typeface="+mn-cs"/>
            </a:endParaRPr>
          </a:p>
          <a:p>
            <a:pPr marL="342900" indent="-342900" eaLnBrk="1" hangingPunct="1">
              <a:lnSpc>
                <a:spcPct val="85000"/>
              </a:lnSpc>
              <a:spcBef>
                <a:spcPct val="0"/>
              </a:spcBef>
              <a:defRPr/>
            </a:pPr>
            <a:r>
              <a:rPr lang="en-US" sz="2400" b="1" dirty="0">
                <a:solidFill>
                  <a:srgbClr val="010004"/>
                </a:solidFill>
                <a:cs typeface="+mn-cs"/>
              </a:rPr>
              <a:t>Disadvantages</a:t>
            </a:r>
            <a:r>
              <a:rPr lang="en-US" sz="2400" dirty="0">
                <a:solidFill>
                  <a:srgbClr val="010004"/>
                </a:solidFill>
                <a:cs typeface="+mn-cs"/>
              </a:rPr>
              <a:t>:</a:t>
            </a:r>
          </a:p>
          <a:p>
            <a:pPr marL="742950" lvl="1" indent="-285750" eaLnBrk="1" hangingPunct="1">
              <a:lnSpc>
                <a:spcPct val="105000"/>
              </a:lnSpc>
              <a:spcBef>
                <a:spcPct val="0"/>
              </a:spcBef>
              <a:defRPr/>
            </a:pPr>
            <a:r>
              <a:rPr lang="en-US" sz="2000" dirty="0">
                <a:solidFill>
                  <a:srgbClr val="010004"/>
                </a:solidFill>
              </a:rPr>
              <a:t>IRR may not exist or there may be multiple IRRs</a:t>
            </a:r>
          </a:p>
          <a:p>
            <a:pPr marL="742950" lvl="1" indent="-285750" eaLnBrk="1" hangingPunct="1">
              <a:lnSpc>
                <a:spcPct val="105000"/>
              </a:lnSpc>
              <a:spcBef>
                <a:spcPct val="0"/>
              </a:spcBef>
              <a:defRPr/>
            </a:pPr>
            <a:r>
              <a:rPr lang="en-US" sz="2000" dirty="0">
                <a:solidFill>
                  <a:srgbClr val="010004"/>
                </a:solidFill>
              </a:rPr>
              <a:t>Different acceptance criteria for investing and financing projects </a:t>
            </a:r>
          </a:p>
          <a:p>
            <a:pPr marL="742950" lvl="1" indent="-285750">
              <a:lnSpc>
                <a:spcPct val="105000"/>
              </a:lnSpc>
              <a:spcBef>
                <a:spcPct val="0"/>
              </a:spcBef>
              <a:defRPr/>
            </a:pPr>
            <a:r>
              <a:rPr lang="en-US" sz="2000" dirty="0">
                <a:solidFill>
                  <a:srgbClr val="010004"/>
                </a:solidFill>
              </a:rPr>
              <a:t>Problems with mutually exclusive investments</a:t>
            </a:r>
          </a:p>
          <a:p>
            <a:pPr marL="742950" lvl="1" indent="-285750">
              <a:lnSpc>
                <a:spcPct val="105000"/>
              </a:lnSpc>
              <a:spcBef>
                <a:spcPct val="0"/>
              </a:spcBef>
              <a:defRPr/>
            </a:pPr>
            <a:r>
              <a:rPr lang="en-US" sz="2000" b="1" dirty="0">
                <a:solidFill>
                  <a:srgbClr val="010004"/>
                </a:solidFill>
              </a:rPr>
              <a:t>⚡️If interim CFs cannot be invested at the IRR, the nominal IRR will be too high</a:t>
            </a:r>
          </a:p>
          <a:p>
            <a:pPr marL="742950" lvl="1" indent="-285750" eaLnBrk="1" hangingPunct="1">
              <a:lnSpc>
                <a:spcPct val="105000"/>
              </a:lnSpc>
              <a:spcBef>
                <a:spcPct val="0"/>
              </a:spcBef>
              <a:defRPr/>
            </a:pPr>
            <a:endParaRPr lang="en-US" sz="2000" dirty="0">
              <a:solidFill>
                <a:srgbClr val="010004"/>
              </a:solidFill>
            </a:endParaRPr>
          </a:p>
          <a:p>
            <a:pPr marL="742950" lvl="1" indent="-285750" eaLnBrk="1" hangingPunct="1">
              <a:lnSpc>
                <a:spcPct val="105000"/>
              </a:lnSpc>
              <a:spcBef>
                <a:spcPct val="0"/>
              </a:spcBef>
              <a:defRPr/>
            </a:pPr>
            <a:endParaRPr lang="en-US" sz="2000" dirty="0">
              <a:solidFill>
                <a:srgbClr val="010004"/>
              </a:solidFill>
            </a:endParaRPr>
          </a:p>
          <a:p>
            <a:pPr marL="342900" indent="-342900" eaLnBrk="1" hangingPunct="1">
              <a:lnSpc>
                <a:spcPct val="105000"/>
              </a:lnSpc>
              <a:spcBef>
                <a:spcPct val="0"/>
              </a:spcBef>
              <a:defRPr/>
            </a:pPr>
            <a:r>
              <a:rPr lang="en-US" sz="2400" b="1" dirty="0">
                <a:solidFill>
                  <a:srgbClr val="010004"/>
                </a:solidFill>
                <a:cs typeface="+mn-cs"/>
              </a:rPr>
              <a:t>Advantages</a:t>
            </a:r>
            <a:r>
              <a:rPr lang="en-US" sz="2400" dirty="0">
                <a:solidFill>
                  <a:srgbClr val="010004"/>
                </a:solidFill>
                <a:cs typeface="+mn-cs"/>
              </a:rPr>
              <a:t>:</a:t>
            </a:r>
          </a:p>
          <a:p>
            <a:pPr marL="742950" lvl="1" indent="-285750" eaLnBrk="1" hangingPunct="1">
              <a:lnSpc>
                <a:spcPct val="105000"/>
              </a:lnSpc>
              <a:spcBef>
                <a:spcPct val="0"/>
              </a:spcBef>
              <a:defRPr/>
            </a:pPr>
            <a:r>
              <a:rPr lang="en-US" sz="2000" dirty="0">
                <a:solidFill>
                  <a:srgbClr val="010004"/>
                </a:solidFill>
              </a:rPr>
              <a:t>Easy to understand and communicate</a:t>
            </a:r>
          </a:p>
          <a:p>
            <a:pPr marL="742950" lvl="1" indent="-285750" eaLnBrk="1" hangingPunct="1">
              <a:lnSpc>
                <a:spcPct val="105000"/>
              </a:lnSpc>
              <a:spcBef>
                <a:spcPct val="0"/>
              </a:spcBef>
              <a:defRPr/>
            </a:pPr>
            <a:r>
              <a:rPr lang="en-US" sz="2000" dirty="0">
                <a:solidFill>
                  <a:srgbClr val="010004"/>
                </a:solidFill>
              </a:rPr>
              <a:t>Mitigate disputes over discount rates</a:t>
            </a:r>
            <a:endParaRPr lang="en-US" sz="3600" dirty="0">
              <a:solidFill>
                <a:srgbClr val="010004"/>
              </a:solidFill>
            </a:endParaRPr>
          </a:p>
          <a:p>
            <a:pPr marL="342900" indent="-342900" eaLnBrk="1" hangingPunct="1">
              <a:lnSpc>
                <a:spcPct val="105000"/>
              </a:lnSpc>
              <a:spcBef>
                <a:spcPct val="0"/>
              </a:spcBef>
              <a:defRPr/>
            </a:pPr>
            <a:endParaRPr lang="en-US" sz="3600" dirty="0">
              <a:solidFill>
                <a:srgbClr val="010004"/>
              </a:solidFill>
              <a:cs typeface="+mn-cs"/>
            </a:endParaRPr>
          </a:p>
        </p:txBody>
      </p:sp>
      <p:sp>
        <p:nvSpPr>
          <p:cNvPr id="119810" name="Rectangle 2"/>
          <p:cNvSpPr>
            <a:spLocks noGrp="1" noChangeArrowheads="1"/>
          </p:cNvSpPr>
          <p:nvPr>
            <p:ph type="title"/>
          </p:nvPr>
        </p:nvSpPr>
        <p:spPr/>
        <p:txBody>
          <a:bodyPr/>
          <a:lstStyle/>
          <a:p>
            <a:pPr eaLnBrk="1" hangingPunct="1">
              <a:defRPr/>
            </a:pPr>
            <a:r>
              <a:rPr lang="en-US" b="1">
                <a:solidFill>
                  <a:schemeClr val="tx1"/>
                </a:solidFill>
                <a:cs typeface="+mj-cs"/>
              </a:rPr>
              <a:t>Internal Rate of Return (IRR) </a:t>
            </a:r>
          </a:p>
        </p:txBody>
      </p:sp>
      <p:sp>
        <p:nvSpPr>
          <p:cNvPr id="5" name="Slide Number Placeholder 4"/>
          <p:cNvSpPr>
            <a:spLocks noGrp="1"/>
          </p:cNvSpPr>
          <p:nvPr>
            <p:ph type="sldNum" sz="quarter" idx="10"/>
          </p:nvPr>
        </p:nvSpPr>
        <p:spPr/>
        <p:txBody>
          <a:bodyPr/>
          <a:lstStyle/>
          <a:p>
            <a:pPr>
              <a:defRPr/>
            </a:pPr>
            <a:fld id="{7FA0082A-2E45-8143-841D-0A2F8909DF89}" type="slidenum">
              <a:rPr lang="en-US"/>
              <a:pPr>
                <a:defRPr/>
              </a:pPr>
              <a:t>10</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8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98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98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981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981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9811">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98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3"/>
          <p:cNvSpPr>
            <a:spLocks noGrp="1" noChangeArrowheads="1"/>
          </p:cNvSpPr>
          <p:nvPr>
            <p:ph idx="1"/>
          </p:nvPr>
        </p:nvSpPr>
        <p:spPr/>
        <p:txBody>
          <a:bodyPr/>
          <a:lstStyle/>
          <a:p>
            <a:pPr marL="342900" indent="-342900" eaLnBrk="1" hangingPunct="1">
              <a:buFontTx/>
              <a:buNone/>
              <a:defRPr/>
            </a:pPr>
            <a:r>
              <a:rPr lang="en-US">
                <a:cs typeface="+mn-cs"/>
              </a:rPr>
              <a:t>Consider the following project:</a:t>
            </a:r>
          </a:p>
        </p:txBody>
      </p:sp>
      <p:sp>
        <p:nvSpPr>
          <p:cNvPr id="121858" name="Rectangle 2"/>
          <p:cNvSpPr>
            <a:spLocks noGrp="1" noChangeArrowheads="1"/>
          </p:cNvSpPr>
          <p:nvPr>
            <p:ph type="title"/>
          </p:nvPr>
        </p:nvSpPr>
        <p:spPr/>
        <p:txBody>
          <a:bodyPr/>
          <a:lstStyle/>
          <a:p>
            <a:pPr eaLnBrk="1" hangingPunct="1">
              <a:defRPr/>
            </a:pPr>
            <a:r>
              <a:rPr lang="en-US" b="1">
                <a:cs typeface="+mj-cs"/>
              </a:rPr>
              <a:t> IRR: Example</a:t>
            </a:r>
          </a:p>
        </p:txBody>
      </p:sp>
      <p:sp>
        <p:nvSpPr>
          <p:cNvPr id="21" name="Slide Number Placeholder 4"/>
          <p:cNvSpPr>
            <a:spLocks noGrp="1"/>
          </p:cNvSpPr>
          <p:nvPr>
            <p:ph type="sldNum" sz="quarter" idx="10"/>
          </p:nvPr>
        </p:nvSpPr>
        <p:spPr/>
        <p:txBody>
          <a:bodyPr/>
          <a:lstStyle/>
          <a:p>
            <a:pPr>
              <a:defRPr/>
            </a:pPr>
            <a:fld id="{6C62874B-0ECF-0340-9E87-04563C15089E}" type="slidenum">
              <a:rPr lang="en-US"/>
              <a:pPr>
                <a:defRPr/>
              </a:pPr>
              <a:t>11</a:t>
            </a:fld>
            <a:endParaRPr lang="en-US"/>
          </a:p>
        </p:txBody>
      </p:sp>
      <p:sp>
        <p:nvSpPr>
          <p:cNvPr id="20" name="Footer Placeholder 3"/>
          <p:cNvSpPr>
            <a:spLocks noGrp="1"/>
          </p:cNvSpPr>
          <p:nvPr>
            <p:ph type="ftr" sz="quarter" idx="11"/>
          </p:nvPr>
        </p:nvSpPr>
        <p:spPr/>
        <p:txBody>
          <a:bodyPr/>
          <a:lstStyle/>
          <a:p>
            <a:pPr>
              <a:defRPr/>
            </a:pPr>
            <a:r>
              <a:rPr lang="en-US"/>
              <a:t>Internal Rate of Return</a:t>
            </a:r>
          </a:p>
        </p:txBody>
      </p:sp>
      <p:grpSp>
        <p:nvGrpSpPr>
          <p:cNvPr id="121860" name="Group 4"/>
          <p:cNvGrpSpPr>
            <a:grpSpLocks/>
          </p:cNvGrpSpPr>
          <p:nvPr/>
        </p:nvGrpSpPr>
        <p:grpSpPr bwMode="auto">
          <a:xfrm>
            <a:off x="990600" y="1524000"/>
            <a:ext cx="6477000" cy="2133600"/>
            <a:chOff x="624" y="1296"/>
            <a:chExt cx="4080" cy="1344"/>
          </a:xfrm>
        </p:grpSpPr>
        <p:sp>
          <p:nvSpPr>
            <p:cNvPr id="121861" name="Line 5"/>
            <p:cNvSpPr>
              <a:spLocks noChangeShapeType="1"/>
            </p:cNvSpPr>
            <p:nvPr/>
          </p:nvSpPr>
          <p:spPr bwMode="auto">
            <a:xfrm>
              <a:off x="912" y="1824"/>
              <a:ext cx="3504" cy="0"/>
            </a:xfrm>
            <a:prstGeom prst="line">
              <a:avLst/>
            </a:prstGeom>
            <a:noFill/>
            <a:ln w="38100" cap="sq">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sz="1800">
                <a:latin typeface="Calibri"/>
                <a:cs typeface="+mn-cs"/>
              </a:endParaRPr>
            </a:p>
          </p:txBody>
        </p:sp>
        <p:sp>
          <p:nvSpPr>
            <p:cNvPr id="121862" name="Line 6"/>
            <p:cNvSpPr>
              <a:spLocks noChangeShapeType="1"/>
            </p:cNvSpPr>
            <p:nvPr/>
          </p:nvSpPr>
          <p:spPr bwMode="auto">
            <a:xfrm>
              <a:off x="912" y="1632"/>
              <a:ext cx="0" cy="384"/>
            </a:xfrm>
            <a:prstGeom prst="line">
              <a:avLst/>
            </a:prstGeom>
            <a:noFill/>
            <a:ln w="38100" cap="sq">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sz="1800">
                <a:latin typeface="Calibri"/>
                <a:cs typeface="+mn-cs"/>
              </a:endParaRPr>
            </a:p>
          </p:txBody>
        </p:sp>
        <p:sp>
          <p:nvSpPr>
            <p:cNvPr id="121863" name="Line 7"/>
            <p:cNvSpPr>
              <a:spLocks noChangeShapeType="1"/>
            </p:cNvSpPr>
            <p:nvPr/>
          </p:nvSpPr>
          <p:spPr bwMode="auto">
            <a:xfrm>
              <a:off x="2077" y="1632"/>
              <a:ext cx="0" cy="384"/>
            </a:xfrm>
            <a:prstGeom prst="line">
              <a:avLst/>
            </a:prstGeom>
            <a:noFill/>
            <a:ln w="38100" cap="sq">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sz="1800">
                <a:latin typeface="Calibri"/>
                <a:cs typeface="+mn-cs"/>
              </a:endParaRPr>
            </a:p>
          </p:txBody>
        </p:sp>
        <p:sp>
          <p:nvSpPr>
            <p:cNvPr id="121864" name="Line 8"/>
            <p:cNvSpPr>
              <a:spLocks noChangeShapeType="1"/>
            </p:cNvSpPr>
            <p:nvPr/>
          </p:nvSpPr>
          <p:spPr bwMode="auto">
            <a:xfrm>
              <a:off x="3243" y="1632"/>
              <a:ext cx="0" cy="384"/>
            </a:xfrm>
            <a:prstGeom prst="line">
              <a:avLst/>
            </a:prstGeom>
            <a:noFill/>
            <a:ln w="38100" cap="sq">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sz="1800">
                <a:latin typeface="Calibri"/>
                <a:cs typeface="+mn-cs"/>
              </a:endParaRPr>
            </a:p>
          </p:txBody>
        </p:sp>
        <p:sp>
          <p:nvSpPr>
            <p:cNvPr id="121865" name="Line 9"/>
            <p:cNvSpPr>
              <a:spLocks noChangeShapeType="1"/>
            </p:cNvSpPr>
            <p:nvPr/>
          </p:nvSpPr>
          <p:spPr bwMode="auto">
            <a:xfrm>
              <a:off x="4416" y="1632"/>
              <a:ext cx="0" cy="384"/>
            </a:xfrm>
            <a:prstGeom prst="line">
              <a:avLst/>
            </a:prstGeom>
            <a:noFill/>
            <a:ln w="38100" cap="sq">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sz="1800">
                <a:latin typeface="Calibri"/>
                <a:cs typeface="+mn-cs"/>
              </a:endParaRPr>
            </a:p>
          </p:txBody>
        </p:sp>
        <p:sp>
          <p:nvSpPr>
            <p:cNvPr id="121866" name="Text Box 10"/>
            <p:cNvSpPr txBox="1">
              <a:spLocks noChangeArrowheads="1"/>
            </p:cNvSpPr>
            <p:nvPr/>
          </p:nvSpPr>
          <p:spPr bwMode="auto">
            <a:xfrm>
              <a:off x="816" y="2112"/>
              <a:ext cx="192"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0</a:t>
              </a:r>
            </a:p>
          </p:txBody>
        </p:sp>
        <p:sp>
          <p:nvSpPr>
            <p:cNvPr id="121867" name="Text Box 11"/>
            <p:cNvSpPr txBox="1">
              <a:spLocks noChangeArrowheads="1"/>
            </p:cNvSpPr>
            <p:nvPr/>
          </p:nvSpPr>
          <p:spPr bwMode="auto">
            <a:xfrm>
              <a:off x="1968" y="2112"/>
              <a:ext cx="192"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1</a:t>
              </a:r>
            </a:p>
          </p:txBody>
        </p:sp>
        <p:sp>
          <p:nvSpPr>
            <p:cNvPr id="121868" name="Text Box 12"/>
            <p:cNvSpPr txBox="1">
              <a:spLocks noChangeArrowheads="1"/>
            </p:cNvSpPr>
            <p:nvPr/>
          </p:nvSpPr>
          <p:spPr bwMode="auto">
            <a:xfrm>
              <a:off x="3120" y="2112"/>
              <a:ext cx="192"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2</a:t>
              </a:r>
            </a:p>
          </p:txBody>
        </p:sp>
        <p:sp>
          <p:nvSpPr>
            <p:cNvPr id="121869" name="Text Box 13"/>
            <p:cNvSpPr txBox="1">
              <a:spLocks noChangeArrowheads="1"/>
            </p:cNvSpPr>
            <p:nvPr/>
          </p:nvSpPr>
          <p:spPr bwMode="auto">
            <a:xfrm>
              <a:off x="4320" y="2112"/>
              <a:ext cx="192"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3</a:t>
              </a:r>
            </a:p>
          </p:txBody>
        </p:sp>
        <p:sp>
          <p:nvSpPr>
            <p:cNvPr id="121870" name="Text Box 14"/>
            <p:cNvSpPr txBox="1">
              <a:spLocks noChangeArrowheads="1"/>
            </p:cNvSpPr>
            <p:nvPr/>
          </p:nvSpPr>
          <p:spPr bwMode="auto">
            <a:xfrm>
              <a:off x="1776" y="1296"/>
              <a:ext cx="576"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$50</a:t>
              </a:r>
            </a:p>
          </p:txBody>
        </p:sp>
        <p:sp>
          <p:nvSpPr>
            <p:cNvPr id="121871" name="Text Box 15"/>
            <p:cNvSpPr txBox="1">
              <a:spLocks noChangeArrowheads="1"/>
            </p:cNvSpPr>
            <p:nvPr/>
          </p:nvSpPr>
          <p:spPr bwMode="auto">
            <a:xfrm>
              <a:off x="2976" y="1296"/>
              <a:ext cx="576"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$100</a:t>
              </a:r>
            </a:p>
          </p:txBody>
        </p:sp>
        <p:sp>
          <p:nvSpPr>
            <p:cNvPr id="121872" name="Text Box 16"/>
            <p:cNvSpPr txBox="1">
              <a:spLocks noChangeArrowheads="1"/>
            </p:cNvSpPr>
            <p:nvPr/>
          </p:nvSpPr>
          <p:spPr bwMode="auto">
            <a:xfrm>
              <a:off x="4128" y="1296"/>
              <a:ext cx="576"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$150</a:t>
              </a:r>
            </a:p>
          </p:txBody>
        </p:sp>
        <p:sp>
          <p:nvSpPr>
            <p:cNvPr id="121873" name="Text Box 17"/>
            <p:cNvSpPr txBox="1">
              <a:spLocks noChangeArrowheads="1"/>
            </p:cNvSpPr>
            <p:nvPr/>
          </p:nvSpPr>
          <p:spPr bwMode="auto">
            <a:xfrm>
              <a:off x="624" y="2352"/>
              <a:ext cx="576"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i="1">
                  <a:latin typeface="Times New Roman" charset="0"/>
                  <a:cs typeface="+mn-cs"/>
                </a:rPr>
                <a:t>-$200</a:t>
              </a:r>
            </a:p>
          </p:txBody>
        </p:sp>
      </p:grpSp>
      <p:sp>
        <p:nvSpPr>
          <p:cNvPr id="121874" name="Rectangle 18"/>
          <p:cNvSpPr>
            <a:spLocks noChangeArrowheads="1"/>
          </p:cNvSpPr>
          <p:nvPr/>
        </p:nvSpPr>
        <p:spPr bwMode="auto">
          <a:xfrm>
            <a:off x="824617" y="3912261"/>
            <a:ext cx="83439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671739"/>
              </a:buClr>
              <a:defRPr/>
            </a:pPr>
            <a:r>
              <a:rPr lang="en-US" sz="2800" dirty="0">
                <a:latin typeface="+mn-lt"/>
                <a:cs typeface="+mn-cs"/>
              </a:rPr>
              <a:t>The internal rate of return for this project is 19.44%</a:t>
            </a:r>
          </a:p>
        </p:txBody>
      </p:sp>
      <p:graphicFrame>
        <p:nvGraphicFramePr>
          <p:cNvPr id="121876" name="Object 20"/>
          <p:cNvGraphicFramePr>
            <a:graphicFrameLocks noChangeAspect="1"/>
          </p:cNvGraphicFramePr>
          <p:nvPr/>
        </p:nvGraphicFramePr>
        <p:xfrm>
          <a:off x="304800" y="4953000"/>
          <a:ext cx="8305800" cy="1143000"/>
        </p:xfrm>
        <a:graphic>
          <a:graphicData uri="http://schemas.openxmlformats.org/presentationml/2006/ole">
            <mc:AlternateContent xmlns:mc="http://schemas.openxmlformats.org/markup-compatibility/2006">
              <mc:Choice xmlns:v="urn:schemas-microsoft-com:vml" Requires="v">
                <p:oleObj name="Equation" r:id="rId3" imgW="3163320" imgH="383760" progId="Equation.3">
                  <p:embed/>
                </p:oleObj>
              </mc:Choice>
              <mc:Fallback>
                <p:oleObj name="Equation" r:id="rId3" imgW="3163320" imgH="383760" progId="Equation.3">
                  <p:embed/>
                  <p:pic>
                    <p:nvPicPr>
                      <p:cNvPr id="121876"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4953000"/>
                        <a:ext cx="83058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121860"/>
                                        </p:tgtEl>
                                        <p:attrNameLst>
                                          <p:attrName>style.visibility</p:attrName>
                                        </p:attrNameLst>
                                      </p:cBhvr>
                                      <p:to>
                                        <p:strVal val="visible"/>
                                      </p:to>
                                    </p:set>
                                    <p:animEffect transition="in" filter="wipe(left)">
                                      <p:cBhvr>
                                        <p:cTn id="11" dur="500"/>
                                        <p:tgtEl>
                                          <p:spTgt spid="12186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121874"/>
                                        </p:tgtEl>
                                        <p:attrNameLst>
                                          <p:attrName>style.visibility</p:attrName>
                                        </p:attrNameLst>
                                      </p:cBhvr>
                                      <p:to>
                                        <p:strVal val="visible"/>
                                      </p:to>
                                    </p:set>
                                    <p:anim calcmode="lin" valueType="num">
                                      <p:cBhvr additive="base">
                                        <p:cTn id="16" dur="500" fill="hold"/>
                                        <p:tgtEl>
                                          <p:spTgt spid="121874"/>
                                        </p:tgtEl>
                                        <p:attrNameLst>
                                          <p:attrName>ppt_x</p:attrName>
                                        </p:attrNameLst>
                                      </p:cBhvr>
                                      <p:tavLst>
                                        <p:tav tm="0">
                                          <p:val>
                                            <p:strVal val="#ppt_x"/>
                                          </p:val>
                                        </p:tav>
                                        <p:tav tm="100000">
                                          <p:val>
                                            <p:strVal val="#ppt_x"/>
                                          </p:val>
                                        </p:tav>
                                      </p:tavLst>
                                    </p:anim>
                                    <p:anim calcmode="lin" valueType="num">
                                      <p:cBhvr additive="base">
                                        <p:cTn id="17" dur="500" fill="hold"/>
                                        <p:tgtEl>
                                          <p:spTgt spid="121874"/>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1218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P spid="121874"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3352800"/>
            <a:ext cx="8458200" cy="2514600"/>
          </a:xfrm>
        </p:spPr>
        <p:txBody>
          <a:bodyPr/>
          <a:lstStyle/>
          <a:p>
            <a:pPr>
              <a:buFontTx/>
              <a:buChar char="•"/>
              <a:defRPr/>
            </a:pPr>
            <a:r>
              <a:rPr lang="en-US" dirty="0">
                <a:latin typeface="Calibri"/>
              </a:rPr>
              <a:t>If there is no CF for a particular period, enter </a:t>
            </a:r>
            <a:r>
              <a:rPr lang="ja-JP" altLang="en-US" dirty="0">
                <a:latin typeface="Calibri"/>
              </a:rPr>
              <a:t>“</a:t>
            </a:r>
            <a:r>
              <a:rPr lang="en-US" dirty="0">
                <a:latin typeface="Calibri"/>
              </a:rPr>
              <a:t>0</a:t>
            </a:r>
            <a:r>
              <a:rPr lang="ja-JP" altLang="en-US">
                <a:latin typeface="Calibri"/>
              </a:rPr>
              <a:t>”</a:t>
            </a:r>
            <a:r>
              <a:rPr lang="en-US" dirty="0">
                <a:latin typeface="Calibri"/>
              </a:rPr>
              <a:t>.  If not, Excel assumes that the CFs are sequential.</a:t>
            </a:r>
          </a:p>
          <a:p>
            <a:pPr>
              <a:buFontTx/>
              <a:buChar char="•"/>
              <a:defRPr/>
            </a:pPr>
            <a:r>
              <a:rPr lang="en-US" dirty="0">
                <a:latin typeface="Calibri"/>
              </a:rPr>
              <a:t>If the cash flows are not evenly spaced, use </a:t>
            </a:r>
            <a:r>
              <a:rPr lang="en-US" i="1" dirty="0">
                <a:latin typeface="Calibri"/>
              </a:rPr>
              <a:t>XIRR</a:t>
            </a:r>
            <a:r>
              <a:rPr lang="en-US" dirty="0">
                <a:latin typeface="Calibri"/>
              </a:rPr>
              <a:t> instead of </a:t>
            </a:r>
            <a:r>
              <a:rPr lang="en-US" i="1" dirty="0">
                <a:latin typeface="Calibri"/>
              </a:rPr>
              <a:t>IRR</a:t>
            </a:r>
          </a:p>
          <a:p>
            <a:pPr marL="914400" lvl="1" indent="-342900">
              <a:buSzPct val="50000"/>
              <a:defRPr/>
            </a:pPr>
            <a:r>
              <a:rPr lang="en-US" dirty="0">
                <a:latin typeface="Calibri"/>
              </a:rPr>
              <a:t>For a simple demonstration of the limitations of XIRR, look at the following video:  </a:t>
            </a:r>
            <a:r>
              <a:rPr lang="en-US" dirty="0">
                <a:latin typeface="Calibri"/>
                <a:hlinkClick r:id="rId3"/>
              </a:rPr>
              <a:t>XIRR Limitation</a:t>
            </a:r>
            <a:endParaRPr lang="en-US" dirty="0">
              <a:latin typeface="Calibri"/>
            </a:endParaRPr>
          </a:p>
          <a:p>
            <a:pPr marL="971550" lvl="1" indent="-342900">
              <a:buSzPct val="50000"/>
              <a:defRPr/>
            </a:pPr>
            <a:endParaRPr lang="en-US" dirty="0">
              <a:latin typeface="Calibri"/>
            </a:endParaRPr>
          </a:p>
          <a:p>
            <a:endParaRPr lang="en-US" dirty="0"/>
          </a:p>
        </p:txBody>
      </p:sp>
      <p:sp>
        <p:nvSpPr>
          <p:cNvPr id="169986" name="Rectangle 2"/>
          <p:cNvSpPr>
            <a:spLocks noGrp="1" noChangeArrowheads="1"/>
          </p:cNvSpPr>
          <p:nvPr>
            <p:ph type="title"/>
          </p:nvPr>
        </p:nvSpPr>
        <p:spPr/>
        <p:txBody>
          <a:bodyPr/>
          <a:lstStyle/>
          <a:p>
            <a:pPr eaLnBrk="1" hangingPunct="1">
              <a:defRPr/>
            </a:pPr>
            <a:r>
              <a:rPr lang="en-US" b="1">
                <a:cs typeface="+mj-cs"/>
              </a:rPr>
              <a:t>IRR on a Spreadsheet</a:t>
            </a:r>
            <a:endParaRPr lang="en-US">
              <a:cs typeface="+mj-cs"/>
            </a:endParaRPr>
          </a:p>
        </p:txBody>
      </p:sp>
      <p:sp>
        <p:nvSpPr>
          <p:cNvPr id="31" name="Slide Number Placeholder 3"/>
          <p:cNvSpPr>
            <a:spLocks noGrp="1"/>
          </p:cNvSpPr>
          <p:nvPr>
            <p:ph type="sldNum" sz="quarter" idx="10"/>
          </p:nvPr>
        </p:nvSpPr>
        <p:spPr/>
        <p:txBody>
          <a:bodyPr/>
          <a:lstStyle/>
          <a:p>
            <a:pPr>
              <a:defRPr/>
            </a:pPr>
            <a:fld id="{992781CE-147B-844F-9AAA-5A838743B2E4}" type="slidenum">
              <a:rPr lang="en-US"/>
              <a:pPr>
                <a:defRPr/>
              </a:pPr>
              <a:t>12</a:t>
            </a:fld>
            <a:endParaRPr lang="en-US"/>
          </a:p>
        </p:txBody>
      </p:sp>
      <p:sp>
        <p:nvSpPr>
          <p:cNvPr id="30" name="Footer Placeholder 2"/>
          <p:cNvSpPr>
            <a:spLocks noGrp="1"/>
          </p:cNvSpPr>
          <p:nvPr>
            <p:ph type="ftr" sz="quarter" idx="11"/>
          </p:nvPr>
        </p:nvSpPr>
        <p:spPr/>
        <p:txBody>
          <a:bodyPr/>
          <a:lstStyle/>
          <a:p>
            <a:pPr>
              <a:defRPr/>
            </a:pPr>
            <a:r>
              <a:rPr lang="en-US"/>
              <a:t>Internal Rate of Return</a:t>
            </a:r>
          </a:p>
        </p:txBody>
      </p:sp>
      <p:graphicFrame>
        <p:nvGraphicFramePr>
          <p:cNvPr id="170066" name="Group 82"/>
          <p:cNvGraphicFramePr>
            <a:graphicFrameLocks noGrp="1"/>
          </p:cNvGraphicFramePr>
          <p:nvPr>
            <p:extLst>
              <p:ext uri="{D42A27DB-BD31-4B8C-83A1-F6EECF244321}">
                <p14:modId xmlns:p14="http://schemas.microsoft.com/office/powerpoint/2010/main" val="920684522"/>
              </p:ext>
            </p:extLst>
          </p:nvPr>
        </p:nvGraphicFramePr>
        <p:xfrm>
          <a:off x="304800" y="1727341"/>
          <a:ext cx="8458200" cy="1373047"/>
        </p:xfrm>
        <a:graphic>
          <a:graphicData uri="http://schemas.openxmlformats.org/drawingml/2006/table">
            <a:tbl>
              <a:tblPr/>
              <a:tblGrid>
                <a:gridCol w="609600">
                  <a:extLst>
                    <a:ext uri="{9D8B030D-6E8A-4147-A177-3AD203B41FA5}">
                      <a16:colId xmlns:a16="http://schemas.microsoft.com/office/drawing/2014/main" val="20000"/>
                    </a:ext>
                  </a:extLst>
                </a:gridCol>
                <a:gridCol w="1050925">
                  <a:extLst>
                    <a:ext uri="{9D8B030D-6E8A-4147-A177-3AD203B41FA5}">
                      <a16:colId xmlns:a16="http://schemas.microsoft.com/office/drawing/2014/main" val="20001"/>
                    </a:ext>
                  </a:extLst>
                </a:gridCol>
                <a:gridCol w="619125">
                  <a:extLst>
                    <a:ext uri="{9D8B030D-6E8A-4147-A177-3AD203B41FA5}">
                      <a16:colId xmlns:a16="http://schemas.microsoft.com/office/drawing/2014/main" val="20002"/>
                    </a:ext>
                  </a:extLst>
                </a:gridCol>
                <a:gridCol w="808038">
                  <a:extLst>
                    <a:ext uri="{9D8B030D-6E8A-4147-A177-3AD203B41FA5}">
                      <a16:colId xmlns:a16="http://schemas.microsoft.com/office/drawing/2014/main" val="20003"/>
                    </a:ext>
                  </a:extLst>
                </a:gridCol>
                <a:gridCol w="806450">
                  <a:extLst>
                    <a:ext uri="{9D8B030D-6E8A-4147-A177-3AD203B41FA5}">
                      <a16:colId xmlns:a16="http://schemas.microsoft.com/office/drawing/2014/main" val="20004"/>
                    </a:ext>
                  </a:extLst>
                </a:gridCol>
                <a:gridCol w="1744662">
                  <a:extLst>
                    <a:ext uri="{9D8B030D-6E8A-4147-A177-3AD203B41FA5}">
                      <a16:colId xmlns:a16="http://schemas.microsoft.com/office/drawing/2014/main" val="20005"/>
                    </a:ext>
                  </a:extLst>
                </a:gridCol>
                <a:gridCol w="2819400">
                  <a:extLst>
                    <a:ext uri="{9D8B030D-6E8A-4147-A177-3AD203B41FA5}">
                      <a16:colId xmlns:a16="http://schemas.microsoft.com/office/drawing/2014/main" val="20006"/>
                    </a:ext>
                  </a:extLst>
                </a:gridCol>
              </a:tblGrid>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dirty="0">
                        <a:ln>
                          <a:noFill/>
                        </a:ln>
                        <a:solidFill>
                          <a:schemeClr val="tx1"/>
                        </a:solidFill>
                        <a:effectLst/>
                        <a:latin typeface="Calibri"/>
                        <a:ea typeface="ＭＳ Ｐゴシック" charset="0"/>
                      </a:endParaRPr>
                    </a:p>
                  </a:txBody>
                  <a:tcPr marT="45741" marB="4574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A</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B</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C</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D</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E</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F</a:t>
                      </a:r>
                    </a:p>
                  </a:txBody>
                  <a:tcPr marT="45741" marB="4574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0"/>
                  </a:ext>
                </a:extLst>
              </a:tr>
              <a:tr h="97676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1</a:t>
                      </a:r>
                    </a:p>
                  </a:txBody>
                  <a:tcPr marT="45741" marB="4574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10000"/>
                        <a:lumOff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Calibri"/>
                          <a:ea typeface="ＭＳ Ｐゴシック" charset="0"/>
                        </a:rPr>
                        <a:t>-200</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Calibri"/>
                          <a:ea typeface="ＭＳ Ｐゴシック" charset="0"/>
                        </a:rPr>
                        <a:t>50</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Calibri"/>
                          <a:ea typeface="ＭＳ Ｐゴシック" charset="0"/>
                        </a:rPr>
                        <a:t>100</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150</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Calibri"/>
                          <a:ea typeface="ＭＳ Ｐゴシック" charset="0"/>
                        </a:rPr>
                        <a:t>=IRR(A1:D1)</a:t>
                      </a:r>
                    </a:p>
                  </a:txBody>
                  <a:tcPr marT="45741" marB="457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7F9A5"/>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alibri"/>
                          <a:ea typeface="ＭＳ Ｐゴシック" charset="0"/>
                        </a:rPr>
                        <a:t>&lt;---E1 will be 19.44%</a:t>
                      </a:r>
                    </a:p>
                  </a:txBody>
                  <a:tcPr marT="45741" marB="4574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Grp="1" noChangeAspect="1" noChangeArrowheads="1"/>
          </p:cNvPicPr>
          <p:nvPr>
            <p:ph idx="1"/>
          </p:nvPr>
        </p:nvPicPr>
        <p:blipFill>
          <a:blip r:embed="rId2"/>
          <a:stretch>
            <a:fillRect/>
          </a:stretch>
        </p:blipFill>
        <p:spPr bwMode="auto">
          <a:xfrm>
            <a:off x="609600" y="685416"/>
            <a:ext cx="8077200" cy="1528397"/>
          </a:xfrm>
          <a:prstGeom prst="rect">
            <a:avLst/>
          </a:prstGeom>
          <a:noFill/>
          <a:ln w="9525">
            <a:noFill/>
            <a:miter lim="800000"/>
            <a:headEnd/>
            <a:tailEnd/>
          </a:ln>
        </p:spPr>
      </p:pic>
      <p:sp>
        <p:nvSpPr>
          <p:cNvPr id="2" name="Title 1"/>
          <p:cNvSpPr>
            <a:spLocks noGrp="1"/>
          </p:cNvSpPr>
          <p:nvPr>
            <p:ph type="title"/>
          </p:nvPr>
        </p:nvSpPr>
        <p:spPr/>
        <p:txBody>
          <a:bodyPr/>
          <a:lstStyle/>
          <a:p>
            <a:r>
              <a:rPr lang="en-US" b="1" dirty="0"/>
              <a:t>IRR</a:t>
            </a:r>
          </a:p>
        </p:txBody>
      </p:sp>
      <p:sp>
        <p:nvSpPr>
          <p:cNvPr id="5" name="Slide Number Placeholder 4"/>
          <p:cNvSpPr>
            <a:spLocks noGrp="1"/>
          </p:cNvSpPr>
          <p:nvPr>
            <p:ph type="sldNum" sz="quarter" idx="10"/>
          </p:nvPr>
        </p:nvSpPr>
        <p:spPr/>
        <p:txBody>
          <a:bodyPr/>
          <a:lstStyle/>
          <a:p>
            <a:pPr>
              <a:defRPr/>
            </a:pPr>
            <a:fld id="{53C6635A-34F3-A644-864C-965AFE2D12DE}" type="slidenum">
              <a:rPr lang="en-US" smtClean="0"/>
              <a:pPr>
                <a:defRPr/>
              </a:pPr>
              <a:t>13</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pic>
        <p:nvPicPr>
          <p:cNvPr id="68611" name="Picture 3"/>
          <p:cNvPicPr>
            <a:picLocks noChangeAspect="1" noChangeArrowheads="1"/>
          </p:cNvPicPr>
          <p:nvPr/>
        </p:nvPicPr>
        <p:blipFill>
          <a:blip r:embed="rId3"/>
          <a:srcRect/>
          <a:stretch>
            <a:fillRect/>
          </a:stretch>
        </p:blipFill>
        <p:spPr bwMode="auto">
          <a:xfrm>
            <a:off x="1600200" y="2292258"/>
            <a:ext cx="5105400" cy="3962400"/>
          </a:xfrm>
          <a:prstGeom prst="rect">
            <a:avLst/>
          </a:prstGeom>
          <a:noFill/>
          <a:ln w="9525">
            <a:noFill/>
            <a:miter lim="800000"/>
            <a:headEnd/>
            <a:tailEnd/>
          </a:ln>
        </p:spPr>
      </p:pic>
      <p:sp>
        <p:nvSpPr>
          <p:cNvPr id="8" name="TextBox 7"/>
          <p:cNvSpPr txBox="1"/>
          <p:nvPr/>
        </p:nvSpPr>
        <p:spPr>
          <a:xfrm>
            <a:off x="6606870" y="5997686"/>
            <a:ext cx="2460930" cy="230832"/>
          </a:xfrm>
          <a:prstGeom prst="rect">
            <a:avLst/>
          </a:prstGeom>
          <a:noFill/>
        </p:spPr>
        <p:txBody>
          <a:bodyPr wrap="none" rtlCol="0">
            <a:spAutoFit/>
          </a:bodyPr>
          <a:lstStyle/>
          <a:p>
            <a:r>
              <a:rPr lang="en-US" sz="900" dirty="0"/>
              <a:t>Form 6-K, Ex. 10.1 </a:t>
            </a:r>
            <a:r>
              <a:rPr lang="en-US" sz="900" dirty="0" err="1"/>
              <a:t>Costomare</a:t>
            </a:r>
            <a:r>
              <a:rPr lang="en-US" sz="900" dirty="0"/>
              <a:t> Inc. (5/29/13)</a:t>
            </a:r>
          </a:p>
        </p:txBody>
      </p:sp>
      <p:cxnSp>
        <p:nvCxnSpPr>
          <p:cNvPr id="6" name="Straight Arrow Connector 5">
            <a:extLst>
              <a:ext uri="{FF2B5EF4-FFF2-40B4-BE49-F238E27FC236}">
                <a16:creationId xmlns:a16="http://schemas.microsoft.com/office/drawing/2014/main" id="{571C4FCB-EE56-D640-A828-891544E78806}"/>
              </a:ext>
            </a:extLst>
          </p:cNvPr>
          <p:cNvCxnSpPr/>
          <p:nvPr/>
        </p:nvCxnSpPr>
        <p:spPr>
          <a:xfrm>
            <a:off x="914400" y="4724400"/>
            <a:ext cx="990600"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eaLnBrk="1" hangingPunct="1">
              <a:defRPr/>
            </a:pPr>
            <a:r>
              <a:rPr lang="en-US" b="1" dirty="0">
                <a:cs typeface="+mj-cs"/>
              </a:rPr>
              <a:t>The IRR is a Return (</a:t>
            </a:r>
            <a:r>
              <a:rPr lang="en-US" b="1" i="1" dirty="0">
                <a:cs typeface="+mj-cs"/>
              </a:rPr>
              <a:t>Sometimes</a:t>
            </a:r>
            <a:r>
              <a:rPr lang="en-US" b="1" dirty="0">
                <a:cs typeface="+mj-cs"/>
              </a:rPr>
              <a:t>)</a:t>
            </a:r>
            <a:endParaRPr lang="en-US" dirty="0">
              <a:cs typeface="+mj-cs"/>
            </a:endParaRPr>
          </a:p>
        </p:txBody>
      </p:sp>
      <p:sp>
        <p:nvSpPr>
          <p:cNvPr id="5" name="Slide Number Placeholder 3"/>
          <p:cNvSpPr>
            <a:spLocks noGrp="1"/>
          </p:cNvSpPr>
          <p:nvPr>
            <p:ph type="sldNum" sz="quarter" idx="10"/>
          </p:nvPr>
        </p:nvSpPr>
        <p:spPr/>
        <p:txBody>
          <a:bodyPr/>
          <a:lstStyle/>
          <a:p>
            <a:pPr>
              <a:defRPr/>
            </a:pPr>
            <a:fld id="{B7916D47-E3AA-6041-A7A5-A81239BCEB62}" type="slidenum">
              <a:rPr lang="en-US"/>
              <a:pPr>
                <a:defRPr/>
              </a:pPr>
              <a:t>14</a:t>
            </a:fld>
            <a:endParaRPr lang="en-US"/>
          </a:p>
        </p:txBody>
      </p:sp>
      <p:sp>
        <p:nvSpPr>
          <p:cNvPr id="4" name="Footer Placeholder 2"/>
          <p:cNvSpPr>
            <a:spLocks noGrp="1"/>
          </p:cNvSpPr>
          <p:nvPr>
            <p:ph type="ftr" sz="quarter" idx="11"/>
          </p:nvPr>
        </p:nvSpPr>
        <p:spPr/>
        <p:txBody>
          <a:bodyPr/>
          <a:lstStyle/>
          <a:p>
            <a:pPr>
              <a:defRPr/>
            </a:pPr>
            <a:r>
              <a:rPr lang="en-US"/>
              <a:t>Internal Rate of Return</a:t>
            </a:r>
          </a:p>
        </p:txBody>
      </p:sp>
      <p:graphicFrame>
        <p:nvGraphicFramePr>
          <p:cNvPr id="29700" name="Object 5"/>
          <p:cNvGraphicFramePr>
            <a:graphicFrameLocks noChangeAspect="1"/>
          </p:cNvGraphicFramePr>
          <p:nvPr>
            <p:extLst>
              <p:ext uri="{D42A27DB-BD31-4B8C-83A1-F6EECF244321}">
                <p14:modId xmlns:p14="http://schemas.microsoft.com/office/powerpoint/2010/main" val="3362448164"/>
              </p:ext>
            </p:extLst>
          </p:nvPr>
        </p:nvGraphicFramePr>
        <p:xfrm>
          <a:off x="969963" y="1050925"/>
          <a:ext cx="7308850" cy="3800475"/>
        </p:xfrm>
        <a:graphic>
          <a:graphicData uri="http://schemas.openxmlformats.org/presentationml/2006/ole">
            <mc:AlternateContent xmlns:mc="http://schemas.openxmlformats.org/markup-compatibility/2006">
              <mc:Choice xmlns:v="urn:schemas-microsoft-com:vml" Requires="v">
                <p:oleObj name="Worksheet" r:id="rId3" imgW="6032500" imgH="2082800" progId="Excel.Sheet.8">
                  <p:embed/>
                </p:oleObj>
              </mc:Choice>
              <mc:Fallback>
                <p:oleObj name="Worksheet" r:id="rId3" imgW="6032500" imgH="2082800" progId="Excel.Sheet.8">
                  <p:embed/>
                  <p:pic>
                    <p:nvPicPr>
                      <p:cNvPr id="29700" name="Object 5"/>
                      <p:cNvPicPr>
                        <a:picLocks noChangeAspect="1" noChangeArrowheads="1"/>
                      </p:cNvPicPr>
                      <p:nvPr/>
                    </p:nvPicPr>
                    <p:blipFill>
                      <a:blip r:embed="rId4"/>
                      <a:srcRect/>
                      <a:stretch>
                        <a:fillRect/>
                      </a:stretch>
                    </p:blipFill>
                    <p:spPr bwMode="auto">
                      <a:xfrm>
                        <a:off x="969963" y="1050925"/>
                        <a:ext cx="7308850" cy="3800475"/>
                      </a:xfrm>
                      <a:prstGeom prst="rect">
                        <a:avLst/>
                      </a:prstGeom>
                      <a:noFill/>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defRPr/>
            </a:pPr>
            <a:r>
              <a:rPr lang="en-US" b="1">
                <a:cs typeface="+mj-cs"/>
              </a:rPr>
              <a:t>The NPV Payoff Profile for This Example</a:t>
            </a:r>
          </a:p>
        </p:txBody>
      </p:sp>
      <p:sp>
        <p:nvSpPr>
          <p:cNvPr id="7" name="Slide Number Placeholder 3"/>
          <p:cNvSpPr>
            <a:spLocks noGrp="1"/>
          </p:cNvSpPr>
          <p:nvPr>
            <p:ph type="sldNum" sz="quarter" idx="10"/>
          </p:nvPr>
        </p:nvSpPr>
        <p:spPr/>
        <p:txBody>
          <a:bodyPr/>
          <a:lstStyle/>
          <a:p>
            <a:pPr>
              <a:defRPr/>
            </a:pPr>
            <a:fld id="{2F409A0A-5E59-EF49-85B8-8E338D6FB9B1}" type="slidenum">
              <a:rPr lang="en-US"/>
              <a:pPr>
                <a:defRPr/>
              </a:pPr>
              <a:t>15</a:t>
            </a:fld>
            <a:endParaRPr lang="en-US"/>
          </a:p>
        </p:txBody>
      </p:sp>
      <p:sp>
        <p:nvSpPr>
          <p:cNvPr id="6" name="Footer Placeholder 2"/>
          <p:cNvSpPr>
            <a:spLocks noGrp="1"/>
          </p:cNvSpPr>
          <p:nvPr>
            <p:ph type="ftr" sz="quarter" idx="11"/>
          </p:nvPr>
        </p:nvSpPr>
        <p:spPr/>
        <p:txBody>
          <a:bodyPr/>
          <a:lstStyle/>
          <a:p>
            <a:pPr>
              <a:defRPr/>
            </a:pPr>
            <a:r>
              <a:rPr lang="en-US"/>
              <a:t>Internal Rate of Return</a:t>
            </a:r>
          </a:p>
        </p:txBody>
      </p:sp>
      <p:graphicFrame>
        <p:nvGraphicFramePr>
          <p:cNvPr id="123907" name="Object 3"/>
          <p:cNvGraphicFramePr>
            <a:graphicFrameLocks noChangeAspect="1"/>
          </p:cNvGraphicFramePr>
          <p:nvPr>
            <p:extLst>
              <p:ext uri="{D42A27DB-BD31-4B8C-83A1-F6EECF244321}">
                <p14:modId xmlns:p14="http://schemas.microsoft.com/office/powerpoint/2010/main" val="791823717"/>
              </p:ext>
            </p:extLst>
          </p:nvPr>
        </p:nvGraphicFramePr>
        <p:xfrm>
          <a:off x="609600" y="2590800"/>
          <a:ext cx="2490788" cy="2767013"/>
        </p:xfrm>
        <a:graphic>
          <a:graphicData uri="http://schemas.openxmlformats.org/presentationml/2006/ole">
            <mc:AlternateContent xmlns:mc="http://schemas.openxmlformats.org/markup-compatibility/2006">
              <mc:Choice xmlns:v="urn:schemas-microsoft-com:vml" Requires="v">
                <p:oleObj name="Worksheet" r:id="rId3" imgW="2477520" imgH="2751840" progId="Excel.Sheet.8">
                  <p:embed/>
                </p:oleObj>
              </mc:Choice>
              <mc:Fallback>
                <p:oleObj name="Worksheet" r:id="rId3" imgW="2477520" imgH="2751840" progId="Excel.Sheet.8">
                  <p:embed/>
                  <p:pic>
                    <p:nvPicPr>
                      <p:cNvPr id="12390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590800"/>
                        <a:ext cx="2490788" cy="27670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123908" name="Text Box 4"/>
          <p:cNvSpPr txBox="1">
            <a:spLocks noChangeArrowheads="1"/>
          </p:cNvSpPr>
          <p:nvPr/>
        </p:nvSpPr>
        <p:spPr bwMode="auto">
          <a:xfrm>
            <a:off x="407085" y="524949"/>
            <a:ext cx="8610600" cy="17543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marL="342900" indent="-342900">
              <a:spcBef>
                <a:spcPct val="50000"/>
              </a:spcBef>
              <a:buFont typeface="Arial" panose="020B0604020202020204" pitchFamily="34" charset="0"/>
              <a:buChar char="•"/>
              <a:defRPr/>
            </a:pPr>
            <a:r>
              <a:rPr lang="en-US" dirty="0">
                <a:latin typeface="Calibri"/>
                <a:cs typeface="Calibri"/>
              </a:rPr>
              <a:t>If you graph NPV as a function of the discount rate, the IRR is where the graph crosses the x-axis intercept--where the NPV = 0</a:t>
            </a:r>
          </a:p>
          <a:p>
            <a:pPr marL="342900" indent="-342900">
              <a:spcBef>
                <a:spcPct val="50000"/>
              </a:spcBef>
              <a:buFont typeface="Arial" panose="020B0604020202020204" pitchFamily="34" charset="0"/>
              <a:buChar char="•"/>
              <a:defRPr/>
            </a:pPr>
            <a:r>
              <a:rPr lang="en-US" dirty="0">
                <a:latin typeface="Calibri"/>
                <a:cs typeface="Calibri"/>
              </a:rPr>
              <a:t>CFs: -200 + 50/(1+r) + 100/(1+r)</a:t>
            </a:r>
            <a:r>
              <a:rPr lang="en-US" baseline="30000" dirty="0">
                <a:latin typeface="Calibri"/>
                <a:cs typeface="Calibri"/>
              </a:rPr>
              <a:t>2</a:t>
            </a:r>
            <a:r>
              <a:rPr lang="en-US" dirty="0">
                <a:latin typeface="Calibri"/>
                <a:cs typeface="Calibri"/>
              </a:rPr>
              <a:t> + 150/(1+r)</a:t>
            </a:r>
            <a:r>
              <a:rPr lang="en-US" baseline="30000" dirty="0">
                <a:latin typeface="Calibri"/>
                <a:cs typeface="Calibri"/>
              </a:rPr>
              <a:t>3</a:t>
            </a:r>
            <a:br>
              <a:rPr lang="en-US" dirty="0">
                <a:latin typeface="Calibri"/>
                <a:cs typeface="Calibri"/>
              </a:rPr>
            </a:br>
            <a:endParaRPr lang="en-US" dirty="0">
              <a:latin typeface="Calibri"/>
              <a:cs typeface="Calibri"/>
            </a:endParaRPr>
          </a:p>
        </p:txBody>
      </p:sp>
      <p:pic>
        <p:nvPicPr>
          <p:cNvPr id="31750" name="Picture 12" descr="npv"/>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2057400"/>
            <a:ext cx="5562600" cy="426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90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42900" indent="-342900">
              <a:spcBef>
                <a:spcPct val="50000"/>
              </a:spcBef>
              <a:defRPr/>
            </a:pPr>
            <a:endParaRPr lang="en-US" sz="3200" dirty="0">
              <a:cs typeface="Calibri"/>
            </a:endParaRPr>
          </a:p>
          <a:p>
            <a:pPr marL="342900" indent="-342900">
              <a:spcBef>
                <a:spcPct val="50000"/>
              </a:spcBef>
              <a:defRPr/>
            </a:pPr>
            <a:r>
              <a:rPr lang="en-US" sz="2400" dirty="0">
                <a:cs typeface="Calibri"/>
              </a:rPr>
              <a:t>Multiple (or no) IRRs</a:t>
            </a:r>
          </a:p>
          <a:p>
            <a:pPr marL="342900" indent="-342900">
              <a:spcBef>
                <a:spcPct val="50000"/>
              </a:spcBef>
              <a:defRPr/>
            </a:pPr>
            <a:r>
              <a:rPr lang="en-US" sz="2400" dirty="0">
                <a:cs typeface="Calibri"/>
              </a:rPr>
              <a:t>The Scale Problem</a:t>
            </a:r>
          </a:p>
          <a:p>
            <a:pPr marL="342900" indent="-342900">
              <a:spcBef>
                <a:spcPct val="50000"/>
              </a:spcBef>
              <a:defRPr/>
            </a:pPr>
            <a:r>
              <a:rPr lang="en-US" sz="2400" dirty="0">
                <a:cs typeface="Calibri"/>
              </a:rPr>
              <a:t>🔥Interim CF Problem</a:t>
            </a:r>
          </a:p>
          <a:p>
            <a:pPr marL="514350" lvl="1" indent="-342900">
              <a:spcBef>
                <a:spcPct val="50000"/>
              </a:spcBef>
              <a:defRPr/>
            </a:pPr>
            <a:r>
              <a:rPr lang="en-US" sz="2250" dirty="0">
                <a:cs typeface="Calibri"/>
              </a:rPr>
              <a:t>Early Exit Problem</a:t>
            </a:r>
          </a:p>
          <a:p>
            <a:pPr marL="342900" indent="-342900">
              <a:spcBef>
                <a:spcPct val="50000"/>
              </a:spcBef>
              <a:defRPr/>
            </a:pPr>
            <a:r>
              <a:rPr lang="en-US" sz="2400" dirty="0">
                <a:cs typeface="Calibri"/>
              </a:rPr>
              <a:t>Investing/Financing Problem</a:t>
            </a:r>
          </a:p>
          <a:p>
            <a:pPr marL="0" indent="0">
              <a:buNone/>
            </a:pPr>
            <a:endParaRPr lang="en-US" sz="2400" dirty="0"/>
          </a:p>
        </p:txBody>
      </p:sp>
      <p:sp>
        <p:nvSpPr>
          <p:cNvPr id="2" name="Title 1"/>
          <p:cNvSpPr>
            <a:spLocks noGrp="1"/>
          </p:cNvSpPr>
          <p:nvPr>
            <p:ph type="title"/>
          </p:nvPr>
        </p:nvSpPr>
        <p:spPr/>
        <p:txBody>
          <a:bodyPr/>
          <a:lstStyle/>
          <a:p>
            <a:r>
              <a:rPr lang="en-US" b="1" dirty="0"/>
              <a:t>Problems with IRR</a:t>
            </a:r>
            <a:r>
              <a:rPr lang="en-US" dirty="0"/>
              <a:t> </a:t>
            </a:r>
          </a:p>
        </p:txBody>
      </p:sp>
      <p:sp>
        <p:nvSpPr>
          <p:cNvPr id="5" name="Slide Number Placeholder 4"/>
          <p:cNvSpPr>
            <a:spLocks noGrp="1"/>
          </p:cNvSpPr>
          <p:nvPr>
            <p:ph type="sldNum" sz="quarter" idx="10"/>
          </p:nvPr>
        </p:nvSpPr>
        <p:spPr/>
        <p:txBody>
          <a:bodyPr/>
          <a:lstStyle/>
          <a:p>
            <a:pPr>
              <a:defRPr/>
            </a:pPr>
            <a:fld id="{53C6635A-34F3-A644-864C-965AFE2D12DE}" type="slidenum">
              <a:rPr lang="en-US"/>
              <a:pPr>
                <a:defRPr/>
              </a:pPr>
              <a:t>16</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Tree>
    <p:extLst>
      <p:ext uri="{BB962C8B-B14F-4D97-AF65-F5344CB8AC3E}">
        <p14:creationId xmlns:p14="http://schemas.microsoft.com/office/powerpoint/2010/main" val="3659863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3" name="Rectangle 3"/>
          <p:cNvSpPr>
            <a:spLocks noGrp="1" noChangeArrowheads="1"/>
          </p:cNvSpPr>
          <p:nvPr>
            <p:ph idx="1"/>
          </p:nvPr>
        </p:nvSpPr>
        <p:spPr/>
        <p:txBody>
          <a:bodyPr/>
          <a:lstStyle/>
          <a:p>
            <a:pPr marL="0" indent="0">
              <a:buFontTx/>
              <a:buNone/>
              <a:tabLst>
                <a:tab pos="1550988" algn="l"/>
                <a:tab pos="4006850" algn="r"/>
                <a:tab pos="6172200" algn="r"/>
              </a:tabLst>
            </a:pPr>
            <a:r>
              <a:rPr lang="en-US" sz="2400"/>
              <a:t>There are two IRRs for this project:  </a:t>
            </a:r>
            <a:endParaRPr lang="en-US"/>
          </a:p>
        </p:txBody>
      </p:sp>
      <p:sp>
        <p:nvSpPr>
          <p:cNvPr id="128002" name="Rectangle 2"/>
          <p:cNvSpPr>
            <a:spLocks noGrp="1" noChangeArrowheads="1"/>
          </p:cNvSpPr>
          <p:nvPr>
            <p:ph type="title"/>
          </p:nvPr>
        </p:nvSpPr>
        <p:spPr/>
        <p:txBody>
          <a:bodyPr/>
          <a:lstStyle/>
          <a:p>
            <a:r>
              <a:rPr lang="en-US" b="1"/>
              <a:t>Multiple IRRs</a:t>
            </a:r>
          </a:p>
        </p:txBody>
      </p:sp>
      <p:sp>
        <p:nvSpPr>
          <p:cNvPr id="23" name="Slide Number Placeholder 4"/>
          <p:cNvSpPr>
            <a:spLocks noGrp="1"/>
          </p:cNvSpPr>
          <p:nvPr>
            <p:ph type="sldNum" sz="quarter" idx="10"/>
          </p:nvPr>
        </p:nvSpPr>
        <p:spPr/>
        <p:txBody>
          <a:bodyPr/>
          <a:lstStyle/>
          <a:p>
            <a:fld id="{1C1AED67-FEDD-425B-9338-4828606B276F}" type="slidenum">
              <a:rPr lang="en-US"/>
              <a:pPr/>
              <a:t>17</a:t>
            </a:fld>
            <a:endParaRPr lang="en-US"/>
          </a:p>
        </p:txBody>
      </p:sp>
      <p:sp>
        <p:nvSpPr>
          <p:cNvPr id="22" name="Footer Placeholder 3"/>
          <p:cNvSpPr>
            <a:spLocks noGrp="1"/>
          </p:cNvSpPr>
          <p:nvPr>
            <p:ph type="ftr" sz="quarter" idx="11"/>
          </p:nvPr>
        </p:nvSpPr>
        <p:spPr/>
        <p:txBody>
          <a:bodyPr/>
          <a:lstStyle/>
          <a:p>
            <a:r>
              <a:rPr lang="en-US"/>
              <a:t>Internal Rate of Return</a:t>
            </a:r>
          </a:p>
        </p:txBody>
      </p:sp>
      <p:grpSp>
        <p:nvGrpSpPr>
          <p:cNvPr id="2" name="Group 4"/>
          <p:cNvGrpSpPr>
            <a:grpSpLocks/>
          </p:cNvGrpSpPr>
          <p:nvPr/>
        </p:nvGrpSpPr>
        <p:grpSpPr bwMode="auto">
          <a:xfrm>
            <a:off x="1219200" y="1676400"/>
            <a:ext cx="5715000" cy="1619250"/>
            <a:chOff x="1488" y="1296"/>
            <a:chExt cx="3600" cy="1406"/>
          </a:xfrm>
        </p:grpSpPr>
        <p:sp>
          <p:nvSpPr>
            <p:cNvPr id="128005" name="Line 5"/>
            <p:cNvSpPr>
              <a:spLocks noChangeShapeType="1"/>
            </p:cNvSpPr>
            <p:nvPr/>
          </p:nvSpPr>
          <p:spPr bwMode="auto">
            <a:xfrm>
              <a:off x="1776" y="1776"/>
              <a:ext cx="2448" cy="0"/>
            </a:xfrm>
            <a:prstGeom prst="line">
              <a:avLst/>
            </a:prstGeom>
            <a:noFill/>
            <a:ln w="38100">
              <a:solidFill>
                <a:schemeClr val="tx1"/>
              </a:solidFill>
              <a:round/>
              <a:headEnd type="none" w="sm" len="sm"/>
              <a:tailEnd type="none" w="sm" len="sm"/>
            </a:ln>
            <a:effectLst/>
          </p:spPr>
          <p:txBody>
            <a:bodyPr/>
            <a:lstStyle/>
            <a:p>
              <a:endParaRPr lang="en-US"/>
            </a:p>
          </p:txBody>
        </p:sp>
        <p:sp>
          <p:nvSpPr>
            <p:cNvPr id="128006" name="Line 6"/>
            <p:cNvSpPr>
              <a:spLocks noChangeShapeType="1"/>
            </p:cNvSpPr>
            <p:nvPr/>
          </p:nvSpPr>
          <p:spPr bwMode="auto">
            <a:xfrm>
              <a:off x="1776" y="1632"/>
              <a:ext cx="0" cy="288"/>
            </a:xfrm>
            <a:prstGeom prst="line">
              <a:avLst/>
            </a:prstGeom>
            <a:noFill/>
            <a:ln w="38100">
              <a:solidFill>
                <a:schemeClr val="tx1"/>
              </a:solidFill>
              <a:round/>
              <a:headEnd type="none" w="sm" len="sm"/>
              <a:tailEnd type="none" w="sm" len="sm"/>
            </a:ln>
            <a:effectLst/>
          </p:spPr>
          <p:txBody>
            <a:bodyPr/>
            <a:lstStyle/>
            <a:p>
              <a:endParaRPr lang="en-US"/>
            </a:p>
          </p:txBody>
        </p:sp>
        <p:sp>
          <p:nvSpPr>
            <p:cNvPr id="128007" name="Line 7"/>
            <p:cNvSpPr>
              <a:spLocks noChangeShapeType="1"/>
            </p:cNvSpPr>
            <p:nvPr/>
          </p:nvSpPr>
          <p:spPr bwMode="auto">
            <a:xfrm>
              <a:off x="2496" y="1632"/>
              <a:ext cx="0" cy="288"/>
            </a:xfrm>
            <a:prstGeom prst="line">
              <a:avLst/>
            </a:prstGeom>
            <a:noFill/>
            <a:ln w="38100">
              <a:solidFill>
                <a:schemeClr val="tx1"/>
              </a:solidFill>
              <a:round/>
              <a:headEnd type="none" w="sm" len="sm"/>
              <a:tailEnd type="none" w="sm" len="sm"/>
            </a:ln>
            <a:effectLst/>
          </p:spPr>
          <p:txBody>
            <a:bodyPr/>
            <a:lstStyle/>
            <a:p>
              <a:endParaRPr lang="en-US"/>
            </a:p>
          </p:txBody>
        </p:sp>
        <p:sp>
          <p:nvSpPr>
            <p:cNvPr id="128008" name="Line 8"/>
            <p:cNvSpPr>
              <a:spLocks noChangeShapeType="1"/>
            </p:cNvSpPr>
            <p:nvPr/>
          </p:nvSpPr>
          <p:spPr bwMode="auto">
            <a:xfrm>
              <a:off x="3456" y="1632"/>
              <a:ext cx="0" cy="288"/>
            </a:xfrm>
            <a:prstGeom prst="line">
              <a:avLst/>
            </a:prstGeom>
            <a:noFill/>
            <a:ln w="38100">
              <a:solidFill>
                <a:schemeClr val="tx1"/>
              </a:solidFill>
              <a:round/>
              <a:headEnd type="none" w="sm" len="sm"/>
              <a:tailEnd type="none" w="sm" len="sm"/>
            </a:ln>
            <a:effectLst/>
          </p:spPr>
          <p:txBody>
            <a:bodyPr/>
            <a:lstStyle/>
            <a:p>
              <a:endParaRPr lang="en-US"/>
            </a:p>
          </p:txBody>
        </p:sp>
        <p:sp>
          <p:nvSpPr>
            <p:cNvPr id="128009" name="Text Box 9"/>
            <p:cNvSpPr txBox="1">
              <a:spLocks noChangeArrowheads="1"/>
            </p:cNvSpPr>
            <p:nvPr/>
          </p:nvSpPr>
          <p:spPr bwMode="auto">
            <a:xfrm>
              <a:off x="1632" y="1967"/>
              <a:ext cx="3456" cy="397"/>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a:latin typeface="Book Antiqua" pitchFamily="84" charset="0"/>
                </a:rPr>
                <a:t>0	    1	        	2             </a:t>
              </a:r>
              <a:r>
                <a:rPr lang="en-US" sz="2400" i="1">
                  <a:latin typeface="Book Antiqua" pitchFamily="84" charset="0"/>
                </a:rPr>
                <a:t>3</a:t>
              </a:r>
            </a:p>
          </p:txBody>
        </p:sp>
        <p:sp>
          <p:nvSpPr>
            <p:cNvPr id="128010" name="Line 10"/>
            <p:cNvSpPr>
              <a:spLocks noChangeShapeType="1"/>
            </p:cNvSpPr>
            <p:nvPr/>
          </p:nvSpPr>
          <p:spPr bwMode="auto">
            <a:xfrm>
              <a:off x="4224" y="1632"/>
              <a:ext cx="0" cy="288"/>
            </a:xfrm>
            <a:prstGeom prst="line">
              <a:avLst/>
            </a:prstGeom>
            <a:noFill/>
            <a:ln w="38100">
              <a:solidFill>
                <a:schemeClr val="tx1"/>
              </a:solidFill>
              <a:round/>
              <a:headEnd type="none" w="sm" len="sm"/>
              <a:tailEnd type="none" w="sm" len="sm"/>
            </a:ln>
            <a:effectLst/>
          </p:spPr>
          <p:txBody>
            <a:bodyPr/>
            <a:lstStyle/>
            <a:p>
              <a:endParaRPr lang="en-US"/>
            </a:p>
          </p:txBody>
        </p:sp>
        <p:sp>
          <p:nvSpPr>
            <p:cNvPr id="128011" name="Text Box 11"/>
            <p:cNvSpPr txBox="1">
              <a:spLocks noChangeArrowheads="1"/>
            </p:cNvSpPr>
            <p:nvPr/>
          </p:nvSpPr>
          <p:spPr bwMode="auto">
            <a:xfrm>
              <a:off x="2304" y="1296"/>
              <a:ext cx="1440" cy="288"/>
            </a:xfrm>
            <a:prstGeom prst="rect">
              <a:avLst/>
            </a:prstGeom>
            <a:noFill/>
            <a:ln w="12700">
              <a:noFill/>
              <a:miter lim="800000"/>
              <a:headEnd type="none" w="sm" len="sm"/>
              <a:tailEnd type="none" w="sm" len="sm"/>
            </a:ln>
            <a:effectLst/>
          </p:spPr>
          <p:txBody>
            <a:bodyPr lIns="90475" tIns="44443" rIns="90475" bIns="44443"/>
            <a:lstStyle/>
            <a:p>
              <a:pPr marL="342900" indent="-342900" eaLnBrk="0" hangingPunct="0">
                <a:spcBef>
                  <a:spcPct val="50000"/>
                </a:spcBef>
              </a:pPr>
              <a:r>
                <a:rPr lang="en-US" sz="2400" i="1">
                  <a:latin typeface="Book Antiqua" pitchFamily="84" charset="0"/>
                </a:rPr>
                <a:t>$200	     $800</a:t>
              </a:r>
            </a:p>
          </p:txBody>
        </p:sp>
        <p:sp>
          <p:nvSpPr>
            <p:cNvPr id="128012" name="Text Box 12"/>
            <p:cNvSpPr txBox="1">
              <a:spLocks noChangeArrowheads="1"/>
            </p:cNvSpPr>
            <p:nvPr/>
          </p:nvSpPr>
          <p:spPr bwMode="auto">
            <a:xfrm>
              <a:off x="1488" y="2305"/>
              <a:ext cx="624" cy="397"/>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en-US" sz="2400" i="1">
                  <a:latin typeface="Book Antiqua" pitchFamily="84" charset="0"/>
                </a:rPr>
                <a:t>-$200</a:t>
              </a:r>
            </a:p>
          </p:txBody>
        </p:sp>
        <p:sp>
          <p:nvSpPr>
            <p:cNvPr id="128013" name="Text Box 13"/>
            <p:cNvSpPr txBox="1">
              <a:spLocks noChangeArrowheads="1"/>
            </p:cNvSpPr>
            <p:nvPr/>
          </p:nvSpPr>
          <p:spPr bwMode="auto">
            <a:xfrm>
              <a:off x="3840" y="2208"/>
              <a:ext cx="624" cy="288"/>
            </a:xfrm>
            <a:prstGeom prst="rect">
              <a:avLst/>
            </a:prstGeom>
            <a:noFill/>
            <a:ln w="12700">
              <a:noFill/>
              <a:miter lim="800000"/>
              <a:headEnd type="none" w="sm" len="sm"/>
              <a:tailEnd type="none" w="sm" len="sm"/>
            </a:ln>
            <a:effectLst/>
          </p:spPr>
          <p:txBody>
            <a:bodyPr lIns="90475" tIns="44443" rIns="90475" bIns="44443"/>
            <a:lstStyle/>
            <a:p>
              <a:pPr marL="342900" indent="-342900" eaLnBrk="0" hangingPunct="0">
                <a:spcBef>
                  <a:spcPct val="50000"/>
                </a:spcBef>
              </a:pPr>
              <a:r>
                <a:rPr lang="en-US" sz="2400" i="1">
                  <a:latin typeface="Book Antiqua" pitchFamily="84" charset="0"/>
                </a:rPr>
                <a:t>- 800</a:t>
              </a:r>
            </a:p>
          </p:txBody>
        </p:sp>
      </p:grpSp>
      <p:graphicFrame>
        <p:nvGraphicFramePr>
          <p:cNvPr id="128014" name="Object 14"/>
          <p:cNvGraphicFramePr>
            <a:graphicFrameLocks noChangeAspect="1"/>
          </p:cNvGraphicFramePr>
          <p:nvPr/>
        </p:nvGraphicFramePr>
        <p:xfrm>
          <a:off x="304800" y="3276600"/>
          <a:ext cx="7275513" cy="2857500"/>
        </p:xfrm>
        <a:graphic>
          <a:graphicData uri="http://schemas.openxmlformats.org/presentationml/2006/ole">
            <mc:AlternateContent xmlns:mc="http://schemas.openxmlformats.org/markup-compatibility/2006">
              <mc:Choice xmlns:v="urn:schemas-microsoft-com:vml" Requires="v">
                <p:oleObj name="Chart" r:id="rId3" imgW="5753100" imgH="2923032" progId="Excel.Chart.8">
                  <p:embed/>
                </p:oleObj>
              </mc:Choice>
              <mc:Fallback>
                <p:oleObj name="Chart" r:id="rId3" imgW="5753100" imgH="2923032" progId="Excel.Chart.8">
                  <p:embed/>
                  <p:pic>
                    <p:nvPicPr>
                      <p:cNvPr id="128014"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276600"/>
                        <a:ext cx="7275513" cy="2857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nvGrpSpPr>
          <p:cNvPr id="3" name="Group 15"/>
          <p:cNvGrpSpPr>
            <a:grpSpLocks/>
          </p:cNvGrpSpPr>
          <p:nvPr/>
        </p:nvGrpSpPr>
        <p:grpSpPr bwMode="auto">
          <a:xfrm>
            <a:off x="4799012" y="3352800"/>
            <a:ext cx="2287588" cy="914400"/>
            <a:chOff x="3120" y="2208"/>
            <a:chExt cx="1441" cy="576"/>
          </a:xfrm>
        </p:grpSpPr>
        <p:sp>
          <p:nvSpPr>
            <p:cNvPr id="128016" name="Rectangle 16"/>
            <p:cNvSpPr>
              <a:spLocks noChangeArrowheads="1"/>
            </p:cNvSpPr>
            <p:nvPr/>
          </p:nvSpPr>
          <p:spPr bwMode="auto">
            <a:xfrm>
              <a:off x="3550" y="2208"/>
              <a:ext cx="1011" cy="211"/>
            </a:xfrm>
            <a:prstGeom prst="rect">
              <a:avLst/>
            </a:prstGeom>
            <a:noFill/>
            <a:ln w="9525">
              <a:noFill/>
              <a:miter lim="800000"/>
              <a:headEnd/>
              <a:tailEnd/>
            </a:ln>
          </p:spPr>
          <p:txBody>
            <a:bodyPr wrap="none" lIns="0" tIns="0" rIns="0" bIns="0">
              <a:spAutoFit/>
            </a:bodyPr>
            <a:lstStyle/>
            <a:p>
              <a:pPr defTabSz="987425"/>
              <a:r>
                <a:rPr lang="en-US" sz="2200" b="1">
                  <a:latin typeface="Times New Roman" pitchFamily="84" charset="0"/>
                </a:rPr>
                <a:t>100% = IRR</a:t>
              </a:r>
              <a:r>
                <a:rPr lang="en-US" sz="2200" b="1" baseline="-25000">
                  <a:latin typeface="Times New Roman" pitchFamily="84" charset="0"/>
                </a:rPr>
                <a:t>2</a:t>
              </a:r>
              <a:endParaRPr lang="en-US" sz="2200">
                <a:latin typeface="Times New Roman" pitchFamily="84" charset="0"/>
              </a:endParaRPr>
            </a:p>
          </p:txBody>
        </p:sp>
        <p:sp>
          <p:nvSpPr>
            <p:cNvPr id="128017" name="Arc 17"/>
            <p:cNvSpPr>
              <a:spLocks/>
            </p:cNvSpPr>
            <p:nvPr/>
          </p:nvSpPr>
          <p:spPr bwMode="auto">
            <a:xfrm flipH="1">
              <a:off x="3120" y="2352"/>
              <a:ext cx="384" cy="43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cap="sq">
              <a:solidFill>
                <a:schemeClr val="tx1"/>
              </a:solidFill>
              <a:round/>
              <a:headEnd type="none" w="sm" len="sm"/>
              <a:tailEnd type="triangle" w="med" len="med"/>
            </a:ln>
            <a:effectLst/>
          </p:spPr>
          <p:txBody>
            <a:bodyPr wrap="none" anchor="ctr"/>
            <a:lstStyle/>
            <a:p>
              <a:endParaRPr lang="en-US"/>
            </a:p>
          </p:txBody>
        </p:sp>
      </p:grpSp>
      <p:grpSp>
        <p:nvGrpSpPr>
          <p:cNvPr id="4" name="Group 18"/>
          <p:cNvGrpSpPr>
            <a:grpSpLocks/>
          </p:cNvGrpSpPr>
          <p:nvPr/>
        </p:nvGrpSpPr>
        <p:grpSpPr bwMode="auto">
          <a:xfrm>
            <a:off x="2514600" y="4343400"/>
            <a:ext cx="2311400" cy="1096963"/>
            <a:chOff x="1714" y="2784"/>
            <a:chExt cx="1456" cy="691"/>
          </a:xfrm>
        </p:grpSpPr>
        <p:sp>
          <p:nvSpPr>
            <p:cNvPr id="128019" name="Rectangle 19"/>
            <p:cNvSpPr>
              <a:spLocks noChangeArrowheads="1"/>
            </p:cNvSpPr>
            <p:nvPr/>
          </p:nvSpPr>
          <p:spPr bwMode="auto">
            <a:xfrm>
              <a:off x="2160" y="3264"/>
              <a:ext cx="1010" cy="211"/>
            </a:xfrm>
            <a:prstGeom prst="rect">
              <a:avLst/>
            </a:prstGeom>
            <a:noFill/>
            <a:ln w="9525">
              <a:noFill/>
              <a:miter lim="800000"/>
              <a:headEnd/>
              <a:tailEnd/>
            </a:ln>
          </p:spPr>
          <p:txBody>
            <a:bodyPr lIns="0" tIns="0" rIns="0" bIns="0">
              <a:spAutoFit/>
            </a:bodyPr>
            <a:lstStyle/>
            <a:p>
              <a:pPr defTabSz="987425"/>
              <a:r>
                <a:rPr lang="en-US" sz="2200" b="1" dirty="0">
                  <a:latin typeface="Times New Roman" pitchFamily="84" charset="0"/>
                </a:rPr>
                <a:t>0% = IRR</a:t>
              </a:r>
              <a:r>
                <a:rPr lang="en-US" sz="2200" b="1" baseline="-25000" dirty="0">
                  <a:latin typeface="Times New Roman" pitchFamily="84" charset="0"/>
                </a:rPr>
                <a:t>1</a:t>
              </a:r>
              <a:endParaRPr lang="en-US" sz="2200" dirty="0">
                <a:latin typeface="Times New Roman" pitchFamily="84" charset="0"/>
              </a:endParaRPr>
            </a:p>
          </p:txBody>
        </p:sp>
        <p:sp>
          <p:nvSpPr>
            <p:cNvPr id="128020" name="Arc 20"/>
            <p:cNvSpPr>
              <a:spLocks/>
            </p:cNvSpPr>
            <p:nvPr/>
          </p:nvSpPr>
          <p:spPr bwMode="auto">
            <a:xfrm flipH="1" flipV="1">
              <a:off x="1714" y="2784"/>
              <a:ext cx="369" cy="576"/>
            </a:xfrm>
            <a:custGeom>
              <a:avLst/>
              <a:gdLst>
                <a:gd name="G0" fmla="+- 0 0 0"/>
                <a:gd name="G1" fmla="+- 21600 0 0"/>
                <a:gd name="G2" fmla="+- 21600 0 0"/>
                <a:gd name="T0" fmla="*/ 0 w 20757"/>
                <a:gd name="T1" fmla="*/ 0 h 21600"/>
                <a:gd name="T2" fmla="*/ 20757 w 20757"/>
                <a:gd name="T3" fmla="*/ 15625 h 21600"/>
                <a:gd name="T4" fmla="*/ 0 w 20757"/>
                <a:gd name="T5" fmla="*/ 21600 h 21600"/>
              </a:gdLst>
              <a:ahLst/>
              <a:cxnLst>
                <a:cxn ang="0">
                  <a:pos x="T0" y="T1"/>
                </a:cxn>
                <a:cxn ang="0">
                  <a:pos x="T2" y="T3"/>
                </a:cxn>
                <a:cxn ang="0">
                  <a:pos x="T4" y="T5"/>
                </a:cxn>
              </a:cxnLst>
              <a:rect l="0" t="0" r="r" b="b"/>
              <a:pathLst>
                <a:path w="20757" h="21600" fill="none" extrusionOk="0">
                  <a:moveTo>
                    <a:pt x="-1" y="0"/>
                  </a:moveTo>
                  <a:cubicBezTo>
                    <a:pt x="9628" y="0"/>
                    <a:pt x="18093" y="6372"/>
                    <a:pt x="20757" y="15624"/>
                  </a:cubicBezTo>
                </a:path>
                <a:path w="20757" h="21600" stroke="0" extrusionOk="0">
                  <a:moveTo>
                    <a:pt x="-1" y="0"/>
                  </a:moveTo>
                  <a:cubicBezTo>
                    <a:pt x="9628" y="0"/>
                    <a:pt x="18093" y="6372"/>
                    <a:pt x="20757" y="15624"/>
                  </a:cubicBezTo>
                  <a:lnTo>
                    <a:pt x="0" y="21600"/>
                  </a:lnTo>
                  <a:close/>
                </a:path>
              </a:pathLst>
            </a:custGeom>
            <a:noFill/>
            <a:ln w="28575" cap="sq">
              <a:solidFill>
                <a:schemeClr val="tx1"/>
              </a:solidFill>
              <a:round/>
              <a:headEnd type="none" w="sm" len="sm"/>
              <a:tailEnd type="triangle" w="med" len="med"/>
            </a:ln>
            <a:effectLst/>
          </p:spPr>
          <p:txBody>
            <a:bodyPr wrap="none" anchor="ctr"/>
            <a:lstStyle/>
            <a:p>
              <a:endParaRPr lang="en-US"/>
            </a:p>
          </p:txBody>
        </p:sp>
      </p:grpSp>
      <p:sp>
        <p:nvSpPr>
          <p:cNvPr id="128021" name="Rectangle 21"/>
          <p:cNvSpPr>
            <a:spLocks noChangeArrowheads="1"/>
          </p:cNvSpPr>
          <p:nvPr/>
        </p:nvSpPr>
        <p:spPr bwMode="auto">
          <a:xfrm>
            <a:off x="5791200" y="1905000"/>
            <a:ext cx="3124200" cy="533400"/>
          </a:xfrm>
          <a:prstGeom prst="rect">
            <a:avLst/>
          </a:prstGeom>
          <a:noFill/>
          <a:ln w="12700" cap="sq">
            <a:noFill/>
            <a:miter lim="800000"/>
            <a:headEnd type="none" w="sm" len="sm"/>
            <a:tailEnd type="none" w="sm" len="sm"/>
          </a:ln>
          <a:effectLst/>
        </p:spPr>
        <p:txBody>
          <a:bodyPr/>
          <a:lstStyle/>
          <a:p>
            <a:pPr algn="r">
              <a:spcBef>
                <a:spcPct val="20000"/>
              </a:spcBef>
              <a:buClr>
                <a:srgbClr val="671739"/>
              </a:buClr>
              <a:tabLst>
                <a:tab pos="1550988" algn="l"/>
                <a:tab pos="4006850" algn="r"/>
                <a:tab pos="6172200" algn="r"/>
              </a:tabLst>
            </a:pPr>
            <a:r>
              <a:rPr lang="en-US" sz="2000" dirty="0">
                <a:latin typeface="Calibri" pitchFamily="34" charset="0"/>
              </a:rPr>
              <a:t>Which one should we use?  </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801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280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128014" grpId="0"/>
      <p:bldP spid="128021"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r>
              <a:rPr lang="en-US" dirty="0"/>
              <a:t>Would you rather make 100% or 50% on your investments?</a:t>
            </a:r>
          </a:p>
          <a:p>
            <a:endParaRPr lang="en-US" dirty="0"/>
          </a:p>
          <a:p>
            <a:endParaRPr lang="en-US" dirty="0"/>
          </a:p>
          <a:p>
            <a:r>
              <a:rPr lang="en-US" dirty="0"/>
              <a:t>What if the 100% return is on a $100 investment while the 50% return is on a $1,000 investment?</a:t>
            </a:r>
          </a:p>
          <a:p>
            <a:pPr marL="0" indent="0">
              <a:buNone/>
            </a:pPr>
            <a:endParaRPr lang="en-US" dirty="0"/>
          </a:p>
        </p:txBody>
      </p:sp>
      <p:sp>
        <p:nvSpPr>
          <p:cNvPr id="2" name="Title 1"/>
          <p:cNvSpPr>
            <a:spLocks noGrp="1"/>
          </p:cNvSpPr>
          <p:nvPr>
            <p:ph type="title"/>
          </p:nvPr>
        </p:nvSpPr>
        <p:spPr/>
        <p:txBody>
          <a:bodyPr/>
          <a:lstStyle/>
          <a:p>
            <a:r>
              <a:rPr lang="en-US" b="1">
                <a:solidFill>
                  <a:schemeClr val="tx1"/>
                </a:solidFill>
              </a:rPr>
              <a:t>The Scale Problem</a:t>
            </a:r>
            <a:endParaRPr lang="en-US"/>
          </a:p>
        </p:txBody>
      </p:sp>
      <p:sp>
        <p:nvSpPr>
          <p:cNvPr id="5" name="Slide Number Placeholder 4"/>
          <p:cNvSpPr>
            <a:spLocks noGrp="1"/>
          </p:cNvSpPr>
          <p:nvPr>
            <p:ph type="sldNum" sz="quarter" idx="10"/>
          </p:nvPr>
        </p:nvSpPr>
        <p:spPr/>
        <p:txBody>
          <a:bodyPr/>
          <a:lstStyle/>
          <a:p>
            <a:pPr>
              <a:defRPr/>
            </a:pPr>
            <a:fld id="{53C6635A-34F3-A644-864C-965AFE2D12DE}" type="slidenum">
              <a:rPr lang="en-US"/>
              <a:pPr>
                <a:defRPr/>
              </a:pPr>
              <a:t>18</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graphicFrame>
        <p:nvGraphicFramePr>
          <p:cNvPr id="6" name="Object 6"/>
          <p:cNvGraphicFramePr>
            <a:graphicFrameLocks noChangeAspect="1"/>
          </p:cNvGraphicFramePr>
          <p:nvPr>
            <p:extLst>
              <p:ext uri="{D42A27DB-BD31-4B8C-83A1-F6EECF244321}">
                <p14:modId xmlns:p14="http://schemas.microsoft.com/office/powerpoint/2010/main" val="1998306331"/>
              </p:ext>
            </p:extLst>
          </p:nvPr>
        </p:nvGraphicFramePr>
        <p:xfrm>
          <a:off x="2514600" y="3581400"/>
          <a:ext cx="4000500" cy="1439182"/>
        </p:xfrm>
        <a:graphic>
          <a:graphicData uri="http://schemas.openxmlformats.org/presentationml/2006/ole">
            <mc:AlternateContent xmlns:mc="http://schemas.openxmlformats.org/markup-compatibility/2006">
              <mc:Choice xmlns:v="urn:schemas-microsoft-com:vml" Requires="v">
                <p:oleObj name="Worksheet" r:id="rId2" imgW="3647880" imgH="1718640" progId="Excel.Sheet.8">
                  <p:embed/>
                </p:oleObj>
              </mc:Choice>
              <mc:Fallback>
                <p:oleObj name="Worksheet" r:id="rId2" imgW="3647880" imgH="1718640" progId="Excel.Sheet.8">
                  <p:embed/>
                  <p:pic>
                    <p:nvPicPr>
                      <p:cNvPr id="6"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581400"/>
                        <a:ext cx="4000500" cy="1439182"/>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25451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IRR: </a:t>
            </a:r>
            <a:r>
              <a:rPr lang="en-US" sz="1800" dirty="0"/>
              <a:t>The Interim Cash Flow Problem</a:t>
            </a:r>
            <a:endParaRPr lang="en-US" dirty="0"/>
          </a:p>
        </p:txBody>
      </p:sp>
      <p:sp>
        <p:nvSpPr>
          <p:cNvPr id="7" name="Slide Number Placeholder 4"/>
          <p:cNvSpPr>
            <a:spLocks noGrp="1"/>
          </p:cNvSpPr>
          <p:nvPr>
            <p:ph type="sldNum" sz="quarter" idx="10"/>
          </p:nvPr>
        </p:nvSpPr>
        <p:spPr/>
        <p:txBody>
          <a:bodyPr/>
          <a:lstStyle/>
          <a:p>
            <a:pPr>
              <a:defRPr/>
            </a:pPr>
            <a:fld id="{5981D83C-FE1A-2547-80EA-7C5CB57054CC}" type="slidenum">
              <a:rPr lang="en-US"/>
              <a:pPr>
                <a:defRPr/>
              </a:pPr>
              <a:t>19</a:t>
            </a:fld>
            <a:endParaRPr lang="en-US"/>
          </a:p>
        </p:txBody>
      </p:sp>
      <p:sp>
        <p:nvSpPr>
          <p:cNvPr id="6" name="Footer Placeholder 3"/>
          <p:cNvSpPr>
            <a:spLocks noGrp="1"/>
          </p:cNvSpPr>
          <p:nvPr>
            <p:ph type="ftr" sz="quarter" idx="11"/>
          </p:nvPr>
        </p:nvSpPr>
        <p:spPr/>
        <p:txBody>
          <a:bodyPr/>
          <a:lstStyle/>
          <a:p>
            <a:pPr>
              <a:defRPr/>
            </a:pPr>
            <a:r>
              <a:rPr lang="en-US"/>
              <a:t>Internal Rate of Return</a:t>
            </a:r>
          </a:p>
        </p:txBody>
      </p:sp>
      <p:pic>
        <p:nvPicPr>
          <p:cNvPr id="40964" name="Picture 4" descr="Snapshot 2009-01-23 20-39-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609600"/>
            <a:ext cx="8763000" cy="5486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0232" name="Text Box 8"/>
          <p:cNvSpPr txBox="1">
            <a:spLocks noChangeArrowheads="1"/>
          </p:cNvSpPr>
          <p:nvPr/>
        </p:nvSpPr>
        <p:spPr bwMode="auto">
          <a:xfrm>
            <a:off x="2971800" y="6096000"/>
            <a:ext cx="3230372"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050" dirty="0">
                <a:latin typeface="Calibri"/>
                <a:cs typeface="+mn-cs"/>
              </a:rPr>
              <a:t>*Kelleher &amp; </a:t>
            </a:r>
            <a:r>
              <a:rPr lang="en-US" sz="1050" dirty="0" err="1">
                <a:latin typeface="Calibri"/>
                <a:cs typeface="+mn-cs"/>
              </a:rPr>
              <a:t>MacCormack</a:t>
            </a:r>
            <a:r>
              <a:rPr lang="en-US" sz="1050" dirty="0">
                <a:latin typeface="Calibri"/>
                <a:cs typeface="+mn-cs"/>
              </a:rPr>
              <a:t>, IRR: A Cautionary Tale (2004)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pPr marL="387350" indent="-387350">
              <a:buSzPct val="100000"/>
              <a:buFont typeface="Arial"/>
              <a:buChar char="•"/>
              <a:defRPr/>
            </a:pPr>
            <a:r>
              <a:rPr lang="en-US" sz="2400" i="1" dirty="0">
                <a:latin typeface="Calibri"/>
              </a:rPr>
              <a:t>MIRR: </a:t>
            </a:r>
            <a:r>
              <a:rPr lang="en-US" sz="2400" dirty="0">
                <a:latin typeface="Calibri"/>
              </a:rPr>
              <a:t>Cash inflows are </a:t>
            </a:r>
            <a:r>
              <a:rPr lang="en-US" sz="2400" i="1" dirty="0">
                <a:latin typeface="Calibri"/>
              </a:rPr>
              <a:t>grown</a:t>
            </a:r>
            <a:r>
              <a:rPr lang="en-US" sz="2400" dirty="0">
                <a:latin typeface="Calibri"/>
              </a:rPr>
              <a:t> at </a:t>
            </a:r>
            <a:r>
              <a:rPr lang="en-US" sz="2400" b="1" i="1" dirty="0">
                <a:latin typeface="Calibri"/>
              </a:rPr>
              <a:t>specified</a:t>
            </a:r>
            <a:r>
              <a:rPr lang="en-US" sz="2400" b="1" dirty="0">
                <a:latin typeface="Calibri"/>
              </a:rPr>
              <a:t> reinvestment rate, </a:t>
            </a:r>
            <a:r>
              <a:rPr lang="en-US" sz="2400" dirty="0">
                <a:latin typeface="Calibri"/>
              </a:rPr>
              <a:t>and cash outflows are </a:t>
            </a:r>
            <a:r>
              <a:rPr lang="en-US" sz="2400" i="1" dirty="0">
                <a:latin typeface="Calibri"/>
              </a:rPr>
              <a:t>discounted</a:t>
            </a:r>
            <a:r>
              <a:rPr lang="en-US" sz="2400" dirty="0">
                <a:latin typeface="Calibri"/>
              </a:rPr>
              <a:t> at a firm’s cost of capital.</a:t>
            </a:r>
          </a:p>
          <a:p>
            <a:pPr marL="977900" lvl="1" indent="-342900">
              <a:buSzPct val="50000"/>
              <a:defRPr/>
            </a:pPr>
            <a:r>
              <a:rPr lang="en-US" sz="2000" i="1" dirty="0">
                <a:latin typeface="Calibri"/>
              </a:rPr>
              <a:t>MIRR = -PV (Cash Out from Investment)*(1+MIRR)</a:t>
            </a:r>
            <a:r>
              <a:rPr lang="en-US" sz="2000" i="1" baseline="30000" dirty="0">
                <a:latin typeface="Calibri"/>
              </a:rPr>
              <a:t>T</a:t>
            </a:r>
            <a:r>
              <a:rPr lang="en-US" sz="2000" i="1" dirty="0">
                <a:latin typeface="Calibri"/>
              </a:rPr>
              <a:t> </a:t>
            </a:r>
            <a:r>
              <a:rPr lang="en-US" sz="2000" i="1" baseline="30000" dirty="0">
                <a:latin typeface="Calibri"/>
              </a:rPr>
              <a:t>=</a:t>
            </a:r>
            <a:r>
              <a:rPr lang="en-US" sz="2000" i="1" dirty="0">
                <a:latin typeface="Calibri"/>
              </a:rPr>
              <a:t> FV(Cash In to Investment)</a:t>
            </a:r>
          </a:p>
          <a:p>
            <a:endParaRPr lang="en-US" dirty="0"/>
          </a:p>
        </p:txBody>
      </p:sp>
      <p:sp>
        <p:nvSpPr>
          <p:cNvPr id="2" name="Title 1"/>
          <p:cNvSpPr>
            <a:spLocks noGrp="1"/>
          </p:cNvSpPr>
          <p:nvPr>
            <p:ph type="title"/>
          </p:nvPr>
        </p:nvSpPr>
        <p:spPr/>
        <p:txBody>
          <a:bodyPr/>
          <a:lstStyle/>
          <a:p>
            <a:r>
              <a:rPr lang="en-US" b="1" dirty="0"/>
              <a:t>Modified IRR and the Reinvestment Problem</a:t>
            </a:r>
          </a:p>
        </p:txBody>
      </p:sp>
      <p:sp>
        <p:nvSpPr>
          <p:cNvPr id="5" name="Slide Number Placeholder 4"/>
          <p:cNvSpPr>
            <a:spLocks noGrp="1"/>
          </p:cNvSpPr>
          <p:nvPr>
            <p:ph type="sldNum" sz="quarter" idx="10"/>
          </p:nvPr>
        </p:nvSpPr>
        <p:spPr/>
        <p:txBody>
          <a:bodyPr/>
          <a:lstStyle/>
          <a:p>
            <a:pPr>
              <a:defRPr/>
            </a:pPr>
            <a:fld id="{53C6635A-34F3-A644-864C-965AFE2D12DE}" type="slidenum">
              <a:rPr lang="en-US" smtClean="0"/>
              <a:pPr>
                <a:defRPr/>
              </a:pPr>
              <a:t>20</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Tree>
    <p:extLst>
      <p:ext uri="{BB962C8B-B14F-4D97-AF65-F5344CB8AC3E}">
        <p14:creationId xmlns:p14="http://schemas.microsoft.com/office/powerpoint/2010/main" val="1737389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t>IRR:  Early Exit Problem</a:t>
            </a:r>
          </a:p>
        </p:txBody>
      </p:sp>
      <p:sp>
        <p:nvSpPr>
          <p:cNvPr id="5" name="Slide Number Placeholder 4"/>
          <p:cNvSpPr>
            <a:spLocks noGrp="1"/>
          </p:cNvSpPr>
          <p:nvPr>
            <p:ph type="sldNum" sz="quarter" idx="10"/>
          </p:nvPr>
        </p:nvSpPr>
        <p:spPr/>
        <p:txBody>
          <a:bodyPr/>
          <a:lstStyle/>
          <a:p>
            <a:pPr>
              <a:defRPr/>
            </a:pPr>
            <a:fld id="{D366A8B4-0985-C34A-94E9-F6621183B73B}" type="slidenum">
              <a:rPr lang="en-US" smtClean="0"/>
              <a:pPr>
                <a:defRPr/>
              </a:pPr>
              <a:t>21</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
        <p:nvSpPr>
          <p:cNvPr id="41989" name="TextBox 6"/>
          <p:cNvSpPr txBox="1">
            <a:spLocks noChangeArrowheads="1"/>
          </p:cNvSpPr>
          <p:nvPr/>
        </p:nvSpPr>
        <p:spPr bwMode="auto">
          <a:xfrm>
            <a:off x="1905000" y="6172200"/>
            <a:ext cx="5198057"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00" dirty="0" err="1">
                <a:latin typeface="Calibri"/>
              </a:rPr>
              <a:t>Phalippou</a:t>
            </a:r>
            <a:r>
              <a:rPr lang="en-US" sz="1000" dirty="0">
                <a:latin typeface="Calibri"/>
              </a:rPr>
              <a:t>, </a:t>
            </a:r>
            <a:r>
              <a:rPr lang="en-US" sz="1000" i="1" dirty="0">
                <a:latin typeface="Calibri"/>
              </a:rPr>
              <a:t>The Hazards of Using IRR to Measure Performance:  The Case of Private Equity, </a:t>
            </a:r>
            <a:r>
              <a:rPr lang="en-US" sz="1000" i="1" dirty="0" err="1">
                <a:latin typeface="Calibri"/>
              </a:rPr>
              <a:t>Tbl</a:t>
            </a:r>
            <a:r>
              <a:rPr lang="en-US" sz="1000" i="1" dirty="0">
                <a:latin typeface="Calibri"/>
              </a:rPr>
              <a:t>. 3</a:t>
            </a:r>
          </a:p>
        </p:txBody>
      </p:sp>
      <p:sp>
        <p:nvSpPr>
          <p:cNvPr id="8" name="Text Box 4"/>
          <p:cNvSpPr txBox="1">
            <a:spLocks noChangeArrowheads="1"/>
          </p:cNvSpPr>
          <p:nvPr/>
        </p:nvSpPr>
        <p:spPr bwMode="auto">
          <a:xfrm>
            <a:off x="511629" y="633166"/>
            <a:ext cx="8610600" cy="181588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sq">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marL="342900" indent="-342900">
              <a:spcBef>
                <a:spcPct val="50000"/>
              </a:spcBef>
              <a:buFont typeface="Arial" panose="020B0604020202020204" pitchFamily="34" charset="0"/>
              <a:buChar char="•"/>
              <a:defRPr/>
            </a:pPr>
            <a:r>
              <a:rPr lang="en-US" sz="1600" dirty="0">
                <a:latin typeface="Calibri"/>
                <a:cs typeface="Calibri"/>
              </a:rPr>
              <a:t>Initial investment of $100 increases to $150 at the end of Y</a:t>
            </a:r>
            <a:r>
              <a:rPr lang="en-US" sz="1600" baseline="-25000" dirty="0">
                <a:latin typeface="Calibri"/>
                <a:cs typeface="Calibri"/>
              </a:rPr>
              <a:t>1</a:t>
            </a:r>
            <a:r>
              <a:rPr lang="en-US" sz="1600" dirty="0">
                <a:latin typeface="Calibri"/>
                <a:cs typeface="Calibri"/>
              </a:rPr>
              <a:t>.  The discount rate = 12%</a:t>
            </a:r>
          </a:p>
          <a:p>
            <a:pPr marL="342900" indent="-342900">
              <a:spcBef>
                <a:spcPct val="50000"/>
              </a:spcBef>
              <a:buFont typeface="Arial" panose="020B0604020202020204" pitchFamily="34" charset="0"/>
              <a:buChar char="•"/>
              <a:defRPr/>
            </a:pPr>
            <a:r>
              <a:rPr lang="en-US" sz="1600" b="1" dirty="0">
                <a:latin typeface="Calibri"/>
                <a:cs typeface="Calibri"/>
              </a:rPr>
              <a:t>Scenario 1</a:t>
            </a:r>
            <a:r>
              <a:rPr lang="en-US" sz="1600" dirty="0">
                <a:latin typeface="Calibri"/>
                <a:cs typeface="Calibri"/>
              </a:rPr>
              <a:t>: investment is sold.  </a:t>
            </a:r>
          </a:p>
          <a:p>
            <a:pPr marL="342900" indent="-342900">
              <a:spcBef>
                <a:spcPct val="50000"/>
              </a:spcBef>
              <a:buFont typeface="Arial" panose="020B0604020202020204" pitchFamily="34" charset="0"/>
              <a:buChar char="•"/>
              <a:defRPr/>
            </a:pPr>
            <a:r>
              <a:rPr lang="en-US" sz="1600" b="1" dirty="0">
                <a:latin typeface="Calibri"/>
                <a:cs typeface="Calibri"/>
              </a:rPr>
              <a:t>Scenario 2</a:t>
            </a:r>
            <a:r>
              <a:rPr lang="en-US" sz="1600" dirty="0">
                <a:latin typeface="Calibri"/>
                <a:cs typeface="Calibri"/>
              </a:rPr>
              <a:t>: investment maintained but increases in value by 20%</a:t>
            </a:r>
          </a:p>
          <a:p>
            <a:pPr marL="342900" indent="-342900">
              <a:spcBef>
                <a:spcPct val="50000"/>
              </a:spcBef>
              <a:buFont typeface="Arial" panose="020B0604020202020204" pitchFamily="34" charset="0"/>
              <a:buChar char="•"/>
              <a:defRPr/>
            </a:pPr>
            <a:r>
              <a:rPr lang="en-US" sz="1600" b="1">
                <a:latin typeface="Calibri"/>
                <a:cs typeface="Calibri"/>
              </a:rPr>
              <a:t>Scenario 3</a:t>
            </a:r>
            <a:r>
              <a:rPr lang="en-US" sz="1600" dirty="0">
                <a:latin typeface="Calibri"/>
                <a:cs typeface="Calibri"/>
              </a:rPr>
              <a:t>:</a:t>
            </a:r>
            <a:r>
              <a:rPr lang="en-US" sz="1600">
                <a:latin typeface="Calibri"/>
                <a:cs typeface="Calibri"/>
              </a:rPr>
              <a:t> </a:t>
            </a:r>
            <a:r>
              <a:rPr lang="en-US" sz="1600" dirty="0">
                <a:latin typeface="Calibri"/>
                <a:cs typeface="Calibri"/>
              </a:rPr>
              <a:t>initial capital of $100 is taken out and $50 is left, which accrues at </a:t>
            </a:r>
            <a:r>
              <a:rPr lang="en-US" sz="1600">
                <a:latin typeface="Calibri"/>
                <a:cs typeface="Calibri"/>
              </a:rPr>
              <a:t>10%.  </a:t>
            </a:r>
            <a:endParaRPr lang="en-US" sz="1600" dirty="0">
              <a:latin typeface="Calibri"/>
              <a:cs typeface="Calibri"/>
            </a:endParaRPr>
          </a:p>
          <a:p>
            <a:pPr marL="342900" indent="-342900">
              <a:spcBef>
                <a:spcPct val="50000"/>
              </a:spcBef>
              <a:buFont typeface="Arial" panose="020B0604020202020204" pitchFamily="34" charset="0"/>
              <a:buChar char="•"/>
              <a:defRPr/>
            </a:pPr>
            <a:r>
              <a:rPr lang="en-US" sz="1600" b="1" dirty="0">
                <a:solidFill>
                  <a:srgbClr val="FF0000"/>
                </a:solidFill>
                <a:latin typeface="Calibri"/>
                <a:cs typeface="Calibri"/>
              </a:rPr>
              <a:t>If you are paid on the basis of IRR, which scenario would you choose?</a:t>
            </a:r>
          </a:p>
        </p:txBody>
      </p:sp>
      <p:pic>
        <p:nvPicPr>
          <p:cNvPr id="9" name="Picture 8">
            <a:extLst>
              <a:ext uri="{FF2B5EF4-FFF2-40B4-BE49-F238E27FC236}">
                <a16:creationId xmlns:a16="http://schemas.microsoft.com/office/drawing/2014/main" id="{9DCE4254-DC68-B44B-BFCC-99915A363622}"/>
              </a:ext>
            </a:extLst>
          </p:cNvPr>
          <p:cNvPicPr>
            <a:picLocks noChangeAspect="1"/>
          </p:cNvPicPr>
          <p:nvPr/>
        </p:nvPicPr>
        <p:blipFill>
          <a:blip r:embed="rId3"/>
          <a:stretch>
            <a:fillRect/>
          </a:stretch>
        </p:blipFill>
        <p:spPr>
          <a:xfrm>
            <a:off x="384048" y="2751215"/>
            <a:ext cx="8458200" cy="3276600"/>
          </a:xfrm>
          <a:prstGeom prst="rect">
            <a:avLst/>
          </a:prstGeom>
          <a:ln>
            <a:solidFill>
              <a:schemeClr val="tx2"/>
            </a:solidFill>
          </a:ln>
        </p:spPr>
      </p:pic>
      <p:sp>
        <p:nvSpPr>
          <p:cNvPr id="10" name="Right Brace 9">
            <a:extLst>
              <a:ext uri="{FF2B5EF4-FFF2-40B4-BE49-F238E27FC236}">
                <a16:creationId xmlns:a16="http://schemas.microsoft.com/office/drawing/2014/main" id="{E0EB5B73-DC90-C049-B59F-34245AFDEB35}"/>
              </a:ext>
            </a:extLst>
          </p:cNvPr>
          <p:cNvSpPr/>
          <p:nvPr/>
        </p:nvSpPr>
        <p:spPr>
          <a:xfrm>
            <a:off x="5410200" y="3924283"/>
            <a:ext cx="304800" cy="1409678"/>
          </a:xfrm>
          <a:prstGeom prst="rightBrace">
            <a:avLst>
              <a:gd name="adj1" fmla="val 8333"/>
              <a:gd name="adj2" fmla="val 11429"/>
            </a:avLst>
          </a:prstGeom>
          <a:ln w="28575">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Right Brace 13">
            <a:extLst>
              <a:ext uri="{FF2B5EF4-FFF2-40B4-BE49-F238E27FC236}">
                <a16:creationId xmlns:a16="http://schemas.microsoft.com/office/drawing/2014/main" id="{0C270D80-D95E-3D4D-9192-ECDDB44D4D09}"/>
              </a:ext>
            </a:extLst>
          </p:cNvPr>
          <p:cNvSpPr/>
          <p:nvPr/>
        </p:nvSpPr>
        <p:spPr>
          <a:xfrm>
            <a:off x="4199228" y="4038600"/>
            <a:ext cx="304800" cy="1295367"/>
          </a:xfrm>
          <a:prstGeom prst="rightBrace">
            <a:avLst>
              <a:gd name="adj1" fmla="val 73213"/>
              <a:gd name="adj2" fmla="val 70715"/>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C1BFECDD-66D2-6D4E-A479-744B786E6B38}"/>
              </a:ext>
            </a:extLst>
          </p:cNvPr>
          <p:cNvCxnSpPr>
            <a:cxnSpLocks/>
          </p:cNvCxnSpPr>
          <p:nvPr/>
        </p:nvCxnSpPr>
        <p:spPr>
          <a:xfrm>
            <a:off x="4504028" y="4953000"/>
            <a:ext cx="1134772" cy="0"/>
          </a:xfrm>
          <a:prstGeom prst="line">
            <a:avLst/>
          </a:prstGeom>
          <a:ln w="34925">
            <a:headEnd type="stealth"/>
            <a:tailEnd w="lg"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eaLnBrk="1" hangingPunct="1">
              <a:defRPr/>
            </a:pPr>
            <a:r>
              <a:rPr lang="en-US" b="1" dirty="0">
                <a:cs typeface="+mj-cs"/>
              </a:rPr>
              <a:t>IRR:  The Reinvestment Assumption, Bonds, and </a:t>
            </a:r>
            <a:r>
              <a:rPr lang="en-US" b="1" dirty="0" err="1">
                <a:cs typeface="+mj-cs"/>
              </a:rPr>
              <a:t>YTM</a:t>
            </a:r>
            <a:endParaRPr lang="en-US" dirty="0">
              <a:cs typeface="+mj-cs"/>
            </a:endParaRPr>
          </a:p>
        </p:txBody>
      </p:sp>
      <p:sp>
        <p:nvSpPr>
          <p:cNvPr id="5" name="Slide Number Placeholder 3"/>
          <p:cNvSpPr>
            <a:spLocks noGrp="1"/>
          </p:cNvSpPr>
          <p:nvPr>
            <p:ph type="sldNum" sz="quarter" idx="10"/>
          </p:nvPr>
        </p:nvSpPr>
        <p:spPr/>
        <p:txBody>
          <a:bodyPr/>
          <a:lstStyle/>
          <a:p>
            <a:pPr>
              <a:defRPr/>
            </a:pPr>
            <a:fld id="{ADDAB4EB-920D-204A-B96E-9B3322ECA71D}" type="slidenum">
              <a:rPr lang="en-US"/>
              <a:pPr>
                <a:defRPr/>
              </a:pPr>
              <a:t>22</a:t>
            </a:fld>
            <a:endParaRPr lang="en-US"/>
          </a:p>
        </p:txBody>
      </p:sp>
      <p:sp>
        <p:nvSpPr>
          <p:cNvPr id="4" name="Footer Placeholder 2"/>
          <p:cNvSpPr>
            <a:spLocks noGrp="1"/>
          </p:cNvSpPr>
          <p:nvPr>
            <p:ph type="ftr" sz="quarter" idx="11"/>
          </p:nvPr>
        </p:nvSpPr>
        <p:spPr/>
        <p:txBody>
          <a:bodyPr/>
          <a:lstStyle/>
          <a:p>
            <a:pPr>
              <a:defRPr/>
            </a:pPr>
            <a:r>
              <a:rPr lang="en-US"/>
              <a:t>Internal Rate of Return</a:t>
            </a:r>
          </a:p>
        </p:txBody>
      </p:sp>
      <p:graphicFrame>
        <p:nvGraphicFramePr>
          <p:cNvPr id="43012" name="Object 3"/>
          <p:cNvGraphicFramePr>
            <a:graphicFrameLocks noChangeAspect="1"/>
          </p:cNvGraphicFramePr>
          <p:nvPr>
            <p:extLst>
              <p:ext uri="{D42A27DB-BD31-4B8C-83A1-F6EECF244321}">
                <p14:modId xmlns:p14="http://schemas.microsoft.com/office/powerpoint/2010/main" val="1451211576"/>
              </p:ext>
            </p:extLst>
          </p:nvPr>
        </p:nvGraphicFramePr>
        <p:xfrm>
          <a:off x="1160463" y="1357313"/>
          <a:ext cx="7113587" cy="3916362"/>
        </p:xfrm>
        <a:graphic>
          <a:graphicData uri="http://schemas.openxmlformats.org/presentationml/2006/ole">
            <mc:AlternateContent xmlns:mc="http://schemas.openxmlformats.org/markup-compatibility/2006">
              <mc:Choice xmlns:v="urn:schemas-microsoft-com:vml" Requires="v">
                <p:oleObj name="Worksheet" r:id="rId3" imgW="6032500" imgH="2781300" progId="Excel.Sheet.8">
                  <p:embed/>
                </p:oleObj>
              </mc:Choice>
              <mc:Fallback>
                <p:oleObj name="Worksheet" r:id="rId3" imgW="6032500" imgH="2781300" progId="Excel.Sheet.8">
                  <p:embed/>
                  <p:pic>
                    <p:nvPicPr>
                      <p:cNvPr id="43012" name="Object 3"/>
                      <p:cNvPicPr>
                        <a:picLocks noChangeAspect="1" noChangeArrowheads="1"/>
                      </p:cNvPicPr>
                      <p:nvPr/>
                    </p:nvPicPr>
                    <p:blipFill>
                      <a:blip r:embed="rId4"/>
                      <a:srcRect/>
                      <a:stretch>
                        <a:fillRect/>
                      </a:stretch>
                    </p:blipFill>
                    <p:spPr bwMode="auto">
                      <a:xfrm>
                        <a:off x="1160463" y="1357313"/>
                        <a:ext cx="7113587" cy="3916362"/>
                      </a:xfrm>
                      <a:prstGeom prst="rect">
                        <a:avLst/>
                      </a:prstGeom>
                      <a:noFill/>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7" dir="2700000" algn="ctr" rotWithShape="0">
                                <a:srgbClr val="000000">
                                  <a:alpha val="74997"/>
                                </a:srgbClr>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7" name="Rectangle 3"/>
          <p:cNvSpPr>
            <a:spLocks noGrp="1" noChangeArrowheads="1"/>
          </p:cNvSpPr>
          <p:nvPr>
            <p:ph idx="1"/>
          </p:nvPr>
        </p:nvSpPr>
        <p:spPr/>
        <p:txBody>
          <a:bodyPr/>
          <a:lstStyle/>
          <a:p>
            <a:pPr eaLnBrk="1" hangingPunct="1">
              <a:defRPr/>
            </a:pPr>
            <a:r>
              <a:rPr lang="en-US">
                <a:cs typeface="+mn-cs"/>
              </a:rPr>
              <a:t>In a </a:t>
            </a:r>
            <a:r>
              <a:rPr lang="en-US" i="1">
                <a:cs typeface="+mn-cs"/>
              </a:rPr>
              <a:t>financing project</a:t>
            </a:r>
            <a:r>
              <a:rPr lang="en-US">
                <a:cs typeface="+mn-cs"/>
              </a:rPr>
              <a:t>, +CF</a:t>
            </a:r>
            <a:r>
              <a:rPr lang="en-US" baseline="-25000">
                <a:cs typeface="+mn-cs"/>
              </a:rPr>
              <a:t>0 </a:t>
            </a:r>
            <a:r>
              <a:rPr lang="en-US">
                <a:cs typeface="+mn-cs"/>
              </a:rPr>
              <a:t>+(-CF</a:t>
            </a:r>
            <a:r>
              <a:rPr lang="en-US" baseline="-25000">
                <a:cs typeface="+mn-cs"/>
              </a:rPr>
              <a:t>1</a:t>
            </a:r>
            <a:r>
              <a:rPr lang="en-US">
                <a:cs typeface="+mn-cs"/>
              </a:rPr>
              <a:t>) +(-CF</a:t>
            </a:r>
            <a:r>
              <a:rPr lang="en-US" baseline="-25000">
                <a:cs typeface="+mn-cs"/>
              </a:rPr>
              <a:t>2</a:t>
            </a:r>
            <a:r>
              <a:rPr lang="en-US">
                <a:cs typeface="+mn-cs"/>
              </a:rPr>
              <a:t>), the project should be accepted only if the IRR is </a:t>
            </a:r>
            <a:r>
              <a:rPr lang="en-US" b="1">
                <a:cs typeface="+mn-cs"/>
              </a:rPr>
              <a:t>less than</a:t>
            </a:r>
            <a:r>
              <a:rPr lang="en-US">
                <a:cs typeface="+mn-cs"/>
              </a:rPr>
              <a:t> the discount or interest rate</a:t>
            </a:r>
          </a:p>
          <a:p>
            <a:pPr eaLnBrk="1" hangingPunct="1">
              <a:defRPr/>
            </a:pPr>
            <a:endParaRPr lang="en-US">
              <a:cs typeface="+mn-cs"/>
            </a:endParaRPr>
          </a:p>
          <a:p>
            <a:pPr eaLnBrk="1" hangingPunct="1">
              <a:defRPr/>
            </a:pPr>
            <a:r>
              <a:rPr lang="en-US"/>
              <a:t>In an </a:t>
            </a:r>
            <a:r>
              <a:rPr lang="en-US" i="1"/>
              <a:t>investing project</a:t>
            </a:r>
            <a:r>
              <a:rPr lang="en-US"/>
              <a:t>, -CF</a:t>
            </a:r>
            <a:r>
              <a:rPr lang="en-US" baseline="-25000"/>
              <a:t>0 </a:t>
            </a:r>
            <a:r>
              <a:rPr lang="en-US"/>
              <a:t>+(CF</a:t>
            </a:r>
            <a:r>
              <a:rPr lang="en-US" baseline="-25000"/>
              <a:t>1</a:t>
            </a:r>
            <a:r>
              <a:rPr lang="en-US"/>
              <a:t>) +(CF</a:t>
            </a:r>
            <a:r>
              <a:rPr lang="en-US" baseline="-25000"/>
              <a:t>2</a:t>
            </a:r>
            <a:r>
              <a:rPr lang="en-US"/>
              <a:t>), the project should be accepted only if the IRR is </a:t>
            </a:r>
            <a:r>
              <a:rPr lang="en-US" b="1"/>
              <a:t>greater than </a:t>
            </a:r>
            <a:r>
              <a:rPr lang="en-US"/>
              <a:t>the discount or interest rate</a:t>
            </a:r>
          </a:p>
          <a:p>
            <a:pPr eaLnBrk="1" hangingPunct="1">
              <a:defRPr/>
            </a:pPr>
            <a:endParaRPr lang="en-US">
              <a:cs typeface="+mn-cs"/>
            </a:endParaRPr>
          </a:p>
        </p:txBody>
      </p:sp>
      <p:sp>
        <p:nvSpPr>
          <p:cNvPr id="185346" name="Rectangle 2"/>
          <p:cNvSpPr>
            <a:spLocks noGrp="1" noChangeArrowheads="1"/>
          </p:cNvSpPr>
          <p:nvPr>
            <p:ph type="title"/>
          </p:nvPr>
        </p:nvSpPr>
        <p:spPr/>
        <p:txBody>
          <a:bodyPr/>
          <a:lstStyle/>
          <a:p>
            <a:pPr eaLnBrk="1" hangingPunct="1">
              <a:defRPr/>
            </a:pPr>
            <a:r>
              <a:rPr lang="en-US" b="1">
                <a:cs typeface="+mj-cs"/>
              </a:rPr>
              <a:t>Investing v. Financing</a:t>
            </a:r>
          </a:p>
        </p:txBody>
      </p:sp>
      <p:sp>
        <p:nvSpPr>
          <p:cNvPr id="5" name="Slide Number Placeholder 4"/>
          <p:cNvSpPr>
            <a:spLocks noGrp="1"/>
          </p:cNvSpPr>
          <p:nvPr>
            <p:ph type="sldNum" sz="quarter" idx="10"/>
          </p:nvPr>
        </p:nvSpPr>
        <p:spPr/>
        <p:txBody>
          <a:bodyPr/>
          <a:lstStyle/>
          <a:p>
            <a:pPr>
              <a:defRPr/>
            </a:pPr>
            <a:fld id="{5C2BCA56-3FDE-2F4D-AC3A-273C60D757DA}" type="slidenum">
              <a:rPr lang="en-US"/>
              <a:pPr>
                <a:defRPr/>
              </a:pPr>
              <a:t>23</a:t>
            </a:fld>
            <a:endParaRPr lang="en-US"/>
          </a:p>
        </p:txBody>
      </p:sp>
      <p:sp>
        <p:nvSpPr>
          <p:cNvPr id="4" name="Footer Placeholder 3"/>
          <p:cNvSpPr>
            <a:spLocks noGrp="1"/>
          </p:cNvSpPr>
          <p:nvPr>
            <p:ph type="ftr" sz="quarter" idx="11"/>
          </p:nvPr>
        </p:nvSpPr>
        <p:spPr/>
        <p:txBody>
          <a:bodyPr/>
          <a:lstStyle/>
          <a:p>
            <a:pPr>
              <a:defRPr/>
            </a:pPr>
            <a:r>
              <a:rPr lang="en-US"/>
              <a:t>Internal Rate of Return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53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05E767-30B3-1B84-1D9F-CB0AF0D86C24}"/>
              </a:ext>
            </a:extLst>
          </p:cNvPr>
          <p:cNvSpPr>
            <a:spLocks noGrp="1"/>
          </p:cNvSpPr>
          <p:nvPr>
            <p:ph idx="1"/>
          </p:nvPr>
        </p:nvSpPr>
        <p:spPr/>
        <p:txBody>
          <a:bodyPr/>
          <a:lstStyle/>
          <a:p>
            <a:pPr marL="342900" indent="-342900" eaLnBrk="1" hangingPunct="1"/>
            <a:r>
              <a:rPr lang="en-US" altLang="en-US" sz="2800" dirty="0"/>
              <a:t>How long does it take the project to “pay back” its initial investment?</a:t>
            </a:r>
          </a:p>
          <a:p>
            <a:pPr marL="342900" indent="-342900" eaLnBrk="1" hangingPunct="1"/>
            <a:r>
              <a:rPr lang="en-US" altLang="en-US" sz="2800" dirty="0"/>
              <a:t>Payback Period = number of years to recover initial costs</a:t>
            </a:r>
          </a:p>
          <a:p>
            <a:pPr marL="342900" indent="-342900" eaLnBrk="1" hangingPunct="1"/>
            <a:r>
              <a:rPr lang="en-US" altLang="en-US" sz="2800" dirty="0"/>
              <a:t>Minimum Acceptance Criteria: </a:t>
            </a:r>
          </a:p>
          <a:p>
            <a:pPr marL="742950" lvl="1" indent="-285750" eaLnBrk="1" hangingPunct="1"/>
            <a:r>
              <a:rPr lang="en-US" altLang="en-US" sz="2400" dirty="0"/>
              <a:t>set by management</a:t>
            </a:r>
          </a:p>
          <a:p>
            <a:pPr marL="342900" indent="-342900" eaLnBrk="1" hangingPunct="1"/>
            <a:r>
              <a:rPr lang="en-US" altLang="en-US" sz="2800" dirty="0"/>
              <a:t>Ranking Criteria: </a:t>
            </a:r>
          </a:p>
          <a:p>
            <a:pPr marL="742950" lvl="1" indent="-285750" eaLnBrk="1" hangingPunct="1"/>
            <a:r>
              <a:rPr lang="en-US" altLang="en-US" sz="2400" dirty="0"/>
              <a:t>set by management</a:t>
            </a:r>
          </a:p>
          <a:p>
            <a:pPr marL="342900" indent="-342900"/>
            <a:r>
              <a:rPr lang="en-US" altLang="en-US" sz="2800" dirty="0"/>
              <a:t>Disadvantages??</a:t>
            </a:r>
          </a:p>
          <a:p>
            <a:pPr marL="571500" indent="-285750"/>
            <a:endParaRPr lang="en-US" sz="2550" dirty="0"/>
          </a:p>
        </p:txBody>
      </p:sp>
      <p:sp>
        <p:nvSpPr>
          <p:cNvPr id="3" name="Title 2">
            <a:extLst>
              <a:ext uri="{FF2B5EF4-FFF2-40B4-BE49-F238E27FC236}">
                <a16:creationId xmlns:a16="http://schemas.microsoft.com/office/drawing/2014/main" id="{C3BCA651-53A7-D50F-AE73-7E7D31AAB810}"/>
              </a:ext>
            </a:extLst>
          </p:cNvPr>
          <p:cNvSpPr>
            <a:spLocks noGrp="1"/>
          </p:cNvSpPr>
          <p:nvPr>
            <p:ph type="title"/>
          </p:nvPr>
        </p:nvSpPr>
        <p:spPr/>
        <p:txBody>
          <a:bodyPr/>
          <a:lstStyle/>
          <a:p>
            <a:r>
              <a:rPr lang="en-US" dirty="0"/>
              <a:t>Payback Rule</a:t>
            </a:r>
          </a:p>
        </p:txBody>
      </p:sp>
      <p:sp>
        <p:nvSpPr>
          <p:cNvPr id="4" name="Slide Number Placeholder 3">
            <a:extLst>
              <a:ext uri="{FF2B5EF4-FFF2-40B4-BE49-F238E27FC236}">
                <a16:creationId xmlns:a16="http://schemas.microsoft.com/office/drawing/2014/main" id="{970429AF-6BE5-BDD5-C22C-2E8E94C440CB}"/>
              </a:ext>
            </a:extLst>
          </p:cNvPr>
          <p:cNvSpPr>
            <a:spLocks noGrp="1"/>
          </p:cNvSpPr>
          <p:nvPr>
            <p:ph type="sldNum" sz="quarter" idx="10"/>
          </p:nvPr>
        </p:nvSpPr>
        <p:spPr/>
        <p:txBody>
          <a:bodyPr/>
          <a:lstStyle/>
          <a:p>
            <a:fld id="{7B3E355C-57B9-BC4B-95D8-406A1F834537}" type="slidenum">
              <a:rPr lang="en-US" altLang="en-US" smtClean="0"/>
              <a:pPr/>
              <a:t>24</a:t>
            </a:fld>
            <a:endParaRPr lang="en-US" altLang="en-US" dirty="0"/>
          </a:p>
        </p:txBody>
      </p:sp>
      <p:sp>
        <p:nvSpPr>
          <p:cNvPr id="5" name="Footer Placeholder 4">
            <a:extLst>
              <a:ext uri="{FF2B5EF4-FFF2-40B4-BE49-F238E27FC236}">
                <a16:creationId xmlns:a16="http://schemas.microsoft.com/office/drawing/2014/main" id="{09CDA688-4ABF-81E3-6395-3F1A05DF6052}"/>
              </a:ext>
            </a:extLst>
          </p:cNvPr>
          <p:cNvSpPr>
            <a:spLocks noGrp="1"/>
          </p:cNvSpPr>
          <p:nvPr>
            <p:ph type="ftr" sz="quarter" idx="11"/>
          </p:nvPr>
        </p:nvSpPr>
        <p:spPr/>
        <p:txBody>
          <a:bodyPr/>
          <a:lstStyle/>
          <a:p>
            <a:pPr>
              <a:defRPr/>
            </a:pPr>
            <a:r>
              <a:rPr lang="en-US"/>
              <a:t>Internal Rate of Return</a:t>
            </a:r>
            <a:endParaRPr lang="en-US" dirty="0"/>
          </a:p>
        </p:txBody>
      </p:sp>
    </p:spTree>
    <p:extLst>
      <p:ext uri="{BB962C8B-B14F-4D97-AF65-F5344CB8AC3E}">
        <p14:creationId xmlns:p14="http://schemas.microsoft.com/office/powerpoint/2010/main" val="319368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form&#10;&#10;Description automatically generated">
            <a:extLst>
              <a:ext uri="{FF2B5EF4-FFF2-40B4-BE49-F238E27FC236}">
                <a16:creationId xmlns:a16="http://schemas.microsoft.com/office/drawing/2014/main" id="{3CE51E61-34E5-7D6F-A1FB-15D2C98C40D0}"/>
              </a:ext>
            </a:extLst>
          </p:cNvPr>
          <p:cNvPicPr>
            <a:picLocks noGrp="1" noChangeAspect="1"/>
          </p:cNvPicPr>
          <p:nvPr>
            <p:ph idx="1"/>
          </p:nvPr>
        </p:nvPicPr>
        <p:blipFill>
          <a:blip r:embed="rId2"/>
          <a:stretch>
            <a:fillRect/>
          </a:stretch>
        </p:blipFill>
        <p:spPr>
          <a:xfrm>
            <a:off x="384175" y="990600"/>
            <a:ext cx="8458200" cy="4495800"/>
          </a:xfrm>
        </p:spPr>
      </p:pic>
      <p:sp>
        <p:nvSpPr>
          <p:cNvPr id="3" name="Title 2">
            <a:extLst>
              <a:ext uri="{FF2B5EF4-FFF2-40B4-BE49-F238E27FC236}">
                <a16:creationId xmlns:a16="http://schemas.microsoft.com/office/drawing/2014/main" id="{1172EF2D-44D5-E6A9-EF71-F31FB7B6CDD1}"/>
              </a:ext>
            </a:extLst>
          </p:cNvPr>
          <p:cNvSpPr>
            <a:spLocks noGrp="1"/>
          </p:cNvSpPr>
          <p:nvPr>
            <p:ph type="title"/>
          </p:nvPr>
        </p:nvSpPr>
        <p:spPr/>
        <p:txBody>
          <a:bodyPr/>
          <a:lstStyle/>
          <a:p>
            <a:r>
              <a:rPr lang="en-US" dirty="0"/>
              <a:t>Disclosure Example</a:t>
            </a:r>
          </a:p>
        </p:txBody>
      </p:sp>
      <p:sp>
        <p:nvSpPr>
          <p:cNvPr id="4" name="Slide Number Placeholder 3">
            <a:extLst>
              <a:ext uri="{FF2B5EF4-FFF2-40B4-BE49-F238E27FC236}">
                <a16:creationId xmlns:a16="http://schemas.microsoft.com/office/drawing/2014/main" id="{45F967FF-67F2-4D86-9BA1-25984F1FB7C2}"/>
              </a:ext>
            </a:extLst>
          </p:cNvPr>
          <p:cNvSpPr>
            <a:spLocks noGrp="1"/>
          </p:cNvSpPr>
          <p:nvPr>
            <p:ph type="sldNum" sz="quarter" idx="10"/>
          </p:nvPr>
        </p:nvSpPr>
        <p:spPr/>
        <p:txBody>
          <a:bodyPr/>
          <a:lstStyle/>
          <a:p>
            <a:fld id="{7B3E355C-57B9-BC4B-95D8-406A1F834537}" type="slidenum">
              <a:rPr lang="en-US" altLang="en-US" smtClean="0"/>
              <a:pPr/>
              <a:t>25</a:t>
            </a:fld>
            <a:endParaRPr lang="en-US" altLang="en-US" dirty="0"/>
          </a:p>
        </p:txBody>
      </p:sp>
      <p:sp>
        <p:nvSpPr>
          <p:cNvPr id="5" name="Footer Placeholder 4">
            <a:extLst>
              <a:ext uri="{FF2B5EF4-FFF2-40B4-BE49-F238E27FC236}">
                <a16:creationId xmlns:a16="http://schemas.microsoft.com/office/drawing/2014/main" id="{CD7F48A4-2FEF-02E7-B270-6005A99F3537}"/>
              </a:ext>
            </a:extLst>
          </p:cNvPr>
          <p:cNvSpPr>
            <a:spLocks noGrp="1"/>
          </p:cNvSpPr>
          <p:nvPr>
            <p:ph type="ftr" sz="quarter" idx="11"/>
          </p:nvPr>
        </p:nvSpPr>
        <p:spPr/>
        <p:txBody>
          <a:bodyPr/>
          <a:lstStyle/>
          <a:p>
            <a:pPr>
              <a:defRPr/>
            </a:pPr>
            <a:r>
              <a:rPr lang="en-US"/>
              <a:t>Internal Rate of Return</a:t>
            </a:r>
            <a:endParaRPr lang="en-US" dirty="0"/>
          </a:p>
        </p:txBody>
      </p:sp>
      <p:sp>
        <p:nvSpPr>
          <p:cNvPr id="8" name="TextBox 7">
            <a:extLst>
              <a:ext uri="{FF2B5EF4-FFF2-40B4-BE49-F238E27FC236}">
                <a16:creationId xmlns:a16="http://schemas.microsoft.com/office/drawing/2014/main" id="{B27B9978-794B-B9FC-B6C6-432CF6A05432}"/>
              </a:ext>
            </a:extLst>
          </p:cNvPr>
          <p:cNvSpPr txBox="1"/>
          <p:nvPr/>
        </p:nvSpPr>
        <p:spPr>
          <a:xfrm>
            <a:off x="6030803" y="6069939"/>
            <a:ext cx="2515432" cy="253916"/>
          </a:xfrm>
          <a:prstGeom prst="rect">
            <a:avLst/>
          </a:prstGeom>
          <a:noFill/>
        </p:spPr>
        <p:txBody>
          <a:bodyPr wrap="none" rtlCol="0">
            <a:spAutoFit/>
          </a:bodyPr>
          <a:lstStyle/>
          <a:p>
            <a:r>
              <a:rPr lang="en-US" sz="1050" dirty="0"/>
              <a:t>F-1 Brazil Potash Corp (Aug. 20, 2024)</a:t>
            </a:r>
          </a:p>
        </p:txBody>
      </p:sp>
    </p:spTree>
    <p:extLst>
      <p:ext uri="{BB962C8B-B14F-4D97-AF65-F5344CB8AC3E}">
        <p14:creationId xmlns:p14="http://schemas.microsoft.com/office/powerpoint/2010/main" val="3591538360"/>
      </p:ext>
    </p:extLst>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Macintosh HD:Applications:Microsoft Office 2004:Templates:Presentations:Designs:Blends</Template>
  <TotalTime>11055</TotalTime>
  <Words>1435</Words>
  <Application>Microsoft Macintosh PowerPoint</Application>
  <PresentationFormat>On-screen Show (4:3)</PresentationFormat>
  <Paragraphs>210</Paragraphs>
  <Slides>25</Slides>
  <Notes>11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3</vt:i4>
      </vt:variant>
      <vt:variant>
        <vt:lpstr>Slide Titles</vt:lpstr>
      </vt:variant>
      <vt:variant>
        <vt:i4>25</vt:i4>
      </vt:variant>
    </vt:vector>
  </HeadingPairs>
  <TitlesOfParts>
    <vt:vector size="37" baseType="lpstr">
      <vt:lpstr>NSimSun</vt:lpstr>
      <vt:lpstr>Arial</vt:lpstr>
      <vt:lpstr>Book Antiqua</vt:lpstr>
      <vt:lpstr>Calibri</vt:lpstr>
      <vt:lpstr>Courier New</vt:lpstr>
      <vt:lpstr>Times New Roman</vt:lpstr>
      <vt:lpstr>Wingdings</vt:lpstr>
      <vt:lpstr>Wingdings 2</vt:lpstr>
      <vt:lpstr>CG Body - Standard</vt:lpstr>
      <vt:lpstr>Worksheet</vt:lpstr>
      <vt:lpstr>Equation</vt:lpstr>
      <vt:lpstr>Chart</vt:lpstr>
      <vt:lpstr>PowerPoint Presentation</vt:lpstr>
      <vt:lpstr>Capital Markets and the Separation of Investment and Consumption Decisions</vt:lpstr>
      <vt:lpstr>Capital Budgeting Tools</vt:lpstr>
      <vt:lpstr>Capital Budgeting Tools</vt:lpstr>
      <vt:lpstr>Estimation Mistakes</vt:lpstr>
      <vt:lpstr>Internal Rate of Return (IRR) </vt:lpstr>
      <vt:lpstr>IRR</vt:lpstr>
      <vt:lpstr>IRR:  Private Equity</vt:lpstr>
      <vt:lpstr>IRR: Offering Memorandum Example</vt:lpstr>
      <vt:lpstr>Internal Rate of Return (IRR) </vt:lpstr>
      <vt:lpstr> IRR: Example</vt:lpstr>
      <vt:lpstr>IRR on a Spreadsheet</vt:lpstr>
      <vt:lpstr>IRR</vt:lpstr>
      <vt:lpstr>The IRR is a Return (Sometimes)</vt:lpstr>
      <vt:lpstr>The NPV Payoff Profile for This Example</vt:lpstr>
      <vt:lpstr>Problems with IRR </vt:lpstr>
      <vt:lpstr>Multiple IRRs</vt:lpstr>
      <vt:lpstr>The Scale Problem</vt:lpstr>
      <vt:lpstr>IRR: The Interim Cash Flow Problem</vt:lpstr>
      <vt:lpstr>Modified IRR and the Reinvestment Problem</vt:lpstr>
      <vt:lpstr>IRR:  Early Exit Problem</vt:lpstr>
      <vt:lpstr>IRR:  The Reinvestment Assumption, Bonds, and YTM</vt:lpstr>
      <vt:lpstr>Investing v. Financing</vt:lpstr>
      <vt:lpstr>Payback Rule</vt:lpstr>
      <vt:lpstr>Disclosure Example</vt:lpstr>
    </vt:vector>
  </TitlesOfParts>
  <Company>Fordham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XPUser</dc:creator>
  <cp:lastModifiedBy>Colon, Jeffrey M.</cp:lastModifiedBy>
  <cp:revision>211</cp:revision>
  <cp:lastPrinted>2024-09-01T16:02:53Z</cp:lastPrinted>
  <dcterms:created xsi:type="dcterms:W3CDTF">2006-01-20T19:34:26Z</dcterms:created>
  <dcterms:modified xsi:type="dcterms:W3CDTF">2026-09-09T13:16:52Z</dcterms:modified>
</cp:coreProperties>
</file>